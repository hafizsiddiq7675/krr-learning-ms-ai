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7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319" r:id="rId36"/>
    <p:sldId id="291" r:id="rId37"/>
    <p:sldId id="320" r:id="rId38"/>
    <p:sldId id="292" r:id="rId39"/>
    <p:sldId id="321" r:id="rId40"/>
    <p:sldId id="293" r:id="rId41"/>
    <p:sldId id="322" r:id="rId42"/>
    <p:sldId id="294" r:id="rId43"/>
    <p:sldId id="295" r:id="rId44"/>
    <p:sldId id="323" r:id="rId45"/>
    <p:sldId id="296" r:id="rId46"/>
    <p:sldId id="324" r:id="rId47"/>
    <p:sldId id="297" r:id="rId48"/>
    <p:sldId id="298" r:id="rId49"/>
    <p:sldId id="325" r:id="rId50"/>
    <p:sldId id="301" r:id="rId51"/>
    <p:sldId id="302" r:id="rId52"/>
    <p:sldId id="327" r:id="rId53"/>
    <p:sldId id="303" r:id="rId54"/>
    <p:sldId id="328" r:id="rId55"/>
    <p:sldId id="304" r:id="rId56"/>
    <p:sldId id="305" r:id="rId57"/>
    <p:sldId id="306" r:id="rId58"/>
    <p:sldId id="307" r:id="rId59"/>
    <p:sldId id="329" r:id="rId60"/>
    <p:sldId id="308" r:id="rId61"/>
    <p:sldId id="330" r:id="rId62"/>
    <p:sldId id="309" r:id="rId63"/>
    <p:sldId id="331" r:id="rId64"/>
    <p:sldId id="310" r:id="rId65"/>
    <p:sldId id="311" r:id="rId66"/>
    <p:sldId id="332" r:id="rId67"/>
    <p:sldId id="312" r:id="rId68"/>
    <p:sldId id="313" r:id="rId69"/>
    <p:sldId id="333" r:id="rId70"/>
    <p:sldId id="314" r:id="rId7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FD1E58-6AB2-4EE6-8648-EC42A07AC2AC}">
  <a:tblStyle styleId="{9FFD1E58-6AB2-4EE6-8648-EC42A07AC2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8" name="Google Shape;82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6" name="Google Shape;8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5" name="Google Shape;8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3" name="Google Shape;93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5" name="Google Shape;97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7" name="Google Shape;10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9" name="Google Shape;110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3" name="Google Shape;113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7" name="Google Shape;115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6" name="Google Shape;116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7" name="Google Shape;121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5" name="Google Shape;125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3" name="Google Shape;129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6" name="Google Shape;134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3" name="Google Shape;138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4" name="Google Shape;141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9" name="Google Shape;144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3" name="Google Shape;147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5" name="Google Shape;1565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4" name="Google Shape;157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3" name="Google Shape;161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2" name="Google Shape;166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6" name="Google Shape;168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0" name="Google Shape;1710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2" name="Google Shape;1752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7" name="Google Shape;17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1" name="Google Shape;181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0" name="Google Shape;186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8" name="Google Shape;190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8" name="Google Shape;1938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9" name="Google Shape;1969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1A8C82"/>
          </a:solidFill>
          <a:ln w="12700" cap="flat" cmpd="sng">
            <a:solidFill>
              <a:srgbClr val="1A8C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28600" y="1097280"/>
            <a:ext cx="1554480" cy="100584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28600" y="10972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Web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965960" y="1097280"/>
            <a:ext cx="1554480" cy="100584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965960" y="10972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RDF &amp; OWL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703320" y="1097280"/>
            <a:ext cx="1554480" cy="100584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703320" y="10972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SPARQL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40680" y="1097280"/>
            <a:ext cx="1554480" cy="100584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40680" y="10972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Bayes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178040" y="1097280"/>
            <a:ext cx="1554480" cy="100584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178040" y="109728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Markov &amp;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Fuzzy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9144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Knowledge Representation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DED9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A3DED9"/>
                </a:solidFill>
                <a:latin typeface="Trebuchet MS"/>
                <a:ea typeface="Trebuchet MS"/>
                <a:cs typeface="Trebuchet MS"/>
                <a:sym typeface="Trebuchet MS"/>
              </a:rPr>
              <a:t>&amp; Reasoning in AI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lang="en-US" sz="2200" b="0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 4    Dr. Husnain Ashfaq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Semantic Web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Teaching computers to UNDERSTAND information — not just display 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Wrong With the Regular Web?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74320" y="777240"/>
            <a:ext cx="4069080" cy="3822192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274320" y="777240"/>
            <a:ext cx="4069080" cy="34747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65760" y="77724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Old Web — Word Matching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11480" y="1234440"/>
            <a:ext cx="3749040" cy="365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0292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Search: "father of Albert Einstein"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7190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20299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Finds pages with word 'father'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2377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Finds pages with word 'Einstein'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27249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No MEANING understood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307238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Just pattern matching!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11480" y="3291840"/>
            <a:ext cx="3749040" cy="56692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80" y="329184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sees WORDS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MEANING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54880" y="777240"/>
            <a:ext cx="4114800" cy="38221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Semantic Web — Understands Meaning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892040" y="1234440"/>
            <a:ext cx="37490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983480" y="123444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Query: "father of Albert Einstein"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892040" y="171907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892040" y="171907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Albert Einstein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355080" y="1755648"/>
            <a:ext cx="1005840" cy="27432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355080" y="17556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406640" y="1719072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406640" y="171907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892040" y="222199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892040" y="222199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Hermann Einstein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355080" y="2258568"/>
            <a:ext cx="1005840" cy="27432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355080" y="225856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406640" y="2221992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406640" y="222199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892040" y="272491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892040" y="272491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Hermann Einstein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355080" y="2761488"/>
            <a:ext cx="1005840" cy="2743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355080" y="2761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FATHER OF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406640" y="2724912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406640" y="27249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Albert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892040" y="3291840"/>
            <a:ext cx="3749040" cy="56692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892040" y="329184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Answer: Hermann Einstein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(father = family relationship)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Three Generations of the Web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274320" y="2176272"/>
            <a:ext cx="8595360" cy="0"/>
          </a:xfrm>
          <a:prstGeom prst="straightConnector1">
            <a:avLst/>
          </a:prstGeom>
          <a:noFill/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7"/>
          <p:cNvSpPr/>
          <p:nvPr/>
        </p:nvSpPr>
        <p:spPr>
          <a:xfrm>
            <a:off x="1051560" y="2084832"/>
            <a:ext cx="274320" cy="2743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822960"/>
            <a:ext cx="2606040" cy="117043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822960"/>
            <a:ext cx="73152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207008" y="877824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1.0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207008" y="122529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(1990s)  The Library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2487168"/>
            <a:ext cx="2606040" cy="18288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94360" y="257860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Read-only pages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94360" y="296265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Static HTML docs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94360" y="334670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No user interaction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94360" y="373075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Uni homepage 1999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206240" y="2084832"/>
            <a:ext cx="274320" cy="274320"/>
          </a:xfrm>
          <a:prstGeom prst="ellipse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337560" y="822960"/>
            <a:ext cx="2606040" cy="117043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337560" y="822960"/>
            <a:ext cx="73152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087368" y="877824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2.0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087368" y="122529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(2004+)  Library + Café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337560" y="2487168"/>
            <a:ext cx="2606040" cy="1828800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474720" y="257860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Read AND Write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474720" y="296265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Social media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474720" y="334670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YouTube, Wikipedia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474720" y="373075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Facebook, Twitter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360920" y="2084832"/>
            <a:ext cx="274320" cy="274320"/>
          </a:xfrm>
          <a:prstGeom prst="ellipse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217920" y="822960"/>
            <a:ext cx="2606040" cy="117043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217920" y="822960"/>
            <a:ext cx="731520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967728" y="877824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3.0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967728" y="122529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(Today)  Smart Library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217920" y="2487168"/>
            <a:ext cx="2606040" cy="182880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355080" y="257860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Machines understand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355080" y="296265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Facts linked by meaning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355080" y="334670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Direct answers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355080" y="373075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Google Knowledge Graph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06324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94360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Semantic Web Technology Stack — Layer Cake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Built in layers — each layer depends on the one below. Higher = more powerful.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74320" y="1097280"/>
            <a:ext cx="8595360" cy="402336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11480" y="1097280"/>
            <a:ext cx="4125773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7: TRUST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486046" y="1097280"/>
            <a:ext cx="395386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I believe this data?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02336" y="1572768"/>
            <a:ext cx="8339328" cy="402336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39496" y="1572768"/>
            <a:ext cx="4002877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6: RULES (SWRL)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488607" y="1572768"/>
            <a:ext cx="3836091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IF...THEN logic statements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30352" y="2048256"/>
            <a:ext cx="8083296" cy="40233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67512" y="2048256"/>
            <a:ext cx="387998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5: OWL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491167" y="2048256"/>
            <a:ext cx="371831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Defines what categories MEAN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668512" y="2112264"/>
            <a:ext cx="1051560" cy="274320"/>
          </a:xfrm>
          <a:prstGeom prst="rect">
            <a:avLst/>
          </a:prstGeom>
          <a:solidFill>
            <a:srgbClr val="F9E79F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668512" y="21122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← We study this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58368" y="2523744"/>
            <a:ext cx="7827264" cy="40233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95528" y="2523744"/>
            <a:ext cx="3757087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4: RDFS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493727" y="2523744"/>
            <a:ext cx="3600541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 types &amp; category schemas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86384" y="2999232"/>
            <a:ext cx="7571232" cy="402336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23544" y="2999232"/>
            <a:ext cx="3634191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3: RDF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496288" y="2999232"/>
            <a:ext cx="3482767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Facts stored as triples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412480" y="3063240"/>
            <a:ext cx="1051560" cy="274320"/>
          </a:xfrm>
          <a:prstGeom prst="rect">
            <a:avLst/>
          </a:prstGeom>
          <a:solidFill>
            <a:srgbClr val="F9E79F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8412480" y="30632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← We study this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14400" y="3474720"/>
            <a:ext cx="7315200" cy="40233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051560" y="3474720"/>
            <a:ext cx="35112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2: URI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498848" y="3474720"/>
            <a:ext cx="336499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thing gets a unique web 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284464" y="3538728"/>
            <a:ext cx="1051560" cy="274320"/>
          </a:xfrm>
          <a:prstGeom prst="rect">
            <a:avLst/>
          </a:prstGeom>
          <a:solidFill>
            <a:srgbClr val="F9E79F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8284464" y="35387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← We study this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42416" y="3950208"/>
            <a:ext cx="7059168" cy="402336"/>
          </a:xfrm>
          <a:prstGeom prst="rect">
            <a:avLst/>
          </a:prstGeom>
          <a:solidFill>
            <a:srgbClr val="616A6B"/>
          </a:solidFill>
          <a:ln w="12700" cap="flat" cmpd="sng">
            <a:solidFill>
              <a:srgbClr val="616A6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179576" y="3950208"/>
            <a:ext cx="3388401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1: XML / Unicode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01408" y="3950208"/>
            <a:ext cx="3247217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alphabet &amp; grammar of the web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0" y="45079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▲ Build from BOTTOM 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Real World: Google Knowledge Graph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0" y="777240"/>
            <a:ext cx="4297680" cy="3520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E8F5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Eiffel Tower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663440" y="124358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📍 Location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355080" y="124358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Paris, France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4663440" y="156362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9"/>
          <p:cNvSpPr/>
          <p:nvPr/>
        </p:nvSpPr>
        <p:spPr>
          <a:xfrm>
            <a:off x="4663440" y="16093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📏 Height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355080" y="160934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330 meters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4663440" y="192938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9"/>
          <p:cNvSpPr/>
          <p:nvPr/>
        </p:nvSpPr>
        <p:spPr>
          <a:xfrm>
            <a:off x="4663440" y="197510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📅 Built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355080" y="19751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1887–1889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4663440" y="229514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7" name="Google Shape;227;p9"/>
          <p:cNvSpPr/>
          <p:nvPr/>
        </p:nvSpPr>
        <p:spPr>
          <a:xfrm>
            <a:off x="4663440" y="234086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👷 Architect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355080" y="234086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Gustave Eiffel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9"/>
          <p:cNvCxnSpPr/>
          <p:nvPr/>
        </p:nvCxnSpPr>
        <p:spPr>
          <a:xfrm>
            <a:off x="4663440" y="266090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0" name="Google Shape;230;p9"/>
          <p:cNvSpPr/>
          <p:nvPr/>
        </p:nvSpPr>
        <p:spPr>
          <a:xfrm>
            <a:off x="4663440" y="270662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🌍 Visitors/yr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355080" y="270662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~7 million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4663440" y="3026664"/>
            <a:ext cx="402336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9"/>
          <p:cNvSpPr/>
          <p:nvPr/>
        </p:nvSpPr>
        <p:spPr>
          <a:xfrm>
            <a:off x="4663440" y="307238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🏛️ Type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355080" y="307238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Iron lattice tower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72000" y="4334256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← Semantic Web in action!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74320" y="804672"/>
            <a:ext cx="4023360" cy="100584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274320" y="804672"/>
            <a:ext cx="402336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" y="80467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📊 500 Billion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84048" y="1152144"/>
            <a:ext cx="38039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Facts in Google's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74320" y="1975104"/>
            <a:ext cx="4023360" cy="100584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274320" y="1975104"/>
            <a:ext cx="402336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65760" y="197510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🔗 Linked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84048" y="2322576"/>
            <a:ext cx="38039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Facts connected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across web pages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3145536"/>
            <a:ext cx="4023360" cy="100584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274320" y="3145536"/>
            <a:ext cx="402336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65760" y="314553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💬 Direct Answers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84048" y="3493008"/>
            <a:ext cx="38039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website click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needed — AI answers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Quiz — The Semantic Web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Think before checking answers!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274320" y="1216152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274320" y="1216152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74320" y="1216152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960120" y="1289304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Saad builds a hospital directory showing names, addresses and phone numbers in an HTML table. His friend says it's already a Semantic Web application. Who is right and why? What is missing for it to be truly 'semantic'?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74320" y="2304288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274320" y="2304288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274320" y="2304288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60120" y="2377440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healthcare app answers: 'Which cardiologist in Lahore is available on Saturday?' — returning Dr. Azhar's profile directly without showing a list of websites. Which web generation is this? What TWO technologies make it possible?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74320" y="3392424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274320" y="3392424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274320" y="3392424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60120" y="3465576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Facebook lets users post and comment. Wikipedia lets anyone edit articles. Which web generation are these? What specific change would be needed for them to qualify as Web 3.0?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Quiz Answers — The Semantic Web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74320" y="1216152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274320" y="1216152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274320" y="1216152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96112" y="1289304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Saad is RIGHT. HTML only tells the browser HOW to display info (layout, fonts). The Semantic Web requires machines to understand WHAT the info means — 'this string is a hospital name', 'this is a geographic location'. Missing: RDF/OWL markup that adds semantic meaning machines can process.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274320" y="2304288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274320" y="2304288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274320" y="2304288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896112" y="2377440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Web 3.0. Technologies: (1) RDF stores doctor profiles as linked triples — connecting doctor, specialisation, location, availability. (2) SPARQL or a Knowledge Graph query engine retrieves the answer by pattern-matching triples rather than keyword-searching web pages.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74320" y="3392424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274320" y="3392424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274320" y="3392424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896112" y="3465576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Both are Web 2.0 — users create and share content interactively. For Web 3.0 they need: semantic markup (RDF tags) on the data so machines can understand entities and relationships. A computer cannot 'read' a Wikipedia paragraph and truly know the relationships between entities mentioned in 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Classify Each Example Into a Web Generation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Individual Activity (8 min) — Write Web 1.0, 2.0 or 3.0 for each and give ONE reason.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274320" y="118872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274320" y="118872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274320" y="118872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94944" y="126187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static university homepage from 1998 listing course names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767328" y="137160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767328" y="137160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74320" y="201168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274320" y="201168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274320" y="201168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94944" y="208483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Google answering 'Who invented the telephone?' with Alexander Graham Bell directly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767328" y="219456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767328" y="219456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274320" y="283464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274320" y="283464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274320" y="283464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94944" y="290779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YouTube video with likes, comments, and user uploads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767328" y="301752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3767328" y="301752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274320" y="365760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274320" y="365760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274320" y="365760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94944" y="373075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Siri telling you 'The nearest open pharmacy is 0.3 km away'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767328" y="384048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767328" y="384048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709160" y="118872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709160" y="118872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4709160" y="118872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129784" y="126187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read-only product catalogue on a retailer website (2001)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8202168" y="137160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8202168" y="137160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709160" y="201168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709160" y="201168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4709160" y="201168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129784" y="208483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WhatsApp showing you real-time messages from friends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8202168" y="219456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8202168" y="219456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709160" y="283464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4709160" y="283464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709160" y="283464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129784" y="290779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Wikidata returning all properties of 'Lahore' as structured RDF triples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8202168" y="301752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8202168" y="301752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709160" y="365760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4709160" y="3657600"/>
            <a:ext cx="329184" cy="71323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4709160" y="3657600"/>
            <a:ext cx="329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129784" y="373075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news site where readers vote and rank stories (Reddit-style)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202168" y="3840480"/>
            <a:ext cx="530352" cy="2926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8202168" y="384048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___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Activity Solution — Web Generation Classification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74320" y="118872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274320" y="1188720"/>
            <a:ext cx="914400" cy="71323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274320" y="118872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1.0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280160" y="124358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1. Static 1998 university homepage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280160" y="155448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Read-only, no interaction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274320" y="201168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274320" y="2011680"/>
            <a:ext cx="914400" cy="71323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274320" y="201168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3.0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1280160" y="206654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2. Google answers 'Who invented phone?'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1280160" y="237744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Machine understands meaning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274320" y="283464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274320" y="2834640"/>
            <a:ext cx="914400" cy="71323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274320" y="283464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2.0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280160" y="288950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3. YouTube with likes &amp; comments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280160" y="320040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User-generated, interactive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274320" y="365760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274320" y="3657600"/>
            <a:ext cx="914400" cy="71323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274320" y="365760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3.0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280160" y="371246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4. Siri finds nearest open pharmacy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280160" y="402336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Knowledge graph + context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4709160" y="118872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709160" y="1188720"/>
            <a:ext cx="914400" cy="71323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4709160" y="118872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1.0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5715000" y="124358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5. Read-only 2001 product catalogue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5715000" y="155448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Static display only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709160" y="201168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4709160" y="2011680"/>
            <a:ext cx="914400" cy="71323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709160" y="201168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2.0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715000" y="206654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6. WhatsApp real-time messages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15000" y="237744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Dynamic, user-to-user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709160" y="2834640"/>
            <a:ext cx="4114800" cy="71323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4709160" y="2834640"/>
            <a:ext cx="914400" cy="71323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4709160" y="283464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3.0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715000" y="288950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7. Wikidata RDF triples for Lahore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715000" y="320040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Structured semantic 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709160" y="3657600"/>
            <a:ext cx="411480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4709160" y="3657600"/>
            <a:ext cx="914400" cy="71323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4709160" y="365760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2.0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715000" y="371246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8. Reddit-style voting on stories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715000" y="4023360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50"/>
              <a:buFont typeface="Calibri"/>
              <a:buNone/>
            </a:pPr>
            <a:r>
              <a:rPr lang="en-US" sz="950" b="1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Interactive participation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RDF &amp; OWL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Storing facts as triples • Defining rules with ontologies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RDF — Facts as Three-Part Statements (Triples)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Every fact in RDF = one TRIPLE: Subject → Predicate → Object (just like grammar!)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274320" y="1078992"/>
            <a:ext cx="8595360" cy="841248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457200" y="1115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English: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554480" y="11155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"Ali studies Computer Science"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1920240" y="1536192"/>
            <a:ext cx="1600200" cy="34747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1920240" y="153619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1920240" y="1883664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886200" y="1536192"/>
            <a:ext cx="1600200" cy="34747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3886200" y="153619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3886200" y="1883664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486400" y="1536192"/>
            <a:ext cx="1600200" cy="34747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5486400" y="153619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Science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486400" y="1883664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3520440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5257800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" name="Google Shape;442;p15"/>
          <p:cNvGraphicFramePr/>
          <p:nvPr/>
        </p:nvGraphicFramePr>
        <p:xfrm>
          <a:off x="274320" y="2194560"/>
          <a:ext cx="8595375" cy="226770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283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Subject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Predicate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Object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7D3C98"/>
                          </a:solidFill>
                        </a:rPr>
                        <a:t>isA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E67E22"/>
                          </a:solidFill>
                        </a:rPr>
                        <a:t>City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7D3C98"/>
                          </a:solidFill>
                        </a:rPr>
                        <a:t>locatedIn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E67E22"/>
                          </a:solidFill>
                        </a:rPr>
                        <a:t>Pakistan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7D3C98"/>
                          </a:solidFill>
                        </a:rPr>
                        <a:t>population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E67E22"/>
                          </a:solidFill>
                        </a:rPr>
                        <a:t>14,000,000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Pakistan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7D3C98"/>
                          </a:solidFill>
                        </a:rPr>
                        <a:t>capital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E67E22"/>
                          </a:solidFill>
                        </a:rPr>
                        <a:t>Islamabad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Pakistan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7D3C98"/>
                          </a:solidFill>
                        </a:rPr>
                        <a:t>isA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E67E22"/>
                          </a:solidFill>
                        </a:rPr>
                        <a:t>Country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RDF Knowledge Graph — Nodes and Arrows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Draw all triples as a graph: circles = things (nodes), arrows = relationships (edges):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3291840" y="192024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3291840" y="1920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Lahore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914400" y="9144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914400" y="914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Pakistan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0" y="22860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0" y="22860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Islamabad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3291840" y="82296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3291840" y="8229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760720" y="9144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5760720" y="9144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760720" y="25603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6C757D"/>
          </a:solidFill>
          <a:ln w="1270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760720" y="25603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14,000,000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303520" y="3383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6C757D"/>
          </a:solidFill>
          <a:ln w="1270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5303520" y="3383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Mughal History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16"/>
          <p:cNvCxnSpPr/>
          <p:nvPr/>
        </p:nvCxnSpPr>
        <p:spPr>
          <a:xfrm rot="10800000">
            <a:off x="2560320" y="1371600"/>
            <a:ext cx="731520" cy="77724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16"/>
          <p:cNvSpPr/>
          <p:nvPr/>
        </p:nvSpPr>
        <p:spPr>
          <a:xfrm>
            <a:off x="1737360" y="15727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locatedIn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16"/>
          <p:cNvCxnSpPr/>
          <p:nvPr/>
        </p:nvCxnSpPr>
        <p:spPr>
          <a:xfrm flipH="1">
            <a:off x="640080" y="1371600"/>
            <a:ext cx="274320" cy="91440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1" name="Google Shape;471;p16"/>
          <p:cNvSpPr/>
          <p:nvPr/>
        </p:nvSpPr>
        <p:spPr>
          <a:xfrm>
            <a:off x="45720" y="182880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capital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6"/>
          <p:cNvCxnSpPr/>
          <p:nvPr/>
        </p:nvCxnSpPr>
        <p:spPr>
          <a:xfrm rot="10800000">
            <a:off x="4114800" y="1280160"/>
            <a:ext cx="0" cy="64008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3" name="Google Shape;473;p16"/>
          <p:cNvSpPr/>
          <p:nvPr/>
        </p:nvSpPr>
        <p:spPr>
          <a:xfrm>
            <a:off x="4160520" y="14630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6"/>
          <p:cNvCxnSpPr/>
          <p:nvPr/>
        </p:nvCxnSpPr>
        <p:spPr>
          <a:xfrm rot="10800000" flipH="1">
            <a:off x="4937760" y="1371600"/>
            <a:ext cx="822960" cy="73152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16"/>
          <p:cNvSpPr/>
          <p:nvPr/>
        </p:nvSpPr>
        <p:spPr>
          <a:xfrm>
            <a:off x="5120640" y="15544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famousFor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6"/>
          <p:cNvCxnSpPr/>
          <p:nvPr/>
        </p:nvCxnSpPr>
        <p:spPr>
          <a:xfrm>
            <a:off x="4937760" y="2286000"/>
            <a:ext cx="822960" cy="64008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16"/>
          <p:cNvSpPr/>
          <p:nvPr/>
        </p:nvSpPr>
        <p:spPr>
          <a:xfrm>
            <a:off x="5074920" y="25420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6"/>
          <p:cNvCxnSpPr/>
          <p:nvPr/>
        </p:nvCxnSpPr>
        <p:spPr>
          <a:xfrm>
            <a:off x="4937760" y="2468880"/>
            <a:ext cx="365760" cy="91440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9" name="Google Shape;479;p16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457200" y="432511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💡  URI = Unique ID for every thing (like a CNIC for web resources). &lt;http://dbpedia.org/resource/Lahore&gt; is Lahore's unique URI — the word 'Lahore' alone could mean anything, but the URI makes it globally unambiguous.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Writing RDF — Turtle Syntax: 4 Rules to Remember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Turtle (.ttl) is the most readable RDF format. Four punctuation symbols do all the work: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274320" y="1115568"/>
            <a:ext cx="4114800" cy="1645920"/>
          </a:xfrm>
          <a:prstGeom prst="rect">
            <a:avLst/>
          </a:prstGeom>
          <a:solidFill>
            <a:srgbClr val="F0E6F6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274320" y="1115568"/>
            <a:ext cx="411480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365760" y="111556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 —  PERIOD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384048" y="1499616"/>
            <a:ext cx="3895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Ends one complete triple statement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384048" y="1828800"/>
            <a:ext cx="2331720" cy="658368"/>
          </a:xfrm>
          <a:prstGeom prst="rect">
            <a:avLst/>
          </a:prstGeom>
          <a:solidFill>
            <a:srgbClr val="1E2228"/>
          </a:solidFill>
          <a:ln w="12700" cap="flat" cmpd="sng">
            <a:solidFill>
              <a:srgbClr val="1E22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457200" y="1865376"/>
            <a:ext cx="21945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Lahore  isA  City  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2834640" y="1828800"/>
            <a:ext cx="141732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2907792" y="1865376"/>
            <a:ext cx="12801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Like a full stop in English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274320" y="2898648"/>
            <a:ext cx="4114800" cy="164592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274320" y="2898648"/>
            <a:ext cx="4114800" cy="329184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365760" y="28986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 —  SEMICOLON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384048" y="3282696"/>
            <a:ext cx="3895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Same subject — new predicate (no repeat)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384048" y="3611880"/>
            <a:ext cx="2331720" cy="658368"/>
          </a:xfrm>
          <a:prstGeom prst="rect">
            <a:avLst/>
          </a:prstGeom>
          <a:solidFill>
            <a:srgbClr val="1E2228"/>
          </a:solidFill>
          <a:ln w="12700" cap="flat" cmpd="sng">
            <a:solidFill>
              <a:srgbClr val="1E22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457200" y="3648456"/>
            <a:ext cx="21945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Lahore  isA  City ;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population  14M 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2834640" y="3611880"/>
            <a:ext cx="141732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2907792" y="3648456"/>
            <a:ext cx="12801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Avoids repeating 'Lahore'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709160" y="1115568"/>
            <a:ext cx="4114800" cy="1645920"/>
          </a:xfrm>
          <a:prstGeom prst="rect">
            <a:avLst/>
          </a:prstGeom>
          <a:solidFill>
            <a:srgbClr val="FEF3E2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4709160" y="1115568"/>
            <a:ext cx="411480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4800600" y="111556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 —  COMMA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4818888" y="1499616"/>
            <a:ext cx="3895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Same subject AND predicate — new object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4818888" y="1828800"/>
            <a:ext cx="2331720" cy="658368"/>
          </a:xfrm>
          <a:prstGeom prst="rect">
            <a:avLst/>
          </a:prstGeom>
          <a:solidFill>
            <a:srgbClr val="1E2228"/>
          </a:solidFill>
          <a:ln w="12700" cap="flat" cmpd="sng">
            <a:solidFill>
              <a:srgbClr val="1E22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4892040" y="1865376"/>
            <a:ext cx="21945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Lahore  famousFor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Food , History 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7269480" y="1828800"/>
            <a:ext cx="141732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7342632" y="1865376"/>
            <a:ext cx="12801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Multiple values, one predicate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4709160" y="2898648"/>
            <a:ext cx="4114800" cy="1645920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4709160" y="2898648"/>
            <a:ext cx="411480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4800600" y="289864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@prefix  —  PREFIX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818888" y="3282696"/>
            <a:ext cx="3895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Shortcut for a long web address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4818888" y="3611880"/>
            <a:ext cx="2331720" cy="658368"/>
          </a:xfrm>
          <a:prstGeom prst="rect">
            <a:avLst/>
          </a:prstGeom>
          <a:solidFill>
            <a:srgbClr val="1E2228"/>
          </a:solidFill>
          <a:ln w="12700" cap="flat" cmpd="sng">
            <a:solidFill>
              <a:srgbClr val="1E22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4892040" y="3648456"/>
            <a:ext cx="21945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@prefix ex: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&lt;http://example.org/&gt; 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7269480" y="3611880"/>
            <a:ext cx="141732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7342632" y="3648456"/>
            <a:ext cx="128016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Saves typing long URIs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Write RDF Triples for FAST University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Pair Activity (10 min) — Fill every blank cell. Then draw the RDF graph on paper.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6" name="Google Shape;536;p18"/>
          <p:cNvGraphicFramePr/>
          <p:nvPr/>
        </p:nvGraphicFramePr>
        <p:xfrm>
          <a:off x="274320" y="1216152"/>
          <a:ext cx="8595350" cy="285285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36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Fact (plain English)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Subject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Predicate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Object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1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FAST Lahore is a University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FAST is located in 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locatedIn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3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FAST was founded in 1985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1985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4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FAST offers Computer Science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5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FAST offers AI program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offers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2C3E50"/>
                          </a:solidFill>
                        </a:rPr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Enrollment is 5000 students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C0392B"/>
                          </a:solidFill>
                        </a:rPr>
                        <a:t>?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5000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7" name="Google Shape;537;p18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457200" y="418795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BONUS: Draw the RDF graph — put FAST_Lahore in the centre. Draw 6 arrows (one per triple) to the object nodes. Label each arrow with the predicate.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Activity Solution — FAST University RDF Triples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1" name="Google Shape;551;p19"/>
          <p:cNvGraphicFramePr/>
          <p:nvPr/>
        </p:nvGraphicFramePr>
        <p:xfrm>
          <a:off x="274320" y="1170432"/>
          <a:ext cx="8595375" cy="2423225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36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Fact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Subject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Predicate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Object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1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 Lahore is a University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rdf:type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University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2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 is located in Lahore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locatedIn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3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 was founded in 1985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foundedYear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1985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4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 offers Computer Science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offers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ComputerScience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5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 offers AI program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offers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AI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6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Enrollment is 5000 students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809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28090"/>
                          </a:solidFill>
                        </a:rPr>
                        <a:t>FAST_Lahore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7D3C98"/>
                          </a:solidFill>
                        </a:rPr>
                        <a:t>enrollment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67E22"/>
                          </a:solidFill>
                        </a:rPr>
                        <a:t>5000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2" name="Google Shape;552;p19"/>
          <p:cNvSpPr/>
          <p:nvPr/>
        </p:nvSpPr>
        <p:spPr>
          <a:xfrm>
            <a:off x="3200400" y="3767328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9"/>
          <p:cNvSpPr/>
          <p:nvPr/>
        </p:nvSpPr>
        <p:spPr>
          <a:xfrm>
            <a:off x="3200400" y="376732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FAST_Lahore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274320" y="34747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274320" y="3474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274320" y="425196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9"/>
          <p:cNvSpPr/>
          <p:nvPr/>
        </p:nvSpPr>
        <p:spPr>
          <a:xfrm>
            <a:off x="274320" y="425196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Lahore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1828800" y="468172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1828800" y="4681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5257800" y="34747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9"/>
          <p:cNvSpPr/>
          <p:nvPr/>
        </p:nvSpPr>
        <p:spPr>
          <a:xfrm>
            <a:off x="5257800" y="3474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5257800" y="425196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9"/>
          <p:cNvSpPr/>
          <p:nvPr/>
        </p:nvSpPr>
        <p:spPr>
          <a:xfrm>
            <a:off x="5257800" y="425196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5852160" y="468172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6C757D"/>
          </a:solidFill>
          <a:ln w="1270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5852160" y="4681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457200" y="46634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Key: FAST_Lahore is the central node in ALL 6 triples. Two 'offers' predicates create two separate arrows → CS and AI.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OWL — Rules About What Knowledge MEANS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RDF stores FACTS. OWL stores the RULES about those facts — the instruction manual.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274320" y="1097280"/>
            <a:ext cx="4114800" cy="201168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274320" y="1097280"/>
            <a:ext cx="41148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36576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📦 RDF = Spreadsheet of Facts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384048" y="1444752"/>
            <a:ext cx="3895344" cy="157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Fido → isA → Dog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Fido → hasOwner → Ali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Ball → color → Red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(Just raw facts — no meaning attached to 'Dog')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4754880" y="1097280"/>
            <a:ext cx="4114800" cy="201168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4754880" y="1097280"/>
            <a:ext cx="41148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484632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📋 OWL = Instruction Manual (Rules)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4864608" y="1444752"/>
            <a:ext cx="3895344" cy="157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Dog is a subtype of Animal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Dog and Cat CANNOT overlap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Every Dog has exactly ONE breed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If X parentOf Y, Y parentOf Z → X grandParentOf 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274320" y="3246120"/>
            <a:ext cx="8595360" cy="777240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457200" y="327355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📖  Ontology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457200" y="356616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formal description of a domain: what THINGS exist, what TYPES they belong to, and what RELATIONSHIPS connect them. Like a detailed dictionary + rulebook. Real example: SNOMED CT medical ontology has 350,000+ concepts used by NHS (UK), Australia, and hospitals worldwide.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457200" y="415137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🏥  OWL in Healthcare: hierarchy Disease→InfectiousDisease→ViralInfection→COVID-19. A drug treating 'ViralInfection' is AUTOMATICALLY known to help COVID-19 — the OWL reasoner infers it from the hierarchy without anyone adding the link manually!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OWL Class Hierarchy — The 'Is-A' Pyramid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Classes in OWL are </a:t>
            </a:r>
            <a:r>
              <a:rPr lang="en-US" sz="1100" b="0" i="1" u="none" strike="noStrike" cap="none" dirty="0" err="1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organised</a:t>
            </a:r>
            <a:r>
              <a:rPr lang="en-US" sz="1100" b="0" i="1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in a hierarchy — what is true of the parent is inherited by children: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1005840" y="877824"/>
            <a:ext cx="2560320" cy="402336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1"/>
          <p:cNvSpPr/>
          <p:nvPr/>
        </p:nvSpPr>
        <p:spPr>
          <a:xfrm>
            <a:off x="1005840" y="87782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owl:Thing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2103120" y="12801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1188720" y="1472184"/>
            <a:ext cx="2194560" cy="40233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1"/>
          <p:cNvSpPr/>
          <p:nvPr/>
        </p:nvSpPr>
        <p:spPr>
          <a:xfrm>
            <a:off x="1188720" y="1472184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LivingThing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2103120" y="18745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1371600" y="2066544"/>
            <a:ext cx="1828800" cy="40233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1"/>
          <p:cNvSpPr/>
          <p:nvPr/>
        </p:nvSpPr>
        <p:spPr>
          <a:xfrm>
            <a:off x="1371600" y="206654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2103120" y="246888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1508760" y="2660904"/>
            <a:ext cx="1554480" cy="402336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1508760" y="2660904"/>
            <a:ext cx="1554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Mammal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2103120" y="3063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1645920" y="3255264"/>
            <a:ext cx="1280160" cy="40233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1645920" y="32552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135033" y="3817620"/>
            <a:ext cx="1188720" cy="265176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137160" y="372160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Labrador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1508760" y="3776472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1415193" y="376732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Poodle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3291840" y="2980944"/>
            <a:ext cx="1188720" cy="402336"/>
          </a:xfrm>
          <a:prstGeom prst="roundRect">
            <a:avLst>
              <a:gd name="adj" fmla="val 22727"/>
            </a:avLst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3291840" y="2980944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3337560" y="219456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disjointWith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Dog ≠ Cat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4663440" y="877824"/>
            <a:ext cx="4206240" cy="80467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4663440" y="877824"/>
            <a:ext cx="4206240" cy="29260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4754880" y="87782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rdfs:subClassOf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4754880" y="118872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Dog subClassOf Mammal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4754880" y="1444752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Every Dog IS a Mammal — hierarchy + inheritance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4663440" y="1810512"/>
            <a:ext cx="4206240" cy="80467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4663440" y="1810512"/>
            <a:ext cx="4206240" cy="29260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4754880" y="181051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owl:disjointWith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4754880" y="212140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Dog disjointWith Cat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4754880" y="237744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Nothing can be BOTH — mutual exclusion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4663440" y="2743200"/>
            <a:ext cx="4206240" cy="80467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4663440" y="2743200"/>
            <a:ext cx="4206240" cy="29260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4754880" y="27432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owl:equivalentClass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4754880" y="3054096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Car ≡ Automobile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4754880" y="3310128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Two class names mean the SAME thing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4663440" y="3675888"/>
            <a:ext cx="4206240" cy="80467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1"/>
          <p:cNvSpPr/>
          <p:nvPr/>
        </p:nvSpPr>
        <p:spPr>
          <a:xfrm>
            <a:off x="4663440" y="3675888"/>
            <a:ext cx="4206240" cy="292608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1"/>
          <p:cNvSpPr/>
          <p:nvPr/>
        </p:nvSpPr>
        <p:spPr>
          <a:xfrm>
            <a:off x="4754880" y="367588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owl:unionOf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4754880" y="3986784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Parent = Father OR Mother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4754880" y="4242816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Member of at least one of the classes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OWL Properties — How Things Relate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Properties describe how two things relate. Two kinds — and three special behaviours: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274320" y="1097280"/>
            <a:ext cx="4114800" cy="146304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274320" y="1097280"/>
            <a:ext cx="4114800" cy="329184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2"/>
          <p:cNvSpPr/>
          <p:nvPr/>
        </p:nvSpPr>
        <p:spPr>
          <a:xfrm>
            <a:off x="365760" y="109728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 Property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owl:ObjectProperty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365760" y="14630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Links a THING to another THING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411480" y="1783080"/>
            <a:ext cx="12344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41148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737360" y="1783080"/>
            <a:ext cx="12344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2"/>
          <p:cNvSpPr/>
          <p:nvPr/>
        </p:nvSpPr>
        <p:spPr>
          <a:xfrm>
            <a:off x="173736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3063240" y="1783080"/>
            <a:ext cx="12344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2"/>
          <p:cNvSpPr/>
          <p:nvPr/>
        </p:nvSpPr>
        <p:spPr>
          <a:xfrm>
            <a:off x="306324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41148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2"/>
          <p:cNvSpPr/>
          <p:nvPr/>
        </p:nvSpPr>
        <p:spPr>
          <a:xfrm>
            <a:off x="41148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Ali (Person)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173736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2"/>
          <p:cNvSpPr/>
          <p:nvPr/>
        </p:nvSpPr>
        <p:spPr>
          <a:xfrm>
            <a:off x="173736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worksAt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306324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2"/>
          <p:cNvSpPr/>
          <p:nvPr/>
        </p:nvSpPr>
        <p:spPr>
          <a:xfrm>
            <a:off x="306324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FAST (Organisation)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4709160" y="1097280"/>
            <a:ext cx="4114800" cy="1463040"/>
          </a:xfrm>
          <a:prstGeom prst="rect">
            <a:avLst/>
          </a:prstGeom>
          <a:solidFill>
            <a:srgbClr val="FEF3E2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"/>
          <p:cNvSpPr/>
          <p:nvPr/>
        </p:nvSpPr>
        <p:spPr>
          <a:xfrm>
            <a:off x="4709160" y="1097280"/>
            <a:ext cx="411480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2"/>
          <p:cNvSpPr/>
          <p:nvPr/>
        </p:nvSpPr>
        <p:spPr>
          <a:xfrm>
            <a:off x="4800600" y="109728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Datatype Property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owl:DatatypeProperty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4800600" y="14630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Links a THING to a VALUE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4846320" y="1783080"/>
            <a:ext cx="123444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2"/>
          <p:cNvSpPr/>
          <p:nvPr/>
        </p:nvSpPr>
        <p:spPr>
          <a:xfrm>
            <a:off x="484632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6172200" y="1783080"/>
            <a:ext cx="123444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2"/>
          <p:cNvSpPr/>
          <p:nvPr/>
        </p:nvSpPr>
        <p:spPr>
          <a:xfrm>
            <a:off x="617220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7498080" y="1783080"/>
            <a:ext cx="123444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7498080" y="17830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484632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2"/>
          <p:cNvSpPr/>
          <p:nvPr/>
        </p:nvSpPr>
        <p:spPr>
          <a:xfrm>
            <a:off x="484632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Ali (Person)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617220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>
            <a:off x="617220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7498080" y="2121408"/>
            <a:ext cx="123444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>
            <a:off x="7498080" y="213969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25 (Integer)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274320" y="2633472"/>
            <a:ext cx="8595360" cy="566928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2"/>
          <p:cNvSpPr/>
          <p:nvPr/>
        </p:nvSpPr>
        <p:spPr>
          <a:xfrm>
            <a:off x="274320" y="2633472"/>
            <a:ext cx="1234440" cy="566928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2"/>
          <p:cNvSpPr/>
          <p:nvPr/>
        </p:nvSpPr>
        <p:spPr>
          <a:xfrm>
            <a:off x="274320" y="263347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1572768" y="26700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Chains automatically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1572768" y="2907792"/>
            <a:ext cx="7178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isAncestorOf: Ali→Bilal, Bilal→Carla  ∴  Ali→Carla (auto-inferred)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274320" y="3291840"/>
            <a:ext cx="8595360" cy="566928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2"/>
          <p:cNvSpPr/>
          <p:nvPr/>
        </p:nvSpPr>
        <p:spPr>
          <a:xfrm>
            <a:off x="274320" y="3291840"/>
            <a:ext cx="1234440" cy="56692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2"/>
          <p:cNvSpPr/>
          <p:nvPr/>
        </p:nvSpPr>
        <p:spPr>
          <a:xfrm>
            <a:off x="274320" y="329184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↔️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1572768" y="332841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Works both ways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1572768" y="3566160"/>
            <a:ext cx="7178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isSiblingOf: Sara→Ahmed  ∴  Ahmed→Sara (auto-added)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274320" y="3950208"/>
            <a:ext cx="8595360" cy="566928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274320" y="3950208"/>
            <a:ext cx="1234440" cy="56692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274320" y="39502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1️⃣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1572768" y="39867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One value only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1572768" y="4224528"/>
            <a:ext cx="7178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hasBiologicalMother: Ali has EXACTLY ONE — a second value = error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OWL Automated Reasoning — The Computer Infers New Facts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3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Give an OWL ontology + facts → the reasoner automatically infers new truths and catches errors: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274320" y="1097280"/>
            <a:ext cx="4023360" cy="18288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3"/>
          <p:cNvSpPr/>
          <p:nvPr/>
        </p:nvSpPr>
        <p:spPr>
          <a:xfrm>
            <a:off x="274320" y="1097280"/>
            <a:ext cx="402336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3"/>
          <p:cNvSpPr/>
          <p:nvPr/>
        </p:nvSpPr>
        <p:spPr>
          <a:xfrm>
            <a:off x="365760" y="109728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📝 You State (Input Facts)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384048" y="1444752"/>
            <a:ext cx="3803904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Penguin  subClassOf  Bird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Penguin  subClassOf  NonFlyingBird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:Tux     rdf:type     Penguin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4407408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▶▶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4315968" y="22860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Reasoner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5029200" y="1097280"/>
            <a:ext cx="3840480" cy="182880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3"/>
          <p:cNvSpPr/>
          <p:nvPr/>
        </p:nvSpPr>
        <p:spPr>
          <a:xfrm>
            <a:off x="5029200" y="1097280"/>
            <a:ext cx="3840480" cy="310896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5120640" y="109728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Reasoner Automatically Infers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5074920" y="1463040"/>
            <a:ext cx="3749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5212080" y="14813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✓ Tux is a Bird (via subClassOf)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5074920" y="1865376"/>
            <a:ext cx="3749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3"/>
          <p:cNvSpPr/>
          <p:nvPr/>
        </p:nvSpPr>
        <p:spPr>
          <a:xfrm>
            <a:off x="5212080" y="188366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✓ Tux is a NonFlyingBird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5074920" y="2267712"/>
            <a:ext cx="3749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5212080" y="22860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✓ Tux CANNOT fly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274320" y="3035808"/>
            <a:ext cx="8595360" cy="100584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3"/>
          <p:cNvSpPr/>
          <p:nvPr/>
        </p:nvSpPr>
        <p:spPr>
          <a:xfrm>
            <a:off x="274320" y="3035808"/>
            <a:ext cx="8595360" cy="29260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3"/>
          <p:cNvSpPr/>
          <p:nvPr/>
        </p:nvSpPr>
        <p:spPr>
          <a:xfrm>
            <a:off x="365760" y="303580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What Happens With a Contradiction?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457200" y="3364992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Add: ':Tux  rdf:type  :Eagle' → Eagle is a FlyingBird. Tux is ALREADY NonFlyingBird. These are DISJOINT → INCONSISTENCY! The reasoner flags this error automatically — why hospitals use OWL to catch contradictions in patient records before they cause harm.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274320" y="4133088"/>
            <a:ext cx="8595360" cy="530352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3"/>
          <p:cNvSpPr/>
          <p:nvPr/>
        </p:nvSpPr>
        <p:spPr>
          <a:xfrm>
            <a:off x="457200" y="416052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🏥  SNOMED CT: 350,000+ medical OWL concepts. NHS London + Sydney share records. If Drug X treats ViralInfections, OWL automatically knows it may help COVID-19 (subclass). No one needs to add that link manually!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Quiz — OWL Ontology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4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4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4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Think before checking answers!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274320" y="1216152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4"/>
          <p:cNvSpPr/>
          <p:nvPr/>
        </p:nvSpPr>
        <p:spPr>
          <a:xfrm>
            <a:off x="274320" y="1216152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274320" y="1216152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960120" y="1289304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Hospital OWL says: Surgeon subClassOf Doctor, Doctor subClassOf HealthcareWorker. Record states ':Ahmed rdf:type :Surgeon'. Without adding any more triples, what TWO facts can the OWL reasoner automatically infer about Ahmed?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4"/>
          <p:cNvSpPr/>
          <p:nvPr/>
        </p:nvSpPr>
        <p:spPr>
          <a:xfrm>
            <a:off x="274320" y="2304288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4"/>
          <p:cNvSpPr/>
          <p:nvPr/>
        </p:nvSpPr>
        <p:spPr>
          <a:xfrm>
            <a:off x="274320" y="2304288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4"/>
          <p:cNvSpPr/>
          <p:nvPr/>
        </p:nvSpPr>
        <p:spPr>
          <a:xfrm>
            <a:off x="274320" y="2304288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960120" y="2377440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data entry says: ':Robot99 rdf:type :Student' AND ':Robot99 rdf:type :Teacher'. The OWL says: Student owl:disjointWith Teacher. What does the reasoner do? Is it an error or a valid state? Why is this actually USEFUL?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274320" y="3392424"/>
            <a:ext cx="8595360" cy="9601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4"/>
          <p:cNvSpPr/>
          <p:nvPr/>
        </p:nvSpPr>
        <p:spPr>
          <a:xfrm>
            <a:off x="274320" y="3392424"/>
            <a:ext cx="566928" cy="9601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4"/>
          <p:cNvSpPr/>
          <p:nvPr/>
        </p:nvSpPr>
        <p:spPr>
          <a:xfrm>
            <a:off x="274320" y="3392424"/>
            <a:ext cx="56692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4"/>
          <p:cNvSpPr/>
          <p:nvPr/>
        </p:nvSpPr>
        <p:spPr>
          <a:xfrm>
            <a:off x="960120" y="3465576"/>
            <a:ext cx="779068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Design a mini university OWL ontology: (a) ONE subClassOf relationship, (b) ONE disjointWith relationship, (c) ONE TransitiveProperty — all related to university. Explain what each rule prevents or enables the reasoner to 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Quiz Answers — OWL Ontology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5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5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274320" y="1216152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5"/>
          <p:cNvSpPr/>
          <p:nvPr/>
        </p:nvSpPr>
        <p:spPr>
          <a:xfrm>
            <a:off x="274320" y="1216152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5"/>
          <p:cNvSpPr/>
          <p:nvPr/>
        </p:nvSpPr>
        <p:spPr>
          <a:xfrm>
            <a:off x="274320" y="1216152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5"/>
          <p:cNvSpPr/>
          <p:nvPr/>
        </p:nvSpPr>
        <p:spPr>
          <a:xfrm>
            <a:off x="896112" y="1289304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(1) Ahmed is a Doctor — via Surgeon subClassOf Doctor. (2) Ahmed is a HealthcareWorker — via Doctor subClassOf HealthcareWorker. The OWL reasoner inherits these facts automatically through the class chain. This is called 'entailment' — the hierarchy propagates upward without you writing extra triples.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5"/>
          <p:cNvSpPr/>
          <p:nvPr/>
        </p:nvSpPr>
        <p:spPr>
          <a:xfrm>
            <a:off x="274320" y="2304288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5"/>
          <p:cNvSpPr/>
          <p:nvPr/>
        </p:nvSpPr>
        <p:spPr>
          <a:xfrm>
            <a:off x="274320" y="2304288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5"/>
          <p:cNvSpPr/>
          <p:nvPr/>
        </p:nvSpPr>
        <p:spPr>
          <a:xfrm>
            <a:off x="274320" y="2304288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896112" y="2377440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INCONSISTENCY ERROR. Disjoint means nothing can belong to both. Reasoner flags a contradiction. This is a FEATURE — it catches data entry errors (perhaps Robot99 is a Teaching Assistant, not a full Student AND Teacher). Automatic error detection is the whole point of OWL's disjointWith constraint.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274320" y="3392424"/>
            <a:ext cx="8595360" cy="96012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5"/>
          <p:cNvSpPr/>
          <p:nvPr/>
        </p:nvSpPr>
        <p:spPr>
          <a:xfrm>
            <a:off x="274320" y="3392424"/>
            <a:ext cx="502920" cy="9601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5"/>
          <p:cNvSpPr/>
          <p:nvPr/>
        </p:nvSpPr>
        <p:spPr>
          <a:xfrm>
            <a:off x="274320" y="3392424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896112" y="3465576"/>
            <a:ext cx="78638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(a) subClassOf: GraduateStudent subClassOf Student — all graduate students ARE students, inheriting all student properties automatically. (b) disjointWith: Student disjointWith StaffMember — one person cannot be simultaneously enrolled and employed (simplification). (c) TransitiveProperty: 'isPrerequisiteOf' — if A prereq B, B prereq C, then A is automatically prereq C, building the full chain.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OWL Reasoning: What Can Be Inferred?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6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 each scenario, write what the OWL reasoner can infer or flag.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274320" y="1234440"/>
            <a:ext cx="4114800" cy="153619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274320" y="1234440"/>
            <a:ext cx="41148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6"/>
          <p:cNvSpPr/>
          <p:nvPr/>
        </p:nvSpPr>
        <p:spPr>
          <a:xfrm>
            <a:off x="365760" y="12344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Zoo Hierarchy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384048" y="158191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Lion subClassOf Mammal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6"/>
          <p:cNvSpPr/>
          <p:nvPr/>
        </p:nvSpPr>
        <p:spPr>
          <a:xfrm>
            <a:off x="384048" y="182880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Mammal subClassOf Animal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384048" y="2075688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Animal subClassOf LivingThing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384048" y="2322576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:Simba rdf:type :Lion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365760" y="2423160"/>
            <a:ext cx="393192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438912" y="244144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What 3 facts are automatically inferred about Simba?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6"/>
          <p:cNvSpPr/>
          <p:nvPr/>
        </p:nvSpPr>
        <p:spPr>
          <a:xfrm>
            <a:off x="4709160" y="1234440"/>
            <a:ext cx="4114800" cy="153619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6"/>
          <p:cNvSpPr/>
          <p:nvPr/>
        </p:nvSpPr>
        <p:spPr>
          <a:xfrm>
            <a:off x="4709160" y="1234440"/>
            <a:ext cx="4114800" cy="3108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6"/>
          <p:cNvSpPr/>
          <p:nvPr/>
        </p:nvSpPr>
        <p:spPr>
          <a:xfrm>
            <a:off x="4800600" y="12344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Disjoint Classes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4818888" y="158191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Car owl:disjointWith Bicycle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6"/>
          <p:cNvSpPr/>
          <p:nvPr/>
        </p:nvSpPr>
        <p:spPr>
          <a:xfrm>
            <a:off x="4818888" y="182880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:Tesla rdf:type :Car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6"/>
          <p:cNvSpPr/>
          <p:nvPr/>
        </p:nvSpPr>
        <p:spPr>
          <a:xfrm>
            <a:off x="4818888" y="2075688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:Tesla rdf:type :Bicycle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6"/>
          <p:cNvSpPr/>
          <p:nvPr/>
        </p:nvSpPr>
        <p:spPr>
          <a:xfrm>
            <a:off x="4800600" y="2423160"/>
            <a:ext cx="3931920" cy="2743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6"/>
          <p:cNvSpPr/>
          <p:nvPr/>
        </p:nvSpPr>
        <p:spPr>
          <a:xfrm>
            <a:off x="4873752" y="244144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What does the reasoner do? Is Tesla valid?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6"/>
          <p:cNvSpPr/>
          <p:nvPr/>
        </p:nvSpPr>
        <p:spPr>
          <a:xfrm>
            <a:off x="274320" y="2926080"/>
            <a:ext cx="4114800" cy="153619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6"/>
          <p:cNvSpPr/>
          <p:nvPr/>
        </p:nvSpPr>
        <p:spPr>
          <a:xfrm>
            <a:off x="274320" y="2926080"/>
            <a:ext cx="41148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6"/>
          <p:cNvSpPr/>
          <p:nvPr/>
        </p:nvSpPr>
        <p:spPr>
          <a:xfrm>
            <a:off x="365760" y="29260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Transitive Property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6"/>
          <p:cNvSpPr/>
          <p:nvPr/>
        </p:nvSpPr>
        <p:spPr>
          <a:xfrm>
            <a:off x="384048" y="327355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isPartOf is TransitiveProperty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6"/>
          <p:cNvSpPr/>
          <p:nvPr/>
        </p:nvSpPr>
        <p:spPr>
          <a:xfrm>
            <a:off x="384048" y="352044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Wheel isPartOf Engine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384048" y="3767328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Engine isPartOf Car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365760" y="4114800"/>
            <a:ext cx="3931920" cy="27432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6"/>
          <p:cNvSpPr/>
          <p:nvPr/>
        </p:nvSpPr>
        <p:spPr>
          <a:xfrm>
            <a:off x="438912" y="413308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What triple is automatically inferred?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4709160" y="2926080"/>
            <a:ext cx="4114800" cy="1536192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6"/>
          <p:cNvSpPr/>
          <p:nvPr/>
        </p:nvSpPr>
        <p:spPr>
          <a:xfrm>
            <a:off x="4709160" y="2926080"/>
            <a:ext cx="41148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6"/>
          <p:cNvSpPr/>
          <p:nvPr/>
        </p:nvSpPr>
        <p:spPr>
          <a:xfrm>
            <a:off x="4800600" y="29260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Symmetric Property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6"/>
          <p:cNvSpPr/>
          <p:nvPr/>
        </p:nvSpPr>
        <p:spPr>
          <a:xfrm>
            <a:off x="4818888" y="327355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isMarriedTo is SymmetricProperty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4818888" y="3520440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• :Ali isMarriedTo :Fatima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4800600" y="4114800"/>
            <a:ext cx="393192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6"/>
          <p:cNvSpPr/>
          <p:nvPr/>
        </p:nvSpPr>
        <p:spPr>
          <a:xfrm>
            <a:off x="4873752" y="413308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What new triple does the reasoner add?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Activity Solution — OWL Reasoning Chains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274320" y="1234440"/>
            <a:ext cx="4114800" cy="15361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7"/>
          <p:cNvSpPr/>
          <p:nvPr/>
        </p:nvSpPr>
        <p:spPr>
          <a:xfrm>
            <a:off x="274320" y="1234440"/>
            <a:ext cx="41148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365760" y="12344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Zoo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384048" y="1600200"/>
            <a:ext cx="38953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Simba is a Mammal (Lion→Mammal), Simba is an Animal (Mammal→Animal), Simba is a LivingThing (Animal→LivingThing). Three inferences from ONE stated fact — the entire chain propagates automatically.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4709160" y="1234440"/>
            <a:ext cx="4114800" cy="15361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/>
          <p:cNvSpPr/>
          <p:nvPr/>
        </p:nvSpPr>
        <p:spPr>
          <a:xfrm>
            <a:off x="4709160" y="1234440"/>
            <a:ext cx="4114800" cy="3108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27"/>
          <p:cNvSpPr/>
          <p:nvPr/>
        </p:nvSpPr>
        <p:spPr>
          <a:xfrm>
            <a:off x="4800600" y="12344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Disjoint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4818888" y="1600200"/>
            <a:ext cx="38953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INCONSISTENCY ERROR. Tesla cannot be both Car and Bicycle — disjoint classes. Reasoner flags the contradiction and marks the ontology inconsistent. The incorrect triple must be removed or corrected.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/>
          <p:nvPr/>
        </p:nvSpPr>
        <p:spPr>
          <a:xfrm>
            <a:off x="274320" y="2926080"/>
            <a:ext cx="4114800" cy="15361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7"/>
          <p:cNvSpPr/>
          <p:nvPr/>
        </p:nvSpPr>
        <p:spPr>
          <a:xfrm>
            <a:off x="274320" y="2926080"/>
            <a:ext cx="41148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7"/>
          <p:cNvSpPr/>
          <p:nvPr/>
        </p:nvSpPr>
        <p:spPr>
          <a:xfrm>
            <a:off x="365760" y="29260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Transitive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7"/>
          <p:cNvSpPr/>
          <p:nvPr/>
        </p:nvSpPr>
        <p:spPr>
          <a:xfrm>
            <a:off x="384048" y="3291840"/>
            <a:ext cx="38953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Wheel isPartOf Car — inferred automatically! Transitivity chains: A isPartOf B, B isPartOf C → A isPartOf C. The reasoner adds this triple without anyone writing it explicitly.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4709160" y="2926080"/>
            <a:ext cx="4114800" cy="15361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4709160" y="2926080"/>
            <a:ext cx="41148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7"/>
          <p:cNvSpPr/>
          <p:nvPr/>
        </p:nvSpPr>
        <p:spPr>
          <a:xfrm>
            <a:off x="4800600" y="29260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Symmetric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4818888" y="3291840"/>
            <a:ext cx="389534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:Fatima isMarriedTo :Ali is automatically inferred. Symmetric property works both ways — no need to state it twice. The reasoner adds the reverse triple automatically to maintain consistency.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28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SPARQL — Query Language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8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matching on knowledge graphs — asking questions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SPARQL — How Pattern Matching Works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2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SPARQL finds triples matching a pattern — question marks (?) are blanks that get filled in: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182880" y="1097280"/>
            <a:ext cx="2743200" cy="2743200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9"/>
          <p:cNvSpPr/>
          <p:nvPr/>
        </p:nvSpPr>
        <p:spPr>
          <a:xfrm>
            <a:off x="182880" y="1097280"/>
            <a:ext cx="27432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9"/>
          <p:cNvSpPr/>
          <p:nvPr/>
        </p:nvSpPr>
        <p:spPr>
          <a:xfrm>
            <a:off x="274320" y="109728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Knowledge Graph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9"/>
          <p:cNvSpPr/>
          <p:nvPr/>
        </p:nvSpPr>
        <p:spPr>
          <a:xfrm>
            <a:off x="256032" y="1463040"/>
            <a:ext cx="2596896" cy="310896"/>
          </a:xfrm>
          <a:prstGeom prst="rect">
            <a:avLst/>
          </a:prstGeom>
          <a:solidFill>
            <a:srgbClr val="E8F5F3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9"/>
          <p:cNvSpPr/>
          <p:nvPr/>
        </p:nvSpPr>
        <p:spPr>
          <a:xfrm>
            <a:off x="320040" y="148132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Einstein → isA → Scientist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9"/>
          <p:cNvSpPr/>
          <p:nvPr/>
        </p:nvSpPr>
        <p:spPr>
          <a:xfrm>
            <a:off x="256032" y="1810512"/>
            <a:ext cx="259689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9"/>
          <p:cNvSpPr/>
          <p:nvPr/>
        </p:nvSpPr>
        <p:spPr>
          <a:xfrm>
            <a:off x="320040" y="182880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Einstein → bornIn → Germany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9"/>
          <p:cNvSpPr/>
          <p:nvPr/>
        </p:nvSpPr>
        <p:spPr>
          <a:xfrm>
            <a:off x="256032" y="2157984"/>
            <a:ext cx="2596896" cy="310896"/>
          </a:xfrm>
          <a:prstGeom prst="rect">
            <a:avLst/>
          </a:prstGeom>
          <a:solidFill>
            <a:srgbClr val="E8F5F3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9"/>
          <p:cNvSpPr/>
          <p:nvPr/>
        </p:nvSpPr>
        <p:spPr>
          <a:xfrm>
            <a:off x="320040" y="217627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Curie → isA → Scientist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9"/>
          <p:cNvSpPr/>
          <p:nvPr/>
        </p:nvSpPr>
        <p:spPr>
          <a:xfrm>
            <a:off x="256032" y="2505456"/>
            <a:ext cx="259689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9"/>
          <p:cNvSpPr/>
          <p:nvPr/>
        </p:nvSpPr>
        <p:spPr>
          <a:xfrm>
            <a:off x="320040" y="252374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Curie → bornIn → Poland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9"/>
          <p:cNvSpPr/>
          <p:nvPr/>
        </p:nvSpPr>
        <p:spPr>
          <a:xfrm>
            <a:off x="256032" y="2852928"/>
            <a:ext cx="2596896" cy="310896"/>
          </a:xfrm>
          <a:prstGeom prst="rect">
            <a:avLst/>
          </a:prstGeom>
          <a:solidFill>
            <a:srgbClr val="E8F5F3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9"/>
          <p:cNvSpPr/>
          <p:nvPr/>
        </p:nvSpPr>
        <p:spPr>
          <a:xfrm>
            <a:off x="320040" y="287121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Newton → isA → Scientist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9"/>
          <p:cNvSpPr/>
          <p:nvPr/>
        </p:nvSpPr>
        <p:spPr>
          <a:xfrm>
            <a:off x="256032" y="3200400"/>
            <a:ext cx="259689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9"/>
          <p:cNvSpPr/>
          <p:nvPr/>
        </p:nvSpPr>
        <p:spPr>
          <a:xfrm>
            <a:off x="320040" y="321868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Newton → bornIn → England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9"/>
          <p:cNvSpPr/>
          <p:nvPr/>
        </p:nvSpPr>
        <p:spPr>
          <a:xfrm>
            <a:off x="2971800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❓ 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0" name="Google Shape;890;p29"/>
          <p:cNvCxnSpPr/>
          <p:nvPr/>
        </p:nvCxnSpPr>
        <p:spPr>
          <a:xfrm>
            <a:off x="2971800" y="2423160"/>
            <a:ext cx="731520" cy="0"/>
          </a:xfrm>
          <a:prstGeom prst="straightConnector1">
            <a:avLst/>
          </a:prstGeom>
          <a:noFill/>
          <a:ln w="254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1" name="Google Shape;891;p29"/>
          <p:cNvSpPr/>
          <p:nvPr/>
        </p:nvSpPr>
        <p:spPr>
          <a:xfrm>
            <a:off x="3749040" y="1097280"/>
            <a:ext cx="2606040" cy="2743200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9"/>
          <p:cNvSpPr/>
          <p:nvPr/>
        </p:nvSpPr>
        <p:spPr>
          <a:xfrm>
            <a:off x="3749040" y="1097280"/>
            <a:ext cx="260604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9"/>
          <p:cNvSpPr/>
          <p:nvPr/>
        </p:nvSpPr>
        <p:spPr>
          <a:xfrm>
            <a:off x="3840480" y="1097280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SPARQL Query Parts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9"/>
          <p:cNvSpPr/>
          <p:nvPr/>
        </p:nvSpPr>
        <p:spPr>
          <a:xfrm>
            <a:off x="3822192" y="1463040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9"/>
          <p:cNvSpPr/>
          <p:nvPr/>
        </p:nvSpPr>
        <p:spPr>
          <a:xfrm>
            <a:off x="3822192" y="1463040"/>
            <a:ext cx="73152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9"/>
          <p:cNvSpPr/>
          <p:nvPr/>
        </p:nvSpPr>
        <p:spPr>
          <a:xfrm>
            <a:off x="3913632" y="14813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SELECT ?name ?country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9"/>
          <p:cNvSpPr/>
          <p:nvPr/>
        </p:nvSpPr>
        <p:spPr>
          <a:xfrm>
            <a:off x="5303520" y="149961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What to return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3822192" y="1810512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9"/>
          <p:cNvSpPr/>
          <p:nvPr/>
        </p:nvSpPr>
        <p:spPr>
          <a:xfrm>
            <a:off x="3822192" y="1810512"/>
            <a:ext cx="73152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9"/>
          <p:cNvSpPr/>
          <p:nvPr/>
        </p:nvSpPr>
        <p:spPr>
          <a:xfrm>
            <a:off x="3913632" y="18288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WHERE {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5303520" y="184708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Pattern block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9"/>
          <p:cNvSpPr/>
          <p:nvPr/>
        </p:nvSpPr>
        <p:spPr>
          <a:xfrm>
            <a:off x="3822192" y="2157984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9"/>
          <p:cNvSpPr/>
          <p:nvPr/>
        </p:nvSpPr>
        <p:spPr>
          <a:xfrm>
            <a:off x="3822192" y="2157984"/>
            <a:ext cx="73152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29"/>
          <p:cNvSpPr/>
          <p:nvPr/>
        </p:nvSpPr>
        <p:spPr>
          <a:xfrm>
            <a:off x="3913632" y="2176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?person isA Scientist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9"/>
          <p:cNvSpPr/>
          <p:nvPr/>
        </p:nvSpPr>
        <p:spPr>
          <a:xfrm>
            <a:off x="5303520" y="219456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Must be Scientist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9"/>
          <p:cNvSpPr/>
          <p:nvPr/>
        </p:nvSpPr>
        <p:spPr>
          <a:xfrm>
            <a:off x="3822192" y="2505456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9"/>
          <p:cNvSpPr/>
          <p:nvPr/>
        </p:nvSpPr>
        <p:spPr>
          <a:xfrm>
            <a:off x="3822192" y="2505456"/>
            <a:ext cx="73152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9"/>
          <p:cNvSpPr/>
          <p:nvPr/>
        </p:nvSpPr>
        <p:spPr>
          <a:xfrm>
            <a:off x="3913632" y="25237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?person name ?name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9"/>
          <p:cNvSpPr/>
          <p:nvPr/>
        </p:nvSpPr>
        <p:spPr>
          <a:xfrm>
            <a:off x="5303520" y="25420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Get name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9"/>
          <p:cNvSpPr/>
          <p:nvPr/>
        </p:nvSpPr>
        <p:spPr>
          <a:xfrm>
            <a:off x="3822192" y="2852928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9"/>
          <p:cNvSpPr/>
          <p:nvPr/>
        </p:nvSpPr>
        <p:spPr>
          <a:xfrm>
            <a:off x="3822192" y="2852928"/>
            <a:ext cx="73152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9"/>
          <p:cNvSpPr/>
          <p:nvPr/>
        </p:nvSpPr>
        <p:spPr>
          <a:xfrm>
            <a:off x="3913632" y="287121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?person bornIn ?country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9"/>
          <p:cNvSpPr/>
          <p:nvPr/>
        </p:nvSpPr>
        <p:spPr>
          <a:xfrm>
            <a:off x="5303520" y="28895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Get country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9"/>
          <p:cNvSpPr/>
          <p:nvPr/>
        </p:nvSpPr>
        <p:spPr>
          <a:xfrm>
            <a:off x="3822192" y="3200400"/>
            <a:ext cx="2459736" cy="3108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9"/>
          <p:cNvSpPr/>
          <p:nvPr/>
        </p:nvSpPr>
        <p:spPr>
          <a:xfrm>
            <a:off x="3822192" y="3200400"/>
            <a:ext cx="73152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9"/>
          <p:cNvSpPr/>
          <p:nvPr/>
        </p:nvSpPr>
        <p:spPr>
          <a:xfrm>
            <a:off x="3913632" y="32186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9"/>
          <p:cNvSpPr/>
          <p:nvPr/>
        </p:nvSpPr>
        <p:spPr>
          <a:xfrm>
            <a:off x="5303520" y="3236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End pattern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9"/>
          <p:cNvSpPr/>
          <p:nvPr/>
        </p:nvSpPr>
        <p:spPr>
          <a:xfrm>
            <a:off x="6400800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Results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9" name="Google Shape;919;p29"/>
          <p:cNvCxnSpPr/>
          <p:nvPr/>
        </p:nvCxnSpPr>
        <p:spPr>
          <a:xfrm>
            <a:off x="6400800" y="2423160"/>
            <a:ext cx="731520" cy="0"/>
          </a:xfrm>
          <a:prstGeom prst="straightConnector1">
            <a:avLst/>
          </a:prstGeom>
          <a:noFill/>
          <a:ln w="254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0" name="Google Shape;920;p29"/>
          <p:cNvSpPr/>
          <p:nvPr/>
        </p:nvSpPr>
        <p:spPr>
          <a:xfrm>
            <a:off x="7178040" y="1097280"/>
            <a:ext cx="1737360" cy="274320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29"/>
          <p:cNvSpPr/>
          <p:nvPr/>
        </p:nvSpPr>
        <p:spPr>
          <a:xfrm>
            <a:off x="7178040" y="1097280"/>
            <a:ext cx="1737360" cy="310896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9"/>
          <p:cNvSpPr/>
          <p:nvPr/>
        </p:nvSpPr>
        <p:spPr>
          <a:xfrm>
            <a:off x="7205472" y="1097280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9"/>
          <p:cNvSpPr/>
          <p:nvPr/>
        </p:nvSpPr>
        <p:spPr>
          <a:xfrm>
            <a:off x="7223760" y="1481328"/>
            <a:ext cx="162763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9"/>
          <p:cNvSpPr/>
          <p:nvPr/>
        </p:nvSpPr>
        <p:spPr>
          <a:xfrm>
            <a:off x="7269480" y="1499616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Einstein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7223760" y="1865376"/>
            <a:ext cx="162763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9"/>
          <p:cNvSpPr/>
          <p:nvPr/>
        </p:nvSpPr>
        <p:spPr>
          <a:xfrm>
            <a:off x="7269480" y="1883664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Curie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Poland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9"/>
          <p:cNvSpPr/>
          <p:nvPr/>
        </p:nvSpPr>
        <p:spPr>
          <a:xfrm>
            <a:off x="7223760" y="2249424"/>
            <a:ext cx="1627632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9"/>
          <p:cNvSpPr/>
          <p:nvPr/>
        </p:nvSpPr>
        <p:spPr>
          <a:xfrm>
            <a:off x="7269480" y="2267712"/>
            <a:ext cx="15361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Newton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England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182880" y="3931920"/>
            <a:ext cx="8732520" cy="56692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9"/>
          <p:cNvSpPr/>
          <p:nvPr/>
        </p:nvSpPr>
        <p:spPr>
          <a:xfrm>
            <a:off x="365760" y="3959352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💡  The '?' symbol = VARIABLE (a blank to fill in). ?person gets filled with Einstein, Curie, Newton... ?name gets their names. SPARQL finds ALL combinations that match the pattern simultaneously!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SPARQL — 4 Query Types at a Glance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0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0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SELECT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0"/>
          <p:cNvSpPr/>
          <p:nvPr/>
        </p:nvSpPr>
        <p:spPr>
          <a:xfrm>
            <a:off x="384048" y="1225296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Retrieve data from the graph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0"/>
          <p:cNvSpPr/>
          <p:nvPr/>
        </p:nvSpPr>
        <p:spPr>
          <a:xfrm>
            <a:off x="384048" y="1572768"/>
            <a:ext cx="389534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0"/>
          <p:cNvSpPr/>
          <p:nvPr/>
        </p:nvSpPr>
        <p:spPr>
          <a:xfrm>
            <a:off x="457200" y="15910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Example: Find all Action movies → returns a 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0"/>
          <p:cNvSpPr/>
          <p:nvPr/>
        </p:nvSpPr>
        <p:spPr>
          <a:xfrm>
            <a:off x="384048" y="1965960"/>
            <a:ext cx="3895344" cy="56692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0"/>
          <p:cNvSpPr/>
          <p:nvPr/>
        </p:nvSpPr>
        <p:spPr>
          <a:xfrm>
            <a:off x="457200" y="198424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Returns: A TABLE of matching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0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F0E6F6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0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0"/>
          <p:cNvSpPr/>
          <p:nvPr/>
        </p:nvSpPr>
        <p:spPr>
          <a:xfrm>
            <a:off x="4800600" y="8229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 ASK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0"/>
          <p:cNvSpPr/>
          <p:nvPr/>
        </p:nvSpPr>
        <p:spPr>
          <a:xfrm>
            <a:off x="4818888" y="1225296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Get a TRUE or FALSE answer only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0"/>
          <p:cNvSpPr/>
          <p:nvPr/>
        </p:nvSpPr>
        <p:spPr>
          <a:xfrm>
            <a:off x="4818888" y="1572768"/>
            <a:ext cx="389534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0"/>
          <p:cNvSpPr/>
          <p:nvPr/>
        </p:nvSpPr>
        <p:spPr>
          <a:xfrm>
            <a:off x="4892040" y="15910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Example: Is Inception a SciFi film? → TRUE or FALSE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0"/>
          <p:cNvSpPr/>
          <p:nvPr/>
        </p:nvSpPr>
        <p:spPr>
          <a:xfrm>
            <a:off x="4818888" y="1965960"/>
            <a:ext cx="3895344" cy="566928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0"/>
          <p:cNvSpPr/>
          <p:nvPr/>
        </p:nvSpPr>
        <p:spPr>
          <a:xfrm>
            <a:off x="4892040" y="198424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Returns: TRUE or FALSE only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0"/>
          <p:cNvSpPr/>
          <p:nvPr/>
        </p:nvSpPr>
        <p:spPr>
          <a:xfrm>
            <a:off x="274320" y="2852928"/>
            <a:ext cx="4114800" cy="1828800"/>
          </a:xfrm>
          <a:prstGeom prst="rect">
            <a:avLst/>
          </a:prstGeom>
          <a:solidFill>
            <a:srgbClr val="FEF3E2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0"/>
          <p:cNvSpPr/>
          <p:nvPr/>
        </p:nvSpPr>
        <p:spPr>
          <a:xfrm>
            <a:off x="274320" y="2852928"/>
            <a:ext cx="4114800" cy="34747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0"/>
          <p:cNvSpPr/>
          <p:nvPr/>
        </p:nvSpPr>
        <p:spPr>
          <a:xfrm>
            <a:off x="365760" y="28529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  CONSTRUCT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0"/>
          <p:cNvSpPr/>
          <p:nvPr/>
        </p:nvSpPr>
        <p:spPr>
          <a:xfrm>
            <a:off x="384048" y="3255264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BUILD new triples from existing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0"/>
          <p:cNvSpPr/>
          <p:nvPr/>
        </p:nvSpPr>
        <p:spPr>
          <a:xfrm>
            <a:off x="384048" y="3602736"/>
            <a:ext cx="389534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0"/>
          <p:cNvSpPr/>
          <p:nvPr/>
        </p:nvSpPr>
        <p:spPr>
          <a:xfrm>
            <a:off x="457200" y="36210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Example: Combine first+last name → create fullName triple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0"/>
          <p:cNvSpPr/>
          <p:nvPr/>
        </p:nvSpPr>
        <p:spPr>
          <a:xfrm>
            <a:off x="384048" y="3995928"/>
            <a:ext cx="3895344" cy="56692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0"/>
          <p:cNvSpPr/>
          <p:nvPr/>
        </p:nvSpPr>
        <p:spPr>
          <a:xfrm>
            <a:off x="457200" y="4014216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Returns: A NEW set of triples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0"/>
          <p:cNvSpPr/>
          <p:nvPr/>
        </p:nvSpPr>
        <p:spPr>
          <a:xfrm>
            <a:off x="4709160" y="2852928"/>
            <a:ext cx="4114800" cy="1828800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30"/>
          <p:cNvSpPr/>
          <p:nvPr/>
        </p:nvSpPr>
        <p:spPr>
          <a:xfrm>
            <a:off x="4709160" y="2852928"/>
            <a:ext cx="4114800" cy="347472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0"/>
          <p:cNvSpPr/>
          <p:nvPr/>
        </p:nvSpPr>
        <p:spPr>
          <a:xfrm>
            <a:off x="4800600" y="28529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 DESCRIBE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0"/>
          <p:cNvSpPr/>
          <p:nvPr/>
        </p:nvSpPr>
        <p:spPr>
          <a:xfrm>
            <a:off x="4818888" y="3255264"/>
            <a:ext cx="389534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Return ALL facts about one resource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0"/>
          <p:cNvSpPr/>
          <p:nvPr/>
        </p:nvSpPr>
        <p:spPr>
          <a:xfrm>
            <a:off x="4818888" y="3602736"/>
            <a:ext cx="3895344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0"/>
          <p:cNvSpPr/>
          <p:nvPr/>
        </p:nvSpPr>
        <p:spPr>
          <a:xfrm>
            <a:off x="4892040" y="36210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Example: Describe :Islamabad → everything known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0"/>
          <p:cNvSpPr/>
          <p:nvPr/>
        </p:nvSpPr>
        <p:spPr>
          <a:xfrm>
            <a:off x="4818888" y="3995928"/>
            <a:ext cx="3895344" cy="56692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0"/>
          <p:cNvSpPr/>
          <p:nvPr/>
        </p:nvSpPr>
        <p:spPr>
          <a:xfrm>
            <a:off x="4892040" y="4014216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Returns: ALL triples about 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SPARQL — FILTER and OPTIONAL Keywords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FILTER narrows results. OPTIONAL includes rows even when some data is missing: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1"/>
          <p:cNvSpPr/>
          <p:nvPr/>
        </p:nvSpPr>
        <p:spPr>
          <a:xfrm>
            <a:off x="274320" y="1097280"/>
            <a:ext cx="4114800" cy="306324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1"/>
          <p:cNvSpPr/>
          <p:nvPr/>
        </p:nvSpPr>
        <p:spPr>
          <a:xfrm>
            <a:off x="274320" y="1097280"/>
            <a:ext cx="41148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31"/>
          <p:cNvSpPr/>
          <p:nvPr/>
        </p:nvSpPr>
        <p:spPr>
          <a:xfrm>
            <a:off x="36576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🔽  FILTER — Like a Sieve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1"/>
          <p:cNvSpPr/>
          <p:nvPr/>
        </p:nvSpPr>
        <p:spPr>
          <a:xfrm>
            <a:off x="365760" y="14813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All movies (before FILTER):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8" name="Google Shape;988;p31"/>
          <p:cNvGraphicFramePr/>
          <p:nvPr/>
        </p:nvGraphicFramePr>
        <p:xfrm>
          <a:off x="347472" y="1792224"/>
          <a:ext cx="3749050" cy="118115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Movie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Year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Inception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2010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Gladiator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2000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Interstellar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2014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The Notebook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2004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9" name="Google Shape;989;p31"/>
          <p:cNvSpPr/>
          <p:nvPr/>
        </p:nvSpPr>
        <p:spPr>
          <a:xfrm>
            <a:off x="347472" y="2816352"/>
            <a:ext cx="374904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1"/>
          <p:cNvSpPr/>
          <p:nvPr/>
        </p:nvSpPr>
        <p:spPr>
          <a:xfrm>
            <a:off x="457200" y="2834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FILTER  (year &gt; 2005)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1"/>
          <p:cNvSpPr/>
          <p:nvPr/>
        </p:nvSpPr>
        <p:spPr>
          <a:xfrm>
            <a:off x="365760" y="32004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After FILTER (year &gt; 2005):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2" name="Google Shape;992;p31"/>
          <p:cNvGraphicFramePr/>
          <p:nvPr/>
        </p:nvGraphicFramePr>
        <p:xfrm>
          <a:off x="347472" y="3493008"/>
          <a:ext cx="3749050" cy="70869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Movie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Year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Inception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2010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Interstellar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2014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3" name="Google Shape;993;p31"/>
          <p:cNvSpPr/>
          <p:nvPr/>
        </p:nvSpPr>
        <p:spPr>
          <a:xfrm>
            <a:off x="4754880" y="1097280"/>
            <a:ext cx="4114800" cy="3063240"/>
          </a:xfrm>
          <a:prstGeom prst="rect">
            <a:avLst/>
          </a:prstGeom>
          <a:solidFill>
            <a:srgbClr val="EAF2FB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1"/>
          <p:cNvSpPr/>
          <p:nvPr/>
        </p:nvSpPr>
        <p:spPr>
          <a:xfrm>
            <a:off x="4754880" y="1097280"/>
            <a:ext cx="4114800" cy="310896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1"/>
          <p:cNvSpPr/>
          <p:nvPr/>
        </p:nvSpPr>
        <p:spPr>
          <a:xfrm>
            <a:off x="484632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🔓  OPTIONAL — Like a Left Join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1"/>
          <p:cNvSpPr/>
          <p:nvPr/>
        </p:nvSpPr>
        <p:spPr>
          <a:xfrm>
            <a:off x="4846320" y="1481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Find all students AND their phone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(include students even without phone):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7" name="Google Shape;997;p31"/>
          <p:cNvGraphicFramePr/>
          <p:nvPr/>
        </p:nvGraphicFramePr>
        <p:xfrm>
          <a:off x="4828032" y="1993392"/>
          <a:ext cx="3931925" cy="118115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Student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Phone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7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Ali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0321-1234567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Sara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i="1" u="none" strike="noStrike" cap="none">
                          <a:solidFill>
                            <a:srgbClr val="6C757D"/>
                          </a:solidFill>
                        </a:rPr>
                        <a:t>(empty — no phone)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Ahmed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0300-9876543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Zara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i="1" u="none" strike="noStrike" cap="none">
                          <a:solidFill>
                            <a:srgbClr val="6C757D"/>
                          </a:solidFill>
                        </a:rPr>
                        <a:t>(empty — no phone)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8" name="Google Shape;998;p31"/>
          <p:cNvSpPr/>
          <p:nvPr/>
        </p:nvSpPr>
        <p:spPr>
          <a:xfrm>
            <a:off x="4828032" y="3090672"/>
            <a:ext cx="39319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1"/>
          <p:cNvSpPr/>
          <p:nvPr/>
        </p:nvSpPr>
        <p:spPr>
          <a:xfrm>
            <a:off x="4919472" y="31181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Without OPTIONAL: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1"/>
          <p:cNvSpPr/>
          <p:nvPr/>
        </p:nvSpPr>
        <p:spPr>
          <a:xfrm>
            <a:off x="4919472" y="3355848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Sara &amp; Zara excluded (no phone = no row)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1"/>
          <p:cNvSpPr/>
          <p:nvPr/>
        </p:nvSpPr>
        <p:spPr>
          <a:xfrm>
            <a:off x="4919472" y="3611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With OPTIONAL: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1"/>
          <p:cNvSpPr/>
          <p:nvPr/>
        </p:nvSpPr>
        <p:spPr>
          <a:xfrm>
            <a:off x="4919472" y="384962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students appear — phone blank if missing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3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SPARQL Movie Database Queries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32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2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2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Choose the correct query type and write the WHERE pattern.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2"/>
          <p:cNvSpPr/>
          <p:nvPr/>
        </p:nvSpPr>
        <p:spPr>
          <a:xfrm>
            <a:off x="274320" y="1188720"/>
            <a:ext cx="8595360" cy="126187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3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32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Graph — Movie Database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2"/>
          <p:cNvSpPr/>
          <p:nvPr/>
        </p:nvSpPr>
        <p:spPr>
          <a:xfrm>
            <a:off x="365760" y="1536192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/>
          <p:cNvSpPr/>
          <p:nvPr/>
        </p:nvSpPr>
        <p:spPr>
          <a:xfrm>
            <a:off x="457200" y="1554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2"/>
          <p:cNvSpPr/>
          <p:nvPr/>
        </p:nvSpPr>
        <p:spPr>
          <a:xfrm>
            <a:off x="457200" y="18288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Nolan | 2010 | SciFi | 8.8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2"/>
          <p:cNvSpPr/>
          <p:nvPr/>
        </p:nvSpPr>
        <p:spPr>
          <a:xfrm>
            <a:off x="3200400" y="1536192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32"/>
          <p:cNvSpPr/>
          <p:nvPr/>
        </p:nvSpPr>
        <p:spPr>
          <a:xfrm>
            <a:off x="3291840" y="1554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Interstellar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2"/>
          <p:cNvSpPr/>
          <p:nvPr/>
        </p:nvSpPr>
        <p:spPr>
          <a:xfrm>
            <a:off x="3291840" y="18288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Nolan | 2014 | SciFi | 8.6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2"/>
          <p:cNvSpPr/>
          <p:nvPr/>
        </p:nvSpPr>
        <p:spPr>
          <a:xfrm>
            <a:off x="5989320" y="1536192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32"/>
          <p:cNvSpPr/>
          <p:nvPr/>
        </p:nvSpPr>
        <p:spPr>
          <a:xfrm>
            <a:off x="6080760" y="1554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Gladiator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2"/>
          <p:cNvSpPr/>
          <p:nvPr/>
        </p:nvSpPr>
        <p:spPr>
          <a:xfrm>
            <a:off x="6080760" y="18288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Scott | 2000 | Action | 8.5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2"/>
          <p:cNvSpPr/>
          <p:nvPr/>
        </p:nvSpPr>
        <p:spPr>
          <a:xfrm>
            <a:off x="274320" y="2578608"/>
            <a:ext cx="4114800" cy="73152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2"/>
          <p:cNvSpPr/>
          <p:nvPr/>
        </p:nvSpPr>
        <p:spPr>
          <a:xfrm>
            <a:off x="274320" y="2578608"/>
            <a:ext cx="502920" cy="7315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32"/>
          <p:cNvSpPr/>
          <p:nvPr/>
        </p:nvSpPr>
        <p:spPr>
          <a:xfrm>
            <a:off x="274320" y="2578608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2"/>
          <p:cNvSpPr/>
          <p:nvPr/>
        </p:nvSpPr>
        <p:spPr>
          <a:xfrm>
            <a:off x="868680" y="2670048"/>
            <a:ext cx="777240" cy="22860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32"/>
          <p:cNvSpPr/>
          <p:nvPr/>
        </p:nvSpPr>
        <p:spPr>
          <a:xfrm>
            <a:off x="868680" y="267004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2"/>
          <p:cNvSpPr/>
          <p:nvPr/>
        </p:nvSpPr>
        <p:spPr>
          <a:xfrm>
            <a:off x="868680" y="292608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Find all movies directed by Christopher Nolan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2"/>
          <p:cNvSpPr/>
          <p:nvPr/>
        </p:nvSpPr>
        <p:spPr>
          <a:xfrm>
            <a:off x="868680" y="3145536"/>
            <a:ext cx="3429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Pattern: ?movie :director :Nolan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2"/>
          <p:cNvSpPr/>
          <p:nvPr/>
        </p:nvSpPr>
        <p:spPr>
          <a:xfrm>
            <a:off x="4709160" y="2578608"/>
            <a:ext cx="411480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2"/>
          <p:cNvSpPr/>
          <p:nvPr/>
        </p:nvSpPr>
        <p:spPr>
          <a:xfrm>
            <a:off x="4709160" y="2578608"/>
            <a:ext cx="502920" cy="73152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2"/>
          <p:cNvSpPr/>
          <p:nvPr/>
        </p:nvSpPr>
        <p:spPr>
          <a:xfrm>
            <a:off x="4709160" y="2578608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2"/>
          <p:cNvSpPr/>
          <p:nvPr/>
        </p:nvSpPr>
        <p:spPr>
          <a:xfrm>
            <a:off x="5303520" y="2670048"/>
            <a:ext cx="777240" cy="22860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2"/>
          <p:cNvSpPr/>
          <p:nvPr/>
        </p:nvSpPr>
        <p:spPr>
          <a:xfrm>
            <a:off x="5303520" y="267004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2"/>
          <p:cNvSpPr/>
          <p:nvPr/>
        </p:nvSpPr>
        <p:spPr>
          <a:xfrm>
            <a:off x="5303520" y="292608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Find movies with a rating ABOVE 8.6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2"/>
          <p:cNvSpPr/>
          <p:nvPr/>
        </p:nvSpPr>
        <p:spPr>
          <a:xfrm>
            <a:off x="5303520" y="3145536"/>
            <a:ext cx="3429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Use FILTER with a numerical condition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2"/>
          <p:cNvSpPr/>
          <p:nvPr/>
        </p:nvSpPr>
        <p:spPr>
          <a:xfrm>
            <a:off x="274320" y="3419856"/>
            <a:ext cx="4114800" cy="73152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32"/>
          <p:cNvSpPr/>
          <p:nvPr/>
        </p:nvSpPr>
        <p:spPr>
          <a:xfrm>
            <a:off x="274320" y="3419856"/>
            <a:ext cx="502920" cy="7315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2"/>
          <p:cNvSpPr/>
          <p:nvPr/>
        </p:nvSpPr>
        <p:spPr>
          <a:xfrm>
            <a:off x="274320" y="3419856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2"/>
          <p:cNvSpPr/>
          <p:nvPr/>
        </p:nvSpPr>
        <p:spPr>
          <a:xfrm>
            <a:off x="868680" y="3511296"/>
            <a:ext cx="777240" cy="22860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32"/>
          <p:cNvSpPr/>
          <p:nvPr/>
        </p:nvSpPr>
        <p:spPr>
          <a:xfrm>
            <a:off x="868680" y="3511296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2"/>
          <p:cNvSpPr/>
          <p:nvPr/>
        </p:nvSpPr>
        <p:spPr>
          <a:xfrm>
            <a:off x="868680" y="3767328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 there at least ONE SciFi movie in the database?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2"/>
          <p:cNvSpPr/>
          <p:nvPr/>
        </p:nvSpPr>
        <p:spPr>
          <a:xfrm>
            <a:off x="868680" y="3986784"/>
            <a:ext cx="3429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ASK returns only TRUE or FALSE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2"/>
          <p:cNvSpPr/>
          <p:nvPr/>
        </p:nvSpPr>
        <p:spPr>
          <a:xfrm>
            <a:off x="4709160" y="3419856"/>
            <a:ext cx="411480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2"/>
          <p:cNvSpPr/>
          <p:nvPr/>
        </p:nvSpPr>
        <p:spPr>
          <a:xfrm>
            <a:off x="4709160" y="3419856"/>
            <a:ext cx="502920" cy="7315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2"/>
          <p:cNvSpPr/>
          <p:nvPr/>
        </p:nvSpPr>
        <p:spPr>
          <a:xfrm>
            <a:off x="4709160" y="3419856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2"/>
          <p:cNvSpPr/>
          <p:nvPr/>
        </p:nvSpPr>
        <p:spPr>
          <a:xfrm>
            <a:off x="5303520" y="3511296"/>
            <a:ext cx="777240" cy="2286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32"/>
          <p:cNvSpPr/>
          <p:nvPr/>
        </p:nvSpPr>
        <p:spPr>
          <a:xfrm>
            <a:off x="5303520" y="3511296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2"/>
          <p:cNvSpPr/>
          <p:nvPr/>
        </p:nvSpPr>
        <p:spPr>
          <a:xfrm>
            <a:off x="5303520" y="3767328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How many movies has each director made? Sort most to least.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2"/>
          <p:cNvSpPr/>
          <p:nvPr/>
        </p:nvSpPr>
        <p:spPr>
          <a:xfrm>
            <a:off x="5303520" y="3986784"/>
            <a:ext cx="3429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Use COUNT(?movie) AS ?total, GROUP BY ?director, ORDER BY DESC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3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Solution — SPARQL Movie Queries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33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3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3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3"/>
          <p:cNvSpPr/>
          <p:nvPr/>
        </p:nvSpPr>
        <p:spPr>
          <a:xfrm>
            <a:off x="274320" y="1188720"/>
            <a:ext cx="4114800" cy="153619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33"/>
          <p:cNvSpPr/>
          <p:nvPr/>
        </p:nvSpPr>
        <p:spPr>
          <a:xfrm>
            <a:off x="274320" y="1188720"/>
            <a:ext cx="41148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3"/>
          <p:cNvSpPr/>
          <p:nvPr/>
        </p:nvSpPr>
        <p:spPr>
          <a:xfrm>
            <a:off x="365760" y="11887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— Nolan movies [SELECT]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3"/>
          <p:cNvSpPr/>
          <p:nvPr/>
        </p:nvSpPr>
        <p:spPr>
          <a:xfrm>
            <a:off x="365760" y="1536192"/>
            <a:ext cx="3931920" cy="22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33"/>
          <p:cNvSpPr/>
          <p:nvPr/>
        </p:nvSpPr>
        <p:spPr>
          <a:xfrm>
            <a:off x="438912" y="15544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ourier New"/>
              <a:buNone/>
            </a:pPr>
            <a:r>
              <a:rPr lang="en-US" sz="90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SELECT ?movie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3"/>
          <p:cNvSpPr/>
          <p:nvPr/>
        </p:nvSpPr>
        <p:spPr>
          <a:xfrm>
            <a:off x="365760" y="1783080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33"/>
          <p:cNvSpPr/>
          <p:nvPr/>
        </p:nvSpPr>
        <p:spPr>
          <a:xfrm>
            <a:off x="438912" y="180136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WHERE { ?movie :director :Nolan . 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3"/>
          <p:cNvSpPr/>
          <p:nvPr/>
        </p:nvSpPr>
        <p:spPr>
          <a:xfrm>
            <a:off x="365760" y="2359152"/>
            <a:ext cx="3931920" cy="29260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33"/>
          <p:cNvSpPr/>
          <p:nvPr/>
        </p:nvSpPr>
        <p:spPr>
          <a:xfrm>
            <a:off x="438912" y="237744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→ Inception, Interstellar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3"/>
          <p:cNvSpPr/>
          <p:nvPr/>
        </p:nvSpPr>
        <p:spPr>
          <a:xfrm>
            <a:off x="4709160" y="1188720"/>
            <a:ext cx="4114800" cy="153619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33"/>
          <p:cNvSpPr/>
          <p:nvPr/>
        </p:nvSpPr>
        <p:spPr>
          <a:xfrm>
            <a:off x="4709160" y="1188720"/>
            <a:ext cx="41148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33"/>
          <p:cNvSpPr/>
          <p:nvPr/>
        </p:nvSpPr>
        <p:spPr>
          <a:xfrm>
            <a:off x="4800600" y="11887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— Rating &gt; 8.6 [FILTER]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3"/>
          <p:cNvSpPr/>
          <p:nvPr/>
        </p:nvSpPr>
        <p:spPr>
          <a:xfrm>
            <a:off x="4800600" y="1536192"/>
            <a:ext cx="3931920" cy="22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33"/>
          <p:cNvSpPr/>
          <p:nvPr/>
        </p:nvSpPr>
        <p:spPr>
          <a:xfrm>
            <a:off x="4873752" y="15544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ourier New"/>
              <a:buNone/>
            </a:pPr>
            <a:r>
              <a:rPr lang="en-US" sz="900" b="1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SELECT ?movie ?rating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3"/>
          <p:cNvSpPr/>
          <p:nvPr/>
        </p:nvSpPr>
        <p:spPr>
          <a:xfrm>
            <a:off x="4800600" y="1783080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3"/>
          <p:cNvSpPr/>
          <p:nvPr/>
        </p:nvSpPr>
        <p:spPr>
          <a:xfrm>
            <a:off x="4873752" y="180136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WHERE { ?movie :rating ?rating 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3"/>
          <p:cNvSpPr/>
          <p:nvPr/>
        </p:nvSpPr>
        <p:spPr>
          <a:xfrm>
            <a:off x="4800600" y="2029968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33"/>
          <p:cNvSpPr/>
          <p:nvPr/>
        </p:nvSpPr>
        <p:spPr>
          <a:xfrm>
            <a:off x="4873752" y="2048256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  FILTER(?rating &gt; 8.6) 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3"/>
          <p:cNvSpPr/>
          <p:nvPr/>
        </p:nvSpPr>
        <p:spPr>
          <a:xfrm>
            <a:off x="4800600" y="2359152"/>
            <a:ext cx="3931920" cy="292608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33"/>
          <p:cNvSpPr/>
          <p:nvPr/>
        </p:nvSpPr>
        <p:spPr>
          <a:xfrm>
            <a:off x="4873752" y="237744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→ Inception (8.8)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3"/>
          <p:cNvSpPr/>
          <p:nvPr/>
        </p:nvSpPr>
        <p:spPr>
          <a:xfrm>
            <a:off x="274320" y="2880360"/>
            <a:ext cx="4114800" cy="153619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3"/>
          <p:cNvSpPr/>
          <p:nvPr/>
        </p:nvSpPr>
        <p:spPr>
          <a:xfrm>
            <a:off x="274320" y="2880360"/>
            <a:ext cx="41148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33"/>
          <p:cNvSpPr/>
          <p:nvPr/>
        </p:nvSpPr>
        <p:spPr>
          <a:xfrm>
            <a:off x="365760" y="288036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— Any SciFi? [ASK]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3"/>
          <p:cNvSpPr/>
          <p:nvPr/>
        </p:nvSpPr>
        <p:spPr>
          <a:xfrm>
            <a:off x="365760" y="3227832"/>
            <a:ext cx="3931920" cy="22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33"/>
          <p:cNvSpPr/>
          <p:nvPr/>
        </p:nvSpPr>
        <p:spPr>
          <a:xfrm>
            <a:off x="438912" y="32461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ourier New"/>
              <a:buNone/>
            </a:pPr>
            <a:r>
              <a:rPr lang="en-US" sz="900" b="1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ASK {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365760" y="3474720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3"/>
          <p:cNvSpPr/>
          <p:nvPr/>
        </p:nvSpPr>
        <p:spPr>
          <a:xfrm>
            <a:off x="438912" y="349300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  ?m :genre :SciFi . 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3"/>
          <p:cNvSpPr/>
          <p:nvPr/>
        </p:nvSpPr>
        <p:spPr>
          <a:xfrm>
            <a:off x="365760" y="4050792"/>
            <a:ext cx="3931920" cy="29260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3"/>
          <p:cNvSpPr/>
          <p:nvPr/>
        </p:nvSpPr>
        <p:spPr>
          <a:xfrm>
            <a:off x="438912" y="406908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→ TRUE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3"/>
          <p:cNvSpPr/>
          <p:nvPr/>
        </p:nvSpPr>
        <p:spPr>
          <a:xfrm>
            <a:off x="4709160" y="2880360"/>
            <a:ext cx="4114800" cy="153619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33"/>
          <p:cNvSpPr/>
          <p:nvPr/>
        </p:nvSpPr>
        <p:spPr>
          <a:xfrm>
            <a:off x="4709160" y="2880360"/>
            <a:ext cx="4114800" cy="3108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33"/>
          <p:cNvSpPr/>
          <p:nvPr/>
        </p:nvSpPr>
        <p:spPr>
          <a:xfrm>
            <a:off x="4800600" y="288036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— Director tallies [COUNT]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3"/>
          <p:cNvSpPr/>
          <p:nvPr/>
        </p:nvSpPr>
        <p:spPr>
          <a:xfrm>
            <a:off x="4800600" y="3227832"/>
            <a:ext cx="3931920" cy="228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33"/>
          <p:cNvSpPr/>
          <p:nvPr/>
        </p:nvSpPr>
        <p:spPr>
          <a:xfrm>
            <a:off x="4873752" y="32461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SELECT ?dir (COUNT(?movie) AS ?n)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3"/>
          <p:cNvSpPr/>
          <p:nvPr/>
        </p:nvSpPr>
        <p:spPr>
          <a:xfrm>
            <a:off x="4800600" y="3474720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33"/>
          <p:cNvSpPr/>
          <p:nvPr/>
        </p:nvSpPr>
        <p:spPr>
          <a:xfrm>
            <a:off x="4873752" y="349300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WHERE { ?movie :director ?dir . 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4800600" y="3721608"/>
            <a:ext cx="3931920" cy="22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33"/>
          <p:cNvSpPr/>
          <p:nvPr/>
        </p:nvSpPr>
        <p:spPr>
          <a:xfrm>
            <a:off x="4873752" y="3739896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GROUP BY ?dir  ORDER BY DESC(?n)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4800600" y="4050792"/>
            <a:ext cx="3931920" cy="29260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3"/>
          <p:cNvSpPr/>
          <p:nvPr/>
        </p:nvSpPr>
        <p:spPr>
          <a:xfrm>
            <a:off x="4873752" y="4069080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→ Nolan: 2,  Scott: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3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Quiz — SPARQL Queries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34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4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4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34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Think before checking answers!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4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4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4"/>
          <p:cNvSpPr/>
          <p:nvPr/>
        </p:nvSpPr>
        <p:spPr>
          <a:xfrm>
            <a:off x="960120" y="128930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university knowledge graph has triples: :Ali isA :Student, :Ali enrolled :CS, :Ali cgpa '3.8'. Write the WHERE pattern (in English or SPARQL) to find all CS students with CGPA above 3.5. What keyword adds the numerical condition?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4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34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4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4"/>
          <p:cNvSpPr/>
          <p:nvPr/>
        </p:nvSpPr>
        <p:spPr>
          <a:xfrm>
            <a:off x="960120" y="234086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You want to check if lecturer :DrKhan has ever taught :AI101. You only need YES or NO — which of the 4 query types do you use? Why is SELECT wrong here? Write the WHERE pattern.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4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4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34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34"/>
          <p:cNvSpPr/>
          <p:nvPr/>
        </p:nvSpPr>
        <p:spPr>
          <a:xfrm>
            <a:off x="960120" y="339242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hospital query needs all patients AND their blood type, but MUST include patients even if blood type is not recorded. Which SPARQL keyword do you need? Draw a 3-row result table showing what a patient with NO blood type looks like in the results.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3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Answers — SPARQL Queries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5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5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5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5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5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5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5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5"/>
          <p:cNvSpPr/>
          <p:nvPr/>
        </p:nvSpPr>
        <p:spPr>
          <a:xfrm>
            <a:off x="896112" y="128930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WHERE pattern needs 3 triple patterns (Student + enrolled CS + cgpa) AND a FILTER keyword for the numerical condition: { ?student isA :Student . ?student enrolled :CS . ?student cgpa ?cgpa . FILTER(?cgpa &gt; 3.5) }. All three triple patterns are AND-ed together — must match all simultaneously.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5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5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5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5"/>
          <p:cNvSpPr/>
          <p:nvPr/>
        </p:nvSpPr>
        <p:spPr>
          <a:xfrm>
            <a:off x="896112" y="234086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ASK query type. SELECT is wrong because it returns a table of results — you don't need data, just existence. ASK returns TRUE if the triple ':DrKhan :taught :AI101' exists in the graph, FALSE otherwise. WHERE pattern: { :DrKhan :taught :AI101 . }. One-line pattern.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5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5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35"/>
          <p:cNvSpPr/>
          <p:nvPr/>
        </p:nvSpPr>
        <p:spPr>
          <a:xfrm>
            <a:off x="896112" y="339242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OPTIONAL keyword. Result table: Row 1: Ali | O+ (has blood type). Row 2: Sara | (empty/null — no blood type recorded). Row 3: Ahmed | A-. Without OPTIONAL, Sara's row would be completely absent from results. OPTIONAL keeps her row and leaves the blood type cell empty — just like a SQL LEFT JOIN.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36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 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6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Probability &amp; Bayes' Theorem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6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Handling uncertainty — updating beliefs when new evidence arrives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Classical Logic Fails in the Real World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7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7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7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Classical logic is a light switch — ON or OFF. Real AI needs a DIMMER (0 to 1):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7"/>
          <p:cNvSpPr/>
          <p:nvPr/>
        </p:nvSpPr>
        <p:spPr>
          <a:xfrm>
            <a:off x="182880" y="1115568"/>
            <a:ext cx="2743200" cy="1444752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37"/>
          <p:cNvSpPr/>
          <p:nvPr/>
        </p:nvSpPr>
        <p:spPr>
          <a:xfrm>
            <a:off x="182880" y="1115568"/>
            <a:ext cx="2743200" cy="3108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7"/>
          <p:cNvSpPr/>
          <p:nvPr/>
        </p:nvSpPr>
        <p:spPr>
          <a:xfrm>
            <a:off x="256032" y="1115568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🤷 Missing Info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7"/>
          <p:cNvSpPr/>
          <p:nvPr/>
        </p:nvSpPr>
        <p:spPr>
          <a:xfrm>
            <a:off x="274320" y="14630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Ali's car not in database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7"/>
          <p:cNvSpPr/>
          <p:nvPr/>
        </p:nvSpPr>
        <p:spPr>
          <a:xfrm>
            <a:off x="274320" y="1773936"/>
            <a:ext cx="2560320" cy="219456"/>
          </a:xfrm>
          <a:prstGeom prst="rect">
            <a:avLst/>
          </a:prstGeom>
          <a:solidFill>
            <a:srgbClr val="FDECE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37"/>
          <p:cNvSpPr/>
          <p:nvPr/>
        </p:nvSpPr>
        <p:spPr>
          <a:xfrm>
            <a:off x="320040" y="17922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Logic: No car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7"/>
          <p:cNvSpPr/>
          <p:nvPr/>
        </p:nvSpPr>
        <p:spPr>
          <a:xfrm>
            <a:off x="274320" y="2011680"/>
            <a:ext cx="2560320" cy="219456"/>
          </a:xfrm>
          <a:prstGeom prst="rect">
            <a:avLst/>
          </a:prstGeom>
          <a:solidFill>
            <a:srgbClr val="E8F8F0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37"/>
          <p:cNvSpPr/>
          <p:nvPr/>
        </p:nvSpPr>
        <p:spPr>
          <a:xfrm>
            <a:off x="320040" y="202996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Reality: Maybe just not recorded yet!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7"/>
          <p:cNvSpPr/>
          <p:nvPr/>
        </p:nvSpPr>
        <p:spPr>
          <a:xfrm>
            <a:off x="3081528" y="1115568"/>
            <a:ext cx="2743200" cy="1444752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7"/>
          <p:cNvSpPr/>
          <p:nvPr/>
        </p:nvSpPr>
        <p:spPr>
          <a:xfrm>
            <a:off x="3081528" y="1115568"/>
            <a:ext cx="27432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37"/>
          <p:cNvSpPr/>
          <p:nvPr/>
        </p:nvSpPr>
        <p:spPr>
          <a:xfrm>
            <a:off x="3154680" y="1115568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Uncertain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7"/>
          <p:cNvSpPr/>
          <p:nvPr/>
        </p:nvSpPr>
        <p:spPr>
          <a:xfrm>
            <a:off x="3172968" y="14630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Thermometer: 36.9°C (±0.5° error)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7"/>
          <p:cNvSpPr/>
          <p:nvPr/>
        </p:nvSpPr>
        <p:spPr>
          <a:xfrm>
            <a:off x="3172968" y="1773936"/>
            <a:ext cx="2560320" cy="219456"/>
          </a:xfrm>
          <a:prstGeom prst="rect">
            <a:avLst/>
          </a:prstGeom>
          <a:solidFill>
            <a:srgbClr val="FDECE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37"/>
          <p:cNvSpPr/>
          <p:nvPr/>
        </p:nvSpPr>
        <p:spPr>
          <a:xfrm>
            <a:off x="3218688" y="17922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Logic: No fever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7"/>
          <p:cNvSpPr/>
          <p:nvPr/>
        </p:nvSpPr>
        <p:spPr>
          <a:xfrm>
            <a:off x="3172968" y="2011680"/>
            <a:ext cx="2560320" cy="219456"/>
          </a:xfrm>
          <a:prstGeom prst="rect">
            <a:avLst/>
          </a:prstGeom>
          <a:solidFill>
            <a:srgbClr val="E8F8F0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7"/>
          <p:cNvSpPr/>
          <p:nvPr/>
        </p:nvSpPr>
        <p:spPr>
          <a:xfrm>
            <a:off x="3218688" y="202996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Reality: Could actually be 37.3°C!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7"/>
          <p:cNvSpPr/>
          <p:nvPr/>
        </p:nvSpPr>
        <p:spPr>
          <a:xfrm>
            <a:off x="5980176" y="1115568"/>
            <a:ext cx="2743200" cy="1444752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37"/>
          <p:cNvSpPr/>
          <p:nvPr/>
        </p:nvSpPr>
        <p:spPr>
          <a:xfrm>
            <a:off x="5980176" y="1115568"/>
            <a:ext cx="27432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37"/>
          <p:cNvSpPr/>
          <p:nvPr/>
        </p:nvSpPr>
        <p:spPr>
          <a:xfrm>
            <a:off x="6053328" y="1115568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Conflicting Rules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7"/>
          <p:cNvSpPr/>
          <p:nvPr/>
        </p:nvSpPr>
        <p:spPr>
          <a:xfrm>
            <a:off x="6071616" y="14630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Birds fly. Penguins are birds.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7"/>
          <p:cNvSpPr/>
          <p:nvPr/>
        </p:nvSpPr>
        <p:spPr>
          <a:xfrm>
            <a:off x="6071616" y="1773936"/>
            <a:ext cx="2560320" cy="219456"/>
          </a:xfrm>
          <a:prstGeom prst="rect">
            <a:avLst/>
          </a:prstGeom>
          <a:solidFill>
            <a:srgbClr val="FDECE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37"/>
          <p:cNvSpPr/>
          <p:nvPr/>
        </p:nvSpPr>
        <p:spPr>
          <a:xfrm>
            <a:off x="6117336" y="17922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Logic: Penguin can fly → CONTRADICTION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7"/>
          <p:cNvSpPr/>
          <p:nvPr/>
        </p:nvSpPr>
        <p:spPr>
          <a:xfrm>
            <a:off x="6071616" y="2011680"/>
            <a:ext cx="2560320" cy="219456"/>
          </a:xfrm>
          <a:prstGeom prst="rect">
            <a:avLst/>
          </a:prstGeom>
          <a:solidFill>
            <a:srgbClr val="E8F8F0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37"/>
          <p:cNvSpPr/>
          <p:nvPr/>
        </p:nvSpPr>
        <p:spPr>
          <a:xfrm>
            <a:off x="6117336" y="202996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Reality: Need to handle exceptions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7"/>
          <p:cNvSpPr/>
          <p:nvPr/>
        </p:nvSpPr>
        <p:spPr>
          <a:xfrm>
            <a:off x="182880" y="2761488"/>
            <a:ext cx="4160520" cy="1444752"/>
          </a:xfrm>
          <a:prstGeom prst="rect">
            <a:avLst/>
          </a:prstGeom>
          <a:solidFill>
            <a:srgbClr val="EAF2FB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7"/>
          <p:cNvSpPr/>
          <p:nvPr/>
        </p:nvSpPr>
        <p:spPr>
          <a:xfrm>
            <a:off x="182880" y="2761488"/>
            <a:ext cx="4160520" cy="310896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37"/>
          <p:cNvSpPr/>
          <p:nvPr/>
        </p:nvSpPr>
        <p:spPr>
          <a:xfrm>
            <a:off x="256032" y="2761488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🌫️ Vague Words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7"/>
          <p:cNvSpPr/>
          <p:nvPr/>
        </p:nvSpPr>
        <p:spPr>
          <a:xfrm>
            <a:off x="274320" y="3108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 Lahore a 'big' city?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7"/>
          <p:cNvSpPr/>
          <p:nvPr/>
        </p:nvSpPr>
        <p:spPr>
          <a:xfrm>
            <a:off x="274320" y="3419856"/>
            <a:ext cx="3977640" cy="219456"/>
          </a:xfrm>
          <a:prstGeom prst="rect">
            <a:avLst/>
          </a:prstGeom>
          <a:solidFill>
            <a:srgbClr val="FDECE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7"/>
          <p:cNvSpPr/>
          <p:nvPr/>
        </p:nvSpPr>
        <p:spPr>
          <a:xfrm>
            <a:off x="320040" y="343814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Logic: Needs exact yes/no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7"/>
          <p:cNvSpPr/>
          <p:nvPr/>
        </p:nvSpPr>
        <p:spPr>
          <a:xfrm>
            <a:off x="274320" y="3657600"/>
            <a:ext cx="3977640" cy="219456"/>
          </a:xfrm>
          <a:prstGeom prst="rect">
            <a:avLst/>
          </a:prstGeom>
          <a:solidFill>
            <a:srgbClr val="E8F8F0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37"/>
          <p:cNvSpPr/>
          <p:nvPr/>
        </p:nvSpPr>
        <p:spPr>
          <a:xfrm>
            <a:off x="320040" y="3675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Reality: 14M = big vs UAE, small vs Tokyo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7"/>
          <p:cNvSpPr/>
          <p:nvPr/>
        </p:nvSpPr>
        <p:spPr>
          <a:xfrm>
            <a:off x="4681728" y="2761488"/>
            <a:ext cx="4160520" cy="1444752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7"/>
          <p:cNvSpPr/>
          <p:nvPr/>
        </p:nvSpPr>
        <p:spPr>
          <a:xfrm>
            <a:off x="4681728" y="2761488"/>
            <a:ext cx="416052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7"/>
          <p:cNvSpPr/>
          <p:nvPr/>
        </p:nvSpPr>
        <p:spPr>
          <a:xfrm>
            <a:off x="4754880" y="2761488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🕐 World Changes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7"/>
          <p:cNvSpPr/>
          <p:nvPr/>
        </p:nvSpPr>
        <p:spPr>
          <a:xfrm>
            <a:off x="4773168" y="3108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President X is in office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7"/>
          <p:cNvSpPr/>
          <p:nvPr/>
        </p:nvSpPr>
        <p:spPr>
          <a:xfrm>
            <a:off x="4773168" y="3419856"/>
            <a:ext cx="3977640" cy="219456"/>
          </a:xfrm>
          <a:prstGeom prst="rect">
            <a:avLst/>
          </a:prstGeom>
          <a:solidFill>
            <a:srgbClr val="FDECE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37"/>
          <p:cNvSpPr/>
          <p:nvPr/>
        </p:nvSpPr>
        <p:spPr>
          <a:xfrm>
            <a:off x="4818888" y="343814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❌ Logic: No concept of 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7"/>
          <p:cNvSpPr/>
          <p:nvPr/>
        </p:nvSpPr>
        <p:spPr>
          <a:xfrm>
            <a:off x="4773168" y="3657600"/>
            <a:ext cx="3977640" cy="219456"/>
          </a:xfrm>
          <a:prstGeom prst="rect">
            <a:avLst/>
          </a:prstGeom>
          <a:solidFill>
            <a:srgbClr val="E8F8F0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37"/>
          <p:cNvSpPr/>
          <p:nvPr/>
        </p:nvSpPr>
        <p:spPr>
          <a:xfrm>
            <a:off x="4818888" y="3675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Reality: Facts expire and change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</a:rPr>
              <a:t>Why Classical Logic Fails 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What is Classical Logic?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Classical logic works like a light switch — only ON (True) or OFF (False). There is no middle ground. Either something IS true, or it is NOT true.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The 5 Problems with Classical Logic in Real Life: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1) Missing Info: Ali's car not in database → Logic says NO CAR. Reality: maybe just not recorded yet!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2) Uncertain Data: Thermometer shows 36.9°C (±0.5° error) → Logic says NO FEVER. Reality: could be 37.3°C!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3) Conflicting Rules: Birds fly. Penguins are birds. Logic says penguin can fly → CONTRADICTION!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4) Vague Words: Is Lahore a 'big' city? Logic needs exact yes/no. Reality: big vs UAE, small vs Tokyo.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5) World Changes: President X is in office. Logic has no concept of time. Reality: facts expire!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The Solution: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We need reasoning that handles DEGREES of truth — not just yes/no. That is why AI uses Probability (0 to 1) and Fuzzy Logic.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3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Probability — The Three Basic Rules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8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8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8"/>
          <p:cNvSpPr/>
          <p:nvPr/>
        </p:nvSpPr>
        <p:spPr>
          <a:xfrm>
            <a:off x="274320" y="822960"/>
            <a:ext cx="8595360" cy="438912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8"/>
          <p:cNvSpPr/>
          <p:nvPr/>
        </p:nvSpPr>
        <p:spPr>
          <a:xfrm>
            <a:off x="365760" y="822960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Impossible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8"/>
          <p:cNvSpPr/>
          <p:nvPr/>
        </p:nvSpPr>
        <p:spPr>
          <a:xfrm>
            <a:off x="2286000" y="822960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Unlikely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8"/>
          <p:cNvSpPr/>
          <p:nvPr/>
        </p:nvSpPr>
        <p:spPr>
          <a:xfrm>
            <a:off x="4297680" y="822960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50-50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8"/>
          <p:cNvSpPr/>
          <p:nvPr/>
        </p:nvSpPr>
        <p:spPr>
          <a:xfrm>
            <a:off x="6263640" y="822960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Likely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8"/>
          <p:cNvSpPr/>
          <p:nvPr/>
        </p:nvSpPr>
        <p:spPr>
          <a:xfrm>
            <a:off x="8138160" y="822960"/>
            <a:ext cx="1097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Certain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8"/>
          <p:cNvSpPr/>
          <p:nvPr/>
        </p:nvSpPr>
        <p:spPr>
          <a:xfrm>
            <a:off x="274320" y="1389888"/>
            <a:ext cx="8595360" cy="8229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38"/>
          <p:cNvSpPr/>
          <p:nvPr/>
        </p:nvSpPr>
        <p:spPr>
          <a:xfrm>
            <a:off x="274320" y="1389888"/>
            <a:ext cx="384048" cy="82296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38"/>
          <p:cNvSpPr/>
          <p:nvPr/>
        </p:nvSpPr>
        <p:spPr>
          <a:xfrm>
            <a:off x="274320" y="1389888"/>
            <a:ext cx="38404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8"/>
          <p:cNvSpPr/>
          <p:nvPr/>
        </p:nvSpPr>
        <p:spPr>
          <a:xfrm>
            <a:off x="749808" y="1435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Complement — The Opposite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8"/>
          <p:cNvSpPr/>
          <p:nvPr/>
        </p:nvSpPr>
        <p:spPr>
          <a:xfrm>
            <a:off x="749808" y="1700784"/>
            <a:ext cx="502920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8"/>
          <p:cNvSpPr/>
          <p:nvPr/>
        </p:nvSpPr>
        <p:spPr>
          <a:xfrm>
            <a:off x="822960" y="1719072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P(NOT A) = 1 − P(A)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8"/>
          <p:cNvSpPr/>
          <p:nvPr/>
        </p:nvSpPr>
        <p:spPr>
          <a:xfrm>
            <a:off x="749808" y="1975104"/>
            <a:ext cx="80650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P(Rain)=0.7  →  P(No Rain) = 1−0.7 = 0.3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8"/>
          <p:cNvSpPr/>
          <p:nvPr/>
        </p:nvSpPr>
        <p:spPr>
          <a:xfrm>
            <a:off x="274320" y="2322576"/>
            <a:ext cx="8595360" cy="8229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38"/>
          <p:cNvSpPr/>
          <p:nvPr/>
        </p:nvSpPr>
        <p:spPr>
          <a:xfrm>
            <a:off x="274320" y="2322576"/>
            <a:ext cx="384048" cy="82296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38"/>
          <p:cNvSpPr/>
          <p:nvPr/>
        </p:nvSpPr>
        <p:spPr>
          <a:xfrm>
            <a:off x="274320" y="2322576"/>
            <a:ext cx="38404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8"/>
          <p:cNvSpPr/>
          <p:nvPr/>
        </p:nvSpPr>
        <p:spPr>
          <a:xfrm>
            <a:off x="749808" y="236829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AND Rule — Both Must Happen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8"/>
          <p:cNvSpPr/>
          <p:nvPr/>
        </p:nvSpPr>
        <p:spPr>
          <a:xfrm>
            <a:off x="749808" y="2633472"/>
            <a:ext cx="502920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8"/>
          <p:cNvSpPr/>
          <p:nvPr/>
        </p:nvSpPr>
        <p:spPr>
          <a:xfrm>
            <a:off x="822960" y="2651760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P(A AND B) = P(A) × P(B)   [if independent]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8"/>
          <p:cNvSpPr/>
          <p:nvPr/>
        </p:nvSpPr>
        <p:spPr>
          <a:xfrm>
            <a:off x="749808" y="2907792"/>
            <a:ext cx="80650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P(Heads AND Heads again) = 0.5 × 0.5 = 0.25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8"/>
          <p:cNvSpPr/>
          <p:nvPr/>
        </p:nvSpPr>
        <p:spPr>
          <a:xfrm>
            <a:off x="274320" y="3255264"/>
            <a:ext cx="8595360" cy="8229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38"/>
          <p:cNvSpPr/>
          <p:nvPr/>
        </p:nvSpPr>
        <p:spPr>
          <a:xfrm>
            <a:off x="274320" y="3255264"/>
            <a:ext cx="384048" cy="82296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8"/>
          <p:cNvSpPr/>
          <p:nvPr/>
        </p:nvSpPr>
        <p:spPr>
          <a:xfrm>
            <a:off x="274320" y="3255264"/>
            <a:ext cx="38404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8"/>
          <p:cNvSpPr/>
          <p:nvPr/>
        </p:nvSpPr>
        <p:spPr>
          <a:xfrm>
            <a:off x="749808" y="33009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Conditional Probability — Given Something Happened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8"/>
          <p:cNvSpPr/>
          <p:nvPr/>
        </p:nvSpPr>
        <p:spPr>
          <a:xfrm>
            <a:off x="749808" y="3566160"/>
            <a:ext cx="502920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8"/>
          <p:cNvSpPr/>
          <p:nvPr/>
        </p:nvSpPr>
        <p:spPr>
          <a:xfrm>
            <a:off x="822960" y="3584448"/>
            <a:ext cx="4892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P(A | B) = 'Probability of A, GIVEN B already happened'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8"/>
          <p:cNvSpPr/>
          <p:nvPr/>
        </p:nvSpPr>
        <p:spPr>
          <a:xfrm>
            <a:off x="749808" y="3840480"/>
            <a:ext cx="80650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P(Ace | card is a Spade) = 1/13  — universe shrinks to 13 cards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2" name="Google Shape;125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1389888"/>
            <a:ext cx="3383280" cy="1719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</a:rPr>
              <a:t>Probability Rules 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Rule 1 — Complement: P(NOT A) = 1 - P(A)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Example: P(Rain) = 0.7,  so P(No Rain) = 1 - 0.7 = 0.3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WHY? All probabilities must add up to 1.0. If 70% chance of rain, exactly 30% must be no-rain.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Rule 2 — AND Rule: P(A AND B) = P(A) x P(B)  [if independent]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Example: P(Heads AND Heads again) = 0.5 × 0.5 = 0.25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WHY multiply? For BOTH to happen, coin 1 must be heads (50%) AND THEN coin 2 also heads (50%).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Independent events multiply because each event does not affect the other.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7A6E"/>
                </a:solidFill>
                <a:latin typeface="Calibri"/>
              </a:rPr>
              <a:t>Rule 3 — Conditional Probability: P(A | B) = Prob of A GIVEN B already happened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Example: P(Ace | card is a Spade) = 1/13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WHY 1/13? The condition 'card is a Spade' SHRINKS the universe from all 52 cards to only 13 spades.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Of those 13 spades, only 1 is an Ace. So probability = 1/13.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2C3E50"/>
                </a:solidFill>
                <a:latin typeface="Calibri"/>
              </a:rPr>
              <a:t>KEY: The | symbol always means the sample space shrinks to just the given condition.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3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Bayes' Theorem — Updating Beliefs With Evidence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9"/>
          <p:cNvSpPr/>
          <p:nvPr/>
        </p:nvSpPr>
        <p:spPr>
          <a:xfrm>
            <a:off x="274320" y="804672"/>
            <a:ext cx="8595360" cy="1170432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9"/>
          <p:cNvSpPr/>
          <p:nvPr/>
        </p:nvSpPr>
        <p:spPr>
          <a:xfrm>
            <a:off x="41148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🕵️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arrives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9"/>
          <p:cNvSpPr/>
          <p:nvPr/>
        </p:nvSpPr>
        <p:spPr>
          <a:xfrm>
            <a:off x="137160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9"/>
          <p:cNvSpPr/>
          <p:nvPr/>
        </p:nvSpPr>
        <p:spPr>
          <a:xfrm>
            <a:off x="233172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PRIOR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Belief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9"/>
          <p:cNvSpPr/>
          <p:nvPr/>
        </p:nvSpPr>
        <p:spPr>
          <a:xfrm>
            <a:off x="329184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➤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9"/>
          <p:cNvSpPr/>
          <p:nvPr/>
        </p:nvSpPr>
        <p:spPr>
          <a:xfrm>
            <a:off x="425196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arrives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9"/>
          <p:cNvSpPr/>
          <p:nvPr/>
        </p:nvSpPr>
        <p:spPr>
          <a:xfrm>
            <a:off x="521208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➤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9"/>
          <p:cNvSpPr/>
          <p:nvPr/>
        </p:nvSpPr>
        <p:spPr>
          <a:xfrm>
            <a:off x="617220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POSTERIOR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Updated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9"/>
          <p:cNvSpPr/>
          <p:nvPr/>
        </p:nvSpPr>
        <p:spPr>
          <a:xfrm>
            <a:off x="713232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9"/>
          <p:cNvSpPr/>
          <p:nvPr/>
        </p:nvSpPr>
        <p:spPr>
          <a:xfrm>
            <a:off x="8092440" y="841248"/>
            <a:ext cx="868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BAYES'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A6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7A6E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9"/>
          <p:cNvSpPr/>
          <p:nvPr/>
        </p:nvSpPr>
        <p:spPr>
          <a:xfrm>
            <a:off x="274320" y="2084832"/>
            <a:ext cx="8595360" cy="91440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39"/>
          <p:cNvSpPr/>
          <p:nvPr/>
        </p:nvSpPr>
        <p:spPr>
          <a:xfrm>
            <a:off x="548640" y="217627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P(H | E)  =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9"/>
          <p:cNvSpPr/>
          <p:nvPr/>
        </p:nvSpPr>
        <p:spPr>
          <a:xfrm>
            <a:off x="2743200" y="214884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9E79F"/>
                </a:solidFill>
                <a:latin typeface="Calibri"/>
                <a:ea typeface="Calibri"/>
                <a:cs typeface="Calibri"/>
                <a:sym typeface="Calibri"/>
              </a:rPr>
              <a:t>P(E | H) × P(H)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6" name="Google Shape;1276;p39"/>
          <p:cNvCxnSpPr/>
          <p:nvPr/>
        </p:nvCxnSpPr>
        <p:spPr>
          <a:xfrm>
            <a:off x="2743200" y="2542032"/>
            <a:ext cx="3200400" cy="0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7" name="Google Shape;1277;p39"/>
          <p:cNvSpPr/>
          <p:nvPr/>
        </p:nvSpPr>
        <p:spPr>
          <a:xfrm>
            <a:off x="2743200" y="25603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9E79F"/>
                </a:solidFill>
                <a:latin typeface="Calibri"/>
                <a:ea typeface="Calibri"/>
                <a:cs typeface="Calibri"/>
                <a:sym typeface="Calibri"/>
              </a:rPr>
              <a:t>P(E)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9"/>
          <p:cNvSpPr/>
          <p:nvPr/>
        </p:nvSpPr>
        <p:spPr>
          <a:xfrm>
            <a:off x="6080760" y="2176272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E79F"/>
                </a:solidFill>
                <a:latin typeface="Calibri"/>
                <a:ea typeface="Calibri"/>
                <a:cs typeface="Calibri"/>
                <a:sym typeface="Calibri"/>
              </a:rPr>
              <a:t>← Posterior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E79F"/>
                </a:solidFill>
                <a:latin typeface="Calibri"/>
                <a:ea typeface="Calibri"/>
                <a:cs typeface="Calibri"/>
                <a:sym typeface="Calibri"/>
              </a:rPr>
              <a:t>  (THE ANSWER)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9"/>
          <p:cNvSpPr/>
          <p:nvPr/>
        </p:nvSpPr>
        <p:spPr>
          <a:xfrm>
            <a:off x="274320" y="3127248"/>
            <a:ext cx="4114800" cy="53035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39"/>
          <p:cNvSpPr/>
          <p:nvPr/>
        </p:nvSpPr>
        <p:spPr>
          <a:xfrm>
            <a:off x="365760" y="317296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P(H)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9"/>
          <p:cNvSpPr/>
          <p:nvPr/>
        </p:nvSpPr>
        <p:spPr>
          <a:xfrm>
            <a:off x="1600200" y="321868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Prior — Your belief BEFORE seeing any evidence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9"/>
          <p:cNvSpPr/>
          <p:nvPr/>
        </p:nvSpPr>
        <p:spPr>
          <a:xfrm>
            <a:off x="4709160" y="3127248"/>
            <a:ext cx="4114800" cy="53035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39"/>
          <p:cNvSpPr/>
          <p:nvPr/>
        </p:nvSpPr>
        <p:spPr>
          <a:xfrm>
            <a:off x="4800600" y="317296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7D3C98"/>
                </a:solidFill>
                <a:latin typeface="Courier New"/>
                <a:ea typeface="Courier New"/>
                <a:cs typeface="Courier New"/>
                <a:sym typeface="Courier New"/>
              </a:rPr>
              <a:t>P(E|H)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9"/>
          <p:cNvSpPr/>
          <p:nvPr/>
        </p:nvSpPr>
        <p:spPr>
          <a:xfrm>
            <a:off x="6035040" y="321868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Likelihood — How likely is evidence E if H is true?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9"/>
          <p:cNvSpPr/>
          <p:nvPr/>
        </p:nvSpPr>
        <p:spPr>
          <a:xfrm>
            <a:off x="274320" y="3785616"/>
            <a:ext cx="4114800" cy="530352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39"/>
          <p:cNvSpPr/>
          <p:nvPr/>
        </p:nvSpPr>
        <p:spPr>
          <a:xfrm>
            <a:off x="365760" y="383133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P(E)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9"/>
          <p:cNvSpPr/>
          <p:nvPr/>
        </p:nvSpPr>
        <p:spPr>
          <a:xfrm>
            <a:off x="1600200" y="387705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Evidence Prob. — Overall chance of seeing E (all causes)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9"/>
          <p:cNvSpPr/>
          <p:nvPr/>
        </p:nvSpPr>
        <p:spPr>
          <a:xfrm>
            <a:off x="4709160" y="3785616"/>
            <a:ext cx="4114800" cy="530352"/>
          </a:xfrm>
          <a:prstGeom prst="rect">
            <a:avLst/>
          </a:prstGeom>
          <a:solidFill>
            <a:srgbClr val="E8F8F0"/>
          </a:solidFill>
          <a:ln w="254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39"/>
          <p:cNvSpPr/>
          <p:nvPr/>
        </p:nvSpPr>
        <p:spPr>
          <a:xfrm>
            <a:off x="4800600" y="383133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P(H|E)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9"/>
          <p:cNvSpPr/>
          <p:nvPr/>
        </p:nvSpPr>
        <p:spPr>
          <a:xfrm>
            <a:off x="6035040" y="387705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Posterior ★ — Belief AFTER evidence — THIS is your answer!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Bayes Theorem — What Each Part Really Means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7A6E"/>
                </a:solidFill>
                <a:latin typeface="Calibri"/>
              </a:rPr>
              <a:t>The Formula: P(H|E) = P(E|H) x P(H) / P(E)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7A6E"/>
                </a:solidFill>
                <a:latin typeface="Calibri"/>
              </a:rPr>
              <a:t>P(H) — Prior Probability: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Your belief BEFORE seeing any evidence. Example: Before any test, you believe P(Disease) = 0.01 — only 1% of the population has this disease.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7A6E"/>
                </a:solidFill>
                <a:latin typeface="Calibri"/>
              </a:rPr>
              <a:t>P(E|H) — Likelihood: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How likely is the evidence IF hypothesis H is true? Example: P(Positive Test | Disease) = 0.95 means IF the person is sick, the test correctly catches it 95% of the time.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7A6E"/>
                </a:solidFill>
                <a:latin typeface="Calibri"/>
              </a:rPr>
              <a:t>P(E) — Total Evidence Probability: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The overall chance of seeing this evidence from ALL causes. Calculated by: P(E|H)</a:t>
            </a:r>
            <a:r>
              <a:rPr lang="en-US" b="0" i="0" u="none" strike="noStrike" cap="none" dirty="0" err="1">
                <a:solidFill>
                  <a:srgbClr val="2C3E50"/>
                </a:solidFill>
                <a:latin typeface="Calibri"/>
              </a:rPr>
              <a:t>xP</a:t>
            </a: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(H) + P(</a:t>
            </a:r>
            <a:r>
              <a:rPr lang="en-US" b="0" i="0" u="none" strike="noStrike" cap="none" dirty="0" err="1">
                <a:solidFill>
                  <a:srgbClr val="2C3E50"/>
                </a:solidFill>
                <a:latin typeface="Calibri"/>
              </a:rPr>
              <a:t>E|not</a:t>
            </a: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 H)</a:t>
            </a:r>
            <a:r>
              <a:rPr lang="en-US" b="0" i="0" u="none" strike="noStrike" cap="none" dirty="0" err="1">
                <a:solidFill>
                  <a:srgbClr val="2C3E50"/>
                </a:solidFill>
                <a:latin typeface="Calibri"/>
              </a:rPr>
              <a:t>xP</a:t>
            </a: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(not H). This combines the sick AND healthy populations.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7A6E"/>
                </a:solidFill>
                <a:latin typeface="Calibri"/>
              </a:rPr>
              <a:t>P(H|E) — Posterior (THE ANSWER):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</a:rPr>
              <a:t>Your UPDATED belief AFTER seeing the evidence E. This is what Bayes gives you — a smarter probability that combines your prior belief with the new evidence. Posterior becomes the new Prior for the next evidence!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4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Bayes' Theorem — Fully Worked: Medical Test Example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4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0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40"/>
          <p:cNvSpPr/>
          <p:nvPr/>
        </p:nvSpPr>
        <p:spPr>
          <a:xfrm>
            <a:off x="457200" y="786384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Given:  Disease affects 1% — P(D)=0.01  |  Test 95% accurate for sick — P(+|D)=0.95  |  False alarms 10% — P(+|no D)=0.10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0"/>
          <p:cNvSpPr/>
          <p:nvPr/>
        </p:nvSpPr>
        <p:spPr>
          <a:xfrm>
            <a:off x="274320" y="1481328"/>
            <a:ext cx="2743200" cy="182880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40"/>
          <p:cNvSpPr/>
          <p:nvPr/>
        </p:nvSpPr>
        <p:spPr>
          <a:xfrm>
            <a:off x="274320" y="1481328"/>
            <a:ext cx="27432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40"/>
          <p:cNvSpPr/>
          <p:nvPr/>
        </p:nvSpPr>
        <p:spPr>
          <a:xfrm>
            <a:off x="365760" y="148132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List What We Know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0"/>
          <p:cNvSpPr/>
          <p:nvPr/>
        </p:nvSpPr>
        <p:spPr>
          <a:xfrm>
            <a:off x="365760" y="1847088"/>
            <a:ext cx="25603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40"/>
          <p:cNvSpPr/>
          <p:nvPr/>
        </p:nvSpPr>
        <p:spPr>
          <a:xfrm>
            <a:off x="411480" y="186537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P(Disease) =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40"/>
          <p:cNvSpPr/>
          <p:nvPr/>
        </p:nvSpPr>
        <p:spPr>
          <a:xfrm>
            <a:off x="1645920" y="186537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0.01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40"/>
          <p:cNvSpPr/>
          <p:nvPr/>
        </p:nvSpPr>
        <p:spPr>
          <a:xfrm>
            <a:off x="365760" y="2176272"/>
            <a:ext cx="25603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40"/>
          <p:cNvSpPr/>
          <p:nvPr/>
        </p:nvSpPr>
        <p:spPr>
          <a:xfrm>
            <a:off x="411480" y="21945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P(No Disease) =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0"/>
          <p:cNvSpPr/>
          <p:nvPr/>
        </p:nvSpPr>
        <p:spPr>
          <a:xfrm>
            <a:off x="1645920" y="21945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1 − 0.01 = 0.99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40"/>
          <p:cNvSpPr/>
          <p:nvPr/>
        </p:nvSpPr>
        <p:spPr>
          <a:xfrm>
            <a:off x="365760" y="2505456"/>
            <a:ext cx="25603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40"/>
          <p:cNvSpPr/>
          <p:nvPr/>
        </p:nvSpPr>
        <p:spPr>
          <a:xfrm>
            <a:off x="411480" y="252374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P(+ | Disease) =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0"/>
          <p:cNvSpPr/>
          <p:nvPr/>
        </p:nvSpPr>
        <p:spPr>
          <a:xfrm>
            <a:off x="1645920" y="252374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0.95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0"/>
          <p:cNvSpPr/>
          <p:nvPr/>
        </p:nvSpPr>
        <p:spPr>
          <a:xfrm>
            <a:off x="365760" y="2834640"/>
            <a:ext cx="2560320" cy="274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40"/>
          <p:cNvSpPr/>
          <p:nvPr/>
        </p:nvSpPr>
        <p:spPr>
          <a:xfrm>
            <a:off x="411480" y="285292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P(+ | No Disease) =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0"/>
          <p:cNvSpPr/>
          <p:nvPr/>
        </p:nvSpPr>
        <p:spPr>
          <a:xfrm>
            <a:off x="1645920" y="285292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0.10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40"/>
          <p:cNvSpPr/>
          <p:nvPr/>
        </p:nvSpPr>
        <p:spPr>
          <a:xfrm>
            <a:off x="3172968" y="1481328"/>
            <a:ext cx="2743200" cy="182880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40"/>
          <p:cNvSpPr/>
          <p:nvPr/>
        </p:nvSpPr>
        <p:spPr>
          <a:xfrm>
            <a:off x="3172968" y="1481328"/>
            <a:ext cx="27432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40"/>
          <p:cNvSpPr/>
          <p:nvPr/>
        </p:nvSpPr>
        <p:spPr>
          <a:xfrm>
            <a:off x="3264408" y="148132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Find P(+) — Total Probability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40"/>
          <p:cNvSpPr/>
          <p:nvPr/>
        </p:nvSpPr>
        <p:spPr>
          <a:xfrm>
            <a:off x="3264408" y="1828800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40"/>
          <p:cNvSpPr/>
          <p:nvPr/>
        </p:nvSpPr>
        <p:spPr>
          <a:xfrm>
            <a:off x="3310128" y="1847088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P(+) = P(+|D)×P(D) + P(+|no D)×P(no 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40"/>
          <p:cNvSpPr/>
          <p:nvPr/>
        </p:nvSpPr>
        <p:spPr>
          <a:xfrm>
            <a:off x="3264408" y="2176272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40"/>
          <p:cNvSpPr/>
          <p:nvPr/>
        </p:nvSpPr>
        <p:spPr>
          <a:xfrm>
            <a:off x="3310128" y="219456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 (0.95 × 0.01) + (0.10 × 0.99)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40"/>
          <p:cNvSpPr/>
          <p:nvPr/>
        </p:nvSpPr>
        <p:spPr>
          <a:xfrm>
            <a:off x="3264408" y="2523744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40"/>
          <p:cNvSpPr/>
          <p:nvPr/>
        </p:nvSpPr>
        <p:spPr>
          <a:xfrm>
            <a:off x="3310128" y="254203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 0.0095 + 0.099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40"/>
          <p:cNvSpPr/>
          <p:nvPr/>
        </p:nvSpPr>
        <p:spPr>
          <a:xfrm>
            <a:off x="3264408" y="2871216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40"/>
          <p:cNvSpPr/>
          <p:nvPr/>
        </p:nvSpPr>
        <p:spPr>
          <a:xfrm>
            <a:off x="3310128" y="28895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 0.1085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0"/>
          <p:cNvSpPr/>
          <p:nvPr/>
        </p:nvSpPr>
        <p:spPr>
          <a:xfrm>
            <a:off x="6071616" y="1481328"/>
            <a:ext cx="2743200" cy="182880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40"/>
          <p:cNvSpPr/>
          <p:nvPr/>
        </p:nvSpPr>
        <p:spPr>
          <a:xfrm>
            <a:off x="6071616" y="1481328"/>
            <a:ext cx="2743200" cy="310896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40"/>
          <p:cNvSpPr/>
          <p:nvPr/>
        </p:nvSpPr>
        <p:spPr>
          <a:xfrm>
            <a:off x="6163056" y="148132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Apply Bayes' Formula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0"/>
          <p:cNvSpPr/>
          <p:nvPr/>
        </p:nvSpPr>
        <p:spPr>
          <a:xfrm>
            <a:off x="6163056" y="1828800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0"/>
          <p:cNvSpPr/>
          <p:nvPr/>
        </p:nvSpPr>
        <p:spPr>
          <a:xfrm>
            <a:off x="6208776" y="1847088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P(D|+) = P(+|D) × P(D)  /  P(+)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0"/>
          <p:cNvSpPr/>
          <p:nvPr/>
        </p:nvSpPr>
        <p:spPr>
          <a:xfrm>
            <a:off x="6163056" y="2176272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0"/>
          <p:cNvSpPr/>
          <p:nvPr/>
        </p:nvSpPr>
        <p:spPr>
          <a:xfrm>
            <a:off x="6208776" y="219456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 (0.95 × 0.01) / 0.1085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0"/>
          <p:cNvSpPr/>
          <p:nvPr/>
        </p:nvSpPr>
        <p:spPr>
          <a:xfrm>
            <a:off x="6163056" y="2523744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40"/>
          <p:cNvSpPr/>
          <p:nvPr/>
        </p:nvSpPr>
        <p:spPr>
          <a:xfrm>
            <a:off x="6208776" y="254203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 0.0095 / 0.1085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0"/>
          <p:cNvSpPr/>
          <p:nvPr/>
        </p:nvSpPr>
        <p:spPr>
          <a:xfrm>
            <a:off x="6163056" y="2871216"/>
            <a:ext cx="256032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40"/>
          <p:cNvSpPr/>
          <p:nvPr/>
        </p:nvSpPr>
        <p:spPr>
          <a:xfrm>
            <a:off x="6208776" y="28895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≈ 0.0876  =  8.76%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0" name="Google Shape;134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3429000"/>
            <a:ext cx="3840480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40"/>
          <p:cNvSpPr/>
          <p:nvPr/>
        </p:nvSpPr>
        <p:spPr>
          <a:xfrm>
            <a:off x="4251960" y="3429000"/>
            <a:ext cx="4617720" cy="1298448"/>
          </a:xfrm>
          <a:prstGeom prst="rect">
            <a:avLst/>
          </a:prstGeom>
          <a:solidFill>
            <a:srgbClr val="FEF3E2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40"/>
          <p:cNvSpPr/>
          <p:nvPr/>
        </p:nvSpPr>
        <p:spPr>
          <a:xfrm>
            <a:off x="4434840" y="34747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🎯  Surprising Result!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0"/>
          <p:cNvSpPr/>
          <p:nvPr/>
        </p:nvSpPr>
        <p:spPr>
          <a:xfrm>
            <a:off x="4434840" y="3767328"/>
            <a:ext cx="429768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Despite a positive test, only ~9% chance of actually being sick. Why? Disease is RARE (1%), so most positives are FALSE ALARMS from healthy people. This is the BASE RATE effect — prior probability dominates!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</a:rPr>
              <a:t>Medical Test — Why Only 8.76%? 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Your intuition says: Test is 95% accurate → I must be 95% likely sick! This feels right but is WRONG.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Imagine 1 crore (10 million) people from Lahore all get tested: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Sick people (1% of 1 crore) = 1,00,000 people are truly sick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Healthy people (99% of 1 crore) = 99,00,000 people are perfectly healthy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Now run the test on ALL of them: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Sick group: Test catches 95% correctly → 95,000 TRUE positives ✅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Healthy group: 10% false alarm rate → 9,90,000 FALSE positives ❌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Total positive results = 95,000 + 9,90,000 = 10,85,000 positives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But only 95,000 of them are truly sick!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95,000 / 10,85,000 = 8.76% — most positives are false alarms!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The KEY INSIGHT — Base Rate Effect: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Healthy people (99,00,000) vastly outnumber sick people (1,00,000). Even a small 10% false alarm rate on that HUGE healthy group creates far more false positives than real cases from the tiny sick group. The rarity of the disease DOMINATES everything.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4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Apply Bayes' Theorem: COVID Test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4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4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41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1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Complete all 3 steps. Show every calculation.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41"/>
          <p:cNvSpPr/>
          <p:nvPr/>
        </p:nvSpPr>
        <p:spPr>
          <a:xfrm>
            <a:off x="274320" y="1188720"/>
            <a:ext cx="8595360" cy="82296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1"/>
          <p:cNvSpPr/>
          <p:nvPr/>
        </p:nvSpPr>
        <p:spPr>
          <a:xfrm>
            <a:off x="457200" y="121615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Given Information: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41"/>
          <p:cNvSpPr/>
          <p:nvPr/>
        </p:nvSpPr>
        <p:spPr>
          <a:xfrm>
            <a:off x="457200" y="157276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41"/>
          <p:cNvSpPr/>
          <p:nvPr/>
        </p:nvSpPr>
        <p:spPr>
          <a:xfrm>
            <a:off x="868680" y="15910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5% have COVID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41"/>
          <p:cNvSpPr/>
          <p:nvPr/>
        </p:nvSpPr>
        <p:spPr>
          <a:xfrm>
            <a:off x="868680" y="179222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P(COVID) = 0.05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1"/>
          <p:cNvSpPr/>
          <p:nvPr/>
        </p:nvSpPr>
        <p:spPr>
          <a:xfrm>
            <a:off x="3337560" y="157276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41"/>
          <p:cNvSpPr/>
          <p:nvPr/>
        </p:nvSpPr>
        <p:spPr>
          <a:xfrm>
            <a:off x="3749040" y="15910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Test detects 90%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41"/>
          <p:cNvSpPr/>
          <p:nvPr/>
        </p:nvSpPr>
        <p:spPr>
          <a:xfrm>
            <a:off x="3749040" y="179222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P(+ | COVID) = 0.90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1"/>
          <p:cNvSpPr/>
          <p:nvPr/>
        </p:nvSpPr>
        <p:spPr>
          <a:xfrm>
            <a:off x="6217920" y="157276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1"/>
          <p:cNvSpPr/>
          <p:nvPr/>
        </p:nvSpPr>
        <p:spPr>
          <a:xfrm>
            <a:off x="6629400" y="15910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False positives 8%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41"/>
          <p:cNvSpPr/>
          <p:nvPr/>
        </p:nvSpPr>
        <p:spPr>
          <a:xfrm>
            <a:off x="6629400" y="179222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8449"/>
                </a:solidFill>
                <a:latin typeface="Courier New"/>
                <a:ea typeface="Courier New"/>
                <a:cs typeface="Courier New"/>
                <a:sym typeface="Courier New"/>
              </a:rPr>
              <a:t>P(+ | No COVID) = 0.08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41"/>
          <p:cNvSpPr/>
          <p:nvPr/>
        </p:nvSpPr>
        <p:spPr>
          <a:xfrm>
            <a:off x="274320" y="2121408"/>
            <a:ext cx="8595360" cy="38404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41"/>
          <p:cNvSpPr/>
          <p:nvPr/>
        </p:nvSpPr>
        <p:spPr>
          <a:xfrm>
            <a:off x="457200" y="213969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 A person tests POSITIVE. What is P(COVID | positive test)?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1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41"/>
          <p:cNvSpPr/>
          <p:nvPr/>
        </p:nvSpPr>
        <p:spPr>
          <a:xfrm>
            <a:off x="274320" y="2633472"/>
            <a:ext cx="640080" cy="59436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41"/>
          <p:cNvSpPr/>
          <p:nvPr/>
        </p:nvSpPr>
        <p:spPr>
          <a:xfrm>
            <a:off x="274320" y="2633472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41"/>
          <p:cNvSpPr/>
          <p:nvPr/>
        </p:nvSpPr>
        <p:spPr>
          <a:xfrm>
            <a:off x="987552" y="2688336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List all known values: P(COVID)=___, P(No COVID)=1−___=___, P(+|COVID)=___, P(+|No COVID)=___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1"/>
          <p:cNvSpPr/>
          <p:nvPr/>
        </p:nvSpPr>
        <p:spPr>
          <a:xfrm>
            <a:off x="274320" y="3328416"/>
            <a:ext cx="8595360" cy="5943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41"/>
          <p:cNvSpPr/>
          <p:nvPr/>
        </p:nvSpPr>
        <p:spPr>
          <a:xfrm>
            <a:off x="274320" y="3328416"/>
            <a:ext cx="640080" cy="59436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1"/>
          <p:cNvSpPr/>
          <p:nvPr/>
        </p:nvSpPr>
        <p:spPr>
          <a:xfrm>
            <a:off x="274320" y="332841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1"/>
          <p:cNvSpPr/>
          <p:nvPr/>
        </p:nvSpPr>
        <p:spPr>
          <a:xfrm>
            <a:off x="987552" y="338328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Calculate P(+) using Total Probability: P(+) = (P(+|COVID) × P(COVID)) + (P(+|No COVID) × P(No COVID)) = (___×___) + (___×___) = ___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1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41"/>
          <p:cNvSpPr/>
          <p:nvPr/>
        </p:nvSpPr>
        <p:spPr>
          <a:xfrm>
            <a:off x="274320" y="4023360"/>
            <a:ext cx="640080" cy="59436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41"/>
          <p:cNvSpPr/>
          <p:nvPr/>
        </p:nvSpPr>
        <p:spPr>
          <a:xfrm>
            <a:off x="274320" y="402336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1"/>
          <p:cNvSpPr/>
          <p:nvPr/>
        </p:nvSpPr>
        <p:spPr>
          <a:xfrm>
            <a:off x="987552" y="407822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Apply Bayes and Interpret: P(COVID|+) = (P(+|COVID) × P(COVID)) / P(+) = ___ / ___ ≈ ___   Interpretation: what should the patient do next?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4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Activity Solution — COVID Bayes Calculation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42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2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4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42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2"/>
          <p:cNvSpPr/>
          <p:nvPr/>
        </p:nvSpPr>
        <p:spPr>
          <a:xfrm>
            <a:off x="274320" y="1170432"/>
            <a:ext cx="5029200" cy="71323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42"/>
          <p:cNvSpPr/>
          <p:nvPr/>
        </p:nvSpPr>
        <p:spPr>
          <a:xfrm>
            <a:off x="274320" y="1170432"/>
            <a:ext cx="594360" cy="71323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42"/>
          <p:cNvSpPr/>
          <p:nvPr/>
        </p:nvSpPr>
        <p:spPr>
          <a:xfrm>
            <a:off x="274320" y="1170432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2"/>
          <p:cNvSpPr/>
          <p:nvPr/>
        </p:nvSpPr>
        <p:spPr>
          <a:xfrm>
            <a:off x="960120" y="1207008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Known Values 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42"/>
          <p:cNvSpPr/>
          <p:nvPr/>
        </p:nvSpPr>
        <p:spPr>
          <a:xfrm>
            <a:off x="960120" y="1444752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P(COVID) = 0.05   |   P(No COVID) = 1−0.05 = 0.95   |   P(+|COVID) = 0.90   |   P(+|No COVID) = 0.08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2"/>
          <p:cNvSpPr/>
          <p:nvPr/>
        </p:nvSpPr>
        <p:spPr>
          <a:xfrm>
            <a:off x="274320" y="2011680"/>
            <a:ext cx="5029200" cy="71323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42"/>
          <p:cNvSpPr/>
          <p:nvPr/>
        </p:nvSpPr>
        <p:spPr>
          <a:xfrm>
            <a:off x="274320" y="2011680"/>
            <a:ext cx="594360" cy="713232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42"/>
          <p:cNvSpPr/>
          <p:nvPr/>
        </p:nvSpPr>
        <p:spPr>
          <a:xfrm>
            <a:off x="274320" y="2011680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2"/>
          <p:cNvSpPr/>
          <p:nvPr/>
        </p:nvSpPr>
        <p:spPr>
          <a:xfrm>
            <a:off x="960120" y="2048256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Total Probability P(+) 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2"/>
          <p:cNvSpPr/>
          <p:nvPr/>
        </p:nvSpPr>
        <p:spPr>
          <a:xfrm>
            <a:off x="960120" y="228600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P(+) = (0.90 × 0.05) + (0.08 × 0.95)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     = 0.045 + 0.076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     = 0.121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42"/>
          <p:cNvSpPr/>
          <p:nvPr/>
        </p:nvSpPr>
        <p:spPr>
          <a:xfrm>
            <a:off x="274320" y="2852928"/>
            <a:ext cx="5029200" cy="713232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42"/>
          <p:cNvSpPr/>
          <p:nvPr/>
        </p:nvSpPr>
        <p:spPr>
          <a:xfrm>
            <a:off x="274320" y="2852928"/>
            <a:ext cx="594360" cy="71323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42"/>
          <p:cNvSpPr/>
          <p:nvPr/>
        </p:nvSpPr>
        <p:spPr>
          <a:xfrm>
            <a:off x="274320" y="2852928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2"/>
          <p:cNvSpPr/>
          <p:nvPr/>
        </p:nvSpPr>
        <p:spPr>
          <a:xfrm>
            <a:off x="960120" y="288950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Bayes' Formula 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2"/>
          <p:cNvSpPr/>
          <p:nvPr/>
        </p:nvSpPr>
        <p:spPr>
          <a:xfrm>
            <a:off x="960120" y="3127248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P(COVID|+) = (0.90 × 0.05) / 0.121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= 0.045 / 0.121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≈ 0.372 = 37.2%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8" name="Google Shape;140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1115568"/>
            <a:ext cx="3383280" cy="23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42"/>
          <p:cNvSpPr/>
          <p:nvPr/>
        </p:nvSpPr>
        <p:spPr>
          <a:xfrm>
            <a:off x="274320" y="3675888"/>
            <a:ext cx="8595360" cy="1005840"/>
          </a:xfrm>
          <a:prstGeom prst="rect">
            <a:avLst/>
          </a:prstGeom>
          <a:solidFill>
            <a:srgbClr val="FEF3E2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42"/>
          <p:cNvSpPr/>
          <p:nvPr/>
        </p:nvSpPr>
        <p:spPr>
          <a:xfrm>
            <a:off x="457200" y="37033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🎯  Interpretation: Despite testing POSITIVE, only 37.2% chance of having COVID. Why?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2"/>
          <p:cNvSpPr/>
          <p:nvPr/>
        </p:nvSpPr>
        <p:spPr>
          <a:xfrm>
            <a:off x="457200" y="39776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Because 95% of people tested DON'T have it, and the 8% false positive rate creates many false alarms. The low base rate dominates. Recommendation: Confirm with a SECOND test — the 37.2% posterior becomes the new prior, and two positive tests would yield ~92%+.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COVID Test — Full 3-Step Bayes Calculation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Given: P(COVID)=0.05,  P(+|COVID)=0.90,  P(+|No COVID)=0.08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1 — List All Known Values: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P(COVID) = 0.05  (5% of people have COVID)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P(No COVID) = 1 - 0.05 = 0.95  (95% are healthy)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P(+|COVID) = 0.90  (test detects 90% of sick people)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P(+|No COVID) = 0.08  (8% false positive on healthy people)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2 — Calculate P(+) using Total Probability: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P(+) = (P(+|COVID) x P(COVID))  +  (P(+|No COVID) x P(No COVID))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P(+) = (0.90 x 0.05)  +  (0.08 x 0.95)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P(+) = 0.045 + 0.076 = 0.121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Meaning: 12.1% of ALL tested people will test positive (sick OR false alarm).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3 — Apply Bayes Formula: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P(COVID|+) = (0.90 x 0.05) / 0.121 = 0.045 / 0.121 = 37.2%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Despite testing positive, only 37.2% chance of having COVID! Why higher than disease example (8.76%)? COVID affects 5% vs 1% — less rare means positives are more meaningful. Recommendation: Get a SECOND confirmatory test!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4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4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Bayesian Networks — Maps of Cause and Effect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43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4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When MANY causes affect MANY effects — a Bayesian Network shows them all with probabilities: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43"/>
          <p:cNvSpPr/>
          <p:nvPr/>
        </p:nvSpPr>
        <p:spPr>
          <a:xfrm>
            <a:off x="502920" y="10515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43"/>
          <p:cNvSpPr/>
          <p:nvPr/>
        </p:nvSpPr>
        <p:spPr>
          <a:xfrm>
            <a:off x="502920" y="10515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 Burglary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= 0.001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3"/>
          <p:cNvSpPr/>
          <p:nvPr/>
        </p:nvSpPr>
        <p:spPr>
          <a:xfrm>
            <a:off x="2788920" y="10515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43"/>
          <p:cNvSpPr/>
          <p:nvPr/>
        </p:nvSpPr>
        <p:spPr>
          <a:xfrm>
            <a:off x="2788920" y="10515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 Earthquake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= 0.002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7" name="Google Shape;1427;p43"/>
          <p:cNvCxnSpPr/>
          <p:nvPr/>
        </p:nvCxnSpPr>
        <p:spPr>
          <a:xfrm>
            <a:off x="1371600" y="1645920"/>
            <a:ext cx="502920" cy="50292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8" name="Google Shape;1428;p43"/>
          <p:cNvCxnSpPr/>
          <p:nvPr/>
        </p:nvCxnSpPr>
        <p:spPr>
          <a:xfrm flipH="1">
            <a:off x="3154680" y="1645920"/>
            <a:ext cx="502920" cy="50292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9" name="Google Shape;1429;p43"/>
          <p:cNvSpPr/>
          <p:nvPr/>
        </p:nvSpPr>
        <p:spPr>
          <a:xfrm>
            <a:off x="1874520" y="221284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43"/>
          <p:cNvSpPr/>
          <p:nvPr/>
        </p:nvSpPr>
        <p:spPr>
          <a:xfrm>
            <a:off x="1874520" y="221284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ALARM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1" name="Google Shape;1431;p43"/>
          <p:cNvCxnSpPr/>
          <p:nvPr/>
        </p:nvCxnSpPr>
        <p:spPr>
          <a:xfrm flipH="1">
            <a:off x="1554480" y="2761488"/>
            <a:ext cx="502920" cy="475488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2" name="Google Shape;1432;p43"/>
          <p:cNvCxnSpPr/>
          <p:nvPr/>
        </p:nvCxnSpPr>
        <p:spPr>
          <a:xfrm>
            <a:off x="3383280" y="2761488"/>
            <a:ext cx="502920" cy="475488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3" name="Google Shape;1433;p43"/>
          <p:cNvSpPr/>
          <p:nvPr/>
        </p:nvSpPr>
        <p:spPr>
          <a:xfrm>
            <a:off x="502920" y="32918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43"/>
          <p:cNvSpPr/>
          <p:nvPr/>
        </p:nvSpPr>
        <p:spPr>
          <a:xfrm>
            <a:off x="502920" y="329184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📞 John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3"/>
          <p:cNvSpPr/>
          <p:nvPr/>
        </p:nvSpPr>
        <p:spPr>
          <a:xfrm>
            <a:off x="3246120" y="32918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43"/>
          <p:cNvSpPr/>
          <p:nvPr/>
        </p:nvSpPr>
        <p:spPr>
          <a:xfrm>
            <a:off x="3246120" y="329184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Mary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43"/>
          <p:cNvSpPr/>
          <p:nvPr/>
        </p:nvSpPr>
        <p:spPr>
          <a:xfrm>
            <a:off x="4937760" y="960120"/>
            <a:ext cx="3977640" cy="18288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43"/>
          <p:cNvSpPr/>
          <p:nvPr/>
        </p:nvSpPr>
        <p:spPr>
          <a:xfrm>
            <a:off x="4937760" y="960120"/>
            <a:ext cx="397764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43"/>
          <p:cNvSpPr/>
          <p:nvPr/>
        </p:nvSpPr>
        <p:spPr>
          <a:xfrm>
            <a:off x="5029200" y="960120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CPT — P(Alarm ON | Burglary, Earthquake)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0" name="Google Shape;1440;p43"/>
          <p:cNvGraphicFramePr/>
          <p:nvPr/>
        </p:nvGraphicFramePr>
        <p:xfrm>
          <a:off x="4937760" y="1271016"/>
          <a:ext cx="3977650" cy="1481375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Burglary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Earthquake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</a:rPr>
                        <a:t>P(Alarm=ON)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3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YES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YES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67E22"/>
                          </a:solidFill>
                        </a:rPr>
                        <a:t>0.95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YES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NO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67E22"/>
                          </a:solidFill>
                        </a:rPr>
                        <a:t>0.94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NO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YES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67E22"/>
                          </a:solidFill>
                        </a:rPr>
                        <a:t>0.29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NO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2C3E50"/>
                          </a:solidFill>
                        </a:rPr>
                        <a:t>NO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67E22"/>
                          </a:solidFill>
                        </a:rPr>
                        <a:t>0.001</a:t>
                      </a:r>
                      <a:endParaRPr sz="9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1" name="Google Shape;1441;p43"/>
          <p:cNvSpPr/>
          <p:nvPr/>
        </p:nvSpPr>
        <p:spPr>
          <a:xfrm>
            <a:off x="4937760" y="2926080"/>
            <a:ext cx="3977640" cy="640080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43"/>
          <p:cNvSpPr/>
          <p:nvPr/>
        </p:nvSpPr>
        <p:spPr>
          <a:xfrm>
            <a:off x="5029200" y="294436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Forward Inference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43"/>
          <p:cNvSpPr/>
          <p:nvPr/>
        </p:nvSpPr>
        <p:spPr>
          <a:xfrm>
            <a:off x="5029200" y="318211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Cause → Effect: Burglary → P(Alarm) → P(JohnCalls) ≈ 85%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43"/>
          <p:cNvSpPr/>
          <p:nvPr/>
        </p:nvSpPr>
        <p:spPr>
          <a:xfrm>
            <a:off x="4937760" y="3675888"/>
            <a:ext cx="3977640" cy="640080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43"/>
          <p:cNvSpPr/>
          <p:nvPr/>
        </p:nvSpPr>
        <p:spPr>
          <a:xfrm>
            <a:off x="5029200" y="3694176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Backward Inference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43"/>
          <p:cNvSpPr/>
          <p:nvPr/>
        </p:nvSpPr>
        <p:spPr>
          <a:xfrm>
            <a:off x="5029200" y="393192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Effect → Cause: John+Mary called → P(Burglary) rises 0.1% → 28.4%!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Bayesian Networks — How the Numbers Are Calculated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The network: Burglary(0.001) and Earthquake(0.002) can both trigger Alarm → which causes John and Mary to call.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CPT Table — Given by domain experts (not calculated):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Burglary YES + Earthquake YES → P(Alarm ON) = 0.95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Burglary YES + Earthquake NO → P(Alarm ON) = 0.94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Burglary NO + Earthquake YES → P(Alarm ON) = 0.29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Burglary NO + Earthquake NO → P(Alarm ON) = 0.001 (rare malfunction)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Forward Inference — How we get 85% for John Calls: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If Burglary → Alarm rings ≈ 94% → John calls 90% of the time when alarm rings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P(John calls | Burglary) = 0.94 x 0.90 = 85%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Backward Inference — How we get 28.4% after John AND Mary call: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Start: P(Burglary) = 0.001 (0.1%)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After John calls → apply Bayes → P(Burglary) rises to 1.67%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After Mary ALSO calls → 1.67% becomes new prior → apply Bayes again → P(Burglary) = 28.4%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Each new evidence updates the belief! That is how Bayesian Networks work.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4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4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— Bayes' Theorem &amp; Bayesian Networks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44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44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44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44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 Scenario-Based Quiz — Think before checking answers!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4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44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44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4"/>
          <p:cNvSpPr/>
          <p:nvPr/>
        </p:nvSpPr>
        <p:spPr>
          <a:xfrm>
            <a:off x="960120" y="128930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Spam Filter: P(Spam)=0.4. 'FREE' appears in 80% of spam and 5% of non-spam. A new email contains 'FREE'. Calculate P(Spam | 'FREE'). Show all 3 steps. What does Gmail do with hundreds of such word probabilities?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44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44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44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44"/>
          <p:cNvSpPr/>
          <p:nvPr/>
        </p:nvSpPr>
        <p:spPr>
          <a:xfrm>
            <a:off x="960120" y="234086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Bayesian Network — Direction: In the Burglar Alarm network, John calls. (a) Is this forward or backward inference? (b) Before any call, P(Burglary)=0.001. After John's call, does P(Burglary) increase or decrease? Why?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44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44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44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4"/>
          <p:cNvSpPr/>
          <p:nvPr/>
        </p:nvSpPr>
        <p:spPr>
          <a:xfrm>
            <a:off x="960120" y="339242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Base Rate Effect: A disease affects 0.1% of people. Test is 99% accurate for sick and 1% false positives. Without calculating, explain in plain English WHY a positive test result still means you probably DON'T have the disease.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4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Answers — Bayes' Theorem &amp; Bayesian Networks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45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45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5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45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45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45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45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45"/>
          <p:cNvSpPr/>
          <p:nvPr/>
        </p:nvSpPr>
        <p:spPr>
          <a:xfrm>
            <a:off x="896112" y="128930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P(FREE) = (0.80×0.40)+(0.05×0.60) = 0.32+0.03 = 0.35. P(Spam|FREE) = (0.80×0.40)/0.35 = 0.32/0.35 ≈ 91.4%. Gmail combines hundreds of word probabilities multiplicatively — each word updates the posterior which becomes the new prior for the next word, achieving ~99.9% accuracy.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45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45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45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45"/>
          <p:cNvSpPr/>
          <p:nvPr/>
        </p:nvSpPr>
        <p:spPr>
          <a:xfrm>
            <a:off x="896112" y="234086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(a) BACKWARD (diagnostic) inference — we observe an effect (call) and reason back to the cause (burglary). (b) P(Burglary) INCREASES. John calling is evidence the alarm was on; the most likely cause of the alarm firing is a burglary. The evidence makes burglary more plausible despite the very low prior.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5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45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45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45"/>
          <p:cNvSpPr/>
          <p:nvPr/>
        </p:nvSpPr>
        <p:spPr>
          <a:xfrm>
            <a:off x="896112" y="339242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Even with a 99% accurate test, when the disease affects only 0.1% of people (1 in 1000), the vast majority being tested are HEALTHY. The 1% false positive rate applied to that large healthy population generates many false alarms — far outnumbering the true positives from the tiny sick group. The base rate (how rare the disease is) dominates and overwhelms even a very accurate test.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Spam Filter — Gmail Bayes Calculation Step by Step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Scenario: P(Spam)=0.4,  P(</a:t>
            </a:r>
            <a:r>
              <a:rPr lang="en-US" sz="1200" b="1" i="0" u="none" strike="noStrike" cap="none" dirty="0" err="1">
                <a:solidFill>
                  <a:srgbClr val="1A7A6E"/>
                </a:solidFill>
                <a:latin typeface="Calibri"/>
              </a:rPr>
              <a:t>FREE|Spam</a:t>
            </a: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)=0.80,  P(</a:t>
            </a:r>
            <a:r>
              <a:rPr lang="en-US" sz="1200" b="1" i="0" u="none" strike="noStrike" cap="none" dirty="0" err="1">
                <a:solidFill>
                  <a:srgbClr val="1A7A6E"/>
                </a:solidFill>
                <a:latin typeface="Calibri"/>
              </a:rPr>
              <a:t>FREE|Not</a:t>
            </a: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 Spam)=0.05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1 — List Known Values: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P(Spam) = 0.40,  P(Not Spam) = 1 - 0.40 = 0.60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2 — Total Probability P(FREE):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P(FREE) = (0.80 x 0.40) + (0.05 x 0.60)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P(FREE) = 0.32 + 0.03 = 0.35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Meaning: 35% of ALL emails contain the word FREE (spam and non-spam combined).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Step 3 — Apply Bayes: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Spam|FREE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= (0.80 x 0.40) / 0.35 = 0.32 / 0.35 = 91.4%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An email containing FREE has a 91.4% chance of being spam!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How Gmail Reaches 99.9% Accuracy: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Gmail does not just check ONE word. It checks hundreds — FREE, WINNER, CLICK HERE, URGENT, CONGRATULATIONS etc.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For each word, the posterior becomes the new prior for the next word check.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Example: After FREE → 91.4% spam. After WINNER also found → updates to even higher. After CLICK HERE → higher still. After 100+ words → 99.9% accuracy!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48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 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48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Markov Models &amp; Fuzzy Logic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8"/>
          <p:cNvSpPr/>
          <p:nvPr/>
        </p:nvSpPr>
        <p:spPr>
          <a:xfrm>
            <a:off x="1828800" y="2834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sequences • Reasoning with degrees of truth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4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Markov Chains — The Present Is All You Need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4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49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Markov Property: the next state depends ONLY on the current state — not on history.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9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49"/>
          <p:cNvSpPr/>
          <p:nvPr/>
        </p:nvSpPr>
        <p:spPr>
          <a:xfrm>
            <a:off x="457200" y="1124712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🎲  Board Game: Your token is on square 34. 5 moves or 50 moves to get there? DOESN'T MATTER. Next position = square 34 + dice roll only. History is irrelevant — that's Markov Property!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9"/>
          <p:cNvSpPr/>
          <p:nvPr/>
        </p:nvSpPr>
        <p:spPr>
          <a:xfrm>
            <a:off x="1097280" y="2057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49"/>
          <p:cNvSpPr/>
          <p:nvPr/>
        </p:nvSpPr>
        <p:spPr>
          <a:xfrm>
            <a:off x="1097280" y="20574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☀️ Sunny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49"/>
          <p:cNvSpPr/>
          <p:nvPr/>
        </p:nvSpPr>
        <p:spPr>
          <a:xfrm>
            <a:off x="3566160" y="2057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49"/>
          <p:cNvSpPr/>
          <p:nvPr/>
        </p:nvSpPr>
        <p:spPr>
          <a:xfrm>
            <a:off x="3566160" y="20574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🌧️ Rainy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9"/>
          <p:cNvSpPr/>
          <p:nvPr/>
        </p:nvSpPr>
        <p:spPr>
          <a:xfrm>
            <a:off x="5943600" y="2057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49"/>
          <p:cNvSpPr/>
          <p:nvPr/>
        </p:nvSpPr>
        <p:spPr>
          <a:xfrm>
            <a:off x="5943600" y="20574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⛅ Cloudy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49"/>
          <p:cNvSpPr/>
          <p:nvPr/>
        </p:nvSpPr>
        <p:spPr>
          <a:xfrm>
            <a:off x="1481328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0.70 (stay)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49"/>
          <p:cNvSpPr/>
          <p:nvPr/>
        </p:nvSpPr>
        <p:spPr>
          <a:xfrm>
            <a:off x="406908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0.40 (stay)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9"/>
          <p:cNvSpPr/>
          <p:nvPr/>
        </p:nvSpPr>
        <p:spPr>
          <a:xfrm>
            <a:off x="635508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0.20 (stay)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4" name="Google Shape;1594;p49"/>
          <p:cNvGraphicFramePr/>
          <p:nvPr/>
        </p:nvGraphicFramePr>
        <p:xfrm>
          <a:off x="274320" y="2816352"/>
          <a:ext cx="5303500" cy="137160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From \ To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☀️ Sunny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🌧️ Rainy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⛅ Cloudy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0392B"/>
                          </a:solidFill>
                        </a:rPr>
                        <a:t>☀️ Sunny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8449"/>
                          </a:solidFill>
                        </a:rPr>
                        <a:t>0.70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0.20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0.10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0392B"/>
                          </a:solidFill>
                        </a:rPr>
                        <a:t>🌧️ Rainy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8449"/>
                          </a:solidFill>
                        </a:rPr>
                        <a:t>0.30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0.40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0.30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C0392B"/>
                          </a:solidFill>
                        </a:rPr>
                        <a:t>⛅ Cloudy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8449"/>
                          </a:solidFill>
                        </a:rPr>
                        <a:t>0.50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0.30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C3E50"/>
                          </a:solidFill>
                        </a:rPr>
                        <a:t>0.20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95" name="Google Shape;1595;p49"/>
          <p:cNvSpPr/>
          <p:nvPr/>
        </p:nvSpPr>
        <p:spPr>
          <a:xfrm>
            <a:off x="274320" y="4224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Every ROW sums to 1.0 — must go SOMEWHERE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49"/>
          <p:cNvSpPr/>
          <p:nvPr/>
        </p:nvSpPr>
        <p:spPr>
          <a:xfrm>
            <a:off x="5715000" y="2816352"/>
            <a:ext cx="3154680" cy="1847088"/>
          </a:xfrm>
          <a:prstGeom prst="rect">
            <a:avLst/>
          </a:prstGeom>
          <a:solidFill>
            <a:srgbClr val="FDECE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49"/>
          <p:cNvSpPr/>
          <p:nvPr/>
        </p:nvSpPr>
        <p:spPr>
          <a:xfrm>
            <a:off x="5715000" y="2816352"/>
            <a:ext cx="3154680" cy="29260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49"/>
          <p:cNvSpPr/>
          <p:nvPr/>
        </p:nvSpPr>
        <p:spPr>
          <a:xfrm>
            <a:off x="5806440" y="281635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Worked: Rainy today → P(Sunny in 2 days)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49"/>
          <p:cNvSpPr/>
          <p:nvPr/>
        </p:nvSpPr>
        <p:spPr>
          <a:xfrm>
            <a:off x="5806440" y="3163824"/>
            <a:ext cx="2971800" cy="237744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49"/>
          <p:cNvSpPr/>
          <p:nvPr/>
        </p:nvSpPr>
        <p:spPr>
          <a:xfrm>
            <a:off x="5852160" y="318211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Rainy→Sunny→Sunny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9"/>
          <p:cNvSpPr/>
          <p:nvPr/>
        </p:nvSpPr>
        <p:spPr>
          <a:xfrm>
            <a:off x="7589520" y="318211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0.30×0.70 = 0.21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9"/>
          <p:cNvSpPr/>
          <p:nvPr/>
        </p:nvSpPr>
        <p:spPr>
          <a:xfrm>
            <a:off x="5806440" y="3438144"/>
            <a:ext cx="2971800" cy="237744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49"/>
          <p:cNvSpPr/>
          <p:nvPr/>
        </p:nvSpPr>
        <p:spPr>
          <a:xfrm>
            <a:off x="5852160" y="345643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Rainy→Rainy→Sunny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49"/>
          <p:cNvSpPr/>
          <p:nvPr/>
        </p:nvSpPr>
        <p:spPr>
          <a:xfrm>
            <a:off x="7589520" y="34564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0.40×0.30 = 0.12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49"/>
          <p:cNvSpPr/>
          <p:nvPr/>
        </p:nvSpPr>
        <p:spPr>
          <a:xfrm>
            <a:off x="5806440" y="3712464"/>
            <a:ext cx="2971800" cy="237744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49"/>
          <p:cNvSpPr/>
          <p:nvPr/>
        </p:nvSpPr>
        <p:spPr>
          <a:xfrm>
            <a:off x="5852160" y="373075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Rainy→Cloudy→Sunny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49"/>
          <p:cNvSpPr/>
          <p:nvPr/>
        </p:nvSpPr>
        <p:spPr>
          <a:xfrm>
            <a:off x="7589520" y="37307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0.30×0.50 = 0.15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49"/>
          <p:cNvSpPr/>
          <p:nvPr/>
        </p:nvSpPr>
        <p:spPr>
          <a:xfrm>
            <a:off x="5806440" y="4261104"/>
            <a:ext cx="2971800" cy="23774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49"/>
          <p:cNvSpPr/>
          <p:nvPr/>
        </p:nvSpPr>
        <p:spPr>
          <a:xfrm>
            <a:off x="5852160" y="42793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49"/>
          <p:cNvSpPr/>
          <p:nvPr/>
        </p:nvSpPr>
        <p:spPr>
          <a:xfrm>
            <a:off x="7589520" y="427939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urier New"/>
              <a:buNone/>
            </a:pPr>
            <a:r>
              <a:rPr lang="en-US" sz="850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0.21+0.12+0.15 = 0.48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Markov Chain — The 3-Path Calculation Fully Explained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Question: Today is RAINY. What is P(Sunny in 2 days)?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Why are there 3 paths? In 2 steps, the weather on DAY 1 (tomorrow) can be Sunny, Rainy, or Cloudy — these are 3 different routes to reach Sunny on DAY 2.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Path 1: Rainy → Sunny → Sunny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 =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Rainy→Sunny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x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Sunny→Sunny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= 0.30 x 0.70 = 0.21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Path 2: Rainy → Rainy → Sunny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 =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Rainy→Rainy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x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Rainy→Sunny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= 0.40 x 0.30 = 0.12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Path 3: Rainy → Cloudy → Sunny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P =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Rainy→Cloudy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x P(</a:t>
            </a:r>
            <a:r>
              <a:rPr lang="en-US" sz="1200" b="0" i="0" u="none" strike="noStrike" cap="none" dirty="0" err="1">
                <a:solidFill>
                  <a:srgbClr val="2C3E50"/>
                </a:solidFill>
                <a:latin typeface="Calibri"/>
              </a:rPr>
              <a:t>Cloudy→Sunny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) = 0.30 x 0.50 = 0.15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A7A6E"/>
                </a:solidFill>
                <a:latin typeface="Calibri"/>
              </a:rPr>
              <a:t>Final Answer = 0.21 + 0.12 + 0.15 = 0.48 = 48% chance of Sunny in 2 days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WHY multiply WITHIN a path? Both steps must happen in sequence — like needing a key AND a door to open a room.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WHY add ACROSS paths? Any one of the 3 routes can get you to Sunny — like counting all roads from Lahore to Islamabad.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Calibri"/>
              </a:rPr>
              <a:t>Markov Property: Note that HISTORY does not matter — only 'Rainy today' was needed to calculate this.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5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5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Hidden Markov Models — When States Are Invisible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5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HMM: hidden states you cannot see directly — only observations (symptoms) reveal them: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274320" y="1097280"/>
            <a:ext cx="4114800" cy="1207008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50"/>
          <p:cNvSpPr/>
          <p:nvPr/>
        </p:nvSpPr>
        <p:spPr>
          <a:xfrm>
            <a:off x="274320" y="1097280"/>
            <a:ext cx="4114800" cy="31089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50"/>
          <p:cNvSpPr/>
          <p:nvPr/>
        </p:nvSpPr>
        <p:spPr>
          <a:xfrm>
            <a:off x="36576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Markov Chain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0"/>
          <p:cNvSpPr/>
          <p:nvPr/>
        </p:nvSpPr>
        <p:spPr>
          <a:xfrm>
            <a:off x="365760" y="144475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States are VISIBLE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You see: Sunny → Rainy → Cloudy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(direct observation of state)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0"/>
          <p:cNvSpPr/>
          <p:nvPr/>
        </p:nvSpPr>
        <p:spPr>
          <a:xfrm>
            <a:off x="4709160" y="1097280"/>
            <a:ext cx="4114800" cy="1207008"/>
          </a:xfrm>
          <a:prstGeom prst="rect">
            <a:avLst/>
          </a:prstGeom>
          <a:solidFill>
            <a:srgbClr val="F0E6F6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50"/>
          <p:cNvSpPr/>
          <p:nvPr/>
        </p:nvSpPr>
        <p:spPr>
          <a:xfrm>
            <a:off x="4709160" y="1097280"/>
            <a:ext cx="4114800" cy="310896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50"/>
          <p:cNvSpPr/>
          <p:nvPr/>
        </p:nvSpPr>
        <p:spPr>
          <a:xfrm>
            <a:off x="480060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50"/>
          <p:cNvSpPr/>
          <p:nvPr/>
        </p:nvSpPr>
        <p:spPr>
          <a:xfrm>
            <a:off x="4800600" y="144475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States are HIDDEN 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Cannot see the state directly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 see: Observations (symptoms)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Hidden state CAUSES observations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50"/>
          <p:cNvSpPr/>
          <p:nvPr/>
        </p:nvSpPr>
        <p:spPr>
          <a:xfrm>
            <a:off x="274320" y="2423160"/>
            <a:ext cx="8595360" cy="1847088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50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50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HMM Example — Health Monitoring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50"/>
          <p:cNvSpPr/>
          <p:nvPr/>
        </p:nvSpPr>
        <p:spPr>
          <a:xfrm>
            <a:off x="457200" y="28346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50"/>
          <p:cNvSpPr/>
          <p:nvPr/>
        </p:nvSpPr>
        <p:spPr>
          <a:xfrm>
            <a:off x="457200" y="283464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50"/>
          <p:cNvSpPr/>
          <p:nvPr/>
        </p:nvSpPr>
        <p:spPr>
          <a:xfrm>
            <a:off x="2560320" y="28346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50"/>
          <p:cNvSpPr/>
          <p:nvPr/>
        </p:nvSpPr>
        <p:spPr>
          <a:xfrm>
            <a:off x="2560320" y="283464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0"/>
          <p:cNvSpPr/>
          <p:nvPr/>
        </p:nvSpPr>
        <p:spPr>
          <a:xfrm>
            <a:off x="4663440" y="28346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50"/>
          <p:cNvSpPr/>
          <p:nvPr/>
        </p:nvSpPr>
        <p:spPr>
          <a:xfrm>
            <a:off x="4663440" y="283464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50"/>
          <p:cNvSpPr/>
          <p:nvPr/>
        </p:nvSpPr>
        <p:spPr>
          <a:xfrm>
            <a:off x="6766560" y="28346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50"/>
          <p:cNvSpPr/>
          <p:nvPr/>
        </p:nvSpPr>
        <p:spPr>
          <a:xfrm>
            <a:off x="6766560" y="283464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1" name="Google Shape;1641;p50"/>
          <p:cNvCxnSpPr/>
          <p:nvPr/>
        </p:nvCxnSpPr>
        <p:spPr>
          <a:xfrm>
            <a:off x="2103120" y="3054096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2" name="Google Shape;1642;p50"/>
          <p:cNvCxnSpPr/>
          <p:nvPr/>
        </p:nvCxnSpPr>
        <p:spPr>
          <a:xfrm>
            <a:off x="4206240" y="3054096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3" name="Google Shape;1643;p50"/>
          <p:cNvCxnSpPr/>
          <p:nvPr/>
        </p:nvCxnSpPr>
        <p:spPr>
          <a:xfrm>
            <a:off x="6309360" y="3054096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6C75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4" name="Google Shape;1644;p50"/>
          <p:cNvSpPr/>
          <p:nvPr/>
        </p:nvSpPr>
        <p:spPr>
          <a:xfrm>
            <a:off x="274320" y="2834640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lang="en-US" sz="7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Hidden States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5" name="Google Shape;1645;p50"/>
          <p:cNvCxnSpPr/>
          <p:nvPr/>
        </p:nvCxnSpPr>
        <p:spPr>
          <a:xfrm>
            <a:off x="1280160" y="3273552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6" name="Google Shape;1646;p50"/>
          <p:cNvCxnSpPr/>
          <p:nvPr/>
        </p:nvCxnSpPr>
        <p:spPr>
          <a:xfrm>
            <a:off x="3383280" y="3273552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7" name="Google Shape;1647;p50"/>
          <p:cNvCxnSpPr/>
          <p:nvPr/>
        </p:nvCxnSpPr>
        <p:spPr>
          <a:xfrm>
            <a:off x="5486400" y="3273552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8" name="Google Shape;1648;p50"/>
          <p:cNvCxnSpPr/>
          <p:nvPr/>
        </p:nvCxnSpPr>
        <p:spPr>
          <a:xfrm>
            <a:off x="7589520" y="3273552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9" name="Google Shape;1649;p50"/>
          <p:cNvSpPr/>
          <p:nvPr/>
        </p:nvSpPr>
        <p:spPr>
          <a:xfrm>
            <a:off x="594360" y="3639312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50"/>
          <p:cNvSpPr/>
          <p:nvPr/>
        </p:nvSpPr>
        <p:spPr>
          <a:xfrm>
            <a:off x="594360" y="3639312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(80%)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50"/>
          <p:cNvSpPr/>
          <p:nvPr/>
        </p:nvSpPr>
        <p:spPr>
          <a:xfrm>
            <a:off x="2697480" y="3639312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50"/>
          <p:cNvSpPr/>
          <p:nvPr/>
        </p:nvSpPr>
        <p:spPr>
          <a:xfrm>
            <a:off x="2697480" y="3639312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(80%)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0"/>
          <p:cNvSpPr/>
          <p:nvPr/>
        </p:nvSpPr>
        <p:spPr>
          <a:xfrm>
            <a:off x="4800600" y="3639312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50"/>
          <p:cNvSpPr/>
          <p:nvPr/>
        </p:nvSpPr>
        <p:spPr>
          <a:xfrm>
            <a:off x="4800600" y="3639312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Tired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(60%)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50"/>
          <p:cNvSpPr/>
          <p:nvPr/>
        </p:nvSpPr>
        <p:spPr>
          <a:xfrm>
            <a:off x="6903720" y="3639312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50"/>
          <p:cNvSpPr/>
          <p:nvPr/>
        </p:nvSpPr>
        <p:spPr>
          <a:xfrm>
            <a:off x="6903720" y="3639312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Tired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(60%)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0"/>
          <p:cNvSpPr/>
          <p:nvPr/>
        </p:nvSpPr>
        <p:spPr>
          <a:xfrm>
            <a:off x="274320" y="3657600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lang="en-US" sz="7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50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50"/>
          <p:cNvSpPr/>
          <p:nvPr/>
        </p:nvSpPr>
        <p:spPr>
          <a:xfrm>
            <a:off x="457200" y="4425696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🎙️  Speech Recognition: Hidden States = phonemes (/p/,/æ/,...), Observations = audio frequencies. HMM maps audio → phonemes → words!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Hidden Markov Models — Two Types of Probabilities Explained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Key Difference from Markov Chain: In HMM, you CANNOT see the state. You only see observations (symptoms/clues).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Transition Probabilities — How hidden states change: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Healthy → Healthy: 0.70  (70% chance of staying healthy tomorrow)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Healthy → Sick: 0.30  (30% chance of getting sick)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Sick → Sick: 0.60  (if sick, 60% chance of staying sick)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Sick → Healthy: 0.40  (40% chance of recovering)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Each row adds to 1.0 — must go somewhere!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Emission Probabilities — What each state produces as observations: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Healthy state produces: Normal feeling 80%,  Tired feeling 20%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Sick state produces: Normal feeling 40%,  Tired feeling 60%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The HMM Question it Answers: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Given observations: Tired, Tired, Normal, Tired — what is the most likely hidden sequence?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HMM calculates: probably Sick, Sick, Healthy, Sick.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Real World — Speech Recognition (Siri/Google):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Hidden States = phonemes (/p/, /ae/, /t/) — cannot directly see these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Observations = audio frequencies from microphone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HMM maps: audio frequencies → phonemes → WORDS. That is how voice assistants understand you!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5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5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— Markov Models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5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5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1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51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51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51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51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51"/>
          <p:cNvSpPr/>
          <p:nvPr/>
        </p:nvSpPr>
        <p:spPr>
          <a:xfrm>
            <a:off x="960120" y="128930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E-Commerce: States Browse, Cart, Checkout, Buy, Leave. From Cart: P(Checkout)=0.5, P(Leave)=0.3, P(Browse)=0.2. From Checkout: P(Buy)=0.7, P(Leave)=0.3. Customer is in CART. What is P(Buy in exactly 2 steps)? Show the multiplication.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51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51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51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51"/>
          <p:cNvSpPr/>
          <p:nvPr/>
        </p:nvSpPr>
        <p:spPr>
          <a:xfrm>
            <a:off x="960120" y="234086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Markov vs HMM: A psychologist tracks patient wellbeing. She CANNOT see if someone is 'Depressed' or 'Stable'. She observes: 'Engaged', 'Withdrawn', 'Tearful'. Is this a Markov Chain or an HMM? Identify the hidden states and observations.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1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51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51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1"/>
          <p:cNvSpPr/>
          <p:nvPr/>
        </p:nvSpPr>
        <p:spPr>
          <a:xfrm>
            <a:off x="960120" y="339242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Markov Property: To predict a chess player's NEXT move, do you need their full game history or just the current board position? Which AI principle justifies your answer? Why is history irrelevant?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5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5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Answers — Markov Models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52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2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52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Model Answers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52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52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52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52"/>
          <p:cNvSpPr/>
          <p:nvPr/>
        </p:nvSpPr>
        <p:spPr>
          <a:xfrm>
            <a:off x="896112" y="128930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P(Cart→Checkout→Buy) = P(Checkout|Cart) × P(Buy|Checkout) = 0.5 × 0.7 = 0.35 = 35%. Chain rule along the Markov path: multiply transition probabilities. Markov Property holds: from Cart, only current state matters — no need for history of how the customer arrived at Cart.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52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52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52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52"/>
          <p:cNvSpPr/>
          <p:nvPr/>
        </p:nvSpPr>
        <p:spPr>
          <a:xfrm>
            <a:off x="896112" y="234086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HMM. Hidden states: Depressed / Stable (cannot observe directly). Observations: Engaged, Withdrawn, Tearful (visible behaviours). The hidden state CAUSES the observation probabilities. A Markov Chain would be wrong here because the state is unobservable — you cannot directly see someone's emotional state.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52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52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52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52"/>
          <p:cNvSpPr/>
          <p:nvPr/>
        </p:nvSpPr>
        <p:spPr>
          <a:xfrm>
            <a:off x="896112" y="339242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Only the CURRENT board position — not the history of moves. Markov Property: the future depends only on the present state. The current board position already encodes the outcome of all previous moves — the history is embedded in the present. Past moves are irrelevant to evaluating the current position.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5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5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— Markov Chain: Customer Journey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53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53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53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5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Calculate probabilities, then give a business recommendation.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3"/>
          <p:cNvSpPr/>
          <p:nvPr/>
        </p:nvSpPr>
        <p:spPr>
          <a:xfrm>
            <a:off x="274320" y="1188720"/>
            <a:ext cx="8595360" cy="1371600"/>
          </a:xfrm>
          <a:prstGeom prst="rect">
            <a:avLst/>
          </a:prstGeom>
          <a:solidFill>
            <a:srgbClr val="F8F9FA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53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53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Journey States and Transition Probabilities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53"/>
          <p:cNvSpPr/>
          <p:nvPr/>
        </p:nvSpPr>
        <p:spPr>
          <a:xfrm>
            <a:off x="365760" y="155448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p53"/>
          <p:cNvSpPr/>
          <p:nvPr/>
        </p:nvSpPr>
        <p:spPr>
          <a:xfrm>
            <a:off x="365760" y="155448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53"/>
          <p:cNvSpPr/>
          <p:nvPr/>
        </p:nvSpPr>
        <p:spPr>
          <a:xfrm>
            <a:off x="1993392" y="162763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53"/>
          <p:cNvSpPr/>
          <p:nvPr/>
        </p:nvSpPr>
        <p:spPr>
          <a:xfrm>
            <a:off x="2148840" y="155448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53"/>
          <p:cNvSpPr/>
          <p:nvPr/>
        </p:nvSpPr>
        <p:spPr>
          <a:xfrm>
            <a:off x="2148840" y="155448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53"/>
          <p:cNvSpPr/>
          <p:nvPr/>
        </p:nvSpPr>
        <p:spPr>
          <a:xfrm>
            <a:off x="3776472" y="162763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53"/>
          <p:cNvSpPr/>
          <p:nvPr/>
        </p:nvSpPr>
        <p:spPr>
          <a:xfrm>
            <a:off x="3931920" y="155448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53"/>
          <p:cNvSpPr/>
          <p:nvPr/>
        </p:nvSpPr>
        <p:spPr>
          <a:xfrm>
            <a:off x="3931920" y="155448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53"/>
          <p:cNvSpPr/>
          <p:nvPr/>
        </p:nvSpPr>
        <p:spPr>
          <a:xfrm>
            <a:off x="5559552" y="162763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53"/>
          <p:cNvSpPr/>
          <p:nvPr/>
        </p:nvSpPr>
        <p:spPr>
          <a:xfrm>
            <a:off x="5669280" y="155448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53"/>
          <p:cNvSpPr/>
          <p:nvPr/>
        </p:nvSpPr>
        <p:spPr>
          <a:xfrm>
            <a:off x="5669280" y="155448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 ✅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3"/>
          <p:cNvSpPr/>
          <p:nvPr/>
        </p:nvSpPr>
        <p:spPr>
          <a:xfrm>
            <a:off x="7296912" y="162763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3"/>
          <p:cNvSpPr/>
          <p:nvPr/>
        </p:nvSpPr>
        <p:spPr>
          <a:xfrm>
            <a:off x="7406640" y="155448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53"/>
          <p:cNvSpPr/>
          <p:nvPr/>
        </p:nvSpPr>
        <p:spPr>
          <a:xfrm>
            <a:off x="7406640" y="155448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LEAVE 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7" name="Google Shape;1737;p53"/>
          <p:cNvGraphicFramePr/>
          <p:nvPr/>
        </p:nvGraphicFramePr>
        <p:xfrm>
          <a:off x="274320" y="2670048"/>
          <a:ext cx="8595350" cy="100588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1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State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→ Cart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→ Checkout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→ Buy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→ Leave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→ Browse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Browse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0.30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C0392B"/>
                          </a:solidFill>
                        </a:rPr>
                        <a:t>0.50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0.20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Cart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0.50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C0392B"/>
                          </a:solidFill>
                        </a:rPr>
                        <a:t>0.30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0.20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2C3E50"/>
                          </a:solidFill>
                        </a:rPr>
                        <a:t>Checkout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757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6C757D"/>
                          </a:solidFill>
                        </a:rPr>
                        <a:t>—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8449"/>
                          </a:solidFill>
                        </a:rPr>
                        <a:t>0.70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C0392B"/>
                          </a:solidFill>
                        </a:rPr>
                        <a:t>0.20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C3E50"/>
                          </a:solidFill>
                        </a:rPr>
                        <a:t>0.10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8" name="Google Shape;1738;p53"/>
          <p:cNvSpPr/>
          <p:nvPr/>
        </p:nvSpPr>
        <p:spPr>
          <a:xfrm>
            <a:off x="274320" y="3730752"/>
            <a:ext cx="8595360" cy="329184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53"/>
          <p:cNvSpPr/>
          <p:nvPr/>
        </p:nvSpPr>
        <p:spPr>
          <a:xfrm>
            <a:off x="274320" y="3730752"/>
            <a:ext cx="457200" cy="329184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53"/>
          <p:cNvSpPr/>
          <p:nvPr/>
        </p:nvSpPr>
        <p:spPr>
          <a:xfrm>
            <a:off x="274320" y="3730752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53"/>
          <p:cNvSpPr/>
          <p:nvPr/>
        </p:nvSpPr>
        <p:spPr>
          <a:xfrm>
            <a:off x="822960" y="3767328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customer is browsing. What is P(they reach Cart in 1 step)?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3"/>
          <p:cNvSpPr/>
          <p:nvPr/>
        </p:nvSpPr>
        <p:spPr>
          <a:xfrm>
            <a:off x="274320" y="4114800"/>
            <a:ext cx="859536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53"/>
          <p:cNvSpPr/>
          <p:nvPr/>
        </p:nvSpPr>
        <p:spPr>
          <a:xfrm>
            <a:off x="274320" y="4114800"/>
            <a:ext cx="45720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53"/>
          <p:cNvSpPr/>
          <p:nvPr/>
        </p:nvSpPr>
        <p:spPr>
          <a:xfrm>
            <a:off x="274320" y="41148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53"/>
          <p:cNvSpPr/>
          <p:nvPr/>
        </p:nvSpPr>
        <p:spPr>
          <a:xfrm>
            <a:off x="822960" y="4151376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What is P(Browse → Cart → Checkout) in exactly 2 steps?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3"/>
          <p:cNvSpPr/>
          <p:nvPr/>
        </p:nvSpPr>
        <p:spPr>
          <a:xfrm>
            <a:off x="274320" y="4498848"/>
            <a:ext cx="8595360" cy="329184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53"/>
          <p:cNvSpPr/>
          <p:nvPr/>
        </p:nvSpPr>
        <p:spPr>
          <a:xfrm>
            <a:off x="274320" y="4498848"/>
            <a:ext cx="45720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53"/>
          <p:cNvSpPr/>
          <p:nvPr/>
        </p:nvSpPr>
        <p:spPr>
          <a:xfrm>
            <a:off x="274320" y="449884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3"/>
          <p:cNvSpPr/>
          <p:nvPr/>
        </p:nvSpPr>
        <p:spPr>
          <a:xfrm>
            <a:off x="822960" y="453542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Which state has the HIGHEST Leave probability? What UX change would you recommend?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5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5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 Solution — Customer Journey Markov Chain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p54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54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4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54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54"/>
          <p:cNvSpPr/>
          <p:nvPr/>
        </p:nvSpPr>
        <p:spPr>
          <a:xfrm>
            <a:off x="274320" y="1216152"/>
            <a:ext cx="8595360" cy="80467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54"/>
          <p:cNvSpPr/>
          <p:nvPr/>
        </p:nvSpPr>
        <p:spPr>
          <a:xfrm>
            <a:off x="274320" y="1216152"/>
            <a:ext cx="502920" cy="804672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p54"/>
          <p:cNvSpPr/>
          <p:nvPr/>
        </p:nvSpPr>
        <p:spPr>
          <a:xfrm>
            <a:off x="274320" y="1216152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4"/>
          <p:cNvSpPr/>
          <p:nvPr/>
        </p:nvSpPr>
        <p:spPr>
          <a:xfrm>
            <a:off x="896112" y="1289304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P(Cart | Browse) = 0.30 = 30%. Read directly from the transition table, row 'Browse', column 'Cart'. Markov Property: only current state (Browse) needed — no history required.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54"/>
          <p:cNvSpPr/>
          <p:nvPr/>
        </p:nvSpPr>
        <p:spPr>
          <a:xfrm>
            <a:off x="274320" y="2139696"/>
            <a:ext cx="8595360" cy="80467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54"/>
          <p:cNvSpPr/>
          <p:nvPr/>
        </p:nvSpPr>
        <p:spPr>
          <a:xfrm>
            <a:off x="274320" y="2139696"/>
            <a:ext cx="502920" cy="804672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8" name="Google Shape;1768;p54"/>
          <p:cNvSpPr/>
          <p:nvPr/>
        </p:nvSpPr>
        <p:spPr>
          <a:xfrm>
            <a:off x="274320" y="2139696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54"/>
          <p:cNvSpPr/>
          <p:nvPr/>
        </p:nvSpPr>
        <p:spPr>
          <a:xfrm>
            <a:off x="896112" y="2212848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P(Browse → Cart → Checkout) = P(Cart|Browse) × P(Checkout|Cart) = 0.30 × 0.50 = 0.15 = 15%. Multiply along the Markov path. Only 15% of browsing sessions convert to checkout in 2 steps.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54"/>
          <p:cNvSpPr/>
          <p:nvPr/>
        </p:nvSpPr>
        <p:spPr>
          <a:xfrm>
            <a:off x="274320" y="3063240"/>
            <a:ext cx="8595360" cy="804672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54"/>
          <p:cNvSpPr/>
          <p:nvPr/>
        </p:nvSpPr>
        <p:spPr>
          <a:xfrm>
            <a:off x="274320" y="3063240"/>
            <a:ext cx="502920" cy="804672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54"/>
          <p:cNvSpPr/>
          <p:nvPr/>
        </p:nvSpPr>
        <p:spPr>
          <a:xfrm>
            <a:off x="274320" y="306324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54"/>
          <p:cNvSpPr/>
          <p:nvPr/>
        </p:nvSpPr>
        <p:spPr>
          <a:xfrm>
            <a:off x="896112" y="3136392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BROWSE has the highest Leave probability: 50%! UX recommendations: better product recommendations, clearer categories, personalised homepage, faster load time. Reducing Browse→Leave from 50% to 30% could nearly double conversion rate.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4" name="Google Shape;177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0" y="2926080"/>
            <a:ext cx="3840480" cy="1755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Customer Journey — Full Calculation and Business Insight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Transition Table: Browse→Cart=0.30, Browse→Leave=0.50, Browse→Browse=0.20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Cart→Checkout=0.50, Cart→Leave=0.30, Cart→Browse=0.20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Checkout→Buy=0.70, Checkout→Leave=0.20, Checkout→Browse=0.10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Q1: P(Cart in 1 step from Browse) = 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Answer: Read directly from table → P(Cart|Browse) = 0.30 = 30%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Markov Property: Only need to know current state (Browse). No history needed.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Q2: P(Browse → Cart → Checkout) in exactly 2 steps = 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Answer: Multiply along the path: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P(Cart|Browse) x P(Checkout|Cart) = 0.30 x 0.50 = 0.15 = 15%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Only 15% of browsing sessions reach checkout in 2 steps. This is why UX matters!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Q3: Which state has highest Leave probability?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BROWSE has 50% Leave rate — HIGHEST of all states!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Cart = 30% leave,  Checkout = 20% leave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UX Recommendations for Browse: Better search and categories, personalized recommendations, show discounts upfront, faster page loading.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Business Impact: Reducing Browse Leave from 50% to 30% could nearly DOUBLE the conversion rate!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5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55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Fuzzy Logic — Degrees of Truth, Not Just Yes/No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55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55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55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Classical logic = light switch (ON/OFF). Fuzzy logic = dimmer switch (any value 0 to 1):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55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55"/>
          <p:cNvSpPr/>
          <p:nvPr/>
        </p:nvSpPr>
        <p:spPr>
          <a:xfrm>
            <a:off x="274320" y="1097280"/>
            <a:ext cx="4114800" cy="3108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55"/>
          <p:cNvSpPr/>
          <p:nvPr/>
        </p:nvSpPr>
        <p:spPr>
          <a:xfrm>
            <a:off x="36576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Classical Logic Problem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5"/>
          <p:cNvSpPr/>
          <p:nvPr/>
        </p:nvSpPr>
        <p:spPr>
          <a:xfrm>
            <a:off x="365760" y="1444752"/>
            <a:ext cx="3931920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Cutoff: above 180cm = TALL.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Ali   = 179.9cm  →  NOT TALL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Bilal = 180.1cm  →  TALL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0.2cm difference decides 'tall'?!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That feels completely WRONG.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5"/>
          <p:cNvSpPr/>
          <p:nvPr/>
        </p:nvSpPr>
        <p:spPr>
          <a:xfrm>
            <a:off x="4709160" y="1097280"/>
            <a:ext cx="4114800" cy="1828800"/>
          </a:xfrm>
          <a:prstGeom prst="rect">
            <a:avLst/>
          </a:prstGeom>
          <a:solidFill>
            <a:srgbClr val="E8F8F0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55"/>
          <p:cNvSpPr/>
          <p:nvPr/>
        </p:nvSpPr>
        <p:spPr>
          <a:xfrm>
            <a:off x="4709160" y="1097280"/>
            <a:ext cx="4114800" cy="310896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55"/>
          <p:cNvSpPr/>
          <p:nvPr/>
        </p:nvSpPr>
        <p:spPr>
          <a:xfrm>
            <a:off x="480060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Fuzzy Logic Solution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55"/>
          <p:cNvSpPr/>
          <p:nvPr/>
        </p:nvSpPr>
        <p:spPr>
          <a:xfrm>
            <a:off x="4800600" y="1444752"/>
            <a:ext cx="3931920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Membership degrees (0.0 → 1.0):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160cm → 0.0 (not tall at all)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170cm → 0.3 (a bit tall)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178cm → 0.7 (quite tall)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185cm → 1.0 (fully tall)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Smooth gradient — no sharp cutoff!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4" name="Google Shape;179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3017520"/>
            <a:ext cx="5029200" cy="16642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55"/>
          <p:cNvSpPr/>
          <p:nvPr/>
        </p:nvSpPr>
        <p:spPr>
          <a:xfrm>
            <a:off x="5440680" y="3017520"/>
            <a:ext cx="3429000" cy="1664208"/>
          </a:xfrm>
          <a:prstGeom prst="rect">
            <a:avLst/>
          </a:prstGeom>
          <a:solidFill>
            <a:srgbClr val="F0E6F6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55"/>
          <p:cNvSpPr/>
          <p:nvPr/>
        </p:nvSpPr>
        <p:spPr>
          <a:xfrm>
            <a:off x="5532120" y="304495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Fuzzy Operations (Ali: tall=0.7, fast=0.4)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55"/>
          <p:cNvSpPr/>
          <p:nvPr/>
        </p:nvSpPr>
        <p:spPr>
          <a:xfrm>
            <a:off x="5532120" y="3364992"/>
            <a:ext cx="324612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8" name="Google Shape;1798;p55"/>
          <p:cNvSpPr/>
          <p:nvPr/>
        </p:nvSpPr>
        <p:spPr>
          <a:xfrm>
            <a:off x="5577840" y="33832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Fuzzy AND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55"/>
          <p:cNvSpPr/>
          <p:nvPr/>
        </p:nvSpPr>
        <p:spPr>
          <a:xfrm>
            <a:off x="6629400" y="338328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MIN(0.7, 0.4) = 0.4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55"/>
          <p:cNvSpPr/>
          <p:nvPr/>
        </p:nvSpPr>
        <p:spPr>
          <a:xfrm>
            <a:off x="8092440" y="3383280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Weakest link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55"/>
          <p:cNvSpPr/>
          <p:nvPr/>
        </p:nvSpPr>
        <p:spPr>
          <a:xfrm>
            <a:off x="5532120" y="3749040"/>
            <a:ext cx="324612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55"/>
          <p:cNvSpPr/>
          <p:nvPr/>
        </p:nvSpPr>
        <p:spPr>
          <a:xfrm>
            <a:off x="5577840" y="376732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Fuzzy 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55"/>
          <p:cNvSpPr/>
          <p:nvPr/>
        </p:nvSpPr>
        <p:spPr>
          <a:xfrm>
            <a:off x="6629400" y="376732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MAX(0.7, 0.4) = 0.7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55"/>
          <p:cNvSpPr/>
          <p:nvPr/>
        </p:nvSpPr>
        <p:spPr>
          <a:xfrm>
            <a:off x="8092440" y="3767328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Strongest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55"/>
          <p:cNvSpPr/>
          <p:nvPr/>
        </p:nvSpPr>
        <p:spPr>
          <a:xfrm>
            <a:off x="5532120" y="4133088"/>
            <a:ext cx="324612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55"/>
          <p:cNvSpPr/>
          <p:nvPr/>
        </p:nvSpPr>
        <p:spPr>
          <a:xfrm>
            <a:off x="5577840" y="41513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Fuzzy NOT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55"/>
          <p:cNvSpPr/>
          <p:nvPr/>
        </p:nvSpPr>
        <p:spPr>
          <a:xfrm>
            <a:off x="6629400" y="415137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1 − 0.7 = 0.3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55"/>
          <p:cNvSpPr/>
          <p:nvPr/>
        </p:nvSpPr>
        <p:spPr>
          <a:xfrm>
            <a:off x="8092440" y="4151376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Complement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Fuzzy Logic — AND, OR, NOT Calculations with Full Reasoning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Given: Ali has μ(tall) = 0.7  and  μ(fast) = 0.4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Classical Logic Problem First: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If cutoff is 180cm → Ali at 179.9cm = NOT TALL,  Bilal at 180.1cm = TALL. A 0.2cm difference decides everything — feels completely wrong!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Fuzzy solution: Ali at 179.9cm gets μ(tall) = 0.85 — almost tall but not fully. Much more natural!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Fuzzy AND = MIN(μ1, μ2):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μ(tall AND fast) = MIN(0.7, 0.4) = 0.4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WHY MIN? AND means BOTH must be true. Chain is only as strong as its weakest link. Ali is limited by fast (0.4), not tall (0.7).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Plain English: Ali is 40% both tall and fast.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Fuzzy OR = MAX(μ1, μ2):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μ(tall OR fast) = MAX(0.7, 0.4) = 0.7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WHY MAX? OR means AT LEAST ONE true. Take the strongest. Ali is saved by being 70% tall.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Fuzzy NOT = 1 - μ: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μ(NOT tall) = 1 - 0.7 = 0.3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WHY 1 minus? If 70% tall then must be 30% not-tall. They must add to 1.0 (100%).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5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56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Fuzzy Inference System — 4 Steps with AC Controller Example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56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56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54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56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Input 30°C → Fuzzify → Apply Rules → Aggregate → Defuzzify → Output: 68% fan speed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56"/>
          <p:cNvSpPr/>
          <p:nvPr/>
        </p:nvSpPr>
        <p:spPr>
          <a:xfrm>
            <a:off x="274320" y="1097280"/>
            <a:ext cx="2057400" cy="2395728"/>
          </a:xfrm>
          <a:prstGeom prst="rect">
            <a:avLst/>
          </a:prstGeom>
          <a:solidFill>
            <a:srgbClr val="F8F9FA"/>
          </a:solidFill>
          <a:ln w="254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56"/>
          <p:cNvSpPr/>
          <p:nvPr/>
        </p:nvSpPr>
        <p:spPr>
          <a:xfrm>
            <a:off x="274320" y="1097280"/>
            <a:ext cx="2057400" cy="329184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56"/>
          <p:cNvSpPr/>
          <p:nvPr/>
        </p:nvSpPr>
        <p:spPr>
          <a:xfrm>
            <a:off x="274320" y="109728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56"/>
          <p:cNvSpPr/>
          <p:nvPr/>
        </p:nvSpPr>
        <p:spPr>
          <a:xfrm>
            <a:off x="365760" y="14630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FUZZIFY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4" name="Google Shape;1824;p56"/>
          <p:cNvCxnSpPr/>
          <p:nvPr/>
        </p:nvCxnSpPr>
        <p:spPr>
          <a:xfrm>
            <a:off x="365760" y="1865376"/>
            <a:ext cx="1874520" cy="0"/>
          </a:xfrm>
          <a:prstGeom prst="straightConnector1">
            <a:avLst/>
          </a:prstGeom>
          <a:noFill/>
          <a:ln w="9525" cap="flat" cmpd="sng">
            <a:solidFill>
              <a:srgbClr val="02809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25" name="Google Shape;1825;p56"/>
          <p:cNvSpPr/>
          <p:nvPr/>
        </p:nvSpPr>
        <p:spPr>
          <a:xfrm>
            <a:off x="365760" y="19202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Convert real number → membership degrees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56"/>
          <p:cNvSpPr/>
          <p:nvPr/>
        </p:nvSpPr>
        <p:spPr>
          <a:xfrm>
            <a:off x="365760" y="2432304"/>
            <a:ext cx="1874520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56"/>
          <p:cNvSpPr/>
          <p:nvPr/>
        </p:nvSpPr>
        <p:spPr>
          <a:xfrm>
            <a:off x="420624" y="2468880"/>
            <a:ext cx="176479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30°C: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COOL = 0.0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WARM = 0.5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HOT  = 0.3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56"/>
          <p:cNvSpPr/>
          <p:nvPr/>
        </p:nvSpPr>
        <p:spPr>
          <a:xfrm>
            <a:off x="2331720" y="1920240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56"/>
          <p:cNvSpPr/>
          <p:nvPr/>
        </p:nvSpPr>
        <p:spPr>
          <a:xfrm>
            <a:off x="2487168" y="1097280"/>
            <a:ext cx="2057400" cy="2395728"/>
          </a:xfrm>
          <a:prstGeom prst="rect">
            <a:avLst/>
          </a:prstGeom>
          <a:solidFill>
            <a:srgbClr val="F8F9FA"/>
          </a:solidFill>
          <a:ln w="254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0" name="Google Shape;1830;p56"/>
          <p:cNvSpPr/>
          <p:nvPr/>
        </p:nvSpPr>
        <p:spPr>
          <a:xfrm>
            <a:off x="2487168" y="1097280"/>
            <a:ext cx="205740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56"/>
          <p:cNvSpPr/>
          <p:nvPr/>
        </p:nvSpPr>
        <p:spPr>
          <a:xfrm>
            <a:off x="2487168" y="109728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56"/>
          <p:cNvSpPr/>
          <p:nvPr/>
        </p:nvSpPr>
        <p:spPr>
          <a:xfrm>
            <a:off x="2578608" y="14630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RULE EVALUATION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3" name="Google Shape;1833;p56"/>
          <p:cNvCxnSpPr/>
          <p:nvPr/>
        </p:nvCxnSpPr>
        <p:spPr>
          <a:xfrm>
            <a:off x="2578608" y="1865376"/>
            <a:ext cx="1874520" cy="0"/>
          </a:xfrm>
          <a:prstGeom prst="straightConnector1">
            <a:avLst/>
          </a:prstGeom>
          <a:noFill/>
          <a:ln w="9525" cap="flat" cmpd="sng">
            <a:solidFill>
              <a:srgbClr val="7D3C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34" name="Google Shape;1834;p56"/>
          <p:cNvSpPr/>
          <p:nvPr/>
        </p:nvSpPr>
        <p:spPr>
          <a:xfrm>
            <a:off x="2578608" y="19202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Apply IF-THEN rules — how strongly each fires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56"/>
          <p:cNvSpPr/>
          <p:nvPr/>
        </p:nvSpPr>
        <p:spPr>
          <a:xfrm>
            <a:off x="2578608" y="2432304"/>
            <a:ext cx="1874520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56"/>
          <p:cNvSpPr/>
          <p:nvPr/>
        </p:nvSpPr>
        <p:spPr>
          <a:xfrm>
            <a:off x="2633472" y="2468880"/>
            <a:ext cx="176479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R1 COOL→SLOW: 0.0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R2 WARM→MED: 0.5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R3 HOT→FAST: 0.3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56"/>
          <p:cNvSpPr/>
          <p:nvPr/>
        </p:nvSpPr>
        <p:spPr>
          <a:xfrm>
            <a:off x="4544568" y="1920240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56"/>
          <p:cNvSpPr/>
          <p:nvPr/>
        </p:nvSpPr>
        <p:spPr>
          <a:xfrm>
            <a:off x="4700016" y="1097280"/>
            <a:ext cx="2057400" cy="2395728"/>
          </a:xfrm>
          <a:prstGeom prst="rect">
            <a:avLst/>
          </a:prstGeom>
          <a:solidFill>
            <a:srgbClr val="F8F9FA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6"/>
          <p:cNvSpPr/>
          <p:nvPr/>
        </p:nvSpPr>
        <p:spPr>
          <a:xfrm>
            <a:off x="4700016" y="1097280"/>
            <a:ext cx="205740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56"/>
          <p:cNvSpPr/>
          <p:nvPr/>
        </p:nvSpPr>
        <p:spPr>
          <a:xfrm>
            <a:off x="4700016" y="109728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56"/>
          <p:cNvSpPr/>
          <p:nvPr/>
        </p:nvSpPr>
        <p:spPr>
          <a:xfrm>
            <a:off x="4791456" y="14630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AGGREGATE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56"/>
          <p:cNvCxnSpPr/>
          <p:nvPr/>
        </p:nvCxnSpPr>
        <p:spPr>
          <a:xfrm>
            <a:off x="4791456" y="1865376"/>
            <a:ext cx="1874520" cy="0"/>
          </a:xfrm>
          <a:prstGeom prst="straightConnector1">
            <a:avLst/>
          </a:prstGeom>
          <a:noFill/>
          <a:ln w="9525" cap="flat" cmpd="sng">
            <a:solidFill>
              <a:srgbClr val="E67E2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43" name="Google Shape;1843;p56"/>
          <p:cNvSpPr/>
          <p:nvPr/>
        </p:nvSpPr>
        <p:spPr>
          <a:xfrm>
            <a:off x="4791456" y="19202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Combine all rule outputs into one fuzzy shape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56"/>
          <p:cNvSpPr/>
          <p:nvPr/>
        </p:nvSpPr>
        <p:spPr>
          <a:xfrm>
            <a:off x="4791456" y="2432304"/>
            <a:ext cx="1874520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56"/>
          <p:cNvSpPr/>
          <p:nvPr/>
        </p:nvSpPr>
        <p:spPr>
          <a:xfrm>
            <a:off x="4846320" y="2468880"/>
            <a:ext cx="176479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MEDIUM clipped at 0.5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FAST clipped at 0.3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Combine both shapes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6"/>
          <p:cNvSpPr/>
          <p:nvPr/>
        </p:nvSpPr>
        <p:spPr>
          <a:xfrm>
            <a:off x="6757416" y="1920240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56"/>
          <p:cNvSpPr/>
          <p:nvPr/>
        </p:nvSpPr>
        <p:spPr>
          <a:xfrm>
            <a:off x="6912864" y="1097280"/>
            <a:ext cx="2057400" cy="2395728"/>
          </a:xfrm>
          <a:prstGeom prst="rect">
            <a:avLst/>
          </a:prstGeom>
          <a:solidFill>
            <a:srgbClr val="F8F9FA"/>
          </a:solidFill>
          <a:ln w="254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56"/>
          <p:cNvSpPr/>
          <p:nvPr/>
        </p:nvSpPr>
        <p:spPr>
          <a:xfrm>
            <a:off x="6912864" y="1097280"/>
            <a:ext cx="205740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56"/>
          <p:cNvSpPr/>
          <p:nvPr/>
        </p:nvSpPr>
        <p:spPr>
          <a:xfrm>
            <a:off x="6912864" y="109728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56"/>
          <p:cNvSpPr/>
          <p:nvPr/>
        </p:nvSpPr>
        <p:spPr>
          <a:xfrm>
            <a:off x="7004304" y="14630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DEFUZZIFY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1" name="Google Shape;1851;p56"/>
          <p:cNvCxnSpPr/>
          <p:nvPr/>
        </p:nvCxnSpPr>
        <p:spPr>
          <a:xfrm>
            <a:off x="7004304" y="1865376"/>
            <a:ext cx="1874520" cy="0"/>
          </a:xfrm>
          <a:prstGeom prst="straightConnector1">
            <a:avLst/>
          </a:prstGeom>
          <a:noFill/>
          <a:ln w="9525" cap="flat" cmpd="sng">
            <a:solidFill>
              <a:srgbClr val="1E844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52" name="Google Shape;1852;p56"/>
          <p:cNvSpPr/>
          <p:nvPr/>
        </p:nvSpPr>
        <p:spPr>
          <a:xfrm>
            <a:off x="7004304" y="19202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Find centre of gravity → single crisp number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6"/>
          <p:cNvSpPr/>
          <p:nvPr/>
        </p:nvSpPr>
        <p:spPr>
          <a:xfrm>
            <a:off x="7004304" y="2432304"/>
            <a:ext cx="1874520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56"/>
          <p:cNvSpPr/>
          <p:nvPr/>
        </p:nvSpPr>
        <p:spPr>
          <a:xfrm>
            <a:off x="7059168" y="2468880"/>
            <a:ext cx="176479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Centroid of combined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fuzzy output shape: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→ Fan Speed = 68%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6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56"/>
          <p:cNvSpPr/>
          <p:nvPr/>
        </p:nvSpPr>
        <p:spPr>
          <a:xfrm>
            <a:off x="457200" y="35935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AC Controller Fuzzy Rules: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7" name="Google Shape;1857;p56"/>
          <p:cNvGraphicFramePr/>
          <p:nvPr/>
        </p:nvGraphicFramePr>
        <p:xfrm>
          <a:off x="274320" y="3913632"/>
          <a:ext cx="8595350" cy="1143040"/>
        </p:xfrm>
        <a:graphic>
          <a:graphicData uri="http://schemas.openxmlformats.org/drawingml/2006/table">
            <a:tbl>
              <a:tblPr>
                <a:noFill/>
                <a:tableStyleId>{9FFD1E58-6AB2-4EE6-8648-EC42A07AC2AC}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Rule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IF Temperature is...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THEN Fan Speed is...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</a:rPr>
                        <a:t>Fires at 30°C</a:t>
                      </a:r>
                      <a:endParaRPr sz="10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COOL (below ~25°C)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SLOW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E67E22"/>
                          </a:solidFill>
                        </a:rPr>
                        <a:t>0.0 — does not fire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WARM (22°C–32°C)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MEDIUM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E67E22"/>
                          </a:solidFill>
                        </a:rPr>
                        <a:t>0.5 — fires half strength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HOT (above 30°C)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2C3E50"/>
                          </a:solidFill>
                        </a:rPr>
                        <a:t>FAST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E67E22"/>
                          </a:solidFill>
                        </a:rPr>
                        <a:t>0.3 — fires some strength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</a:rPr>
              <a:t>Fuzzy Inference System — How 68% Fan Speed is Really Calculated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Input: 30 degrees Celsius. Output: Fan speed percentage.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Step 1 — FUZZIFY (convert 30C to membership degrees):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μ(COOL) = 0.0  (30C is not cool at all — COOL peaks around 20C)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μ(WARM) = 0.5  (30C is halfway into the WARM range of 22C to 32C)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μ(HOT)  = 0.3  (30C is entering HOT territory — HOT peaks at 35C)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Step 2 — RULE EVALUATION (rules fire at their membership strength):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R1: IF COOL → SLOW fan: fires at 0.0 (does NOT fire)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R2: IF WARM → MEDIUM fan: fires at 0.5 (half strength)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R3: IF HOT → FAST fan: fires at 0.3 (some strength)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Step 3 — AGGREGATE (clip and combine output shapes):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MEDIUM fan speed triangle is clipped at 0.5 (top of triangle cut off)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FAST fan speed triangle is clipped at 0.3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Combine both clipped shapes into one combined fuzzy region.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Step 4 — DEFUZZIFY using Centroid Method: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Weighted average: each fan speed value weighted by its membership degree.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Fan speeds near MEDIUM weighted at 0.5, near FAST weighted at 0.3.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The balance point (center of gravity) of combined shape = approximately 68% fan speed.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More precise sampling of points → closer to exactly 68%. This is real math, not an assumption!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5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57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Quiz — Fuzzy Logic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5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57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57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55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5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57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Think before checking answers!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7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57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57"/>
          <p:cNvSpPr/>
          <p:nvPr/>
        </p:nvSpPr>
        <p:spPr>
          <a:xfrm>
            <a:off x="274320" y="121615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57"/>
          <p:cNvSpPr/>
          <p:nvPr/>
        </p:nvSpPr>
        <p:spPr>
          <a:xfrm>
            <a:off x="960120" y="128930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AC at 22°C: μ_COOL(22)=0.8, μ_WARM(22)=0.2, μ_HOT(22)=0. Rules: IF COOL → SLOW, IF WARM → MEDIUM, IF HOT → FAST. (a) Which rules fire and at what strength? (b) After defuzzification, what does the fan approximately do?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7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57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57"/>
          <p:cNvSpPr/>
          <p:nvPr/>
        </p:nvSpPr>
        <p:spPr>
          <a:xfrm>
            <a:off x="274320" y="226771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7"/>
          <p:cNvSpPr/>
          <p:nvPr/>
        </p:nvSpPr>
        <p:spPr>
          <a:xfrm>
            <a:off x="960120" y="234086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Fuzzy Operations — Patient X: μ_young=0.6, μ_healthy=0.8. Calculate: μ(young AND healthy), μ(young OR healthy), μ(NOT young). Interpret each result in ONE plain English sentence.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7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57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57"/>
          <p:cNvSpPr/>
          <p:nvPr/>
        </p:nvSpPr>
        <p:spPr>
          <a:xfrm>
            <a:off x="274320" y="3319272"/>
            <a:ext cx="56692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7"/>
          <p:cNvSpPr/>
          <p:nvPr/>
        </p:nvSpPr>
        <p:spPr>
          <a:xfrm>
            <a:off x="960120" y="3392424"/>
            <a:ext cx="779068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Real World: Why does a modern anti-lock braking (ABS) system use Fuzzy Logic instead of classical on/off logic? What SPECIFIC advantage do membership degrees give compared to binary rules?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5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58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Quiz Answers — Fuzzy Logic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58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58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56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58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58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Model Answers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58"/>
          <p:cNvSpPr/>
          <p:nvPr/>
        </p:nvSpPr>
        <p:spPr>
          <a:xfrm>
            <a:off x="274320" y="121615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58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58"/>
          <p:cNvSpPr/>
          <p:nvPr/>
        </p:nvSpPr>
        <p:spPr>
          <a:xfrm>
            <a:off x="274320" y="121615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58"/>
          <p:cNvSpPr/>
          <p:nvPr/>
        </p:nvSpPr>
        <p:spPr>
          <a:xfrm>
            <a:off x="896112" y="128930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(a) Rule 1 (COOL→SLOW) fires at 0.8. Rule 2 (WARM→MEDIUM) fires at 0.2. Rule 3 (HOT→FAST) fires at 0.0. (b) SLOW output clipped at 0.8 dominates; MEDIUM at 0.2. After defuzzification, fan runs at roughly 20–30% speed — mostly slow with a slight medium component. Room is cool, AC barely needs to run.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58"/>
          <p:cNvSpPr/>
          <p:nvPr/>
        </p:nvSpPr>
        <p:spPr>
          <a:xfrm>
            <a:off x="274320" y="226771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58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58"/>
          <p:cNvSpPr/>
          <p:nvPr/>
        </p:nvSpPr>
        <p:spPr>
          <a:xfrm>
            <a:off x="274320" y="226771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58"/>
          <p:cNvSpPr/>
          <p:nvPr/>
        </p:nvSpPr>
        <p:spPr>
          <a:xfrm>
            <a:off x="896112" y="234086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μ(young AND healthy)=MIN(0.6,0.8)=0.6 — Patient is 60% both young and healthy (limited by youth). μ(young OR healthy)=MAX(0.6,0.8)=0.8 — Patient is 80% young or healthy (best of the two). μ(NOT young)=1−0.6=0.4 — Patient is 40% not young (middle-aged).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58"/>
          <p:cNvSpPr/>
          <p:nvPr/>
        </p:nvSpPr>
        <p:spPr>
          <a:xfrm>
            <a:off x="274320" y="3319272"/>
            <a:ext cx="8595360" cy="93268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58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58"/>
          <p:cNvSpPr/>
          <p:nvPr/>
        </p:nvSpPr>
        <p:spPr>
          <a:xfrm>
            <a:off x="274320" y="3319272"/>
            <a:ext cx="5029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58"/>
          <p:cNvSpPr/>
          <p:nvPr/>
        </p:nvSpPr>
        <p:spPr>
          <a:xfrm>
            <a:off x="896112" y="3392424"/>
            <a:ext cx="78638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Classical ABS: binary 'IF locked THEN release' → jerky on-off braking. Fuzzy ABS: graduated rules like 'IF wheel_slip is HIGH AND speed is FAST THEN reduce_braking SIGNIFICANTLY' — applied 14+ times per second. Membership degrees allow smooth, proportional pressure adjustments, giving shorter stopping distances and maintaining steering control throughout the braking event.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</a:rPr>
              <a:t>Fuzzy Logic Quiz Solutions 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A7A6E"/>
                </a:solidFill>
                <a:latin typeface="Calibri"/>
              </a:rPr>
              <a:t>Q1: AC at 22C — μ(COOL)=0.8, μ(WARM)=0.2, μ(HOT)=0.0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Rule 1 (COOL→SLOW) fires at strength 0.8 — dominates strongly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Rule 2 (WARM→MEDIUM) fires at strength 0.2 — very weak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Rule 3 (HOT→FAST) fires at strength 0.0 — completely silent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SLOW output clipped at 0.8 dominates, MEDIUM at 0.2 is minor.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After defuzzification: fan runs at roughly 20-30% speed. Room is cool, AC barely runs. 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A7A6E"/>
                </a:solidFill>
                <a:latin typeface="Calibri"/>
              </a:rPr>
              <a:t>Q2: Patient X — μ(young)=0.6, μ(healthy)=0.8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AND: MIN(0.6, 0.8) = 0.6 → 60% both young and healthy (limited by youth)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OR: MAX(0.6, 0.8) = 0.8 → 80% young or healthy (saved by good health)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NOT young: 1 - 0.6 = 0.4 → 40% not-young (somewhat middle-aged)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 dirty="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A7A6E"/>
                </a:solidFill>
                <a:latin typeface="Calibri"/>
              </a:rPr>
              <a:t>Q3: Why does ABS braking use Fuzzy Logic?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Classical ABS: IF wheel locked THEN release brake fully → jerky, uncomfortable, longer stop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Fuzzy ABS: IF </a:t>
            </a:r>
            <a:r>
              <a:rPr lang="en-US" sz="950" b="0" i="0" u="none" strike="noStrike" cap="none" dirty="0" err="1">
                <a:solidFill>
                  <a:srgbClr val="2C3E50"/>
                </a:solidFill>
                <a:latin typeface="Calibri"/>
              </a:rPr>
              <a:t>wheel_slip</a:t>
            </a: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 is HIGH AND speed is FAST THEN </a:t>
            </a:r>
            <a:r>
              <a:rPr lang="en-US" sz="950" b="0" i="0" u="none" strike="noStrike" cap="none" dirty="0" err="1">
                <a:solidFill>
                  <a:srgbClr val="2C3E50"/>
                </a:solidFill>
                <a:latin typeface="Calibri"/>
              </a:rPr>
              <a:t>reduce_braking</a:t>
            </a: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 SIGNIFICANTLY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Applied 14 times per second with smooth, proportional pressure adjustments.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 dirty="0">
                <a:solidFill>
                  <a:srgbClr val="2C3E50"/>
                </a:solidFill>
                <a:latin typeface="Calibri"/>
              </a:rPr>
              <a:t>Result: Shorter stopping distances + full steering control maintained. Membership degrees allow graduated brake pressure, not just full-on or full-off!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5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2" name="Google Shape;1912;p59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 Activity — Design a Fuzzy Cruise Control System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59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59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57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59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59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Pair Activity (12 min) — Design the full fuzzy system. Apply it to a real scenario.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59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E8F5F3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59"/>
          <p:cNvSpPr/>
          <p:nvPr/>
        </p:nvSpPr>
        <p:spPr>
          <a:xfrm>
            <a:off x="457200" y="1216152"/>
            <a:ext cx="83210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Setup: </a:t>
            </a: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Input = Speed Error (current minus target speed). Negative = too slow. Zero = perfect. Positive = too fast. Output = Throttle adjustment (INCREASE, HOLD, DECREASE).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59"/>
          <p:cNvSpPr/>
          <p:nvPr/>
        </p:nvSpPr>
        <p:spPr>
          <a:xfrm>
            <a:off x="274320" y="1993392"/>
            <a:ext cx="4114800" cy="109728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p59"/>
          <p:cNvSpPr/>
          <p:nvPr/>
        </p:nvSpPr>
        <p:spPr>
          <a:xfrm>
            <a:off x="274320" y="1993392"/>
            <a:ext cx="4114800" cy="29260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59"/>
          <p:cNvSpPr/>
          <p:nvPr/>
        </p:nvSpPr>
        <p:spPr>
          <a:xfrm>
            <a:off x="365760" y="199339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Define Fuzzy Sets for Speed Error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59"/>
          <p:cNvSpPr/>
          <p:nvPr/>
        </p:nvSpPr>
        <p:spPr>
          <a:xfrm>
            <a:off x="384048" y="2322576"/>
            <a:ext cx="389534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Name 3 sets (TOO_SLOW, ABOUT_RIGHT, TOO_FAST). For each, state where μ=1 and where μ=0.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59"/>
          <p:cNvSpPr/>
          <p:nvPr/>
        </p:nvSpPr>
        <p:spPr>
          <a:xfrm>
            <a:off x="4709160" y="1993392"/>
            <a:ext cx="4114800" cy="109728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59"/>
          <p:cNvSpPr/>
          <p:nvPr/>
        </p:nvSpPr>
        <p:spPr>
          <a:xfrm>
            <a:off x="4709160" y="1993392"/>
            <a:ext cx="4114800" cy="292608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59"/>
          <p:cNvSpPr/>
          <p:nvPr/>
        </p:nvSpPr>
        <p:spPr>
          <a:xfrm>
            <a:off x="4800600" y="199339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Write 3 IF-THEN Rules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59"/>
          <p:cNvSpPr/>
          <p:nvPr/>
        </p:nvSpPr>
        <p:spPr>
          <a:xfrm>
            <a:off x="4818888" y="2322576"/>
            <a:ext cx="389534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Connect speed error sets to throttle output sets. Make sure you have a rule for each speed error set.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59"/>
          <p:cNvSpPr/>
          <p:nvPr/>
        </p:nvSpPr>
        <p:spPr>
          <a:xfrm>
            <a:off x="274320" y="3255264"/>
            <a:ext cx="4114800" cy="109728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59"/>
          <p:cNvSpPr/>
          <p:nvPr/>
        </p:nvSpPr>
        <p:spPr>
          <a:xfrm>
            <a:off x="274320" y="3255264"/>
            <a:ext cx="4114800" cy="292608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59"/>
          <p:cNvSpPr/>
          <p:nvPr/>
        </p:nvSpPr>
        <p:spPr>
          <a:xfrm>
            <a:off x="365760" y="32552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Fuzzify: Error = +5 km/h (too fast)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59"/>
          <p:cNvSpPr/>
          <p:nvPr/>
        </p:nvSpPr>
        <p:spPr>
          <a:xfrm>
            <a:off x="384048" y="3584448"/>
            <a:ext cx="389534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Calculate μ for each set. Use your ranges from Task 1. Which rules fire and at what strength?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59"/>
          <p:cNvSpPr/>
          <p:nvPr/>
        </p:nvSpPr>
        <p:spPr>
          <a:xfrm>
            <a:off x="4709160" y="3255264"/>
            <a:ext cx="4114800" cy="1097280"/>
          </a:xfrm>
          <a:prstGeom prst="rect">
            <a:avLst/>
          </a:prstGeom>
          <a:solidFill>
            <a:srgbClr val="F8F9FA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3" name="Google Shape;1933;p59"/>
          <p:cNvSpPr/>
          <p:nvPr/>
        </p:nvSpPr>
        <p:spPr>
          <a:xfrm>
            <a:off x="4709160" y="3255264"/>
            <a:ext cx="4114800" cy="292608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59"/>
          <p:cNvSpPr/>
          <p:nvPr/>
        </p:nvSpPr>
        <p:spPr>
          <a:xfrm>
            <a:off x="4800600" y="32552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Interpret and Extend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59"/>
          <p:cNvSpPr/>
          <p:nvPr/>
        </p:nvSpPr>
        <p:spPr>
          <a:xfrm>
            <a:off x="4818888" y="3584448"/>
            <a:ext cx="389534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What should the throttle do for error=+5? What if error=−8 km/h (too slow)? Which rule dominates then?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6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60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Activity Solution — Fuzzy Cruise Control System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6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p60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60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58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60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60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Model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8" name="Google Shape;194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749808"/>
            <a:ext cx="457200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60"/>
          <p:cNvSpPr/>
          <p:nvPr/>
        </p:nvSpPr>
        <p:spPr>
          <a:xfrm>
            <a:off x="4983480" y="749808"/>
            <a:ext cx="2011680" cy="129844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60"/>
          <p:cNvSpPr/>
          <p:nvPr/>
        </p:nvSpPr>
        <p:spPr>
          <a:xfrm>
            <a:off x="4983480" y="749808"/>
            <a:ext cx="201168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60"/>
          <p:cNvSpPr/>
          <p:nvPr/>
        </p:nvSpPr>
        <p:spPr>
          <a:xfrm>
            <a:off x="5074920" y="7498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60"/>
          <p:cNvSpPr/>
          <p:nvPr/>
        </p:nvSpPr>
        <p:spPr>
          <a:xfrm>
            <a:off x="5074920" y="1060704"/>
            <a:ext cx="182880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R1: IF TOO_SLOW → INCREASE throttle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R2: IF ABOUT_RIGHT → HOLD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R3: IF TOO_FAST → DECREASE throttle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60"/>
          <p:cNvSpPr/>
          <p:nvPr/>
        </p:nvSpPr>
        <p:spPr>
          <a:xfrm>
            <a:off x="4983480" y="2212848"/>
            <a:ext cx="2011680" cy="129844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4" name="Google Shape;1954;p60"/>
          <p:cNvSpPr/>
          <p:nvPr/>
        </p:nvSpPr>
        <p:spPr>
          <a:xfrm>
            <a:off x="4983480" y="2212848"/>
            <a:ext cx="2011680" cy="274320"/>
          </a:xfrm>
          <a:prstGeom prst="rect">
            <a:avLst/>
          </a:prstGeom>
          <a:solidFill>
            <a:srgbClr val="7D3C98"/>
          </a:solidFill>
          <a:ln w="1270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60"/>
          <p:cNvSpPr/>
          <p:nvPr/>
        </p:nvSpPr>
        <p:spPr>
          <a:xfrm>
            <a:off x="507492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Error=+5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Fuzzify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60"/>
          <p:cNvSpPr/>
          <p:nvPr/>
        </p:nvSpPr>
        <p:spPr>
          <a:xfrm>
            <a:off x="5074920" y="2523744"/>
            <a:ext cx="182880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μ_TOO_SLOW(+5) = 0.0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μ_ABOUT_RIGHT(+5) = 0.5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μ_TOO_FAST(+5) = 0.5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60"/>
          <p:cNvSpPr/>
          <p:nvPr/>
        </p:nvSpPr>
        <p:spPr>
          <a:xfrm>
            <a:off x="7159752" y="749808"/>
            <a:ext cx="2011680" cy="129844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60"/>
          <p:cNvSpPr/>
          <p:nvPr/>
        </p:nvSpPr>
        <p:spPr>
          <a:xfrm>
            <a:off x="7159752" y="749808"/>
            <a:ext cx="201168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p60"/>
          <p:cNvSpPr/>
          <p:nvPr/>
        </p:nvSpPr>
        <p:spPr>
          <a:xfrm>
            <a:off x="7251192" y="7498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60"/>
          <p:cNvSpPr/>
          <p:nvPr/>
        </p:nvSpPr>
        <p:spPr>
          <a:xfrm>
            <a:off x="7251192" y="1060704"/>
            <a:ext cx="182880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R2 fires at 0.5 → HOLD (0.5)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R3 fires at 0.5 → DECREASE (0.5)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R1 = 0.0 (no fire)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60"/>
          <p:cNvSpPr/>
          <p:nvPr/>
        </p:nvSpPr>
        <p:spPr>
          <a:xfrm>
            <a:off x="7159752" y="2212848"/>
            <a:ext cx="2011680" cy="1298448"/>
          </a:xfrm>
          <a:prstGeom prst="rect">
            <a:avLst/>
          </a:prstGeom>
          <a:solidFill>
            <a:srgbClr val="E8F8F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60"/>
          <p:cNvSpPr/>
          <p:nvPr/>
        </p:nvSpPr>
        <p:spPr>
          <a:xfrm>
            <a:off x="7159752" y="2212848"/>
            <a:ext cx="2011680" cy="27432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3" name="Google Shape;1963;p60"/>
          <p:cNvSpPr/>
          <p:nvPr/>
        </p:nvSpPr>
        <p:spPr>
          <a:xfrm>
            <a:off x="7251192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60"/>
          <p:cNvSpPr/>
          <p:nvPr/>
        </p:nvSpPr>
        <p:spPr>
          <a:xfrm>
            <a:off x="7251192" y="2523744"/>
            <a:ext cx="182880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Both HOLD and DECREASE at 0.5. Defuzzify → slight throttle decrease. At −8 km/h: only TOO_SLOW fires strongly → INCREASE throttle.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60"/>
          <p:cNvSpPr/>
          <p:nvPr/>
        </p:nvSpPr>
        <p:spPr>
          <a:xfrm>
            <a:off x="274320" y="2944368"/>
            <a:ext cx="8595360" cy="804672"/>
          </a:xfrm>
          <a:prstGeom prst="rect">
            <a:avLst/>
          </a:prstGeom>
          <a:solidFill>
            <a:srgbClr val="FEF3E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60"/>
          <p:cNvSpPr/>
          <p:nvPr/>
        </p:nvSpPr>
        <p:spPr>
          <a:xfrm>
            <a:off x="457200" y="2971800"/>
            <a:ext cx="83210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🌍  Real World Fuzzy: Rice cookers (Panasonic), camera autofocus, anti-lock brakes (ABS), air conditioning, washing machine load sensing, autopilot systems. Invented by Lotfi Zadeh (1965) — now inside billions of devices worldwide!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</a:rPr>
              <a:t>Fuzzy Cruise Control </a:t>
            </a:r>
          </a:p>
        </p:txBody>
      </p:sp>
      <p:sp>
        <p:nvSpPr>
          <p:cNvPr id="4" name="FooterBg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ooterText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</a:rPr>
              <a:t>Knowledge Representation &amp; Reasoning in AI  |  Dr. Husnain Ashfaq</a:t>
            </a:r>
          </a:p>
        </p:txBody>
      </p:sp>
      <p:sp>
        <p:nvSpPr>
          <p:cNvPr id="6" name="Content"/>
          <p:cNvSpPr/>
          <p:nvPr/>
        </p:nvSpPr>
        <p:spPr>
          <a:xfrm>
            <a:off x="182880" y="700000"/>
            <a:ext cx="8778240" cy="40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Setup: Speed Error = Current Speed - Target Speed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Fuzzy Sets: TOO_SLOW (peaks at -10), ABOUT_RIGHT (peaks at 0), TOO_FAST (peaks at +10)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Rules: R1: IF TOO_SLOW → INCREASE,   R2: IF ABOUT_RIGHT → HOLD,   R3: IF TOO_FAST → DECREASE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Scenario A: Error = +5 km/h (car is 5 km/h too fast)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Fuzzify: μ(TOO_SLOW)=0.0,  μ(ABOUT_RIGHT)=0.5,  μ(TOO_FAST)=0.5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 R1 fires at 0.0 → silent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 R2 fires at 0.5 → HOLD at half strength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 R3 fires at 0.5 → DECREASE at half strength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Both HOLD and DECREASE fire equally → After defuzzify: SLIGHT throttle decrease.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Car is only a little too fast (+5) → gentle correction, not a sudden brake!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7A6E"/>
                </a:solidFill>
                <a:latin typeface="Calibri"/>
              </a:rPr>
              <a:t>Scenario B: Error = -8 km/h (car is 8 km/h too slow)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Fuzzify: μ(TOO_SLOW)=0.8,  μ(ABOUT_RIGHT)=0.2,  μ(TOO_FAST)=0.0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 R1 fires at 0.8 → INCREASE dominates strongly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Rule R2 fires at 0.2 → HOLD is very weak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After defuzzify: STRONG throttle increase. Car is quite slow → system pushes hard!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</a:rPr>
              <a:t>KEY INSIGHT: The further from target speed, the STRONGER the correction. Closer = gentler. Just like a skilled human driver naturally adjusts throttle smoothly!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6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6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The Big Picture — How It All Connects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6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61"/>
          <p:cNvSpPr/>
          <p:nvPr/>
        </p:nvSpPr>
        <p:spPr>
          <a:xfrm>
            <a:off x="274320" y="48006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Representation &amp; Reasoning in AI  |  Dr. Husnain Ashfaq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61"/>
          <p:cNvSpPr/>
          <p:nvPr/>
        </p:nvSpPr>
        <p:spPr>
          <a:xfrm>
            <a:off x="8046720" y="48006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 / 64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61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61"/>
          <p:cNvSpPr/>
          <p:nvPr/>
        </p:nvSpPr>
        <p:spPr>
          <a:xfrm>
            <a:off x="457200" y="768096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 — STORING KNOWLEDGE  (What do we know?)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61"/>
          <p:cNvSpPr/>
          <p:nvPr/>
        </p:nvSpPr>
        <p:spPr>
          <a:xfrm>
            <a:off x="274320" y="1143000"/>
            <a:ext cx="2743200" cy="77724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61"/>
          <p:cNvSpPr/>
          <p:nvPr/>
        </p:nvSpPr>
        <p:spPr>
          <a:xfrm>
            <a:off x="365760" y="1170432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RDF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61"/>
          <p:cNvSpPr/>
          <p:nvPr/>
        </p:nvSpPr>
        <p:spPr>
          <a:xfrm>
            <a:off x="987552" y="118872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Facts as triples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Subject→Pred→Object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61"/>
          <p:cNvSpPr/>
          <p:nvPr/>
        </p:nvSpPr>
        <p:spPr>
          <a:xfrm>
            <a:off x="3172968" y="1143000"/>
            <a:ext cx="2743200" cy="77724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61"/>
          <p:cNvSpPr/>
          <p:nvPr/>
        </p:nvSpPr>
        <p:spPr>
          <a:xfrm>
            <a:off x="3264408" y="1170432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OWL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61"/>
          <p:cNvSpPr/>
          <p:nvPr/>
        </p:nvSpPr>
        <p:spPr>
          <a:xfrm>
            <a:off x="3886200" y="118872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Rules &amp; hierarchies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Automatic reasoning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61"/>
          <p:cNvSpPr/>
          <p:nvPr/>
        </p:nvSpPr>
        <p:spPr>
          <a:xfrm>
            <a:off x="6071616" y="1143000"/>
            <a:ext cx="2743200" cy="777240"/>
          </a:xfrm>
          <a:prstGeom prst="rect">
            <a:avLst/>
          </a:prstGeom>
          <a:solidFill>
            <a:srgbClr val="E8F5F3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61"/>
          <p:cNvSpPr/>
          <p:nvPr/>
        </p:nvSpPr>
        <p:spPr>
          <a:xfrm>
            <a:off x="6163056" y="1170432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SPARQL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61"/>
          <p:cNvSpPr/>
          <p:nvPr/>
        </p:nvSpPr>
        <p:spPr>
          <a:xfrm>
            <a:off x="6784848" y="1188720"/>
            <a:ext cx="19385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Query patterns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SELECT/ASK/etc.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61"/>
          <p:cNvSpPr/>
          <p:nvPr/>
        </p:nvSpPr>
        <p:spPr>
          <a:xfrm>
            <a:off x="2286000" y="19933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▼  What happens when facts are UNCERTAIN or INCOMPLETE?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61"/>
          <p:cNvSpPr/>
          <p:nvPr/>
        </p:nvSpPr>
        <p:spPr>
          <a:xfrm>
            <a:off x="274320" y="2377440"/>
            <a:ext cx="8595360" cy="32918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61"/>
          <p:cNvSpPr/>
          <p:nvPr/>
        </p:nvSpPr>
        <p:spPr>
          <a:xfrm>
            <a:off x="457200" y="2395728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 — REASONING UNDER UNCERTAINTY  (What might be true?)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61"/>
          <p:cNvSpPr/>
          <p:nvPr/>
        </p:nvSpPr>
        <p:spPr>
          <a:xfrm>
            <a:off x="228600" y="2779776"/>
            <a:ext cx="1627632" cy="1078992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61"/>
          <p:cNvSpPr/>
          <p:nvPr/>
        </p:nvSpPr>
        <p:spPr>
          <a:xfrm>
            <a:off x="274320" y="2816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61"/>
          <p:cNvSpPr/>
          <p:nvPr/>
        </p:nvSpPr>
        <p:spPr>
          <a:xfrm>
            <a:off x="274320" y="3163824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P(event)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Scale 0→1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61"/>
          <p:cNvSpPr/>
          <p:nvPr/>
        </p:nvSpPr>
        <p:spPr>
          <a:xfrm>
            <a:off x="1984248" y="2779776"/>
            <a:ext cx="1627632" cy="1078992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7D3C9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p61"/>
          <p:cNvSpPr/>
          <p:nvPr/>
        </p:nvSpPr>
        <p:spPr>
          <a:xfrm>
            <a:off x="2029968" y="2816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Bayes'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61"/>
          <p:cNvSpPr/>
          <p:nvPr/>
        </p:nvSpPr>
        <p:spPr>
          <a:xfrm>
            <a:off x="2029968" y="3163824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Update beliefs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with evidence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61"/>
          <p:cNvSpPr/>
          <p:nvPr/>
        </p:nvSpPr>
        <p:spPr>
          <a:xfrm>
            <a:off x="3739896" y="2779776"/>
            <a:ext cx="1627632" cy="1078992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61"/>
          <p:cNvSpPr/>
          <p:nvPr/>
        </p:nvSpPr>
        <p:spPr>
          <a:xfrm>
            <a:off x="3785616" y="2816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Bayesian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Networks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61"/>
          <p:cNvSpPr/>
          <p:nvPr/>
        </p:nvSpPr>
        <p:spPr>
          <a:xfrm>
            <a:off x="3785616" y="3163824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Cause→Effect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maps+probs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61"/>
          <p:cNvSpPr/>
          <p:nvPr/>
        </p:nvSpPr>
        <p:spPr>
          <a:xfrm>
            <a:off x="5495544" y="2779776"/>
            <a:ext cx="1627632" cy="1078992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61"/>
          <p:cNvSpPr/>
          <p:nvPr/>
        </p:nvSpPr>
        <p:spPr>
          <a:xfrm>
            <a:off x="5541264" y="2816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Markov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61"/>
          <p:cNvSpPr/>
          <p:nvPr/>
        </p:nvSpPr>
        <p:spPr>
          <a:xfrm>
            <a:off x="5541264" y="3163824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Predict next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state from now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61"/>
          <p:cNvSpPr/>
          <p:nvPr/>
        </p:nvSpPr>
        <p:spPr>
          <a:xfrm>
            <a:off x="7251192" y="2779776"/>
            <a:ext cx="1627632" cy="1078992"/>
          </a:xfrm>
          <a:prstGeom prst="rect">
            <a:avLst/>
          </a:prstGeom>
          <a:solidFill>
            <a:srgbClr val="FDECEA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61"/>
          <p:cNvSpPr/>
          <p:nvPr/>
        </p:nvSpPr>
        <p:spPr>
          <a:xfrm>
            <a:off x="7296912" y="2816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Fuzzy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61"/>
          <p:cNvSpPr/>
          <p:nvPr/>
        </p:nvSpPr>
        <p:spPr>
          <a:xfrm>
            <a:off x="7296912" y="3163824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Degrees of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truth 0→1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61"/>
          <p:cNvSpPr/>
          <p:nvPr/>
        </p:nvSpPr>
        <p:spPr>
          <a:xfrm>
            <a:off x="274320" y="3931920"/>
            <a:ext cx="8595360" cy="329184"/>
          </a:xfrm>
          <a:prstGeom prst="rect">
            <a:avLst/>
          </a:prstGeom>
          <a:solidFill>
            <a:srgbClr val="1A7A6E"/>
          </a:solidFill>
          <a:ln w="12700" cap="flat" cmpd="sng">
            <a:solidFill>
              <a:srgbClr val="1A7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61"/>
          <p:cNvSpPr/>
          <p:nvPr/>
        </p:nvSpPr>
        <p:spPr>
          <a:xfrm>
            <a:off x="457200" y="3950208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Selector: vague words → Fuzzy | sequences → Markov | causes+effects → BayesNet | updating beliefs → Bayes | rules → OWL | querying → SPARQL | storing facts → RDF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11626</Words>
  <Application>Microsoft Office PowerPoint</Application>
  <PresentationFormat>On-screen Show (16:9)</PresentationFormat>
  <Paragraphs>1519</Paragraphs>
  <Slides>70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Husnain Ashfaq</cp:lastModifiedBy>
  <cp:revision>4</cp:revision>
  <dcterms:modified xsi:type="dcterms:W3CDTF">2026-06-15T05:53:36Z</dcterms:modified>
</cp:coreProperties>
</file>