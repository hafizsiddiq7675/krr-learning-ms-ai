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91"/>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85" r:id="rId21"/>
    <p:sldId id="286" r:id="rId22"/>
    <p:sldId id="287" r:id="rId23"/>
    <p:sldId id="288" r:id="rId24"/>
    <p:sldId id="289" r:id="rId25"/>
    <p:sldId id="290" r:id="rId26"/>
    <p:sldId id="291" r:id="rId27"/>
    <p:sldId id="292" r:id="rId28"/>
    <p:sldId id="293" r:id="rId29"/>
    <p:sldId id="294" r:id="rId30"/>
    <p:sldId id="295" r:id="rId31"/>
    <p:sldId id="296" r:id="rId32"/>
    <p:sldId id="297" r:id="rId33"/>
    <p:sldId id="298" r:id="rId34"/>
    <p:sldId id="299" r:id="rId35"/>
    <p:sldId id="300" r:id="rId36"/>
    <p:sldId id="301" r:id="rId37"/>
    <p:sldId id="311" r:id="rId38"/>
    <p:sldId id="312" r:id="rId39"/>
    <p:sldId id="313" r:id="rId40"/>
    <p:sldId id="314" r:id="rId41"/>
    <p:sldId id="315" r:id="rId42"/>
    <p:sldId id="316" r:id="rId43"/>
    <p:sldId id="317" r:id="rId44"/>
    <p:sldId id="318" r:id="rId45"/>
    <p:sldId id="319" r:id="rId46"/>
    <p:sldId id="320" r:id="rId47"/>
    <p:sldId id="321" r:id="rId48"/>
    <p:sldId id="322" r:id="rId49"/>
    <p:sldId id="323" r:id="rId50"/>
    <p:sldId id="324" r:id="rId51"/>
    <p:sldId id="325" r:id="rId52"/>
    <p:sldId id="326" r:id="rId53"/>
    <p:sldId id="327" r:id="rId54"/>
    <p:sldId id="328" r:id="rId55"/>
    <p:sldId id="338" r:id="rId56"/>
    <p:sldId id="339" r:id="rId57"/>
    <p:sldId id="340" r:id="rId58"/>
    <p:sldId id="341" r:id="rId59"/>
    <p:sldId id="342" r:id="rId60"/>
    <p:sldId id="343" r:id="rId61"/>
    <p:sldId id="344" r:id="rId62"/>
    <p:sldId id="345" r:id="rId63"/>
    <p:sldId id="346" r:id="rId64"/>
    <p:sldId id="347" r:id="rId65"/>
    <p:sldId id="348" r:id="rId66"/>
    <p:sldId id="349" r:id="rId67"/>
    <p:sldId id="350" r:id="rId68"/>
    <p:sldId id="351" r:id="rId69"/>
    <p:sldId id="352" r:id="rId70"/>
    <p:sldId id="353" r:id="rId71"/>
    <p:sldId id="354" r:id="rId72"/>
    <p:sldId id="355" r:id="rId73"/>
    <p:sldId id="365" r:id="rId74"/>
    <p:sldId id="366" r:id="rId75"/>
    <p:sldId id="367" r:id="rId76"/>
    <p:sldId id="368" r:id="rId77"/>
    <p:sldId id="369" r:id="rId78"/>
    <p:sldId id="370" r:id="rId79"/>
    <p:sldId id="371" r:id="rId80"/>
    <p:sldId id="372" r:id="rId81"/>
    <p:sldId id="373" r:id="rId82"/>
    <p:sldId id="374" r:id="rId83"/>
    <p:sldId id="375" r:id="rId84"/>
    <p:sldId id="376" r:id="rId85"/>
    <p:sldId id="377" r:id="rId86"/>
    <p:sldId id="378" r:id="rId87"/>
    <p:sldId id="379" r:id="rId88"/>
    <p:sldId id="380" r:id="rId89"/>
    <p:sldId id="381" r:id="rId90"/>
  </p:sldIdLst>
  <p:sldSz cx="12192000" cy="6858000"/>
  <p:notesSz cx="6858000" cy="12192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8CE5CEB-0992-447E-8985-1B7A4AD8BB01}">
  <a:tblStyle styleId="{18CE5CEB-0992-447E-8985-1B7A4AD8BB01}"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 name="Google Shape;7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 name="Google Shape;75;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 name="Google Shape;8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 name="Google Shape;8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 name="Google Shape;102;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 name="Google Shape;199;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0" name="Google Shape;230;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4" name="Google Shape;244;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5" name="Google Shape;245;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1" name="Google Shape;271;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2" name="Google Shape;272;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3" name="Google Shape;293;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4" name="Google Shape;294;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9" name="Google Shape;309;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0" name="Google Shape;310;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5" name="Google Shape;335;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6" name="Google Shape;336;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0" name="Google Shape;350;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1" name="Google Shape;351;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6" name="Google Shape;376;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7" name="Google Shape;377;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1" name="Google Shape;391;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2" name="Google Shape;392;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5" name="Google Shape;555;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6" name="Google Shape;556;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4" name="Google Shape;564;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5" name="Google Shape;565;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0" name="Google Shape;580;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1" name="Google Shape;581;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1" name="Google Shape;601;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2" name="Google Shape;602;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3" name="Google Shape;613;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4" name="Google Shape;614;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4" name="Google Shape;624;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5" name="Google Shape;625;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4" name="Google Shape;654;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5" name="Google Shape;655;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Google Shape;669;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0" name="Google Shape;670;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1" name="Google Shape;671;p3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6" name="Google Shape;686;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7" name="Google Shape;687;p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2"/>
        <p:cNvGrpSpPr/>
        <p:nvPr/>
      </p:nvGrpSpPr>
      <p:grpSpPr>
        <a:xfrm>
          <a:off x="0" y="0"/>
          <a:ext cx="0" cy="0"/>
          <a:chOff x="0" y="0"/>
          <a:chExt cx="0" cy="0"/>
        </a:xfrm>
      </p:grpSpPr>
      <p:sp>
        <p:nvSpPr>
          <p:cNvPr id="703" name="Google Shape;703;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4" name="Google Shape;704;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5" name="Google Shape;705;p3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9" name="Google Shape;719;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0" name="Google Shape;720;p4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6"/>
        <p:cNvGrpSpPr/>
        <p:nvPr/>
      </p:nvGrpSpPr>
      <p:grpSpPr>
        <a:xfrm>
          <a:off x="0" y="0"/>
          <a:ext cx="0" cy="0"/>
          <a:chOff x="0" y="0"/>
          <a:chExt cx="0" cy="0"/>
        </a:xfrm>
      </p:grpSpPr>
      <p:sp>
        <p:nvSpPr>
          <p:cNvPr id="737" name="Google Shape;737;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8" name="Google Shape;738;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9" name="Google Shape;739;p4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3" name="Google Shape;753;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4" name="Google Shape;754;p4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9" name="Google Shape;779;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0" name="Google Shape;780;p4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2"/>
        <p:cNvGrpSpPr/>
        <p:nvPr/>
      </p:nvGrpSpPr>
      <p:grpSpPr>
        <a:xfrm>
          <a:off x="0" y="0"/>
          <a:ext cx="0" cy="0"/>
          <a:chOff x="0" y="0"/>
          <a:chExt cx="0" cy="0"/>
        </a:xfrm>
      </p:grpSpPr>
      <p:sp>
        <p:nvSpPr>
          <p:cNvPr id="793" name="Google Shape;793;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4" name="Google Shape;794;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5" name="Google Shape;795;p4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8"/>
        <p:cNvGrpSpPr/>
        <p:nvPr/>
      </p:nvGrpSpPr>
      <p:grpSpPr>
        <a:xfrm>
          <a:off x="0" y="0"/>
          <a:ext cx="0" cy="0"/>
          <a:chOff x="0" y="0"/>
          <a:chExt cx="0" cy="0"/>
        </a:xfrm>
      </p:grpSpPr>
      <p:sp>
        <p:nvSpPr>
          <p:cNvPr id="819" name="Google Shape;819;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0" name="Google Shape;820;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1" name="Google Shape;821;p4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p:cNvGrpSpPr/>
        <p:nvPr/>
      </p:nvGrpSpPr>
      <p:grpSpPr>
        <a:xfrm>
          <a:off x="0" y="0"/>
          <a:ext cx="0" cy="0"/>
          <a:chOff x="0" y="0"/>
          <a:chExt cx="0" cy="0"/>
        </a:xfrm>
      </p:grpSpPr>
      <p:sp>
        <p:nvSpPr>
          <p:cNvPr id="834" name="Google Shape;834;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5" name="Google Shape;835;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6" name="Google Shape;836;p4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9" name="Google Shape;999;p5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0" name="Google Shape;1000;p5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6"/>
        <p:cNvGrpSpPr/>
        <p:nvPr/>
      </p:nvGrpSpPr>
      <p:grpSpPr>
        <a:xfrm>
          <a:off x="0" y="0"/>
          <a:ext cx="0" cy="0"/>
          <a:chOff x="0" y="0"/>
          <a:chExt cx="0" cy="0"/>
        </a:xfrm>
      </p:grpSpPr>
      <p:sp>
        <p:nvSpPr>
          <p:cNvPr id="1007" name="Google Shape;1007;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8" name="Google Shape;1008;p5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9" name="Google Shape;1009;p5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2"/>
        <p:cNvGrpSpPr/>
        <p:nvPr/>
      </p:nvGrpSpPr>
      <p:grpSpPr>
        <a:xfrm>
          <a:off x="0" y="0"/>
          <a:ext cx="0" cy="0"/>
          <a:chOff x="0" y="0"/>
          <a:chExt cx="0" cy="0"/>
        </a:xfrm>
      </p:grpSpPr>
      <p:sp>
        <p:nvSpPr>
          <p:cNvPr id="1023" name="Google Shape;1023;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4" name="Google Shape;1024;p5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5" name="Google Shape;1025;p5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5"/>
        <p:cNvGrpSpPr/>
        <p:nvPr/>
      </p:nvGrpSpPr>
      <p:grpSpPr>
        <a:xfrm>
          <a:off x="0" y="0"/>
          <a:ext cx="0" cy="0"/>
          <a:chOff x="0" y="0"/>
          <a:chExt cx="0" cy="0"/>
        </a:xfrm>
      </p:grpSpPr>
      <p:sp>
        <p:nvSpPr>
          <p:cNvPr id="1036" name="Google Shape;1036;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7" name="Google Shape;1037;p5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8" name="Google Shape;1038;p5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0"/>
        <p:cNvGrpSpPr/>
        <p:nvPr/>
      </p:nvGrpSpPr>
      <p:grpSpPr>
        <a:xfrm>
          <a:off x="0" y="0"/>
          <a:ext cx="0" cy="0"/>
          <a:chOff x="0" y="0"/>
          <a:chExt cx="0" cy="0"/>
        </a:xfrm>
      </p:grpSpPr>
      <p:sp>
        <p:nvSpPr>
          <p:cNvPr id="1051" name="Google Shape;1051;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2" name="Google Shape;1052;p6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3" name="Google Shape;1053;p6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9"/>
        <p:cNvGrpSpPr/>
        <p:nvPr/>
      </p:nvGrpSpPr>
      <p:grpSpPr>
        <a:xfrm>
          <a:off x="0" y="0"/>
          <a:ext cx="0" cy="0"/>
          <a:chOff x="0" y="0"/>
          <a:chExt cx="0" cy="0"/>
        </a:xfrm>
      </p:grpSpPr>
      <p:sp>
        <p:nvSpPr>
          <p:cNvPr id="1070" name="Google Shape;1070;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1" name="Google Shape;1071;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2" name="Google Shape;1072;p6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2"/>
        <p:cNvGrpSpPr/>
        <p:nvPr/>
      </p:nvGrpSpPr>
      <p:grpSpPr>
        <a:xfrm>
          <a:off x="0" y="0"/>
          <a:ext cx="0" cy="0"/>
          <a:chOff x="0" y="0"/>
          <a:chExt cx="0" cy="0"/>
        </a:xfrm>
      </p:grpSpPr>
      <p:sp>
        <p:nvSpPr>
          <p:cNvPr id="1083" name="Google Shape;1083;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4" name="Google Shape;1084;p6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5" name="Google Shape;1085;p6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43</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9"/>
        <p:cNvGrpSpPr/>
        <p:nvPr/>
      </p:nvGrpSpPr>
      <p:grpSpPr>
        <a:xfrm>
          <a:off x="0" y="0"/>
          <a:ext cx="0" cy="0"/>
          <a:chOff x="0" y="0"/>
          <a:chExt cx="0" cy="0"/>
        </a:xfrm>
      </p:grpSpPr>
      <p:sp>
        <p:nvSpPr>
          <p:cNvPr id="1120" name="Google Shape;1120;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1" name="Google Shape;1121;p6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2" name="Google Shape;1122;p6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44</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2"/>
        <p:cNvGrpSpPr/>
        <p:nvPr/>
      </p:nvGrpSpPr>
      <p:grpSpPr>
        <a:xfrm>
          <a:off x="0" y="0"/>
          <a:ext cx="0" cy="0"/>
          <a:chOff x="0" y="0"/>
          <a:chExt cx="0" cy="0"/>
        </a:xfrm>
      </p:grpSpPr>
      <p:sp>
        <p:nvSpPr>
          <p:cNvPr id="1143" name="Google Shape;1143;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4" name="Google Shape;1144;p6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5" name="Google Shape;1145;p6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45</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6"/>
        <p:cNvGrpSpPr/>
        <p:nvPr/>
      </p:nvGrpSpPr>
      <p:grpSpPr>
        <a:xfrm>
          <a:off x="0" y="0"/>
          <a:ext cx="0" cy="0"/>
          <a:chOff x="0" y="0"/>
          <a:chExt cx="0" cy="0"/>
        </a:xfrm>
      </p:grpSpPr>
      <p:sp>
        <p:nvSpPr>
          <p:cNvPr id="1157" name="Google Shape;1157;p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8" name="Google Shape;1158;p6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9" name="Google Shape;1159;p6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46</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0"/>
        <p:cNvGrpSpPr/>
        <p:nvPr/>
      </p:nvGrpSpPr>
      <p:grpSpPr>
        <a:xfrm>
          <a:off x="0" y="0"/>
          <a:ext cx="0" cy="0"/>
          <a:chOff x="0" y="0"/>
          <a:chExt cx="0" cy="0"/>
        </a:xfrm>
      </p:grpSpPr>
      <p:sp>
        <p:nvSpPr>
          <p:cNvPr id="1171" name="Google Shape;1171;p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2" name="Google Shape;1172;p6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3" name="Google Shape;1173;p6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47</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4"/>
        <p:cNvGrpSpPr/>
        <p:nvPr/>
      </p:nvGrpSpPr>
      <p:grpSpPr>
        <a:xfrm>
          <a:off x="0" y="0"/>
          <a:ext cx="0" cy="0"/>
          <a:chOff x="0" y="0"/>
          <a:chExt cx="0" cy="0"/>
        </a:xfrm>
      </p:grpSpPr>
      <p:sp>
        <p:nvSpPr>
          <p:cNvPr id="1185" name="Google Shape;1185;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6" name="Google Shape;1186;p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7" name="Google Shape;1187;p6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48</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7"/>
        <p:cNvGrpSpPr/>
        <p:nvPr/>
      </p:nvGrpSpPr>
      <p:grpSpPr>
        <a:xfrm>
          <a:off x="0" y="0"/>
          <a:ext cx="0" cy="0"/>
          <a:chOff x="0" y="0"/>
          <a:chExt cx="0" cy="0"/>
        </a:xfrm>
      </p:grpSpPr>
      <p:sp>
        <p:nvSpPr>
          <p:cNvPr id="1208" name="Google Shape;1208;p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09" name="Google Shape;1209;p6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0" name="Google Shape;1210;p6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49</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2"/>
        <p:cNvGrpSpPr/>
        <p:nvPr/>
      </p:nvGrpSpPr>
      <p:grpSpPr>
        <a:xfrm>
          <a:off x="0" y="0"/>
          <a:ext cx="0" cy="0"/>
          <a:chOff x="0" y="0"/>
          <a:chExt cx="0" cy="0"/>
        </a:xfrm>
      </p:grpSpPr>
      <p:sp>
        <p:nvSpPr>
          <p:cNvPr id="1223" name="Google Shape;1223;p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24" name="Google Shape;1224;p6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5" name="Google Shape;1225;p6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50</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8"/>
        <p:cNvGrpSpPr/>
        <p:nvPr/>
      </p:nvGrpSpPr>
      <p:grpSpPr>
        <a:xfrm>
          <a:off x="0" y="0"/>
          <a:ext cx="0" cy="0"/>
          <a:chOff x="0" y="0"/>
          <a:chExt cx="0" cy="0"/>
        </a:xfrm>
      </p:grpSpPr>
      <p:sp>
        <p:nvSpPr>
          <p:cNvPr id="1249" name="Google Shape;1249;p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0" name="Google Shape;1250;p7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1" name="Google Shape;1251;p7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51</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3"/>
        <p:cNvGrpSpPr/>
        <p:nvPr/>
      </p:nvGrpSpPr>
      <p:grpSpPr>
        <a:xfrm>
          <a:off x="0" y="0"/>
          <a:ext cx="0" cy="0"/>
          <a:chOff x="0" y="0"/>
          <a:chExt cx="0" cy="0"/>
        </a:xfrm>
      </p:grpSpPr>
      <p:sp>
        <p:nvSpPr>
          <p:cNvPr id="1264" name="Google Shape;1264;p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5" name="Google Shape;1265;p7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6" name="Google Shape;1266;p7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52</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9"/>
        <p:cNvGrpSpPr/>
        <p:nvPr/>
      </p:nvGrpSpPr>
      <p:grpSpPr>
        <a:xfrm>
          <a:off x="0" y="0"/>
          <a:ext cx="0" cy="0"/>
          <a:chOff x="0" y="0"/>
          <a:chExt cx="0" cy="0"/>
        </a:xfrm>
      </p:grpSpPr>
      <p:sp>
        <p:nvSpPr>
          <p:cNvPr id="1290" name="Google Shape;1290;p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1" name="Google Shape;1291;p7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2" name="Google Shape;1292;p7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53</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4"/>
        <p:cNvGrpSpPr/>
        <p:nvPr/>
      </p:nvGrpSpPr>
      <p:grpSpPr>
        <a:xfrm>
          <a:off x="0" y="0"/>
          <a:ext cx="0" cy="0"/>
          <a:chOff x="0" y="0"/>
          <a:chExt cx="0" cy="0"/>
        </a:xfrm>
      </p:grpSpPr>
      <p:sp>
        <p:nvSpPr>
          <p:cNvPr id="1305" name="Google Shape;1305;p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6" name="Google Shape;1306;p7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7" name="Google Shape;1307;p7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54</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8"/>
        <p:cNvGrpSpPr/>
        <p:nvPr/>
      </p:nvGrpSpPr>
      <p:grpSpPr>
        <a:xfrm>
          <a:off x="0" y="0"/>
          <a:ext cx="0" cy="0"/>
          <a:chOff x="0" y="0"/>
          <a:chExt cx="0" cy="0"/>
        </a:xfrm>
      </p:grpSpPr>
      <p:sp>
        <p:nvSpPr>
          <p:cNvPr id="1469" name="Google Shape;1469;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70" name="Google Shape;1470;p8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1" name="Google Shape;1471;p8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55</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7"/>
        <p:cNvGrpSpPr/>
        <p:nvPr/>
      </p:nvGrpSpPr>
      <p:grpSpPr>
        <a:xfrm>
          <a:off x="0" y="0"/>
          <a:ext cx="0" cy="0"/>
          <a:chOff x="0" y="0"/>
          <a:chExt cx="0" cy="0"/>
        </a:xfrm>
      </p:grpSpPr>
      <p:sp>
        <p:nvSpPr>
          <p:cNvPr id="1478" name="Google Shape;1478;p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79" name="Google Shape;1479;p8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0" name="Google Shape;1480;p8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56</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1"/>
        <p:cNvGrpSpPr/>
        <p:nvPr/>
      </p:nvGrpSpPr>
      <p:grpSpPr>
        <a:xfrm>
          <a:off x="0" y="0"/>
          <a:ext cx="0" cy="0"/>
          <a:chOff x="0" y="0"/>
          <a:chExt cx="0" cy="0"/>
        </a:xfrm>
      </p:grpSpPr>
      <p:sp>
        <p:nvSpPr>
          <p:cNvPr id="1492" name="Google Shape;1492;p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3" name="Google Shape;1493;p8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4" name="Google Shape;1494;p8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57</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7"/>
        <p:cNvGrpSpPr/>
        <p:nvPr/>
      </p:nvGrpSpPr>
      <p:grpSpPr>
        <a:xfrm>
          <a:off x="0" y="0"/>
          <a:ext cx="0" cy="0"/>
          <a:chOff x="0" y="0"/>
          <a:chExt cx="0" cy="0"/>
        </a:xfrm>
      </p:grpSpPr>
      <p:sp>
        <p:nvSpPr>
          <p:cNvPr id="1508" name="Google Shape;1508;p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09" name="Google Shape;1509;p8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0" name="Google Shape;1510;p8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58</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5"/>
        <p:cNvGrpSpPr/>
        <p:nvPr/>
      </p:nvGrpSpPr>
      <p:grpSpPr>
        <a:xfrm>
          <a:off x="0" y="0"/>
          <a:ext cx="0" cy="0"/>
          <a:chOff x="0" y="0"/>
          <a:chExt cx="0" cy="0"/>
        </a:xfrm>
      </p:grpSpPr>
      <p:sp>
        <p:nvSpPr>
          <p:cNvPr id="1526" name="Google Shape;1526;p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7" name="Google Shape;1527;p8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8" name="Google Shape;1528;p8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59</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9"/>
        <p:cNvGrpSpPr/>
        <p:nvPr/>
      </p:nvGrpSpPr>
      <p:grpSpPr>
        <a:xfrm>
          <a:off x="0" y="0"/>
          <a:ext cx="0" cy="0"/>
          <a:chOff x="0" y="0"/>
          <a:chExt cx="0" cy="0"/>
        </a:xfrm>
      </p:grpSpPr>
      <p:sp>
        <p:nvSpPr>
          <p:cNvPr id="1540" name="Google Shape;1540;p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41" name="Google Shape;1541;p8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42" name="Google Shape;1542;p8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60</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4"/>
        <p:cNvGrpSpPr/>
        <p:nvPr/>
      </p:nvGrpSpPr>
      <p:grpSpPr>
        <a:xfrm>
          <a:off x="0" y="0"/>
          <a:ext cx="0" cy="0"/>
          <a:chOff x="0" y="0"/>
          <a:chExt cx="0" cy="0"/>
        </a:xfrm>
      </p:grpSpPr>
      <p:sp>
        <p:nvSpPr>
          <p:cNvPr id="1555" name="Google Shape;1555;p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56" name="Google Shape;1556;p8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7" name="Google Shape;1557;p8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61</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0"/>
        <p:cNvGrpSpPr/>
        <p:nvPr/>
      </p:nvGrpSpPr>
      <p:grpSpPr>
        <a:xfrm>
          <a:off x="0" y="0"/>
          <a:ext cx="0" cy="0"/>
          <a:chOff x="0" y="0"/>
          <a:chExt cx="0" cy="0"/>
        </a:xfrm>
      </p:grpSpPr>
      <p:sp>
        <p:nvSpPr>
          <p:cNvPr id="1571" name="Google Shape;1571;p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2" name="Google Shape;1572;p9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3" name="Google Shape;1573;p9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62</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8"/>
        <p:cNvGrpSpPr/>
        <p:nvPr/>
      </p:nvGrpSpPr>
      <p:grpSpPr>
        <a:xfrm>
          <a:off x="0" y="0"/>
          <a:ext cx="0" cy="0"/>
          <a:chOff x="0" y="0"/>
          <a:chExt cx="0" cy="0"/>
        </a:xfrm>
      </p:grpSpPr>
      <p:sp>
        <p:nvSpPr>
          <p:cNvPr id="1609" name="Google Shape;1609;p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10" name="Google Shape;1610;p9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1" name="Google Shape;1611;p9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63</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3"/>
        <p:cNvGrpSpPr/>
        <p:nvPr/>
      </p:nvGrpSpPr>
      <p:grpSpPr>
        <a:xfrm>
          <a:off x="0" y="0"/>
          <a:ext cx="0" cy="0"/>
          <a:chOff x="0" y="0"/>
          <a:chExt cx="0" cy="0"/>
        </a:xfrm>
      </p:grpSpPr>
      <p:sp>
        <p:nvSpPr>
          <p:cNvPr id="1624" name="Google Shape;1624;p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5" name="Google Shape;1625;p9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6" name="Google Shape;1626;p9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64</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0"/>
        <p:cNvGrpSpPr/>
        <p:nvPr/>
      </p:nvGrpSpPr>
      <p:grpSpPr>
        <a:xfrm>
          <a:off x="0" y="0"/>
          <a:ext cx="0" cy="0"/>
          <a:chOff x="0" y="0"/>
          <a:chExt cx="0" cy="0"/>
        </a:xfrm>
      </p:grpSpPr>
      <p:sp>
        <p:nvSpPr>
          <p:cNvPr id="1641" name="Google Shape;1641;p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2" name="Google Shape;1642;p9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3" name="Google Shape;1643;p9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65</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6"/>
        <p:cNvGrpSpPr/>
        <p:nvPr/>
      </p:nvGrpSpPr>
      <p:grpSpPr>
        <a:xfrm>
          <a:off x="0" y="0"/>
          <a:ext cx="0" cy="0"/>
          <a:chOff x="0" y="0"/>
          <a:chExt cx="0" cy="0"/>
        </a:xfrm>
      </p:grpSpPr>
      <p:sp>
        <p:nvSpPr>
          <p:cNvPr id="1657" name="Google Shape;1657;p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8" name="Google Shape;1658;p9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9" name="Google Shape;1659;p9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66</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1"/>
        <p:cNvGrpSpPr/>
        <p:nvPr/>
      </p:nvGrpSpPr>
      <p:grpSpPr>
        <a:xfrm>
          <a:off x="0" y="0"/>
          <a:ext cx="0" cy="0"/>
          <a:chOff x="0" y="0"/>
          <a:chExt cx="0" cy="0"/>
        </a:xfrm>
      </p:grpSpPr>
      <p:sp>
        <p:nvSpPr>
          <p:cNvPr id="1672" name="Google Shape;1672;p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73" name="Google Shape;1673;p9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4" name="Google Shape;1674;p9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67</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6"/>
        <p:cNvGrpSpPr/>
        <p:nvPr/>
      </p:nvGrpSpPr>
      <p:grpSpPr>
        <a:xfrm>
          <a:off x="0" y="0"/>
          <a:ext cx="0" cy="0"/>
          <a:chOff x="0" y="0"/>
          <a:chExt cx="0" cy="0"/>
        </a:xfrm>
      </p:grpSpPr>
      <p:sp>
        <p:nvSpPr>
          <p:cNvPr id="1687" name="Google Shape;1687;p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8" name="Google Shape;1688;p9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9" name="Google Shape;1689;p9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68</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2"/>
        <p:cNvGrpSpPr/>
        <p:nvPr/>
      </p:nvGrpSpPr>
      <p:grpSpPr>
        <a:xfrm>
          <a:off x="0" y="0"/>
          <a:ext cx="0" cy="0"/>
          <a:chOff x="0" y="0"/>
          <a:chExt cx="0" cy="0"/>
        </a:xfrm>
      </p:grpSpPr>
      <p:sp>
        <p:nvSpPr>
          <p:cNvPr id="1713" name="Google Shape;1713;p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4" name="Google Shape;1714;p9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5" name="Google Shape;1715;p9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69</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9"/>
        <p:cNvGrpSpPr/>
        <p:nvPr/>
      </p:nvGrpSpPr>
      <p:grpSpPr>
        <a:xfrm>
          <a:off x="0" y="0"/>
          <a:ext cx="0" cy="0"/>
          <a:chOff x="0" y="0"/>
          <a:chExt cx="0" cy="0"/>
        </a:xfrm>
      </p:grpSpPr>
      <p:sp>
        <p:nvSpPr>
          <p:cNvPr id="1730" name="Google Shape;1730;p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1" name="Google Shape;1731;p9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2" name="Google Shape;1732;p9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70</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5"/>
        <p:cNvGrpSpPr/>
        <p:nvPr/>
      </p:nvGrpSpPr>
      <p:grpSpPr>
        <a:xfrm>
          <a:off x="0" y="0"/>
          <a:ext cx="0" cy="0"/>
          <a:chOff x="0" y="0"/>
          <a:chExt cx="0" cy="0"/>
        </a:xfrm>
      </p:grpSpPr>
      <p:sp>
        <p:nvSpPr>
          <p:cNvPr id="1756" name="Google Shape;1756;p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7" name="Google Shape;1757;p9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8" name="Google Shape;1758;p9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71</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0"/>
        <p:cNvGrpSpPr/>
        <p:nvPr/>
      </p:nvGrpSpPr>
      <p:grpSpPr>
        <a:xfrm>
          <a:off x="0" y="0"/>
          <a:ext cx="0" cy="0"/>
          <a:chOff x="0" y="0"/>
          <a:chExt cx="0" cy="0"/>
        </a:xfrm>
      </p:grpSpPr>
      <p:sp>
        <p:nvSpPr>
          <p:cNvPr id="1771" name="Google Shape;1771;p10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72" name="Google Shape;1772;p10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3" name="Google Shape;1773;p10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72</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4"/>
        <p:cNvGrpSpPr/>
        <p:nvPr/>
      </p:nvGrpSpPr>
      <p:grpSpPr>
        <a:xfrm>
          <a:off x="0" y="0"/>
          <a:ext cx="0" cy="0"/>
          <a:chOff x="0" y="0"/>
          <a:chExt cx="0" cy="0"/>
        </a:xfrm>
      </p:grpSpPr>
      <p:sp>
        <p:nvSpPr>
          <p:cNvPr id="1935" name="Google Shape;1935;p1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6" name="Google Shape;1936;p1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37" name="Google Shape;1937;p1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73</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3"/>
        <p:cNvGrpSpPr/>
        <p:nvPr/>
      </p:nvGrpSpPr>
      <p:grpSpPr>
        <a:xfrm>
          <a:off x="0" y="0"/>
          <a:ext cx="0" cy="0"/>
          <a:chOff x="0" y="0"/>
          <a:chExt cx="0" cy="0"/>
        </a:xfrm>
      </p:grpSpPr>
      <p:sp>
        <p:nvSpPr>
          <p:cNvPr id="1944" name="Google Shape;1944;p1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5" name="Google Shape;1945;p1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6" name="Google Shape;1946;p1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74</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9"/>
        <p:cNvGrpSpPr/>
        <p:nvPr/>
      </p:nvGrpSpPr>
      <p:grpSpPr>
        <a:xfrm>
          <a:off x="0" y="0"/>
          <a:ext cx="0" cy="0"/>
          <a:chOff x="0" y="0"/>
          <a:chExt cx="0" cy="0"/>
        </a:xfrm>
      </p:grpSpPr>
      <p:sp>
        <p:nvSpPr>
          <p:cNvPr id="1960" name="Google Shape;1960;p1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1" name="Google Shape;1961;p1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2" name="Google Shape;1962;p1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75</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4"/>
        <p:cNvGrpSpPr/>
        <p:nvPr/>
      </p:nvGrpSpPr>
      <p:grpSpPr>
        <a:xfrm>
          <a:off x="0" y="0"/>
          <a:ext cx="0" cy="0"/>
          <a:chOff x="0" y="0"/>
          <a:chExt cx="0" cy="0"/>
        </a:xfrm>
      </p:grpSpPr>
      <p:sp>
        <p:nvSpPr>
          <p:cNvPr id="1975" name="Google Shape;1975;p1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76" name="Google Shape;1976;p1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77" name="Google Shape;1977;p1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76</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6"/>
        <p:cNvGrpSpPr/>
        <p:nvPr/>
      </p:nvGrpSpPr>
      <p:grpSpPr>
        <a:xfrm>
          <a:off x="0" y="0"/>
          <a:ext cx="0" cy="0"/>
          <a:chOff x="0" y="0"/>
          <a:chExt cx="0" cy="0"/>
        </a:xfrm>
      </p:grpSpPr>
      <p:sp>
        <p:nvSpPr>
          <p:cNvPr id="1987" name="Google Shape;1987;p1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8" name="Google Shape;1988;p1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89" name="Google Shape;1989;p1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77</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8"/>
        <p:cNvGrpSpPr/>
        <p:nvPr/>
      </p:nvGrpSpPr>
      <p:grpSpPr>
        <a:xfrm>
          <a:off x="0" y="0"/>
          <a:ext cx="0" cy="0"/>
          <a:chOff x="0" y="0"/>
          <a:chExt cx="0" cy="0"/>
        </a:xfrm>
      </p:grpSpPr>
      <p:sp>
        <p:nvSpPr>
          <p:cNvPr id="1999" name="Google Shape;1999;p1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0" name="Google Shape;2000;p1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1" name="Google Shape;2001;p1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78</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3"/>
        <p:cNvGrpSpPr/>
        <p:nvPr/>
      </p:nvGrpSpPr>
      <p:grpSpPr>
        <a:xfrm>
          <a:off x="0" y="0"/>
          <a:ext cx="0" cy="0"/>
          <a:chOff x="0" y="0"/>
          <a:chExt cx="0" cy="0"/>
        </a:xfrm>
      </p:grpSpPr>
      <p:sp>
        <p:nvSpPr>
          <p:cNvPr id="2014" name="Google Shape;2014;p1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5" name="Google Shape;2015;p1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6" name="Google Shape;2016;p1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79</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9"/>
        <p:cNvGrpSpPr/>
        <p:nvPr/>
      </p:nvGrpSpPr>
      <p:grpSpPr>
        <a:xfrm>
          <a:off x="0" y="0"/>
          <a:ext cx="0" cy="0"/>
          <a:chOff x="0" y="0"/>
          <a:chExt cx="0" cy="0"/>
        </a:xfrm>
      </p:grpSpPr>
      <p:sp>
        <p:nvSpPr>
          <p:cNvPr id="2030" name="Google Shape;2030;p1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1" name="Google Shape;2031;p1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32" name="Google Shape;2032;p1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80</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8"/>
        <p:cNvGrpSpPr/>
        <p:nvPr/>
      </p:nvGrpSpPr>
      <p:grpSpPr>
        <a:xfrm>
          <a:off x="0" y="0"/>
          <a:ext cx="0" cy="0"/>
          <a:chOff x="0" y="0"/>
          <a:chExt cx="0" cy="0"/>
        </a:xfrm>
      </p:grpSpPr>
      <p:sp>
        <p:nvSpPr>
          <p:cNvPr id="2059" name="Google Shape;2059;p1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60" name="Google Shape;2060;p1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1" name="Google Shape;2061;p1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81</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3"/>
        <p:cNvGrpSpPr/>
        <p:nvPr/>
      </p:nvGrpSpPr>
      <p:grpSpPr>
        <a:xfrm>
          <a:off x="0" y="0"/>
          <a:ext cx="0" cy="0"/>
          <a:chOff x="0" y="0"/>
          <a:chExt cx="0" cy="0"/>
        </a:xfrm>
      </p:grpSpPr>
      <p:sp>
        <p:nvSpPr>
          <p:cNvPr id="2074" name="Google Shape;2074;p1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75" name="Google Shape;2075;p1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6" name="Google Shape;2076;p1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82</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8"/>
        <p:cNvGrpSpPr/>
        <p:nvPr/>
      </p:nvGrpSpPr>
      <p:grpSpPr>
        <a:xfrm>
          <a:off x="0" y="0"/>
          <a:ext cx="0" cy="0"/>
          <a:chOff x="0" y="0"/>
          <a:chExt cx="0" cy="0"/>
        </a:xfrm>
      </p:grpSpPr>
      <p:sp>
        <p:nvSpPr>
          <p:cNvPr id="2089" name="Google Shape;2089;p1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90" name="Google Shape;2090;p1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1" name="Google Shape;2091;p1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83</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3"/>
        <p:cNvGrpSpPr/>
        <p:nvPr/>
      </p:nvGrpSpPr>
      <p:grpSpPr>
        <a:xfrm>
          <a:off x="0" y="0"/>
          <a:ext cx="0" cy="0"/>
          <a:chOff x="0" y="0"/>
          <a:chExt cx="0" cy="0"/>
        </a:xfrm>
      </p:grpSpPr>
      <p:sp>
        <p:nvSpPr>
          <p:cNvPr id="2104" name="Google Shape;2104;p1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05" name="Google Shape;2105;p1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6" name="Google Shape;2106;p1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84</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8"/>
        <p:cNvGrpSpPr/>
        <p:nvPr/>
      </p:nvGrpSpPr>
      <p:grpSpPr>
        <a:xfrm>
          <a:off x="0" y="0"/>
          <a:ext cx="0" cy="0"/>
          <a:chOff x="0" y="0"/>
          <a:chExt cx="0" cy="0"/>
        </a:xfrm>
      </p:grpSpPr>
      <p:sp>
        <p:nvSpPr>
          <p:cNvPr id="2119" name="Google Shape;2119;p1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0" name="Google Shape;2120;p1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1" name="Google Shape;2121;p1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85</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4"/>
        <p:cNvGrpSpPr/>
        <p:nvPr/>
      </p:nvGrpSpPr>
      <p:grpSpPr>
        <a:xfrm>
          <a:off x="0" y="0"/>
          <a:ext cx="0" cy="0"/>
          <a:chOff x="0" y="0"/>
          <a:chExt cx="0" cy="0"/>
        </a:xfrm>
      </p:grpSpPr>
      <p:sp>
        <p:nvSpPr>
          <p:cNvPr id="2145" name="Google Shape;2145;p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6" name="Google Shape;2146;p1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47" name="Google Shape;2147;p1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86</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9"/>
        <p:cNvGrpSpPr/>
        <p:nvPr/>
      </p:nvGrpSpPr>
      <p:grpSpPr>
        <a:xfrm>
          <a:off x="0" y="0"/>
          <a:ext cx="0" cy="0"/>
          <a:chOff x="0" y="0"/>
          <a:chExt cx="0" cy="0"/>
        </a:xfrm>
      </p:grpSpPr>
      <p:sp>
        <p:nvSpPr>
          <p:cNvPr id="2160" name="Google Shape;2160;p1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61" name="Google Shape;2161;p1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2" name="Google Shape;2162;p1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87</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5"/>
        <p:cNvGrpSpPr/>
        <p:nvPr/>
      </p:nvGrpSpPr>
      <p:grpSpPr>
        <a:xfrm>
          <a:off x="0" y="0"/>
          <a:ext cx="0" cy="0"/>
          <a:chOff x="0" y="0"/>
          <a:chExt cx="0" cy="0"/>
        </a:xfrm>
      </p:grpSpPr>
      <p:sp>
        <p:nvSpPr>
          <p:cNvPr id="2186" name="Google Shape;2186;p1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87" name="Google Shape;2187;p1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88" name="Google Shape;2188;p1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88</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2"/>
        <p:cNvGrpSpPr/>
        <p:nvPr/>
      </p:nvGrpSpPr>
      <p:grpSpPr>
        <a:xfrm>
          <a:off x="0" y="0"/>
          <a:ext cx="0" cy="0"/>
          <a:chOff x="0" y="0"/>
          <a:chExt cx="0" cy="0"/>
        </a:xfrm>
      </p:grpSpPr>
      <p:sp>
        <p:nvSpPr>
          <p:cNvPr id="2203" name="Google Shape;2203;p1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04" name="Google Shape;2204;p1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05" name="Google Shape;2205;p1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
        <p:cNvGrpSpPr/>
        <p:nvPr/>
      </p:nvGrpSpPr>
      <p:grpSpPr>
        <a:xfrm>
          <a:off x="0" y="0"/>
          <a:ext cx="0" cy="0"/>
          <a:chOff x="0" y="0"/>
          <a:chExt cx="0" cy="0"/>
        </a:xfrm>
      </p:grpSpPr>
      <p:sp>
        <p:nvSpPr>
          <p:cNvPr id="16" name="Google Shape;16;p3"/>
          <p:cNvSpPr/>
          <p:nvPr/>
        </p:nvSpPr>
        <p:spPr>
          <a:xfrm>
            <a:off x="0" y="0"/>
            <a:ext cx="12191695" cy="2331720"/>
          </a:xfrm>
          <a:prstGeom prst="rect">
            <a:avLst/>
          </a:prstGeom>
          <a:solidFill>
            <a:srgbClr val="1F4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
          <p:cNvSpPr/>
          <p:nvPr/>
        </p:nvSpPr>
        <p:spPr>
          <a:xfrm>
            <a:off x="0" y="502920"/>
            <a:ext cx="12191695" cy="6400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3400"/>
              <a:buFont typeface="Calibri"/>
              <a:buNone/>
            </a:pPr>
            <a:r>
              <a:rPr lang="en-US" sz="3400" b="1" i="0" u="none" strike="noStrike" cap="none">
                <a:solidFill>
                  <a:srgbClr val="FFFFFF"/>
                </a:solidFill>
                <a:latin typeface="Calibri"/>
                <a:ea typeface="Calibri"/>
                <a:cs typeface="Calibri"/>
                <a:sym typeface="Calibri"/>
              </a:rPr>
              <a:t>Knowledge Representation</a:t>
            </a:r>
            <a:endParaRPr sz="3400" b="0" i="0" u="none" strike="noStrike" cap="none">
              <a:solidFill>
                <a:schemeClr val="dk1"/>
              </a:solidFill>
              <a:latin typeface="Calibri"/>
              <a:ea typeface="Calibri"/>
              <a:cs typeface="Calibri"/>
              <a:sym typeface="Calibri"/>
            </a:endParaRPr>
          </a:p>
        </p:txBody>
      </p:sp>
      <p:sp>
        <p:nvSpPr>
          <p:cNvPr id="18" name="Google Shape;18;p3"/>
          <p:cNvSpPr/>
          <p:nvPr/>
        </p:nvSpPr>
        <p:spPr>
          <a:xfrm>
            <a:off x="0" y="1143000"/>
            <a:ext cx="12191695" cy="6400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B7E0E0"/>
              </a:buClr>
              <a:buSzPts val="3000"/>
              <a:buFont typeface="Calibri"/>
              <a:buNone/>
            </a:pPr>
            <a:r>
              <a:rPr lang="en-US" sz="3000" b="1" i="0" u="none" strike="noStrike" cap="none">
                <a:solidFill>
                  <a:srgbClr val="B7E0E0"/>
                </a:solidFill>
                <a:latin typeface="Calibri"/>
                <a:ea typeface="Calibri"/>
                <a:cs typeface="Calibri"/>
                <a:sym typeface="Calibri"/>
              </a:rPr>
              <a:t>&amp; Reasoning in AI</a:t>
            </a:r>
            <a:endParaRPr sz="3000" b="0" i="0" u="none" strike="noStrike" cap="none">
              <a:solidFill>
                <a:schemeClr val="dk1"/>
              </a:solidFill>
              <a:latin typeface="Calibri"/>
              <a:ea typeface="Calibri"/>
              <a:cs typeface="Calibri"/>
              <a:sym typeface="Calibri"/>
            </a:endParaRPr>
          </a:p>
        </p:txBody>
      </p:sp>
      <p:sp>
        <p:nvSpPr>
          <p:cNvPr id="19" name="Google Shape;19;p3"/>
          <p:cNvSpPr/>
          <p:nvPr/>
        </p:nvSpPr>
        <p:spPr>
          <a:xfrm>
            <a:off x="554584" y="2788920"/>
            <a:ext cx="2084832" cy="502920"/>
          </a:xfrm>
          <a:prstGeom prst="rect">
            <a:avLst/>
          </a:prstGeom>
          <a:solidFill>
            <a:srgbClr val="C053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a:off x="554584" y="2788920"/>
            <a:ext cx="2084832"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Part 1</a:t>
            </a:r>
            <a:endParaRPr sz="1400" b="0" i="0" u="none" strike="noStrike" cap="none">
              <a:solidFill>
                <a:schemeClr val="dk1"/>
              </a:solidFill>
              <a:latin typeface="Calibri"/>
              <a:ea typeface="Calibri"/>
              <a:cs typeface="Calibri"/>
              <a:sym typeface="Calibri"/>
            </a:endParaRPr>
          </a:p>
        </p:txBody>
      </p:sp>
      <p:sp>
        <p:nvSpPr>
          <p:cNvPr id="21" name="Google Shape;21;p3"/>
          <p:cNvSpPr/>
          <p:nvPr/>
        </p:nvSpPr>
        <p:spPr>
          <a:xfrm>
            <a:off x="554584" y="3291840"/>
            <a:ext cx="2084832" cy="1417320"/>
          </a:xfrm>
          <a:prstGeom prst="rect">
            <a:avLst/>
          </a:prstGeom>
          <a:solidFill>
            <a:srgbClr val="F7F9FA"/>
          </a:solidFill>
          <a:ln w="9525" cap="flat" cmpd="sng">
            <a:solidFill>
              <a:srgbClr val="DDE3E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a:off x="646024" y="3291840"/>
            <a:ext cx="1901952" cy="1417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404040"/>
              </a:buClr>
              <a:buSzPts val="1300"/>
              <a:buFont typeface="Calibri"/>
              <a:buNone/>
            </a:pPr>
            <a:r>
              <a:rPr lang="en-US" sz="1300" b="0" i="0" u="none" strike="noStrike" cap="none">
                <a:solidFill>
                  <a:srgbClr val="404040"/>
                </a:solidFill>
                <a:latin typeface="Calibri"/>
                <a:ea typeface="Calibri"/>
                <a:cs typeface="Calibri"/>
                <a:sym typeface="Calibri"/>
              </a:rPr>
              <a:t>Non-Monotonic</a:t>
            </a:r>
            <a:endParaRPr sz="13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404040"/>
              </a:buClr>
              <a:buSzPts val="1300"/>
              <a:buFont typeface="Calibri"/>
              <a:buNone/>
            </a:pPr>
            <a:r>
              <a:rPr lang="en-US" sz="1300" b="0" i="0" u="none" strike="noStrike" cap="none">
                <a:solidFill>
                  <a:srgbClr val="404040"/>
                </a:solidFill>
                <a:latin typeface="Calibri"/>
                <a:ea typeface="Calibri"/>
                <a:cs typeface="Calibri"/>
                <a:sym typeface="Calibri"/>
              </a:rPr>
              <a:t>Reasoning</a:t>
            </a:r>
            <a:endParaRPr sz="1300" b="0" i="0" u="none" strike="noStrike" cap="none">
              <a:solidFill>
                <a:schemeClr val="dk1"/>
              </a:solidFill>
              <a:latin typeface="Calibri"/>
              <a:ea typeface="Calibri"/>
              <a:cs typeface="Calibri"/>
              <a:sym typeface="Calibri"/>
            </a:endParaRPr>
          </a:p>
        </p:txBody>
      </p:sp>
      <p:sp>
        <p:nvSpPr>
          <p:cNvPr id="23" name="Google Shape;23;p3"/>
          <p:cNvSpPr/>
          <p:nvPr/>
        </p:nvSpPr>
        <p:spPr>
          <a:xfrm>
            <a:off x="2804008" y="2788920"/>
            <a:ext cx="2084832" cy="502920"/>
          </a:xfrm>
          <a:prstGeom prst="rect">
            <a:avLst/>
          </a:prstGeom>
          <a:solidFill>
            <a:srgbClr val="2E8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a:off x="2804008" y="2788920"/>
            <a:ext cx="2084832"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Part 2</a:t>
            </a:r>
            <a:endParaRPr sz="1400" b="0" i="0" u="none" strike="noStrike" cap="none">
              <a:solidFill>
                <a:schemeClr val="dk1"/>
              </a:solidFill>
              <a:latin typeface="Calibri"/>
              <a:ea typeface="Calibri"/>
              <a:cs typeface="Calibri"/>
              <a:sym typeface="Calibri"/>
            </a:endParaRPr>
          </a:p>
        </p:txBody>
      </p:sp>
      <p:sp>
        <p:nvSpPr>
          <p:cNvPr id="25" name="Google Shape;25;p3"/>
          <p:cNvSpPr/>
          <p:nvPr/>
        </p:nvSpPr>
        <p:spPr>
          <a:xfrm>
            <a:off x="2804008" y="3291840"/>
            <a:ext cx="2084832" cy="1417320"/>
          </a:xfrm>
          <a:prstGeom prst="rect">
            <a:avLst/>
          </a:prstGeom>
          <a:solidFill>
            <a:srgbClr val="F7F9FA"/>
          </a:solidFill>
          <a:ln w="9525" cap="flat" cmpd="sng">
            <a:solidFill>
              <a:srgbClr val="DDE3E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a:off x="2895448" y="3291840"/>
            <a:ext cx="1901952" cy="1417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404040"/>
              </a:buClr>
              <a:buSzPts val="1300"/>
              <a:buFont typeface="Calibri"/>
              <a:buNone/>
            </a:pPr>
            <a:r>
              <a:rPr lang="en-US" sz="1300" b="0" i="0" u="none" strike="noStrike" cap="none">
                <a:solidFill>
                  <a:srgbClr val="404040"/>
                </a:solidFill>
                <a:latin typeface="Calibri"/>
                <a:ea typeface="Calibri"/>
                <a:cs typeface="Calibri"/>
                <a:sym typeface="Calibri"/>
              </a:rPr>
              <a:t>Commonsense</a:t>
            </a:r>
            <a:endParaRPr sz="13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404040"/>
              </a:buClr>
              <a:buSzPts val="1300"/>
              <a:buFont typeface="Calibri"/>
              <a:buNone/>
            </a:pPr>
            <a:r>
              <a:rPr lang="en-US" sz="1300" b="0" i="0" u="none" strike="noStrike" cap="none">
                <a:solidFill>
                  <a:srgbClr val="404040"/>
                </a:solidFill>
                <a:latin typeface="Calibri"/>
                <a:ea typeface="Calibri"/>
                <a:cs typeface="Calibri"/>
                <a:sym typeface="Calibri"/>
              </a:rPr>
              <a:t>Reasoning</a:t>
            </a:r>
            <a:endParaRPr sz="1300" b="0" i="0" u="none" strike="noStrike" cap="none">
              <a:solidFill>
                <a:schemeClr val="dk1"/>
              </a:solidFill>
              <a:latin typeface="Calibri"/>
              <a:ea typeface="Calibri"/>
              <a:cs typeface="Calibri"/>
              <a:sym typeface="Calibri"/>
            </a:endParaRPr>
          </a:p>
        </p:txBody>
      </p:sp>
      <p:sp>
        <p:nvSpPr>
          <p:cNvPr id="27" name="Google Shape;27;p3"/>
          <p:cNvSpPr/>
          <p:nvPr/>
        </p:nvSpPr>
        <p:spPr>
          <a:xfrm>
            <a:off x="5053432" y="2788920"/>
            <a:ext cx="2084832" cy="502920"/>
          </a:xfrm>
          <a:prstGeom prst="rect">
            <a:avLst/>
          </a:prstGeom>
          <a:solidFill>
            <a:srgbClr val="6A4C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a:off x="5053432" y="2788920"/>
            <a:ext cx="2084832"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Part 3</a:t>
            </a:r>
            <a:endParaRPr sz="1400" b="0" i="0" u="none" strike="noStrike" cap="none">
              <a:solidFill>
                <a:schemeClr val="dk1"/>
              </a:solidFill>
              <a:latin typeface="Calibri"/>
              <a:ea typeface="Calibri"/>
              <a:cs typeface="Calibri"/>
              <a:sym typeface="Calibri"/>
            </a:endParaRPr>
          </a:p>
        </p:txBody>
      </p:sp>
      <p:sp>
        <p:nvSpPr>
          <p:cNvPr id="29" name="Google Shape;29;p3"/>
          <p:cNvSpPr/>
          <p:nvPr/>
        </p:nvSpPr>
        <p:spPr>
          <a:xfrm>
            <a:off x="5053432" y="3291840"/>
            <a:ext cx="2084832" cy="1417320"/>
          </a:xfrm>
          <a:prstGeom prst="rect">
            <a:avLst/>
          </a:prstGeom>
          <a:solidFill>
            <a:srgbClr val="F7F9FA"/>
          </a:solidFill>
          <a:ln w="9525" cap="flat" cmpd="sng">
            <a:solidFill>
              <a:srgbClr val="DDE3E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a:off x="5144872" y="3291840"/>
            <a:ext cx="1901952" cy="1417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404040"/>
              </a:buClr>
              <a:buSzPts val="1300"/>
              <a:buFont typeface="Calibri"/>
              <a:buNone/>
            </a:pPr>
            <a:r>
              <a:rPr lang="en-US" sz="1300" b="0" i="0" u="none" strike="noStrike" cap="none">
                <a:solidFill>
                  <a:srgbClr val="404040"/>
                </a:solidFill>
                <a:latin typeface="Calibri"/>
                <a:ea typeface="Calibri"/>
                <a:cs typeface="Calibri"/>
                <a:sym typeface="Calibri"/>
              </a:rPr>
              <a:t>Temporal</a:t>
            </a:r>
            <a:endParaRPr sz="13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404040"/>
              </a:buClr>
              <a:buSzPts val="1300"/>
              <a:buFont typeface="Calibri"/>
              <a:buNone/>
            </a:pPr>
            <a:r>
              <a:rPr lang="en-US" sz="1300" b="0" i="0" u="none" strike="noStrike" cap="none">
                <a:solidFill>
                  <a:srgbClr val="404040"/>
                </a:solidFill>
                <a:latin typeface="Calibri"/>
                <a:ea typeface="Calibri"/>
                <a:cs typeface="Calibri"/>
                <a:sym typeface="Calibri"/>
              </a:rPr>
              <a:t>Reasoning</a:t>
            </a:r>
            <a:endParaRPr sz="1300" b="0" i="0" u="none" strike="noStrike" cap="none">
              <a:solidFill>
                <a:schemeClr val="dk1"/>
              </a:solidFill>
              <a:latin typeface="Calibri"/>
              <a:ea typeface="Calibri"/>
              <a:cs typeface="Calibri"/>
              <a:sym typeface="Calibri"/>
            </a:endParaRPr>
          </a:p>
        </p:txBody>
      </p:sp>
      <p:sp>
        <p:nvSpPr>
          <p:cNvPr id="31" name="Google Shape;31;p3"/>
          <p:cNvSpPr/>
          <p:nvPr/>
        </p:nvSpPr>
        <p:spPr>
          <a:xfrm>
            <a:off x="7302856" y="2788920"/>
            <a:ext cx="2084832" cy="502920"/>
          </a:xfrm>
          <a:prstGeom prst="rect">
            <a:avLst/>
          </a:prstGeom>
          <a:solidFill>
            <a:srgbClr val="1F4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a:off x="7302856" y="2788920"/>
            <a:ext cx="2084832"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Part 4</a:t>
            </a:r>
            <a:endParaRPr sz="1400" b="0" i="0" u="none" strike="noStrike" cap="none">
              <a:solidFill>
                <a:schemeClr val="dk1"/>
              </a:solidFill>
              <a:latin typeface="Calibri"/>
              <a:ea typeface="Calibri"/>
              <a:cs typeface="Calibri"/>
              <a:sym typeface="Calibri"/>
            </a:endParaRPr>
          </a:p>
        </p:txBody>
      </p:sp>
      <p:sp>
        <p:nvSpPr>
          <p:cNvPr id="33" name="Google Shape;33;p3"/>
          <p:cNvSpPr/>
          <p:nvPr/>
        </p:nvSpPr>
        <p:spPr>
          <a:xfrm>
            <a:off x="7302856" y="3291840"/>
            <a:ext cx="2084832" cy="1417320"/>
          </a:xfrm>
          <a:prstGeom prst="rect">
            <a:avLst/>
          </a:prstGeom>
          <a:solidFill>
            <a:srgbClr val="F7F9FA"/>
          </a:solidFill>
          <a:ln w="9525" cap="flat" cmpd="sng">
            <a:solidFill>
              <a:srgbClr val="DDE3E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a:off x="7394296" y="3291840"/>
            <a:ext cx="1901952" cy="1417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404040"/>
              </a:buClr>
              <a:buSzPts val="1300"/>
              <a:buFont typeface="Calibri"/>
              <a:buNone/>
            </a:pPr>
            <a:r>
              <a:rPr lang="en-US" sz="1300" b="0" i="0" u="none" strike="noStrike" cap="none">
                <a:solidFill>
                  <a:srgbClr val="404040"/>
                </a:solidFill>
                <a:latin typeface="Calibri"/>
                <a:ea typeface="Calibri"/>
                <a:cs typeface="Calibri"/>
                <a:sym typeface="Calibri"/>
              </a:rPr>
              <a:t>Knowledge</a:t>
            </a:r>
            <a:endParaRPr sz="13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404040"/>
              </a:buClr>
              <a:buSzPts val="1300"/>
              <a:buFont typeface="Calibri"/>
              <a:buNone/>
            </a:pPr>
            <a:r>
              <a:rPr lang="en-US" sz="1300" b="0" i="0" u="none" strike="noStrike" cap="none">
                <a:solidFill>
                  <a:srgbClr val="404040"/>
                </a:solidFill>
                <a:latin typeface="Calibri"/>
                <a:ea typeface="Calibri"/>
                <a:cs typeface="Calibri"/>
                <a:sym typeface="Calibri"/>
              </a:rPr>
              <a:t>Graphs</a:t>
            </a:r>
            <a:endParaRPr sz="1300" b="0" i="0" u="none" strike="noStrike" cap="none">
              <a:solidFill>
                <a:schemeClr val="dk1"/>
              </a:solidFill>
              <a:latin typeface="Calibri"/>
              <a:ea typeface="Calibri"/>
              <a:cs typeface="Calibri"/>
              <a:sym typeface="Calibri"/>
            </a:endParaRPr>
          </a:p>
        </p:txBody>
      </p:sp>
      <p:sp>
        <p:nvSpPr>
          <p:cNvPr id="35" name="Google Shape;35;p3"/>
          <p:cNvSpPr/>
          <p:nvPr/>
        </p:nvSpPr>
        <p:spPr>
          <a:xfrm>
            <a:off x="9552280" y="2788920"/>
            <a:ext cx="2084832" cy="502920"/>
          </a:xfrm>
          <a:prstGeom prst="rect">
            <a:avLst/>
          </a:prstGeom>
          <a:solidFill>
            <a:srgbClr val="B33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a:off x="9552280" y="2788920"/>
            <a:ext cx="2084832"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Part 5</a:t>
            </a:r>
            <a:endParaRPr sz="1400" b="0" i="0" u="none" strike="noStrike" cap="none">
              <a:solidFill>
                <a:schemeClr val="dk1"/>
              </a:solidFill>
              <a:latin typeface="Calibri"/>
              <a:ea typeface="Calibri"/>
              <a:cs typeface="Calibri"/>
              <a:sym typeface="Calibri"/>
            </a:endParaRPr>
          </a:p>
        </p:txBody>
      </p:sp>
      <p:sp>
        <p:nvSpPr>
          <p:cNvPr id="37" name="Google Shape;37;p3"/>
          <p:cNvSpPr/>
          <p:nvPr/>
        </p:nvSpPr>
        <p:spPr>
          <a:xfrm>
            <a:off x="9552280" y="3291840"/>
            <a:ext cx="2084832" cy="1417320"/>
          </a:xfrm>
          <a:prstGeom prst="rect">
            <a:avLst/>
          </a:prstGeom>
          <a:solidFill>
            <a:srgbClr val="F7F9FA"/>
          </a:solidFill>
          <a:ln w="9525" cap="flat" cmpd="sng">
            <a:solidFill>
              <a:srgbClr val="DDE3E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a:off x="9643720" y="3291840"/>
            <a:ext cx="1901952" cy="1417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404040"/>
              </a:buClr>
              <a:buSzPts val="1300"/>
              <a:buFont typeface="Calibri"/>
              <a:buNone/>
            </a:pPr>
            <a:r>
              <a:rPr lang="en-US" sz="1300" b="0" i="0" u="none" strike="noStrike" cap="none">
                <a:solidFill>
                  <a:srgbClr val="404040"/>
                </a:solidFill>
                <a:latin typeface="Calibri"/>
                <a:ea typeface="Calibri"/>
                <a:cs typeface="Calibri"/>
                <a:sym typeface="Calibri"/>
              </a:rPr>
              <a:t>Neuro-Symbolic</a:t>
            </a:r>
            <a:endParaRPr sz="13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404040"/>
              </a:buClr>
              <a:buSzPts val="1300"/>
              <a:buFont typeface="Calibri"/>
              <a:buNone/>
            </a:pPr>
            <a:r>
              <a:rPr lang="en-US" sz="1300" b="0" i="0" u="none" strike="noStrike" cap="none">
                <a:solidFill>
                  <a:srgbClr val="404040"/>
                </a:solidFill>
                <a:latin typeface="Calibri"/>
                <a:ea typeface="Calibri"/>
                <a:cs typeface="Calibri"/>
                <a:sym typeface="Calibri"/>
              </a:rPr>
              <a:t>AI</a:t>
            </a:r>
            <a:endParaRPr sz="1300" b="0" i="0" u="none" strike="noStrike" cap="none">
              <a:solidFill>
                <a:schemeClr val="dk1"/>
              </a:solidFill>
              <a:latin typeface="Calibri"/>
              <a:ea typeface="Calibri"/>
              <a:cs typeface="Calibri"/>
              <a:sym typeface="Calibri"/>
            </a:endParaRPr>
          </a:p>
        </p:txBody>
      </p:sp>
      <p:sp>
        <p:nvSpPr>
          <p:cNvPr id="39" name="Google Shape;39;p3"/>
          <p:cNvSpPr/>
          <p:nvPr/>
        </p:nvSpPr>
        <p:spPr>
          <a:xfrm>
            <a:off x="0" y="5806440"/>
            <a:ext cx="12191695" cy="1051560"/>
          </a:xfrm>
          <a:prstGeom prst="rect">
            <a:avLst/>
          </a:prstGeom>
          <a:solidFill>
            <a:srgbClr val="1638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3"/>
          <p:cNvSpPr/>
          <p:nvPr/>
        </p:nvSpPr>
        <p:spPr>
          <a:xfrm>
            <a:off x="0" y="5806440"/>
            <a:ext cx="12191695" cy="10515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400"/>
              <a:buFont typeface="Calibri"/>
              <a:buNone/>
            </a:pPr>
            <a:r>
              <a:rPr lang="en-US" sz="2400" b="0" i="0" u="none" strike="noStrike" cap="none" dirty="0">
                <a:solidFill>
                  <a:srgbClr val="FFFFFF"/>
                </a:solidFill>
                <a:latin typeface="Calibri"/>
                <a:ea typeface="Calibri"/>
                <a:cs typeface="Calibri"/>
                <a:sym typeface="Calibri"/>
              </a:rPr>
              <a:t>Lecture </a:t>
            </a:r>
            <a:r>
              <a:rPr lang="en-US" sz="2400" dirty="0">
                <a:solidFill>
                  <a:srgbClr val="FFFFFF"/>
                </a:solidFill>
                <a:latin typeface="Calibri"/>
                <a:ea typeface="Calibri"/>
                <a:cs typeface="Calibri"/>
                <a:sym typeface="Calibri"/>
              </a:rPr>
              <a:t>5</a:t>
            </a:r>
            <a:r>
              <a:rPr lang="en-US" sz="2400" b="0" i="0" u="none" strike="noStrike" cap="none" dirty="0">
                <a:solidFill>
                  <a:srgbClr val="FFFFFF"/>
                </a:solidFill>
                <a:latin typeface="Calibri"/>
                <a:ea typeface="Calibri"/>
                <a:cs typeface="Calibri"/>
                <a:sym typeface="Calibri"/>
              </a:rPr>
              <a:t>   ·   Dr. Husnain Ashfaq</a:t>
            </a:r>
            <a:endParaRPr sz="24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6"/>
        <p:cNvGrpSpPr/>
        <p:nvPr/>
      </p:nvGrpSpPr>
      <p:grpSpPr>
        <a:xfrm>
          <a:off x="0" y="0"/>
          <a:ext cx="0" cy="0"/>
          <a:chOff x="0" y="0"/>
          <a:chExt cx="0" cy="0"/>
        </a:xfrm>
      </p:grpSpPr>
      <p:sp>
        <p:nvSpPr>
          <p:cNvPr id="77" name="Google Shape;77;p5"/>
          <p:cNvSpPr/>
          <p:nvPr/>
        </p:nvSpPr>
        <p:spPr>
          <a:xfrm>
            <a:off x="0" y="0"/>
            <a:ext cx="12191695" cy="3657600"/>
          </a:xfrm>
          <a:prstGeom prst="rect">
            <a:avLst/>
          </a:prstGeom>
          <a:solidFill>
            <a:srgbClr val="C053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5"/>
          <p:cNvSpPr/>
          <p:nvPr/>
        </p:nvSpPr>
        <p:spPr>
          <a:xfrm>
            <a:off x="822960" y="1051560"/>
            <a:ext cx="365760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TOPIC 01</a:t>
            </a:r>
            <a:endParaRPr sz="1400" b="0" i="0" u="none" strike="noStrike" cap="none">
              <a:solidFill>
                <a:schemeClr val="dk1"/>
              </a:solidFill>
              <a:latin typeface="Calibri"/>
              <a:ea typeface="Calibri"/>
              <a:cs typeface="Calibri"/>
              <a:sym typeface="Calibri"/>
            </a:endParaRPr>
          </a:p>
        </p:txBody>
      </p:sp>
      <p:sp>
        <p:nvSpPr>
          <p:cNvPr id="79" name="Google Shape;79;p5"/>
          <p:cNvSpPr/>
          <p:nvPr/>
        </p:nvSpPr>
        <p:spPr>
          <a:xfrm>
            <a:off x="777240" y="1463040"/>
            <a:ext cx="10607040" cy="137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800"/>
              <a:buFont typeface="Calibri"/>
              <a:buNone/>
            </a:pPr>
            <a:r>
              <a:rPr lang="en-US" sz="3800" b="1" i="0" u="none" strike="noStrike" cap="none">
                <a:solidFill>
                  <a:srgbClr val="FFFFFF"/>
                </a:solidFill>
                <a:latin typeface="Calibri"/>
                <a:ea typeface="Calibri"/>
                <a:cs typeface="Calibri"/>
                <a:sym typeface="Calibri"/>
              </a:rPr>
              <a:t>Non-Monotonic Reasoning</a:t>
            </a:r>
            <a:endParaRPr sz="3800" b="0" i="0" u="none" strike="noStrike" cap="none">
              <a:solidFill>
                <a:schemeClr val="dk1"/>
              </a:solidFill>
              <a:latin typeface="Calibri"/>
              <a:ea typeface="Calibri"/>
              <a:cs typeface="Calibri"/>
              <a:sym typeface="Calibri"/>
            </a:endParaRPr>
          </a:p>
        </p:txBody>
      </p:sp>
      <p:sp>
        <p:nvSpPr>
          <p:cNvPr id="80" name="Google Shape;80;p5"/>
          <p:cNvSpPr/>
          <p:nvPr/>
        </p:nvSpPr>
        <p:spPr>
          <a:xfrm>
            <a:off x="822960" y="2697480"/>
            <a:ext cx="987552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700"/>
              <a:buFont typeface="Calibri"/>
              <a:buNone/>
            </a:pPr>
            <a:r>
              <a:rPr lang="en-US" sz="1700" b="0" i="1" u="none" strike="noStrike" cap="none">
                <a:solidFill>
                  <a:srgbClr val="FFFFFF"/>
                </a:solidFill>
                <a:latin typeface="Calibri"/>
                <a:ea typeface="Calibri"/>
                <a:cs typeface="Calibri"/>
                <a:sym typeface="Calibri"/>
              </a:rPr>
              <a:t>When learning something new means taking back what you believed before.</a:t>
            </a:r>
            <a:endParaRPr sz="17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5"/>
        <p:cNvGrpSpPr/>
        <p:nvPr/>
      </p:nvGrpSpPr>
      <p:grpSpPr>
        <a:xfrm>
          <a:off x="0" y="0"/>
          <a:ext cx="0" cy="0"/>
          <a:chOff x="0" y="0"/>
          <a:chExt cx="0" cy="0"/>
        </a:xfrm>
      </p:grpSpPr>
      <p:sp>
        <p:nvSpPr>
          <p:cNvPr id="86" name="Google Shape;86;p6"/>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531A"/>
              </a:buClr>
              <a:buSzPts val="1100"/>
              <a:buFont typeface="Calibri"/>
              <a:buNone/>
            </a:pPr>
            <a:r>
              <a:rPr lang="en-US" sz="1100" b="1" i="0" u="none" strike="noStrike" cap="none">
                <a:solidFill>
                  <a:srgbClr val="C0531A"/>
                </a:solidFill>
                <a:latin typeface="Calibri"/>
                <a:ea typeface="Calibri"/>
                <a:cs typeface="Calibri"/>
                <a:sym typeface="Calibri"/>
              </a:rPr>
              <a:t>1.1 A FAMILIAR SCENARIO</a:t>
            </a:r>
            <a:endParaRPr sz="1100" b="0" i="0" u="none" strike="noStrike" cap="none">
              <a:solidFill>
                <a:schemeClr val="dk1"/>
              </a:solidFill>
              <a:latin typeface="Calibri"/>
              <a:ea typeface="Calibri"/>
              <a:cs typeface="Calibri"/>
              <a:sym typeface="Calibri"/>
            </a:endParaRPr>
          </a:p>
        </p:txBody>
      </p:sp>
      <p:sp>
        <p:nvSpPr>
          <p:cNvPr id="87" name="Google Shape;87;p6"/>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Your GPS Changes Its Mind</a:t>
            </a:r>
            <a:endParaRPr sz="2300" b="0" i="0" u="none" strike="noStrike" cap="none">
              <a:solidFill>
                <a:schemeClr val="dk1"/>
              </a:solidFill>
              <a:latin typeface="Calibri"/>
              <a:ea typeface="Calibri"/>
              <a:cs typeface="Calibri"/>
              <a:sym typeface="Calibri"/>
            </a:endParaRPr>
          </a:p>
        </p:txBody>
      </p:sp>
      <p:cxnSp>
        <p:nvCxnSpPr>
          <p:cNvPr id="88" name="Google Shape;88;p6"/>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89" name="Google Shape;89;p6"/>
          <p:cNvSpPr/>
          <p:nvPr/>
        </p:nvSpPr>
        <p:spPr>
          <a:xfrm>
            <a:off x="457200" y="1600200"/>
            <a:ext cx="1060704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1500"/>
              <a:buFont typeface="Calibri"/>
              <a:buNone/>
            </a:pPr>
            <a:r>
              <a:rPr lang="en-US" sz="1500" b="0" i="0" u="none" strike="noStrike" cap="none">
                <a:solidFill>
                  <a:srgbClr val="404040"/>
                </a:solidFill>
                <a:latin typeface="Calibri"/>
                <a:ea typeface="Calibri"/>
                <a:cs typeface="Calibri"/>
                <a:sym typeface="Calibri"/>
              </a:rPr>
              <a:t>Imagine you are driving from Lahore to Islamabad. Your GPS says:</a:t>
            </a:r>
            <a:endParaRPr sz="1500" b="0" i="0" u="none" strike="noStrike" cap="none">
              <a:solidFill>
                <a:schemeClr val="dk1"/>
              </a:solidFill>
              <a:latin typeface="Calibri"/>
              <a:ea typeface="Calibri"/>
              <a:cs typeface="Calibri"/>
              <a:sym typeface="Calibri"/>
            </a:endParaRPr>
          </a:p>
        </p:txBody>
      </p:sp>
      <p:sp>
        <p:nvSpPr>
          <p:cNvPr id="90" name="Google Shape;90;p6"/>
          <p:cNvSpPr/>
          <p:nvPr/>
        </p:nvSpPr>
        <p:spPr>
          <a:xfrm>
            <a:off x="457200" y="2011680"/>
            <a:ext cx="10607040" cy="640080"/>
          </a:xfrm>
          <a:prstGeom prst="rect">
            <a:avLst/>
          </a:prstGeom>
          <a:solidFill>
            <a:srgbClr val="FFF3E9"/>
          </a:solidFill>
          <a:ln w="9525" cap="flat" cmpd="sng">
            <a:solidFill>
              <a:srgbClr val="C0531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6"/>
          <p:cNvSpPr/>
          <p:nvPr/>
        </p:nvSpPr>
        <p:spPr>
          <a:xfrm>
            <a:off x="457200" y="2011680"/>
            <a:ext cx="64008" cy="640080"/>
          </a:xfrm>
          <a:prstGeom prst="rect">
            <a:avLst/>
          </a:prstGeom>
          <a:solidFill>
            <a:srgbClr val="C053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6"/>
          <p:cNvSpPr/>
          <p:nvPr/>
        </p:nvSpPr>
        <p:spPr>
          <a:xfrm>
            <a:off x="685800" y="2121408"/>
            <a:ext cx="10195560" cy="438912"/>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550"/>
              <a:buFont typeface="Calibri"/>
              <a:buNone/>
            </a:pPr>
            <a:r>
              <a:rPr lang="en-US" sz="1550" b="0" i="0" u="none" strike="noStrike" cap="none">
                <a:solidFill>
                  <a:srgbClr val="404040"/>
                </a:solidFill>
                <a:latin typeface="Calibri"/>
                <a:ea typeface="Calibri"/>
                <a:cs typeface="Calibri"/>
                <a:sym typeface="Calibri"/>
              </a:rPr>
              <a:t>"Take Motorway M-2 — this is the fastest route."</a:t>
            </a:r>
            <a:endParaRPr sz="1550" b="0" i="0" u="none" strike="noStrike" cap="none">
              <a:solidFill>
                <a:schemeClr val="dk1"/>
              </a:solidFill>
              <a:latin typeface="Calibri"/>
              <a:ea typeface="Calibri"/>
              <a:cs typeface="Calibri"/>
              <a:sym typeface="Calibri"/>
            </a:endParaRPr>
          </a:p>
        </p:txBody>
      </p:sp>
      <p:sp>
        <p:nvSpPr>
          <p:cNvPr id="93" name="Google Shape;93;p6"/>
          <p:cNvSpPr/>
          <p:nvPr/>
        </p:nvSpPr>
        <p:spPr>
          <a:xfrm>
            <a:off x="457200" y="2788920"/>
            <a:ext cx="1060704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1500"/>
              <a:buFont typeface="Calibri"/>
              <a:buNone/>
            </a:pPr>
            <a:r>
              <a:rPr lang="en-US" sz="1500" b="0" i="0" u="none" strike="noStrike" cap="none">
                <a:solidFill>
                  <a:srgbClr val="404040"/>
                </a:solidFill>
                <a:latin typeface="Calibri"/>
                <a:ea typeface="Calibri"/>
                <a:cs typeface="Calibri"/>
                <a:sym typeface="Calibri"/>
              </a:rPr>
              <a:t>Thirty minutes later, the GPS suddenly says:</a:t>
            </a:r>
            <a:endParaRPr sz="1500" b="0" i="0" u="none" strike="noStrike" cap="none">
              <a:solidFill>
                <a:schemeClr val="dk1"/>
              </a:solidFill>
              <a:latin typeface="Calibri"/>
              <a:ea typeface="Calibri"/>
              <a:cs typeface="Calibri"/>
              <a:sym typeface="Calibri"/>
            </a:endParaRPr>
          </a:p>
        </p:txBody>
      </p:sp>
      <p:sp>
        <p:nvSpPr>
          <p:cNvPr id="94" name="Google Shape;94;p6"/>
          <p:cNvSpPr/>
          <p:nvPr/>
        </p:nvSpPr>
        <p:spPr>
          <a:xfrm>
            <a:off x="457200" y="3200400"/>
            <a:ext cx="10607040" cy="640080"/>
          </a:xfrm>
          <a:prstGeom prst="rect">
            <a:avLst/>
          </a:prstGeom>
          <a:solidFill>
            <a:srgbClr val="FFF3E9"/>
          </a:solidFill>
          <a:ln w="9525" cap="flat" cmpd="sng">
            <a:solidFill>
              <a:srgbClr val="C0531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6"/>
          <p:cNvSpPr/>
          <p:nvPr/>
        </p:nvSpPr>
        <p:spPr>
          <a:xfrm>
            <a:off x="457200" y="3200400"/>
            <a:ext cx="64008" cy="640080"/>
          </a:xfrm>
          <a:prstGeom prst="rect">
            <a:avLst/>
          </a:prstGeom>
          <a:solidFill>
            <a:srgbClr val="C053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6"/>
          <p:cNvSpPr/>
          <p:nvPr/>
        </p:nvSpPr>
        <p:spPr>
          <a:xfrm>
            <a:off x="685800" y="3310128"/>
            <a:ext cx="10195560" cy="438912"/>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550"/>
              <a:buFont typeface="Calibri"/>
              <a:buNone/>
            </a:pPr>
            <a:r>
              <a:rPr lang="en-US" sz="1550" b="0" i="0" u="none" strike="noStrike" cap="none">
                <a:solidFill>
                  <a:srgbClr val="404040"/>
                </a:solidFill>
                <a:latin typeface="Calibri"/>
                <a:ea typeface="Calibri"/>
                <a:cs typeface="Calibri"/>
                <a:sym typeface="Calibri"/>
              </a:rPr>
              <a:t>"Accident detected ahead. Heavy traffic congestion. Take an alternative route."</a:t>
            </a:r>
            <a:endParaRPr sz="1550" b="0" i="0" u="none" strike="noStrike" cap="none">
              <a:solidFill>
                <a:schemeClr val="dk1"/>
              </a:solidFill>
              <a:latin typeface="Calibri"/>
              <a:ea typeface="Calibri"/>
              <a:cs typeface="Calibri"/>
              <a:sym typeface="Calibri"/>
            </a:endParaRPr>
          </a:p>
        </p:txBody>
      </p:sp>
      <p:sp>
        <p:nvSpPr>
          <p:cNvPr id="97" name="Google Shape;97;p6"/>
          <p:cNvSpPr/>
          <p:nvPr/>
        </p:nvSpPr>
        <p:spPr>
          <a:xfrm>
            <a:off x="457200" y="3977640"/>
            <a:ext cx="10607040" cy="164592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404040"/>
              </a:buClr>
              <a:buSzPts val="1450"/>
              <a:buFont typeface="Calibri"/>
              <a:buNone/>
            </a:pPr>
            <a:r>
              <a:rPr lang="en-US" sz="1450" b="1" i="0" u="none" strike="noStrike" cap="none">
                <a:solidFill>
                  <a:srgbClr val="404040"/>
                </a:solidFill>
                <a:latin typeface="Calibri"/>
                <a:ea typeface="Calibri"/>
                <a:cs typeface="Calibri"/>
                <a:sym typeface="Calibri"/>
              </a:rPr>
              <a:t>Did the GPS make a mistake the first time?  </a:t>
            </a:r>
            <a:r>
              <a:rPr lang="en-US" sz="1450" b="1" i="0" u="none" strike="noStrike" cap="none">
                <a:solidFill>
                  <a:srgbClr val="C0531A"/>
                </a:solidFill>
                <a:latin typeface="Calibri"/>
                <a:ea typeface="Calibri"/>
                <a:cs typeface="Calibri"/>
                <a:sym typeface="Calibri"/>
              </a:rPr>
              <a:t>No.</a:t>
            </a:r>
            <a:endParaRPr sz="145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404040"/>
              </a:buClr>
              <a:buSzPts val="1450"/>
              <a:buFont typeface="Calibri"/>
              <a:buNone/>
            </a:pPr>
            <a:r>
              <a:rPr lang="en-US" sz="1450" b="0" i="0" u="none" strike="noStrike" cap="none">
                <a:solidFill>
                  <a:srgbClr val="404040"/>
                </a:solidFill>
                <a:latin typeface="Calibri"/>
                <a:ea typeface="Calibri"/>
                <a:cs typeface="Calibri"/>
                <a:sym typeface="Calibri"/>
              </a:rPr>
              <a:t>It made the best decision possible with the information available at that moment. When new information arrived, it revised its conclusion. This ability — to take back an earlier, reasonable conclusion when new facts arrive — is called </a:t>
            </a:r>
            <a:r>
              <a:rPr lang="en-US" sz="1450" b="1" i="1" u="none" strike="noStrike" cap="none">
                <a:solidFill>
                  <a:srgbClr val="404040"/>
                </a:solidFill>
                <a:latin typeface="Calibri"/>
                <a:ea typeface="Calibri"/>
                <a:cs typeface="Calibri"/>
                <a:sym typeface="Calibri"/>
              </a:rPr>
              <a:t>non-monotonic reasoning</a:t>
            </a:r>
            <a:r>
              <a:rPr lang="en-US" sz="1450" b="0" i="0" u="none" strike="noStrike" cap="none">
                <a:solidFill>
                  <a:srgbClr val="404040"/>
                </a:solidFill>
                <a:latin typeface="Calibri"/>
                <a:ea typeface="Calibri"/>
                <a:cs typeface="Calibri"/>
                <a:sym typeface="Calibri"/>
              </a:rPr>
              <a:t>, and it is something humans (and good AI systems) do every single day.</a:t>
            </a:r>
            <a:endParaRPr sz="1450" b="0" i="0" u="none" strike="noStrike" cap="none">
              <a:solidFill>
                <a:schemeClr val="dk1"/>
              </a:solidFill>
              <a:latin typeface="Calibri"/>
              <a:ea typeface="Calibri"/>
              <a:cs typeface="Calibri"/>
              <a:sym typeface="Calibri"/>
            </a:endParaRPr>
          </a:p>
        </p:txBody>
      </p:sp>
      <p:sp>
        <p:nvSpPr>
          <p:cNvPr id="98" name="Google Shape;98;p6"/>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3 / 40</a:t>
            </a:r>
            <a:endParaRPr sz="950" b="0" i="0" u="none" strike="noStrike" cap="none">
              <a:solidFill>
                <a:schemeClr val="dk1"/>
              </a:solidFill>
              <a:latin typeface="Calibri"/>
              <a:ea typeface="Calibri"/>
              <a:cs typeface="Calibri"/>
              <a:sym typeface="Calibri"/>
            </a:endParaRPr>
          </a:p>
        </p:txBody>
      </p:sp>
      <p:sp>
        <p:nvSpPr>
          <p:cNvPr id="99" name="Google Shape;99;p6"/>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4"/>
        <p:cNvGrpSpPr/>
        <p:nvPr/>
      </p:nvGrpSpPr>
      <p:grpSpPr>
        <a:xfrm>
          <a:off x="0" y="0"/>
          <a:ext cx="0" cy="0"/>
          <a:chOff x="0" y="0"/>
          <a:chExt cx="0" cy="0"/>
        </a:xfrm>
      </p:grpSpPr>
      <p:sp>
        <p:nvSpPr>
          <p:cNvPr id="105" name="Google Shape;105;p7"/>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531A"/>
              </a:buClr>
              <a:buSzPts val="1100"/>
              <a:buFont typeface="Calibri"/>
              <a:buNone/>
            </a:pPr>
            <a:r>
              <a:rPr lang="en-US" sz="1100" b="1" i="0" u="none" strike="noStrike" cap="none">
                <a:solidFill>
                  <a:srgbClr val="C0531A"/>
                </a:solidFill>
                <a:latin typeface="Calibri"/>
                <a:ea typeface="Calibri"/>
                <a:cs typeface="Calibri"/>
                <a:sym typeface="Calibri"/>
              </a:rPr>
              <a:t>1.2 WHAT DOES THIS MEAN?</a:t>
            </a:r>
            <a:endParaRPr sz="1100" b="0" i="0" u="none" strike="noStrike" cap="none">
              <a:solidFill>
                <a:schemeClr val="dk1"/>
              </a:solidFill>
              <a:latin typeface="Calibri"/>
              <a:ea typeface="Calibri"/>
              <a:cs typeface="Calibri"/>
              <a:sym typeface="Calibri"/>
            </a:endParaRPr>
          </a:p>
        </p:txBody>
      </p:sp>
      <p:sp>
        <p:nvSpPr>
          <p:cNvPr id="106" name="Google Shape;106;p7"/>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What Does "Non-Monotonic" Actually Mean?</a:t>
            </a:r>
            <a:endParaRPr sz="2300" b="0" i="0" u="none" strike="noStrike" cap="none">
              <a:solidFill>
                <a:schemeClr val="dk1"/>
              </a:solidFill>
              <a:latin typeface="Calibri"/>
              <a:ea typeface="Calibri"/>
              <a:cs typeface="Calibri"/>
              <a:sym typeface="Calibri"/>
            </a:endParaRPr>
          </a:p>
        </p:txBody>
      </p:sp>
      <p:cxnSp>
        <p:nvCxnSpPr>
          <p:cNvPr id="107" name="Google Shape;107;p7"/>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108" name="Google Shape;108;p7"/>
          <p:cNvSpPr/>
          <p:nvPr/>
        </p:nvSpPr>
        <p:spPr>
          <a:xfrm>
            <a:off x="457200" y="1600200"/>
            <a:ext cx="10607040" cy="1051560"/>
          </a:xfrm>
          <a:prstGeom prst="rect">
            <a:avLst/>
          </a:prstGeom>
          <a:noFill/>
          <a:ln>
            <a:noFill/>
          </a:ln>
        </p:spPr>
        <p:txBody>
          <a:bodyPr spcFirstLastPara="1" wrap="square" lIns="0" tIns="0" rIns="0" bIns="0" anchor="ctr" anchorCtr="0">
            <a:noAutofit/>
          </a:bodyPr>
          <a:lstStyle/>
          <a:p>
            <a:pPr marL="0" marR="0" lvl="0" indent="0" algn="l" rtl="0">
              <a:lnSpc>
                <a:spcPct val="122000"/>
              </a:lnSpc>
              <a:spcBef>
                <a:spcPts val="0"/>
              </a:spcBef>
              <a:spcAft>
                <a:spcPts val="0"/>
              </a:spcAft>
              <a:buClr>
                <a:srgbClr val="404040"/>
              </a:buClr>
              <a:buSzPts val="1450"/>
              <a:buFont typeface="Calibri"/>
              <a:buNone/>
            </a:pPr>
            <a:r>
              <a:rPr lang="en-US" sz="1450" b="0" i="0" u="none" strike="noStrike" cap="none">
                <a:solidFill>
                  <a:srgbClr val="404040"/>
                </a:solidFill>
                <a:latin typeface="Calibri"/>
                <a:ea typeface="Calibri"/>
                <a:cs typeface="Calibri"/>
                <a:sym typeface="Calibri"/>
              </a:rPr>
              <a:t>In everyday math, if you know that 2 + 2 = 4, no new fact you ever learn will change that. Mathematical logic is built so that the set of true conclusions only ever </a:t>
            </a:r>
            <a:r>
              <a:rPr lang="en-US" sz="1450" b="1" i="0" u="none" strike="noStrike" cap="none">
                <a:solidFill>
                  <a:srgbClr val="404040"/>
                </a:solidFill>
                <a:latin typeface="Calibri"/>
                <a:ea typeface="Calibri"/>
                <a:cs typeface="Calibri"/>
                <a:sym typeface="Calibri"/>
              </a:rPr>
              <a:t>grows</a:t>
            </a:r>
            <a:r>
              <a:rPr lang="en-US" sz="1450" b="0" i="0" u="none" strike="noStrike" cap="none">
                <a:solidFill>
                  <a:srgbClr val="404040"/>
                </a:solidFill>
                <a:latin typeface="Calibri"/>
                <a:ea typeface="Calibri"/>
                <a:cs typeface="Calibri"/>
                <a:sym typeface="Calibri"/>
              </a:rPr>
              <a:t> — it never shrinks. We call this property </a:t>
            </a:r>
            <a:r>
              <a:rPr lang="en-US" sz="1450" b="1" i="1" u="none" strike="noStrike" cap="none">
                <a:solidFill>
                  <a:srgbClr val="404040"/>
                </a:solidFill>
                <a:latin typeface="Calibri"/>
                <a:ea typeface="Calibri"/>
                <a:cs typeface="Calibri"/>
                <a:sym typeface="Calibri"/>
              </a:rPr>
              <a:t>monotonicity</a:t>
            </a:r>
            <a:r>
              <a:rPr lang="en-US" sz="1450" b="0" i="0" u="none" strike="noStrike" cap="none">
                <a:solidFill>
                  <a:srgbClr val="404040"/>
                </a:solidFill>
                <a:latin typeface="Calibri"/>
                <a:ea typeface="Calibri"/>
                <a:cs typeface="Calibri"/>
                <a:sym typeface="Calibri"/>
              </a:rPr>
              <a:t>: once something is proven true, adding more facts can never make it false again.</a:t>
            </a:r>
            <a:endParaRPr sz="1450" b="0" i="0" u="none" strike="noStrike" cap="none">
              <a:solidFill>
                <a:schemeClr val="dk1"/>
              </a:solidFill>
              <a:latin typeface="Calibri"/>
              <a:ea typeface="Calibri"/>
              <a:cs typeface="Calibri"/>
              <a:sym typeface="Calibri"/>
            </a:endParaRPr>
          </a:p>
        </p:txBody>
      </p:sp>
      <p:sp>
        <p:nvSpPr>
          <p:cNvPr id="109" name="Google Shape;109;p7"/>
          <p:cNvSpPr/>
          <p:nvPr/>
        </p:nvSpPr>
        <p:spPr>
          <a:xfrm>
            <a:off x="1737360" y="2743200"/>
            <a:ext cx="8046720" cy="960120"/>
          </a:xfrm>
          <a:prstGeom prst="rect">
            <a:avLst/>
          </a:prstGeom>
          <a:solidFill>
            <a:srgbClr val="F4F8F8"/>
          </a:solidFill>
          <a:ln w="9525" cap="flat" cmpd="sng">
            <a:solidFill>
              <a:srgbClr val="DDE3E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7"/>
          <p:cNvSpPr/>
          <p:nvPr/>
        </p:nvSpPr>
        <p:spPr>
          <a:xfrm>
            <a:off x="1965960" y="2834640"/>
            <a:ext cx="7589520" cy="77724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ts val="0"/>
              </a:spcBef>
              <a:spcAft>
                <a:spcPts val="0"/>
              </a:spcAft>
              <a:buClr>
                <a:srgbClr val="404040"/>
              </a:buClr>
              <a:buSzPts val="1400"/>
              <a:buFont typeface="Courier New"/>
              <a:buNone/>
            </a:pPr>
            <a:r>
              <a:rPr lang="en-US" sz="1400" b="0" i="0" u="none" strike="noStrike" cap="none">
                <a:solidFill>
                  <a:srgbClr val="404040"/>
                </a:solidFill>
                <a:latin typeface="Courier New"/>
                <a:ea typeface="Courier New"/>
                <a:cs typeface="Courier New"/>
                <a:sym typeface="Courier New"/>
              </a:rPr>
              <a:t>Conclusions(K1)  ⊆  Conclusions(K2)</a:t>
            </a:r>
            <a:endParaRPr sz="1400" b="0" i="0" u="none" strike="noStrike" cap="none">
              <a:solidFill>
                <a:schemeClr val="dk1"/>
              </a:solidFill>
              <a:latin typeface="Calibri"/>
              <a:ea typeface="Calibri"/>
              <a:cs typeface="Calibri"/>
              <a:sym typeface="Calibri"/>
            </a:endParaRPr>
          </a:p>
          <a:p>
            <a:pPr marL="0" marR="0" lvl="0" indent="0" algn="ctr" rtl="0">
              <a:lnSpc>
                <a:spcPct val="115000"/>
              </a:lnSpc>
              <a:spcBef>
                <a:spcPts val="0"/>
              </a:spcBef>
              <a:spcAft>
                <a:spcPts val="0"/>
              </a:spcAft>
              <a:buClr>
                <a:srgbClr val="404040"/>
              </a:buClr>
              <a:buSzPts val="1400"/>
              <a:buFont typeface="Courier New"/>
              <a:buNone/>
            </a:pPr>
            <a:r>
              <a:rPr lang="en-US" sz="1400" b="0" i="0" u="none" strike="noStrike" cap="none">
                <a:solidFill>
                  <a:srgbClr val="404040"/>
                </a:solidFill>
                <a:latin typeface="Courier New"/>
                <a:ea typeface="Courier New"/>
                <a:cs typeface="Courier New"/>
                <a:sym typeface="Courier New"/>
              </a:rPr>
              <a:t>"Adding information can only create new conclusions.</a:t>
            </a:r>
            <a:endParaRPr sz="1400" b="0" i="0" u="none" strike="noStrike" cap="none">
              <a:solidFill>
                <a:schemeClr val="dk1"/>
              </a:solidFill>
              <a:latin typeface="Calibri"/>
              <a:ea typeface="Calibri"/>
              <a:cs typeface="Calibri"/>
              <a:sym typeface="Calibri"/>
            </a:endParaRPr>
          </a:p>
          <a:p>
            <a:pPr marL="0" marR="0" lvl="0" indent="0" algn="ctr" rtl="0">
              <a:lnSpc>
                <a:spcPct val="115000"/>
              </a:lnSpc>
              <a:spcBef>
                <a:spcPts val="0"/>
              </a:spcBef>
              <a:spcAft>
                <a:spcPts val="0"/>
              </a:spcAft>
              <a:buClr>
                <a:srgbClr val="404040"/>
              </a:buClr>
              <a:buSzPts val="1400"/>
              <a:buFont typeface="Courier New"/>
              <a:buNone/>
            </a:pPr>
            <a:r>
              <a:rPr lang="en-US" sz="1400" b="0" i="0" u="none" strike="noStrike" cap="none">
                <a:solidFill>
                  <a:srgbClr val="404040"/>
                </a:solidFill>
                <a:latin typeface="Courier New"/>
                <a:ea typeface="Courier New"/>
                <a:cs typeface="Courier New"/>
                <a:sym typeface="Courier New"/>
              </a:rPr>
              <a:t>  It can never invalidate old conclusions."</a:t>
            </a:r>
            <a:endParaRPr sz="1400" b="0" i="0" u="none" strike="noStrike" cap="none">
              <a:solidFill>
                <a:schemeClr val="dk1"/>
              </a:solidFill>
              <a:latin typeface="Calibri"/>
              <a:ea typeface="Calibri"/>
              <a:cs typeface="Calibri"/>
              <a:sym typeface="Calibri"/>
            </a:endParaRPr>
          </a:p>
        </p:txBody>
      </p:sp>
      <p:sp>
        <p:nvSpPr>
          <p:cNvPr id="111" name="Google Shape;111;p7"/>
          <p:cNvSpPr/>
          <p:nvPr/>
        </p:nvSpPr>
        <p:spPr>
          <a:xfrm>
            <a:off x="457200" y="3886200"/>
            <a:ext cx="10607040" cy="1463040"/>
          </a:xfrm>
          <a:prstGeom prst="rect">
            <a:avLst/>
          </a:prstGeom>
          <a:noFill/>
          <a:ln>
            <a:noFill/>
          </a:ln>
        </p:spPr>
        <p:txBody>
          <a:bodyPr spcFirstLastPara="1" wrap="square" lIns="0" tIns="0" rIns="0" bIns="0" anchor="ctr" anchorCtr="0">
            <a:noAutofit/>
          </a:bodyPr>
          <a:lstStyle/>
          <a:p>
            <a:pPr marL="0" marR="0" lvl="0" indent="0" algn="l" rtl="0">
              <a:lnSpc>
                <a:spcPct val="122000"/>
              </a:lnSpc>
              <a:spcBef>
                <a:spcPts val="0"/>
              </a:spcBef>
              <a:spcAft>
                <a:spcPts val="0"/>
              </a:spcAft>
              <a:buClr>
                <a:srgbClr val="404040"/>
              </a:buClr>
              <a:buSzPts val="1450"/>
              <a:buFont typeface="Calibri"/>
              <a:buNone/>
            </a:pPr>
            <a:r>
              <a:rPr lang="en-US" sz="1450" b="0" i="0" u="none" strike="noStrike" cap="none">
                <a:solidFill>
                  <a:srgbClr val="404040"/>
                </a:solidFill>
                <a:latin typeface="Calibri"/>
                <a:ea typeface="Calibri"/>
                <a:cs typeface="Calibri"/>
                <a:sym typeface="Calibri"/>
              </a:rPr>
              <a:t>But the real world doesn't work that way. Someone tells you </a:t>
            </a:r>
            <a:r>
              <a:rPr lang="en-US" sz="1450" b="1" i="0" u="none" strike="noStrike" cap="none">
                <a:solidFill>
                  <a:srgbClr val="404040"/>
                </a:solidFill>
                <a:latin typeface="Calibri"/>
                <a:ea typeface="Calibri"/>
                <a:cs typeface="Calibri"/>
                <a:sym typeface="Calibri"/>
              </a:rPr>
              <a:t>"Tweety is a bird."</a:t>
            </a:r>
            <a:r>
              <a:rPr lang="en-US" sz="1450" b="0" i="0" u="none" strike="noStrike" cap="none">
                <a:solidFill>
                  <a:srgbClr val="404040"/>
                </a:solidFill>
                <a:latin typeface="Calibri"/>
                <a:ea typeface="Calibri"/>
                <a:cs typeface="Calibri"/>
                <a:sym typeface="Calibri"/>
              </a:rPr>
              <a:t> Your natural reaction: </a:t>
            </a:r>
            <a:r>
              <a:rPr lang="en-US" sz="1450" b="1" i="0" u="none" strike="noStrike" cap="none">
                <a:solidFill>
                  <a:srgbClr val="404040"/>
                </a:solidFill>
                <a:latin typeface="Calibri"/>
                <a:ea typeface="Calibri"/>
                <a:cs typeface="Calibri"/>
                <a:sym typeface="Calibri"/>
              </a:rPr>
              <a:t>"Tweety can fly"</a:t>
            </a:r>
            <a:r>
              <a:rPr lang="en-US" sz="1450" b="0" i="0" u="none" strike="noStrike" cap="none">
                <a:solidFill>
                  <a:srgbClr val="404040"/>
                </a:solidFill>
                <a:latin typeface="Calibri"/>
                <a:ea typeface="Calibri"/>
                <a:cs typeface="Calibri"/>
                <a:sym typeface="Calibri"/>
              </a:rPr>
              <a:t> — most birds fly. Now they add: </a:t>
            </a:r>
            <a:r>
              <a:rPr lang="en-US" sz="1450" b="1" i="0" u="none" strike="noStrike" cap="none">
                <a:solidFill>
                  <a:srgbClr val="404040"/>
                </a:solidFill>
                <a:latin typeface="Calibri"/>
                <a:ea typeface="Calibri"/>
                <a:cs typeface="Calibri"/>
                <a:sym typeface="Calibri"/>
              </a:rPr>
              <a:t>"Tweety is a penguin."</a:t>
            </a:r>
            <a:r>
              <a:rPr lang="en-US" sz="1450" b="0" i="0" u="none" strike="noStrike" cap="none">
                <a:solidFill>
                  <a:srgbClr val="404040"/>
                </a:solidFill>
                <a:latin typeface="Calibri"/>
                <a:ea typeface="Calibri"/>
                <a:cs typeface="Calibri"/>
                <a:sym typeface="Calibri"/>
              </a:rPr>
              <a:t> Suddenly your earlier conclusion collapses — Tweety cannot fly after all. You didn't make a mistake; the new fact simply forced you to </a:t>
            </a:r>
            <a:r>
              <a:rPr lang="en-US" sz="1450" b="1" i="0" u="none" strike="noStrike" cap="none">
                <a:solidFill>
                  <a:srgbClr val="404040"/>
                </a:solidFill>
                <a:latin typeface="Calibri"/>
                <a:ea typeface="Calibri"/>
                <a:cs typeface="Calibri"/>
                <a:sym typeface="Calibri"/>
              </a:rPr>
              <a:t>withdraw</a:t>
            </a:r>
            <a:r>
              <a:rPr lang="en-US" sz="1450" b="0" i="0" u="none" strike="noStrike" cap="none">
                <a:solidFill>
                  <a:srgbClr val="404040"/>
                </a:solidFill>
                <a:latin typeface="Calibri"/>
                <a:ea typeface="Calibri"/>
                <a:cs typeface="Calibri"/>
                <a:sym typeface="Calibri"/>
              </a:rPr>
              <a:t> an earlier, reasonable belief.</a:t>
            </a:r>
            <a:endParaRPr sz="1450" b="0" i="0" u="none" strike="noStrike" cap="none">
              <a:solidFill>
                <a:schemeClr val="dk1"/>
              </a:solidFill>
              <a:latin typeface="Calibri"/>
              <a:ea typeface="Calibri"/>
              <a:cs typeface="Calibri"/>
              <a:sym typeface="Calibri"/>
            </a:endParaRPr>
          </a:p>
        </p:txBody>
      </p:sp>
      <p:sp>
        <p:nvSpPr>
          <p:cNvPr id="112" name="Google Shape;112;p7"/>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3 / 40</a:t>
            </a:r>
            <a:endParaRPr sz="950" b="0" i="0" u="none" strike="noStrike" cap="none">
              <a:solidFill>
                <a:schemeClr val="dk1"/>
              </a:solidFill>
              <a:latin typeface="Calibri"/>
              <a:ea typeface="Calibri"/>
              <a:cs typeface="Calibri"/>
              <a:sym typeface="Calibri"/>
            </a:endParaRPr>
          </a:p>
        </p:txBody>
      </p:sp>
      <p:sp>
        <p:nvSpPr>
          <p:cNvPr id="113" name="Google Shape;113;p7"/>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8"/>
        <p:cNvGrpSpPr/>
        <p:nvPr/>
      </p:nvGrpSpPr>
      <p:grpSpPr>
        <a:xfrm>
          <a:off x="0" y="0"/>
          <a:ext cx="0" cy="0"/>
          <a:chOff x="0" y="0"/>
          <a:chExt cx="0" cy="0"/>
        </a:xfrm>
      </p:grpSpPr>
      <p:sp>
        <p:nvSpPr>
          <p:cNvPr id="119" name="Google Shape;119;p8"/>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531A"/>
              </a:buClr>
              <a:buSzPts val="1100"/>
              <a:buFont typeface="Calibri"/>
              <a:buNone/>
            </a:pPr>
            <a:r>
              <a:rPr lang="en-US" sz="1100" b="1" i="0" u="none" strike="noStrike" cap="none">
                <a:solidFill>
                  <a:srgbClr val="C0531A"/>
                </a:solidFill>
                <a:latin typeface="Calibri"/>
                <a:ea typeface="Calibri"/>
                <a:cs typeface="Calibri"/>
                <a:sym typeface="Calibri"/>
              </a:rPr>
              <a:t>1.2 DEFINITION</a:t>
            </a:r>
            <a:endParaRPr sz="1100" b="0" i="0" u="none" strike="noStrike" cap="none">
              <a:solidFill>
                <a:schemeClr val="dk1"/>
              </a:solidFill>
              <a:latin typeface="Calibri"/>
              <a:ea typeface="Calibri"/>
              <a:cs typeface="Calibri"/>
              <a:sym typeface="Calibri"/>
            </a:endParaRPr>
          </a:p>
        </p:txBody>
      </p:sp>
      <p:sp>
        <p:nvSpPr>
          <p:cNvPr id="120" name="Google Shape;120;p8"/>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Non-Monotonic Reasoning — Formal Definition</a:t>
            </a:r>
            <a:endParaRPr sz="2300" b="0" i="0" u="none" strike="noStrike" cap="none">
              <a:solidFill>
                <a:schemeClr val="dk1"/>
              </a:solidFill>
              <a:latin typeface="Calibri"/>
              <a:ea typeface="Calibri"/>
              <a:cs typeface="Calibri"/>
              <a:sym typeface="Calibri"/>
            </a:endParaRPr>
          </a:p>
        </p:txBody>
      </p:sp>
      <p:cxnSp>
        <p:nvCxnSpPr>
          <p:cNvPr id="121" name="Google Shape;121;p8"/>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122" name="Google Shape;122;p8"/>
          <p:cNvSpPr/>
          <p:nvPr/>
        </p:nvSpPr>
        <p:spPr>
          <a:xfrm>
            <a:off x="914400" y="2103120"/>
            <a:ext cx="10360152" cy="2560320"/>
          </a:xfrm>
          <a:prstGeom prst="rect">
            <a:avLst/>
          </a:prstGeom>
          <a:solidFill>
            <a:srgbClr val="EAF4F4"/>
          </a:solidFill>
          <a:ln w="9525" cap="flat" cmpd="sng">
            <a:solidFill>
              <a:srgbClr val="C0531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8"/>
          <p:cNvSpPr/>
          <p:nvPr/>
        </p:nvSpPr>
        <p:spPr>
          <a:xfrm>
            <a:off x="914400" y="2103120"/>
            <a:ext cx="64008" cy="2560320"/>
          </a:xfrm>
          <a:prstGeom prst="rect">
            <a:avLst/>
          </a:prstGeom>
          <a:solidFill>
            <a:srgbClr val="C053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8"/>
          <p:cNvSpPr/>
          <p:nvPr/>
        </p:nvSpPr>
        <p:spPr>
          <a:xfrm>
            <a:off x="1143000" y="2212848"/>
            <a:ext cx="9994392"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531A"/>
              </a:buClr>
              <a:buSzPts val="1050"/>
              <a:buFont typeface="Calibri"/>
              <a:buNone/>
            </a:pPr>
            <a:r>
              <a:rPr lang="en-US" sz="1050" b="1" i="0" u="none" strike="noStrike" cap="none">
                <a:solidFill>
                  <a:srgbClr val="C0531A"/>
                </a:solidFill>
                <a:latin typeface="Calibri"/>
                <a:ea typeface="Calibri"/>
                <a:cs typeface="Calibri"/>
                <a:sym typeface="Calibri"/>
              </a:rPr>
              <a:t>DEFINITION</a:t>
            </a:r>
            <a:endParaRPr sz="1050" b="0" i="0" u="none" strike="noStrike" cap="none">
              <a:solidFill>
                <a:schemeClr val="dk1"/>
              </a:solidFill>
              <a:latin typeface="Calibri"/>
              <a:ea typeface="Calibri"/>
              <a:cs typeface="Calibri"/>
              <a:sym typeface="Calibri"/>
            </a:endParaRPr>
          </a:p>
        </p:txBody>
      </p:sp>
      <p:sp>
        <p:nvSpPr>
          <p:cNvPr id="125" name="Google Shape;125;p8"/>
          <p:cNvSpPr/>
          <p:nvPr/>
        </p:nvSpPr>
        <p:spPr>
          <a:xfrm>
            <a:off x="1143000" y="2505456"/>
            <a:ext cx="9948672" cy="206654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800"/>
              <a:buFont typeface="Calibri"/>
              <a:buNone/>
            </a:pPr>
            <a:r>
              <a:rPr lang="en-US" sz="1800" b="0" i="0" u="none" strike="noStrike" cap="none">
                <a:solidFill>
                  <a:srgbClr val="404040"/>
                </a:solidFill>
                <a:latin typeface="Calibri"/>
                <a:ea typeface="Calibri"/>
                <a:cs typeface="Calibri"/>
                <a:sym typeface="Calibri"/>
              </a:rPr>
              <a:t>Non-monotonic reasoning is a style of reasoning in which adding new information to a knowledge base can cause previously derived conclusions to be retracted, not just added to. It models how humans reason under incomplete information — we jump to reasonable conclusions and revise them later if better evidence appears.</a:t>
            </a:r>
            <a:endParaRPr sz="1800" b="0" i="0" u="none" strike="noStrike" cap="none">
              <a:solidFill>
                <a:schemeClr val="dk1"/>
              </a:solidFill>
              <a:latin typeface="Calibri"/>
              <a:ea typeface="Calibri"/>
              <a:cs typeface="Calibri"/>
              <a:sym typeface="Calibri"/>
            </a:endParaRPr>
          </a:p>
        </p:txBody>
      </p:sp>
      <p:sp>
        <p:nvSpPr>
          <p:cNvPr id="126" name="Google Shape;126;p8"/>
          <p:cNvSpPr/>
          <p:nvPr/>
        </p:nvSpPr>
        <p:spPr>
          <a:xfrm>
            <a:off x="914400" y="4892040"/>
            <a:ext cx="10360152"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6B6B"/>
              </a:buClr>
              <a:buSzPts val="1400"/>
              <a:buFont typeface="Calibri"/>
              <a:buNone/>
            </a:pPr>
            <a:r>
              <a:rPr lang="en-US" sz="1400" b="0" i="1" u="none" strike="noStrike" cap="none">
                <a:solidFill>
                  <a:srgbClr val="6B6B6B"/>
                </a:solidFill>
                <a:latin typeface="Calibri"/>
                <a:ea typeface="Calibri"/>
                <a:cs typeface="Calibri"/>
                <a:sym typeface="Calibri"/>
              </a:rPr>
              <a:t>Key idea: classical logic only grows its conclusions. Non-monotonic reasoning can shrink them too.</a:t>
            </a:r>
            <a:endParaRPr sz="1400" b="0" i="0" u="none" strike="noStrike" cap="none">
              <a:solidFill>
                <a:schemeClr val="dk1"/>
              </a:solidFill>
              <a:latin typeface="Calibri"/>
              <a:ea typeface="Calibri"/>
              <a:cs typeface="Calibri"/>
              <a:sym typeface="Calibri"/>
            </a:endParaRPr>
          </a:p>
        </p:txBody>
      </p:sp>
      <p:sp>
        <p:nvSpPr>
          <p:cNvPr id="127" name="Google Shape;127;p8"/>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3 / 40</a:t>
            </a:r>
            <a:endParaRPr sz="950" b="0" i="0" u="none" strike="noStrike" cap="none">
              <a:solidFill>
                <a:schemeClr val="dk1"/>
              </a:solidFill>
              <a:latin typeface="Calibri"/>
              <a:ea typeface="Calibri"/>
              <a:cs typeface="Calibri"/>
              <a:sym typeface="Calibri"/>
            </a:endParaRPr>
          </a:p>
        </p:txBody>
      </p:sp>
      <p:sp>
        <p:nvSpPr>
          <p:cNvPr id="128" name="Google Shape;128;p8"/>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3"/>
        <p:cNvGrpSpPr/>
        <p:nvPr/>
      </p:nvGrpSpPr>
      <p:grpSpPr>
        <a:xfrm>
          <a:off x="0" y="0"/>
          <a:ext cx="0" cy="0"/>
          <a:chOff x="0" y="0"/>
          <a:chExt cx="0" cy="0"/>
        </a:xfrm>
      </p:grpSpPr>
      <p:sp>
        <p:nvSpPr>
          <p:cNvPr id="134" name="Google Shape;134;p9"/>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531A"/>
              </a:buClr>
              <a:buSzPts val="1100"/>
              <a:buFont typeface="Calibri"/>
              <a:buNone/>
            </a:pPr>
            <a:r>
              <a:rPr lang="en-US" sz="1100" b="1" i="0" u="none" strike="noStrike" cap="none">
                <a:solidFill>
                  <a:srgbClr val="C0531A"/>
                </a:solidFill>
                <a:latin typeface="Calibri"/>
                <a:ea typeface="Calibri"/>
                <a:cs typeface="Calibri"/>
                <a:sym typeface="Calibri"/>
              </a:rPr>
              <a:t>1.3 EXCEPTIONS EVERYWHERE</a:t>
            </a:r>
            <a:endParaRPr sz="1100" b="0" i="0" u="none" strike="noStrike" cap="none">
              <a:solidFill>
                <a:schemeClr val="dk1"/>
              </a:solidFill>
              <a:latin typeface="Calibri"/>
              <a:ea typeface="Calibri"/>
              <a:cs typeface="Calibri"/>
              <a:sym typeface="Calibri"/>
            </a:endParaRPr>
          </a:p>
        </p:txBody>
      </p:sp>
      <p:sp>
        <p:nvSpPr>
          <p:cNvPr id="135" name="Google Shape;135;p9"/>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The Real World Is Full of Exceptions</a:t>
            </a:r>
            <a:endParaRPr sz="2300" b="0" i="0" u="none" strike="noStrike" cap="none">
              <a:solidFill>
                <a:schemeClr val="dk1"/>
              </a:solidFill>
              <a:latin typeface="Calibri"/>
              <a:ea typeface="Calibri"/>
              <a:cs typeface="Calibri"/>
              <a:sym typeface="Calibri"/>
            </a:endParaRPr>
          </a:p>
        </p:txBody>
      </p:sp>
      <p:cxnSp>
        <p:nvCxnSpPr>
          <p:cNvPr id="136" name="Google Shape;136;p9"/>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137" name="Google Shape;137;p9"/>
          <p:cNvSpPr/>
          <p:nvPr/>
        </p:nvSpPr>
        <p:spPr>
          <a:xfrm>
            <a:off x="457200" y="1600200"/>
            <a:ext cx="1060704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1450"/>
              <a:buFont typeface="Calibri"/>
              <a:buNone/>
            </a:pPr>
            <a:r>
              <a:rPr lang="en-US" sz="1450" b="0" i="0" u="none" strike="noStrike" cap="none">
                <a:solidFill>
                  <a:srgbClr val="404040"/>
                </a:solidFill>
                <a:latin typeface="Calibri"/>
                <a:ea typeface="Calibri"/>
                <a:cs typeface="Calibri"/>
                <a:sym typeface="Calibri"/>
              </a:rPr>
              <a:t>Most human knowledge is not absolute. Consider three ordinary statements and how easily each one breaks:</a:t>
            </a:r>
            <a:endParaRPr sz="1450" b="0" i="0" u="none" strike="noStrike" cap="none">
              <a:solidFill>
                <a:schemeClr val="dk1"/>
              </a:solidFill>
              <a:latin typeface="Calibri"/>
              <a:ea typeface="Calibri"/>
              <a:cs typeface="Calibri"/>
              <a:sym typeface="Calibri"/>
            </a:endParaRPr>
          </a:p>
        </p:txBody>
      </p:sp>
      <p:graphicFrame>
        <p:nvGraphicFramePr>
          <p:cNvPr id="138" name="Google Shape;138;p9"/>
          <p:cNvGraphicFramePr/>
          <p:nvPr/>
        </p:nvGraphicFramePr>
        <p:xfrm>
          <a:off x="457200" y="2148840"/>
          <a:ext cx="10607025" cy="2011700"/>
        </p:xfrm>
        <a:graphic>
          <a:graphicData uri="http://schemas.openxmlformats.org/drawingml/2006/table">
            <a:tbl>
              <a:tblPr>
                <a:noFill/>
                <a:tableStyleId>{18CE5CEB-0992-447E-8985-1B7A4AD8BB01}</a:tableStyleId>
              </a:tblPr>
              <a:tblGrid>
                <a:gridCol w="4023350">
                  <a:extLst>
                    <a:ext uri="{9D8B030D-6E8A-4147-A177-3AD203B41FA5}">
                      <a16:colId xmlns:a16="http://schemas.microsoft.com/office/drawing/2014/main" val="20000"/>
                    </a:ext>
                  </a:extLst>
                </a:gridCol>
                <a:gridCol w="6583675">
                  <a:extLst>
                    <a:ext uri="{9D8B030D-6E8A-4147-A177-3AD203B41FA5}">
                      <a16:colId xmlns:a16="http://schemas.microsoft.com/office/drawing/2014/main" val="20001"/>
                    </a:ext>
                  </a:extLst>
                </a:gridCol>
              </a:tblGrid>
              <a:tr h="502925">
                <a:tc>
                  <a:txBody>
                    <a:bodyPr/>
                    <a:lstStyle/>
                    <a:p>
                      <a:pPr marL="0" marR="0" lvl="0" indent="0" algn="l" rtl="0">
                        <a:spcBef>
                          <a:spcPts val="0"/>
                        </a:spcBef>
                        <a:spcAft>
                          <a:spcPts val="0"/>
                        </a:spcAft>
                        <a:buClr>
                          <a:srgbClr val="FFFFFF"/>
                        </a:buClr>
                        <a:buSzPts val="1400"/>
                        <a:buFont typeface="Calibri"/>
                        <a:buNone/>
                      </a:pPr>
                      <a:r>
                        <a:rPr lang="en-US" sz="1400" b="1" u="none" strike="noStrike" cap="none">
                          <a:solidFill>
                            <a:srgbClr val="FFFFFF"/>
                          </a:solidFill>
                          <a:latin typeface="Calibri"/>
                          <a:ea typeface="Calibri"/>
                          <a:cs typeface="Calibri"/>
                          <a:sym typeface="Calibri"/>
                        </a:rPr>
                        <a:t>"Always True" Statement</a:t>
                      </a:r>
                      <a:endParaRPr sz="14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C0531A"/>
                    </a:solidFill>
                  </a:tcPr>
                </a:tc>
                <a:tc>
                  <a:txBody>
                    <a:bodyPr/>
                    <a:lstStyle/>
                    <a:p>
                      <a:pPr marL="0" marR="0" lvl="0" indent="0" algn="l" rtl="0">
                        <a:spcBef>
                          <a:spcPts val="0"/>
                        </a:spcBef>
                        <a:spcAft>
                          <a:spcPts val="0"/>
                        </a:spcAft>
                        <a:buClr>
                          <a:srgbClr val="FFFFFF"/>
                        </a:buClr>
                        <a:buSzPts val="1400"/>
                        <a:buFont typeface="Calibri"/>
                        <a:buNone/>
                      </a:pPr>
                      <a:r>
                        <a:rPr lang="en-US" sz="1400" b="1" u="none" strike="noStrike" cap="none">
                          <a:solidFill>
                            <a:srgbClr val="FFFFFF"/>
                          </a:solidFill>
                          <a:latin typeface="Calibri"/>
                          <a:ea typeface="Calibri"/>
                          <a:cs typeface="Calibri"/>
                          <a:sym typeface="Calibri"/>
                        </a:rPr>
                        <a:t>Common Exceptions</a:t>
                      </a:r>
                      <a:endParaRPr sz="14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C0531A"/>
                    </a:solidFill>
                  </a:tcPr>
                </a:tc>
                <a:extLst>
                  <a:ext uri="{0D108BD9-81ED-4DB2-BD59-A6C34878D82A}">
                    <a16:rowId xmlns:a16="http://schemas.microsoft.com/office/drawing/2014/main" val="10000"/>
                  </a:ext>
                </a:extLst>
              </a:tr>
              <a:tr h="502925">
                <a:tc>
                  <a:txBody>
                    <a:bodyPr/>
                    <a:lstStyle/>
                    <a:p>
                      <a:pPr marL="0" marR="0" lvl="0" indent="0" algn="l" rtl="0">
                        <a:spcBef>
                          <a:spcPts val="0"/>
                        </a:spcBef>
                        <a:spcAft>
                          <a:spcPts val="0"/>
                        </a:spcAft>
                        <a:buClr>
                          <a:srgbClr val="404040"/>
                        </a:buClr>
                        <a:buSzPts val="1400"/>
                        <a:buFont typeface="Calibri"/>
                        <a:buNone/>
                      </a:pPr>
                      <a:r>
                        <a:rPr lang="en-US" sz="1400" u="none" strike="noStrike" cap="none">
                          <a:solidFill>
                            <a:srgbClr val="404040"/>
                          </a:solidFill>
                          <a:latin typeface="Calibri"/>
                          <a:ea typeface="Calibri"/>
                          <a:cs typeface="Calibri"/>
                          <a:sym typeface="Calibri"/>
                        </a:rPr>
                        <a:t>Birds fly.</a:t>
                      </a:r>
                      <a:endParaRPr sz="14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400"/>
                        <a:buFont typeface="Calibri"/>
                        <a:buNone/>
                      </a:pPr>
                      <a:r>
                        <a:rPr lang="en-US" sz="1400" u="none" strike="noStrike" cap="none">
                          <a:solidFill>
                            <a:srgbClr val="404040"/>
                          </a:solidFill>
                          <a:latin typeface="Calibri"/>
                          <a:ea typeface="Calibri"/>
                          <a:cs typeface="Calibri"/>
                          <a:sym typeface="Calibri"/>
                        </a:rPr>
                        <a:t>Penguins, ostriches, emus, injured birds</a:t>
                      </a:r>
                      <a:endParaRPr sz="14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502925">
                <a:tc>
                  <a:txBody>
                    <a:bodyPr/>
                    <a:lstStyle/>
                    <a:p>
                      <a:pPr marL="0" marR="0" lvl="0" indent="0" algn="l" rtl="0">
                        <a:spcBef>
                          <a:spcPts val="0"/>
                        </a:spcBef>
                        <a:spcAft>
                          <a:spcPts val="0"/>
                        </a:spcAft>
                        <a:buClr>
                          <a:srgbClr val="404040"/>
                        </a:buClr>
                        <a:buSzPts val="1400"/>
                        <a:buFont typeface="Calibri"/>
                        <a:buNone/>
                      </a:pPr>
                      <a:r>
                        <a:rPr lang="en-US" sz="1400" u="none" strike="noStrike" cap="none">
                          <a:solidFill>
                            <a:srgbClr val="404040"/>
                          </a:solidFill>
                          <a:latin typeface="Calibri"/>
                          <a:ea typeface="Calibri"/>
                          <a:cs typeface="Calibri"/>
                          <a:sym typeface="Calibri"/>
                        </a:rPr>
                        <a:t>Students attend classes.</a:t>
                      </a:r>
                      <a:endParaRPr sz="14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400"/>
                        <a:buFont typeface="Calibri"/>
                        <a:buNone/>
                      </a:pPr>
                      <a:r>
                        <a:rPr lang="en-US" sz="1400" u="none" strike="noStrike" cap="none">
                          <a:solidFill>
                            <a:srgbClr val="404040"/>
                          </a:solidFill>
                          <a:latin typeface="Calibri"/>
                          <a:ea typeface="Calibri"/>
                          <a:cs typeface="Calibri"/>
                          <a:sym typeface="Calibri"/>
                        </a:rPr>
                        <a:t>Sick students, students on leave, students at a conference</a:t>
                      </a:r>
                      <a:endParaRPr sz="14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extLst>
                  <a:ext uri="{0D108BD9-81ED-4DB2-BD59-A6C34878D82A}">
                    <a16:rowId xmlns:a16="http://schemas.microsoft.com/office/drawing/2014/main" val="10002"/>
                  </a:ext>
                </a:extLst>
              </a:tr>
              <a:tr h="502925">
                <a:tc>
                  <a:txBody>
                    <a:bodyPr/>
                    <a:lstStyle/>
                    <a:p>
                      <a:pPr marL="0" marR="0" lvl="0" indent="0" algn="l" rtl="0">
                        <a:spcBef>
                          <a:spcPts val="0"/>
                        </a:spcBef>
                        <a:spcAft>
                          <a:spcPts val="0"/>
                        </a:spcAft>
                        <a:buClr>
                          <a:srgbClr val="404040"/>
                        </a:buClr>
                        <a:buSzPts val="1400"/>
                        <a:buFont typeface="Calibri"/>
                        <a:buNone/>
                      </a:pPr>
                      <a:r>
                        <a:rPr lang="en-US" sz="1400" u="none" strike="noStrike" cap="none">
                          <a:solidFill>
                            <a:srgbClr val="404040"/>
                          </a:solidFill>
                          <a:latin typeface="Calibri"/>
                          <a:ea typeface="Calibri"/>
                          <a:cs typeface="Calibri"/>
                          <a:sym typeface="Calibri"/>
                        </a:rPr>
                        <a:t>Roads are open.</a:t>
                      </a:r>
                      <a:endParaRPr sz="14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400"/>
                        <a:buFont typeface="Calibri"/>
                        <a:buNone/>
                      </a:pPr>
                      <a:r>
                        <a:rPr lang="en-US" sz="1400" u="none" strike="noStrike" cap="none">
                          <a:solidFill>
                            <a:srgbClr val="404040"/>
                          </a:solidFill>
                          <a:latin typeface="Calibri"/>
                          <a:ea typeface="Calibri"/>
                          <a:cs typeface="Calibri"/>
                          <a:sym typeface="Calibri"/>
                        </a:rPr>
                        <a:t>Construction, floods, accidents</a:t>
                      </a:r>
                      <a:endParaRPr sz="14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bl>
          </a:graphicData>
        </a:graphic>
      </p:graphicFrame>
      <p:sp>
        <p:nvSpPr>
          <p:cNvPr id="139" name="Google Shape;139;p9"/>
          <p:cNvSpPr/>
          <p:nvPr/>
        </p:nvSpPr>
        <p:spPr>
          <a:xfrm>
            <a:off x="457200" y="4160520"/>
            <a:ext cx="10607040" cy="73152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404040"/>
              </a:buClr>
              <a:buSzPts val="1400"/>
              <a:buFont typeface="Calibri"/>
              <a:buNone/>
            </a:pPr>
            <a:r>
              <a:rPr lang="en-US" sz="1400" b="0" i="0" u="none" strike="noStrike" cap="none">
                <a:solidFill>
                  <a:srgbClr val="404040"/>
                </a:solidFill>
                <a:latin typeface="Calibri"/>
                <a:ea typeface="Calibri"/>
                <a:cs typeface="Calibri"/>
                <a:sym typeface="Calibri"/>
              </a:rPr>
              <a:t>The world contains exceptions everywhere. Therefore, AI systems need a reasoning mechanism capable of handling exceptions gracefully — without grinding to a halt or producing a contradiction every time an exception appears.</a:t>
            </a:r>
            <a:endParaRPr sz="1400" b="0" i="0" u="none" strike="noStrike" cap="none">
              <a:solidFill>
                <a:schemeClr val="dk1"/>
              </a:solidFill>
              <a:latin typeface="Calibri"/>
              <a:ea typeface="Calibri"/>
              <a:cs typeface="Calibri"/>
              <a:sym typeface="Calibri"/>
            </a:endParaRPr>
          </a:p>
        </p:txBody>
      </p:sp>
      <p:sp>
        <p:nvSpPr>
          <p:cNvPr id="140" name="Google Shape;140;p9"/>
          <p:cNvSpPr/>
          <p:nvPr/>
        </p:nvSpPr>
        <p:spPr>
          <a:xfrm>
            <a:off x="457200" y="5029200"/>
            <a:ext cx="10607040" cy="1417320"/>
          </a:xfrm>
          <a:prstGeom prst="rect">
            <a:avLst/>
          </a:prstGeom>
          <a:solidFill>
            <a:srgbClr val="FFF6EC"/>
          </a:solidFill>
          <a:ln w="9525" cap="flat" cmpd="sng">
            <a:solidFill>
              <a:srgbClr val="C0531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9"/>
          <p:cNvSpPr/>
          <p:nvPr/>
        </p:nvSpPr>
        <p:spPr>
          <a:xfrm>
            <a:off x="457200" y="5029200"/>
            <a:ext cx="64008" cy="1417320"/>
          </a:xfrm>
          <a:prstGeom prst="rect">
            <a:avLst/>
          </a:prstGeom>
          <a:solidFill>
            <a:srgbClr val="C053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9"/>
          <p:cNvSpPr/>
          <p:nvPr/>
        </p:nvSpPr>
        <p:spPr>
          <a:xfrm>
            <a:off x="685800" y="5138928"/>
            <a:ext cx="102412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531A"/>
              </a:buClr>
              <a:buSzPts val="1050"/>
              <a:buFont typeface="Calibri"/>
              <a:buNone/>
            </a:pPr>
            <a:r>
              <a:rPr lang="en-US" sz="1050" b="1" i="0" u="none" strike="noStrike" cap="none">
                <a:solidFill>
                  <a:srgbClr val="C0531A"/>
                </a:solidFill>
                <a:latin typeface="Calibri"/>
                <a:ea typeface="Calibri"/>
                <a:cs typeface="Calibri"/>
                <a:sym typeface="Calibri"/>
              </a:rPr>
              <a:t>WHY CLASSICAL LOGIC STRUGGLES HERE</a:t>
            </a:r>
            <a:endParaRPr sz="1050" b="0" i="0" u="none" strike="noStrike" cap="none">
              <a:solidFill>
                <a:schemeClr val="dk1"/>
              </a:solidFill>
              <a:latin typeface="Calibri"/>
              <a:ea typeface="Calibri"/>
              <a:cs typeface="Calibri"/>
              <a:sym typeface="Calibri"/>
            </a:endParaRPr>
          </a:p>
        </p:txBody>
      </p:sp>
      <p:sp>
        <p:nvSpPr>
          <p:cNvPr id="143" name="Google Shape;143;p9"/>
          <p:cNvSpPr/>
          <p:nvPr/>
        </p:nvSpPr>
        <p:spPr>
          <a:xfrm>
            <a:off x="685800" y="5431536"/>
            <a:ext cx="10195560" cy="92354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300"/>
              <a:buFont typeface="Calibri"/>
              <a:buNone/>
            </a:pPr>
            <a:r>
              <a:rPr lang="en-US" sz="1300" b="0" i="0" u="none" strike="noStrike" cap="none">
                <a:solidFill>
                  <a:srgbClr val="404040"/>
                </a:solidFill>
                <a:latin typeface="Calibri"/>
                <a:ea typeface="Calibri"/>
                <a:cs typeface="Calibri"/>
                <a:sym typeface="Calibri"/>
              </a:rPr>
              <a:t>Suppose a knowledge base contains Bird(Tweety) and the rule Bird(X) → Fly(X). Classical logic derives Fly(Tweety). Now we add Penguin(Tweety) and Penguin(X) → ¬Fly(X). Classical (monotonic) logic has no clean mechanism to "take back" the first conclusion — it simply ends up holding two contradictory statements at once. Non-monotonic reasoning exists specifically to resolve this.</a:t>
            </a:r>
            <a:endParaRPr sz="1300" b="0" i="0" u="none" strike="noStrike" cap="none">
              <a:solidFill>
                <a:schemeClr val="dk1"/>
              </a:solidFill>
              <a:latin typeface="Calibri"/>
              <a:ea typeface="Calibri"/>
              <a:cs typeface="Calibri"/>
              <a:sym typeface="Calibri"/>
            </a:endParaRPr>
          </a:p>
        </p:txBody>
      </p:sp>
      <p:sp>
        <p:nvSpPr>
          <p:cNvPr id="144" name="Google Shape;144;p9"/>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3 / 40</a:t>
            </a:r>
            <a:endParaRPr sz="950" b="0" i="0" u="none" strike="noStrike" cap="none">
              <a:solidFill>
                <a:schemeClr val="dk1"/>
              </a:solidFill>
              <a:latin typeface="Calibri"/>
              <a:ea typeface="Calibri"/>
              <a:cs typeface="Calibri"/>
              <a:sym typeface="Calibri"/>
            </a:endParaRPr>
          </a:p>
        </p:txBody>
      </p:sp>
      <p:sp>
        <p:nvSpPr>
          <p:cNvPr id="145" name="Google Shape;145;p9"/>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0"/>
        <p:cNvGrpSpPr/>
        <p:nvPr/>
      </p:nvGrpSpPr>
      <p:grpSpPr>
        <a:xfrm>
          <a:off x="0" y="0"/>
          <a:ext cx="0" cy="0"/>
          <a:chOff x="0" y="0"/>
          <a:chExt cx="0" cy="0"/>
        </a:xfrm>
      </p:grpSpPr>
      <p:sp>
        <p:nvSpPr>
          <p:cNvPr id="151" name="Google Shape;151;p10"/>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531A"/>
              </a:buClr>
              <a:buSzPts val="1100"/>
              <a:buFont typeface="Calibri"/>
              <a:buNone/>
            </a:pPr>
            <a:r>
              <a:rPr lang="en-US" sz="1100" b="1" i="0" u="none" strike="noStrike" cap="none">
                <a:solidFill>
                  <a:srgbClr val="C0531A"/>
                </a:solidFill>
                <a:latin typeface="Calibri"/>
                <a:ea typeface="Calibri"/>
                <a:cs typeface="Calibri"/>
                <a:sym typeface="Calibri"/>
              </a:rPr>
              <a:t>1.4 DEFAULT REASONING</a:t>
            </a:r>
            <a:endParaRPr sz="1100" b="0" i="0" u="none" strike="noStrike" cap="none">
              <a:solidFill>
                <a:schemeClr val="dk1"/>
              </a:solidFill>
              <a:latin typeface="Calibri"/>
              <a:ea typeface="Calibri"/>
              <a:cs typeface="Calibri"/>
              <a:sym typeface="Calibri"/>
            </a:endParaRPr>
          </a:p>
        </p:txBody>
      </p:sp>
      <p:sp>
        <p:nvSpPr>
          <p:cNvPr id="152" name="Google Shape;152;p10"/>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Default Reasoning</a:t>
            </a:r>
            <a:endParaRPr sz="2300" b="0" i="0" u="none" strike="noStrike" cap="none">
              <a:solidFill>
                <a:schemeClr val="dk1"/>
              </a:solidFill>
              <a:latin typeface="Calibri"/>
              <a:ea typeface="Calibri"/>
              <a:cs typeface="Calibri"/>
              <a:sym typeface="Calibri"/>
            </a:endParaRPr>
          </a:p>
        </p:txBody>
      </p:sp>
      <p:cxnSp>
        <p:nvCxnSpPr>
          <p:cNvPr id="153" name="Google Shape;153;p10"/>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154" name="Google Shape;154;p10"/>
          <p:cNvSpPr/>
          <p:nvPr/>
        </p:nvSpPr>
        <p:spPr>
          <a:xfrm>
            <a:off x="457200" y="1600200"/>
            <a:ext cx="10607040" cy="1005840"/>
          </a:xfrm>
          <a:prstGeom prst="rect">
            <a:avLst/>
          </a:prstGeom>
          <a:noFill/>
          <a:ln>
            <a:noFill/>
          </a:ln>
        </p:spPr>
        <p:txBody>
          <a:bodyPr spcFirstLastPara="1" wrap="square" lIns="0" tIns="0" rIns="0" bIns="0" anchor="ctr" anchorCtr="0">
            <a:noAutofit/>
          </a:bodyPr>
          <a:lstStyle/>
          <a:p>
            <a:pPr marL="0" marR="0" lvl="0" indent="0" algn="l" rtl="0">
              <a:lnSpc>
                <a:spcPct val="122000"/>
              </a:lnSpc>
              <a:spcBef>
                <a:spcPts val="0"/>
              </a:spcBef>
              <a:spcAft>
                <a:spcPts val="0"/>
              </a:spcAft>
              <a:buClr>
                <a:srgbClr val="404040"/>
              </a:buClr>
              <a:buSzPts val="1450"/>
              <a:buFont typeface="Calibri"/>
              <a:buNone/>
            </a:pPr>
            <a:r>
              <a:rPr lang="en-US" sz="1450" b="1" i="1" u="none" strike="noStrike" cap="none">
                <a:solidFill>
                  <a:srgbClr val="404040"/>
                </a:solidFill>
                <a:latin typeface="Calibri"/>
                <a:ea typeface="Calibri"/>
                <a:cs typeface="Calibri"/>
                <a:sym typeface="Calibri"/>
              </a:rPr>
              <a:t>Default reasoning</a:t>
            </a:r>
            <a:r>
              <a:rPr lang="en-US" sz="1450" b="0" i="0" u="none" strike="noStrike" cap="none">
                <a:solidFill>
                  <a:srgbClr val="404040"/>
                </a:solidFill>
                <a:latin typeface="Calibri"/>
                <a:ea typeface="Calibri"/>
                <a:cs typeface="Calibri"/>
                <a:sym typeface="Calibri"/>
              </a:rPr>
              <a:t> is the most important and most natural form of non-monotonic reasoning. Humans use it constantly: when you see a bird, you assume it can fly without first checking thousands of possible exceptions. You use the default assumption and move on, ready to revise it if contradicted.</a:t>
            </a:r>
            <a:endParaRPr sz="1450" b="0" i="0" u="none" strike="noStrike" cap="none">
              <a:solidFill>
                <a:schemeClr val="dk1"/>
              </a:solidFill>
              <a:latin typeface="Calibri"/>
              <a:ea typeface="Calibri"/>
              <a:cs typeface="Calibri"/>
              <a:sym typeface="Calibri"/>
            </a:endParaRPr>
          </a:p>
        </p:txBody>
      </p:sp>
      <p:sp>
        <p:nvSpPr>
          <p:cNvPr id="155" name="Google Shape;155;p10"/>
          <p:cNvSpPr/>
          <p:nvPr/>
        </p:nvSpPr>
        <p:spPr>
          <a:xfrm>
            <a:off x="1280160" y="2697480"/>
            <a:ext cx="9144000" cy="1371600"/>
          </a:xfrm>
          <a:prstGeom prst="rect">
            <a:avLst/>
          </a:prstGeom>
          <a:solidFill>
            <a:srgbClr val="F4F8F8"/>
          </a:solidFill>
          <a:ln w="9525" cap="flat" cmpd="sng">
            <a:solidFill>
              <a:srgbClr val="DDE3E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0"/>
          <p:cNvSpPr/>
          <p:nvPr/>
        </p:nvSpPr>
        <p:spPr>
          <a:xfrm>
            <a:off x="1508760" y="2788920"/>
            <a:ext cx="8686800" cy="118872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404040"/>
              </a:buClr>
              <a:buSzPts val="1250"/>
              <a:buFont typeface="Courier New"/>
              <a:buNone/>
            </a:pPr>
            <a:r>
              <a:rPr lang="en-US" sz="1250" b="0" i="0" u="none" strike="noStrike" cap="none">
                <a:solidFill>
                  <a:srgbClr val="404040"/>
                </a:solidFill>
                <a:latin typeface="Courier New"/>
                <a:ea typeface="Courier New"/>
                <a:cs typeface="Courier New"/>
                <a:sym typeface="Courier New"/>
              </a:rPr>
              <a:t>DEFAULT RULE (general form):</a:t>
            </a:r>
            <a:endParaRPr sz="1250" b="0" i="0" u="none" strike="noStrike" cap="none">
              <a:solidFill>
                <a:schemeClr val="dk1"/>
              </a:solidFill>
              <a:latin typeface="Calibri"/>
              <a:ea typeface="Calibri"/>
              <a:cs typeface="Calibri"/>
              <a:sym typeface="Calibri"/>
            </a:endParaRPr>
          </a:p>
          <a:p>
            <a:pPr marL="0" marR="0" lvl="0" indent="0" algn="l" rtl="0">
              <a:lnSpc>
                <a:spcPct val="115000"/>
              </a:lnSpc>
              <a:spcBef>
                <a:spcPts val="0"/>
              </a:spcBef>
              <a:spcAft>
                <a:spcPts val="0"/>
              </a:spcAft>
              <a:buClr>
                <a:schemeClr val="dk1"/>
              </a:buClr>
              <a:buSzPts val="1250"/>
              <a:buFont typeface="Calibri"/>
              <a:buNone/>
            </a:pPr>
            <a:endParaRPr sz="1250" b="0" i="0" u="none" strike="noStrike" cap="none">
              <a:solidFill>
                <a:schemeClr val="dk1"/>
              </a:solidFill>
              <a:latin typeface="Calibri"/>
              <a:ea typeface="Calibri"/>
              <a:cs typeface="Calibri"/>
              <a:sym typeface="Calibri"/>
            </a:endParaRPr>
          </a:p>
          <a:p>
            <a:pPr marL="0" marR="0" lvl="0" indent="0" algn="l" rtl="0">
              <a:lnSpc>
                <a:spcPct val="115000"/>
              </a:lnSpc>
              <a:spcBef>
                <a:spcPts val="0"/>
              </a:spcBef>
              <a:spcAft>
                <a:spcPts val="0"/>
              </a:spcAft>
              <a:buClr>
                <a:srgbClr val="404040"/>
              </a:buClr>
              <a:buSzPts val="1250"/>
              <a:buFont typeface="Courier New"/>
              <a:buNone/>
            </a:pPr>
            <a:r>
              <a:rPr lang="en-US" sz="1250" b="0" i="0" u="none" strike="noStrike" cap="none">
                <a:solidFill>
                  <a:srgbClr val="404040"/>
                </a:solidFill>
                <a:latin typeface="Courier New"/>
                <a:ea typeface="Courier New"/>
                <a:cs typeface="Courier New"/>
                <a:sym typeface="Courier New"/>
              </a:rPr>
              <a:t>  IF condition is true  AND  there is no evidence against it</a:t>
            </a:r>
            <a:endParaRPr sz="1250" b="0" i="0" u="none" strike="noStrike" cap="none">
              <a:solidFill>
                <a:schemeClr val="dk1"/>
              </a:solidFill>
              <a:latin typeface="Calibri"/>
              <a:ea typeface="Calibri"/>
              <a:cs typeface="Calibri"/>
              <a:sym typeface="Calibri"/>
            </a:endParaRPr>
          </a:p>
          <a:p>
            <a:pPr marL="0" marR="0" lvl="0" indent="0" algn="l" rtl="0">
              <a:lnSpc>
                <a:spcPct val="115000"/>
              </a:lnSpc>
              <a:spcBef>
                <a:spcPts val="0"/>
              </a:spcBef>
              <a:spcAft>
                <a:spcPts val="0"/>
              </a:spcAft>
              <a:buClr>
                <a:srgbClr val="404040"/>
              </a:buClr>
              <a:buSzPts val="1250"/>
              <a:buFont typeface="Courier New"/>
              <a:buNone/>
            </a:pPr>
            <a:r>
              <a:rPr lang="en-US" sz="1250" b="0" i="0" u="none" strike="noStrike" cap="none">
                <a:solidFill>
                  <a:srgbClr val="404040"/>
                </a:solidFill>
                <a:latin typeface="Courier New"/>
                <a:ea typeface="Courier New"/>
                <a:cs typeface="Courier New"/>
                <a:sym typeface="Courier New"/>
              </a:rPr>
              <a:t>  THEN assume the conclusion.</a:t>
            </a:r>
            <a:endParaRPr sz="1250" b="0" i="0" u="none" strike="noStrike" cap="none">
              <a:solidFill>
                <a:schemeClr val="dk1"/>
              </a:solidFill>
              <a:latin typeface="Calibri"/>
              <a:ea typeface="Calibri"/>
              <a:cs typeface="Calibri"/>
              <a:sym typeface="Calibri"/>
            </a:endParaRPr>
          </a:p>
          <a:p>
            <a:pPr marL="0" marR="0" lvl="0" indent="0" algn="l" rtl="0">
              <a:lnSpc>
                <a:spcPct val="115000"/>
              </a:lnSpc>
              <a:spcBef>
                <a:spcPts val="0"/>
              </a:spcBef>
              <a:spcAft>
                <a:spcPts val="0"/>
              </a:spcAft>
              <a:buClr>
                <a:schemeClr val="dk1"/>
              </a:buClr>
              <a:buSzPts val="1250"/>
              <a:buFont typeface="Calibri"/>
              <a:buNone/>
            </a:pPr>
            <a:endParaRPr sz="1250" b="0" i="0" u="none" strike="noStrike" cap="none">
              <a:solidFill>
                <a:schemeClr val="dk1"/>
              </a:solidFill>
              <a:latin typeface="Calibri"/>
              <a:ea typeface="Calibri"/>
              <a:cs typeface="Calibri"/>
              <a:sym typeface="Calibri"/>
            </a:endParaRPr>
          </a:p>
          <a:p>
            <a:pPr marL="0" marR="0" lvl="0" indent="0" algn="l" rtl="0">
              <a:lnSpc>
                <a:spcPct val="115000"/>
              </a:lnSpc>
              <a:spcBef>
                <a:spcPts val="0"/>
              </a:spcBef>
              <a:spcAft>
                <a:spcPts val="0"/>
              </a:spcAft>
              <a:buClr>
                <a:srgbClr val="404040"/>
              </a:buClr>
              <a:buSzPts val="1250"/>
              <a:buFont typeface="Courier New"/>
              <a:buNone/>
            </a:pPr>
            <a:r>
              <a:rPr lang="en-US" sz="1250" b="0" i="0" u="none" strike="noStrike" cap="none">
                <a:solidFill>
                  <a:srgbClr val="404040"/>
                </a:solidFill>
                <a:latin typeface="Courier New"/>
                <a:ea typeface="Courier New"/>
                <a:cs typeface="Courier New"/>
                <a:sym typeface="Courier New"/>
              </a:rPr>
              <a:t>  Bird(X)  ⇒  Fly(X)      "If X is a bird and nothing contradicts flying, assume X flies."</a:t>
            </a:r>
            <a:endParaRPr sz="1250" b="0" i="0" u="none" strike="noStrike" cap="none">
              <a:solidFill>
                <a:schemeClr val="dk1"/>
              </a:solidFill>
              <a:latin typeface="Calibri"/>
              <a:ea typeface="Calibri"/>
              <a:cs typeface="Calibri"/>
              <a:sym typeface="Calibri"/>
            </a:endParaRPr>
          </a:p>
        </p:txBody>
      </p:sp>
      <p:sp>
        <p:nvSpPr>
          <p:cNvPr id="157" name="Google Shape;157;p10"/>
          <p:cNvSpPr/>
          <p:nvPr/>
        </p:nvSpPr>
        <p:spPr>
          <a:xfrm>
            <a:off x="457200" y="4251960"/>
            <a:ext cx="10607040" cy="54864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404040"/>
              </a:buClr>
              <a:buSzPts val="1400"/>
              <a:buFont typeface="Calibri"/>
              <a:buNone/>
            </a:pPr>
            <a:r>
              <a:rPr lang="en-US" sz="1400" b="0" i="0" u="none" strike="noStrike" cap="none">
                <a:solidFill>
                  <a:srgbClr val="404040"/>
                </a:solidFill>
                <a:latin typeface="Calibri"/>
                <a:ea typeface="Calibri"/>
                <a:cs typeface="Calibri"/>
                <a:sym typeface="Calibri"/>
              </a:rPr>
              <a:t>Proposed formally by </a:t>
            </a:r>
            <a:r>
              <a:rPr lang="en-US" sz="1400" b="1" i="0" u="none" strike="noStrike" cap="none">
                <a:solidFill>
                  <a:srgbClr val="404040"/>
                </a:solidFill>
                <a:latin typeface="Calibri"/>
                <a:ea typeface="Calibri"/>
                <a:cs typeface="Calibri"/>
                <a:sym typeface="Calibri"/>
              </a:rPr>
              <a:t>Raymond Reiter</a:t>
            </a:r>
            <a:r>
              <a:rPr lang="en-US" sz="1400" b="0" i="0" u="none" strike="noStrike" cap="none">
                <a:solidFill>
                  <a:srgbClr val="404040"/>
                </a:solidFill>
                <a:latin typeface="Calibri"/>
                <a:ea typeface="Calibri"/>
                <a:cs typeface="Calibri"/>
                <a:sym typeface="Calibri"/>
              </a:rPr>
              <a:t>, default logic adds these special defeasible rules on top of ordinary logical rules. The phrase </a:t>
            </a:r>
            <a:r>
              <a:rPr lang="en-US" sz="1400" b="0" i="1" u="none" strike="noStrike" cap="none">
                <a:solidFill>
                  <a:srgbClr val="404040"/>
                </a:solidFill>
                <a:latin typeface="Calibri"/>
                <a:ea typeface="Calibri"/>
                <a:cs typeface="Calibri"/>
                <a:sym typeface="Calibri"/>
              </a:rPr>
              <a:t>"unless stated otherwise"</a:t>
            </a:r>
            <a:r>
              <a:rPr lang="en-US" sz="1400" b="0" i="0" u="none" strike="noStrike" cap="none">
                <a:solidFill>
                  <a:srgbClr val="404040"/>
                </a:solidFill>
                <a:latin typeface="Calibri"/>
                <a:ea typeface="Calibri"/>
                <a:cs typeface="Calibri"/>
                <a:sym typeface="Calibri"/>
              </a:rPr>
              <a:t> captures the idea perfectly.</a:t>
            </a:r>
            <a:endParaRPr sz="1400" b="0" i="0" u="none" strike="noStrike" cap="none">
              <a:solidFill>
                <a:schemeClr val="dk1"/>
              </a:solidFill>
              <a:latin typeface="Calibri"/>
              <a:ea typeface="Calibri"/>
              <a:cs typeface="Calibri"/>
              <a:sym typeface="Calibri"/>
            </a:endParaRPr>
          </a:p>
        </p:txBody>
      </p:sp>
      <p:sp>
        <p:nvSpPr>
          <p:cNvPr id="158" name="Google Shape;158;p10"/>
          <p:cNvSpPr/>
          <p:nvPr/>
        </p:nvSpPr>
        <p:spPr>
          <a:xfrm>
            <a:off x="457200" y="4937760"/>
            <a:ext cx="10607040" cy="1417320"/>
          </a:xfrm>
          <a:prstGeom prst="rect">
            <a:avLst/>
          </a:prstGeom>
          <a:solidFill>
            <a:srgbClr val="FFF6EC"/>
          </a:solidFill>
          <a:ln w="9525" cap="flat" cmpd="sng">
            <a:solidFill>
              <a:srgbClr val="C0531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0"/>
          <p:cNvSpPr/>
          <p:nvPr/>
        </p:nvSpPr>
        <p:spPr>
          <a:xfrm>
            <a:off x="457200" y="4937760"/>
            <a:ext cx="64008" cy="1417320"/>
          </a:xfrm>
          <a:prstGeom prst="rect">
            <a:avLst/>
          </a:prstGeom>
          <a:solidFill>
            <a:srgbClr val="C053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0"/>
          <p:cNvSpPr/>
          <p:nvPr/>
        </p:nvSpPr>
        <p:spPr>
          <a:xfrm>
            <a:off x="685800" y="5047488"/>
            <a:ext cx="102412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531A"/>
              </a:buClr>
              <a:buSzPts val="1050"/>
              <a:buFont typeface="Calibri"/>
              <a:buNone/>
            </a:pPr>
            <a:r>
              <a:rPr lang="en-US" sz="1050" b="1" i="0" u="none" strike="noStrike" cap="none">
                <a:solidFill>
                  <a:srgbClr val="C0531A"/>
                </a:solidFill>
                <a:latin typeface="Calibri"/>
                <a:ea typeface="Calibri"/>
                <a:cs typeface="Calibri"/>
                <a:sym typeface="Calibri"/>
              </a:rPr>
              <a:t>WHY DEFAULT REASONING IS POWERFUL</a:t>
            </a:r>
            <a:endParaRPr sz="1050" b="0" i="0" u="none" strike="noStrike" cap="none">
              <a:solidFill>
                <a:schemeClr val="dk1"/>
              </a:solidFill>
              <a:latin typeface="Calibri"/>
              <a:ea typeface="Calibri"/>
              <a:cs typeface="Calibri"/>
              <a:sym typeface="Calibri"/>
            </a:endParaRPr>
          </a:p>
        </p:txBody>
      </p:sp>
      <p:sp>
        <p:nvSpPr>
          <p:cNvPr id="161" name="Google Shape;161;p10"/>
          <p:cNvSpPr/>
          <p:nvPr/>
        </p:nvSpPr>
        <p:spPr>
          <a:xfrm>
            <a:off x="685800" y="5340096"/>
            <a:ext cx="10195560" cy="92354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350"/>
              <a:buFont typeface="Calibri"/>
              <a:buNone/>
            </a:pPr>
            <a:r>
              <a:rPr lang="en-US" sz="1350" b="0" i="0" u="none" strike="noStrike" cap="none">
                <a:solidFill>
                  <a:srgbClr val="404040"/>
                </a:solidFill>
                <a:latin typeface="Calibri"/>
                <a:ea typeface="Calibri"/>
                <a:cs typeface="Calibri"/>
                <a:sym typeface="Calibri"/>
              </a:rPr>
              <a:t>Without default reasoning, an AI system would need complete knowledge before making any decision — an impossible standard. Imagine a robot that refuses to move because "I don't know everything about this room." Humans don't operate this way; we make reasonable assumptions and adjust later. Default reasoning lets machines do the same.</a:t>
            </a:r>
            <a:endParaRPr sz="1350" b="0" i="0" u="none" strike="noStrike" cap="none">
              <a:solidFill>
                <a:schemeClr val="dk1"/>
              </a:solidFill>
              <a:latin typeface="Calibri"/>
              <a:ea typeface="Calibri"/>
              <a:cs typeface="Calibri"/>
              <a:sym typeface="Calibri"/>
            </a:endParaRPr>
          </a:p>
        </p:txBody>
      </p:sp>
      <p:sp>
        <p:nvSpPr>
          <p:cNvPr id="162" name="Google Shape;162;p10"/>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4 / 40</a:t>
            </a:r>
            <a:endParaRPr sz="950" b="0" i="0" u="none" strike="noStrike" cap="none">
              <a:solidFill>
                <a:schemeClr val="dk1"/>
              </a:solidFill>
              <a:latin typeface="Calibri"/>
              <a:ea typeface="Calibri"/>
              <a:cs typeface="Calibri"/>
              <a:sym typeface="Calibri"/>
            </a:endParaRPr>
          </a:p>
        </p:txBody>
      </p:sp>
      <p:sp>
        <p:nvSpPr>
          <p:cNvPr id="163" name="Google Shape;163;p10"/>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8"/>
        <p:cNvGrpSpPr/>
        <p:nvPr/>
      </p:nvGrpSpPr>
      <p:grpSpPr>
        <a:xfrm>
          <a:off x="0" y="0"/>
          <a:ext cx="0" cy="0"/>
          <a:chOff x="0" y="0"/>
          <a:chExt cx="0" cy="0"/>
        </a:xfrm>
      </p:grpSpPr>
      <p:sp>
        <p:nvSpPr>
          <p:cNvPr id="169" name="Google Shape;169;p11"/>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531A"/>
              </a:buClr>
              <a:buSzPts val="1100"/>
              <a:buFont typeface="Calibri"/>
              <a:buNone/>
            </a:pPr>
            <a:r>
              <a:rPr lang="en-US" sz="1100" b="1" i="0" u="none" strike="noStrike" cap="none">
                <a:solidFill>
                  <a:srgbClr val="C0531A"/>
                </a:solidFill>
                <a:latin typeface="Calibri"/>
                <a:ea typeface="Calibri"/>
                <a:cs typeface="Calibri"/>
                <a:sym typeface="Calibri"/>
              </a:rPr>
              <a:t>1.5 VISUALIZING THE CONCEPT</a:t>
            </a:r>
            <a:endParaRPr sz="1100" b="0" i="0" u="none" strike="noStrike" cap="none">
              <a:solidFill>
                <a:schemeClr val="dk1"/>
              </a:solidFill>
              <a:latin typeface="Calibri"/>
              <a:ea typeface="Calibri"/>
              <a:cs typeface="Calibri"/>
              <a:sym typeface="Calibri"/>
            </a:endParaRPr>
          </a:p>
        </p:txBody>
      </p:sp>
      <p:sp>
        <p:nvSpPr>
          <p:cNvPr id="170" name="Google Shape;170;p11"/>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The Tweety Triangle: Belief Formed, Then Withdrawn</a:t>
            </a:r>
            <a:endParaRPr sz="2300" b="0" i="0" u="none" strike="noStrike" cap="none">
              <a:solidFill>
                <a:schemeClr val="dk1"/>
              </a:solidFill>
              <a:latin typeface="Calibri"/>
              <a:ea typeface="Calibri"/>
              <a:cs typeface="Calibri"/>
              <a:sym typeface="Calibri"/>
            </a:endParaRPr>
          </a:p>
        </p:txBody>
      </p:sp>
      <p:cxnSp>
        <p:nvCxnSpPr>
          <p:cNvPr id="171" name="Google Shape;171;p11"/>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172" name="Google Shape;172;p11"/>
          <p:cNvSpPr/>
          <p:nvPr/>
        </p:nvSpPr>
        <p:spPr>
          <a:xfrm>
            <a:off x="3017520" y="1600200"/>
            <a:ext cx="4937760" cy="566928"/>
          </a:xfrm>
          <a:prstGeom prst="rect">
            <a:avLst/>
          </a:prstGeom>
          <a:solidFill>
            <a:srgbClr val="1F4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1"/>
          <p:cNvSpPr/>
          <p:nvPr/>
        </p:nvSpPr>
        <p:spPr>
          <a:xfrm>
            <a:off x="3017520" y="1600200"/>
            <a:ext cx="4937760"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Calibri"/>
              <a:buNone/>
            </a:pPr>
            <a:r>
              <a:rPr lang="en-US" sz="1050" b="1" i="0" u="none" strike="noStrike" cap="none">
                <a:solidFill>
                  <a:srgbClr val="FFFFFF"/>
                </a:solidFill>
                <a:latin typeface="Calibri"/>
                <a:ea typeface="Calibri"/>
                <a:cs typeface="Calibri"/>
                <a:sym typeface="Calibri"/>
              </a:rPr>
              <a:t>FACT</a:t>
            </a:r>
            <a:br>
              <a:rPr lang="en-US" sz="1050" b="1" i="0" u="none" strike="noStrike" cap="none">
                <a:solidFill>
                  <a:srgbClr val="FFFFFF"/>
                </a:solidFill>
                <a:latin typeface="Calibri"/>
                <a:ea typeface="Calibri"/>
                <a:cs typeface="Calibri"/>
                <a:sym typeface="Calibri"/>
              </a:rPr>
            </a:br>
            <a:endParaRPr sz="105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1300"/>
              <a:buFont typeface="Calibri"/>
              <a:buNone/>
            </a:pPr>
            <a:r>
              <a:rPr lang="en-US" sz="1300" b="0" i="0" u="none" strike="noStrike" cap="none">
                <a:solidFill>
                  <a:srgbClr val="FFFFFF"/>
                </a:solidFill>
                <a:latin typeface="Calibri"/>
                <a:ea typeface="Calibri"/>
                <a:cs typeface="Calibri"/>
                <a:sym typeface="Calibri"/>
              </a:rPr>
              <a:t>Tweety is a bird</a:t>
            </a:r>
            <a:endParaRPr sz="1050" b="0" i="0" u="none" strike="noStrike" cap="none">
              <a:solidFill>
                <a:schemeClr val="dk1"/>
              </a:solidFill>
              <a:latin typeface="Calibri"/>
              <a:ea typeface="Calibri"/>
              <a:cs typeface="Calibri"/>
              <a:sym typeface="Calibri"/>
            </a:endParaRPr>
          </a:p>
        </p:txBody>
      </p:sp>
      <p:cxnSp>
        <p:nvCxnSpPr>
          <p:cNvPr id="174" name="Google Shape;174;p11"/>
          <p:cNvCxnSpPr/>
          <p:nvPr/>
        </p:nvCxnSpPr>
        <p:spPr>
          <a:xfrm>
            <a:off x="5486400" y="2167128"/>
            <a:ext cx="0" cy="164592"/>
          </a:xfrm>
          <a:prstGeom prst="straightConnector1">
            <a:avLst/>
          </a:prstGeom>
          <a:noFill/>
          <a:ln w="19050" cap="flat" cmpd="sng">
            <a:solidFill>
              <a:srgbClr val="6B6B6B"/>
            </a:solidFill>
            <a:prstDash val="solid"/>
            <a:round/>
            <a:headEnd type="none" w="sm" len="sm"/>
            <a:tailEnd type="triangle" w="med" len="med"/>
          </a:ln>
        </p:spPr>
      </p:cxnSp>
      <p:sp>
        <p:nvSpPr>
          <p:cNvPr id="175" name="Google Shape;175;p11"/>
          <p:cNvSpPr/>
          <p:nvPr/>
        </p:nvSpPr>
        <p:spPr>
          <a:xfrm>
            <a:off x="3017520" y="2331720"/>
            <a:ext cx="4937760" cy="566928"/>
          </a:xfrm>
          <a:prstGeom prst="rect">
            <a:avLst/>
          </a:prstGeom>
          <a:solidFill>
            <a:srgbClr val="2E8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1"/>
          <p:cNvSpPr/>
          <p:nvPr/>
        </p:nvSpPr>
        <p:spPr>
          <a:xfrm>
            <a:off x="3017520" y="2331720"/>
            <a:ext cx="4937760"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Calibri"/>
              <a:buNone/>
            </a:pPr>
            <a:r>
              <a:rPr lang="en-US" sz="1050" b="1" i="0" u="none" strike="noStrike" cap="none">
                <a:solidFill>
                  <a:srgbClr val="FFFFFF"/>
                </a:solidFill>
                <a:latin typeface="Calibri"/>
                <a:ea typeface="Calibri"/>
                <a:cs typeface="Calibri"/>
                <a:sym typeface="Calibri"/>
              </a:rPr>
              <a:t>DEFAULT RULE</a:t>
            </a:r>
            <a:br>
              <a:rPr lang="en-US" sz="1050" b="1" i="0" u="none" strike="noStrike" cap="none">
                <a:solidFill>
                  <a:srgbClr val="FFFFFF"/>
                </a:solidFill>
                <a:latin typeface="Calibri"/>
                <a:ea typeface="Calibri"/>
                <a:cs typeface="Calibri"/>
                <a:sym typeface="Calibri"/>
              </a:rPr>
            </a:br>
            <a:endParaRPr sz="105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1300"/>
              <a:buFont typeface="Calibri"/>
              <a:buNone/>
            </a:pPr>
            <a:r>
              <a:rPr lang="en-US" sz="1300" b="0" i="0" u="none" strike="noStrike" cap="none">
                <a:solidFill>
                  <a:srgbClr val="FFFFFF"/>
                </a:solidFill>
                <a:latin typeface="Calibri"/>
                <a:ea typeface="Calibri"/>
                <a:cs typeface="Calibri"/>
                <a:sym typeface="Calibri"/>
              </a:rPr>
              <a:t>Birds fly, unless known otherwise</a:t>
            </a:r>
            <a:endParaRPr sz="1050" b="0" i="0" u="none" strike="noStrike" cap="none">
              <a:solidFill>
                <a:schemeClr val="dk1"/>
              </a:solidFill>
              <a:latin typeface="Calibri"/>
              <a:ea typeface="Calibri"/>
              <a:cs typeface="Calibri"/>
              <a:sym typeface="Calibri"/>
            </a:endParaRPr>
          </a:p>
        </p:txBody>
      </p:sp>
      <p:cxnSp>
        <p:nvCxnSpPr>
          <p:cNvPr id="177" name="Google Shape;177;p11"/>
          <p:cNvCxnSpPr/>
          <p:nvPr/>
        </p:nvCxnSpPr>
        <p:spPr>
          <a:xfrm>
            <a:off x="5486400" y="2898648"/>
            <a:ext cx="0" cy="164592"/>
          </a:xfrm>
          <a:prstGeom prst="straightConnector1">
            <a:avLst/>
          </a:prstGeom>
          <a:noFill/>
          <a:ln w="19050" cap="flat" cmpd="sng">
            <a:solidFill>
              <a:srgbClr val="6B6B6B"/>
            </a:solidFill>
            <a:prstDash val="solid"/>
            <a:round/>
            <a:headEnd type="none" w="sm" len="sm"/>
            <a:tailEnd type="triangle" w="med" len="med"/>
          </a:ln>
        </p:spPr>
      </p:cxnSp>
      <p:sp>
        <p:nvSpPr>
          <p:cNvPr id="178" name="Google Shape;178;p11"/>
          <p:cNvSpPr/>
          <p:nvPr/>
        </p:nvSpPr>
        <p:spPr>
          <a:xfrm>
            <a:off x="3017520" y="3063240"/>
            <a:ext cx="4937760" cy="566928"/>
          </a:xfrm>
          <a:prstGeom prst="rect">
            <a:avLst/>
          </a:prstGeom>
          <a:solidFill>
            <a:srgbClr val="FFF3E9"/>
          </a:solidFill>
          <a:ln w="19050" cap="flat" cmpd="sng">
            <a:solidFill>
              <a:srgbClr val="C0531A"/>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1"/>
          <p:cNvSpPr/>
          <p:nvPr/>
        </p:nvSpPr>
        <p:spPr>
          <a:xfrm>
            <a:off x="3017520" y="3063240"/>
            <a:ext cx="4937760"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0531A"/>
              </a:buClr>
              <a:buSzPts val="1050"/>
              <a:buFont typeface="Calibri"/>
              <a:buNone/>
            </a:pPr>
            <a:r>
              <a:rPr lang="en-US" sz="1050" b="1" i="0" u="none" strike="noStrike" cap="none">
                <a:solidFill>
                  <a:srgbClr val="C0531A"/>
                </a:solidFill>
                <a:latin typeface="Calibri"/>
                <a:ea typeface="Calibri"/>
                <a:cs typeface="Calibri"/>
                <a:sym typeface="Calibri"/>
              </a:rPr>
              <a:t>TENTATIVE BELIEF</a:t>
            </a:r>
            <a:br>
              <a:rPr lang="en-US" sz="1050" b="1" i="0" u="none" strike="noStrike" cap="none">
                <a:solidFill>
                  <a:srgbClr val="C0531A"/>
                </a:solidFill>
                <a:latin typeface="Calibri"/>
                <a:ea typeface="Calibri"/>
                <a:cs typeface="Calibri"/>
                <a:sym typeface="Calibri"/>
              </a:rPr>
            </a:br>
            <a:endParaRPr sz="105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404040"/>
              </a:buClr>
              <a:buSzPts val="1300"/>
              <a:buFont typeface="Calibri"/>
              <a:buNone/>
            </a:pPr>
            <a:r>
              <a:rPr lang="en-US" sz="1300" b="0" i="0" u="none" strike="noStrike" cap="none">
                <a:solidFill>
                  <a:srgbClr val="404040"/>
                </a:solidFill>
                <a:latin typeface="Calibri"/>
                <a:ea typeface="Calibri"/>
                <a:cs typeface="Calibri"/>
                <a:sym typeface="Calibri"/>
              </a:rPr>
              <a:t>Tweety can fly</a:t>
            </a:r>
            <a:endParaRPr sz="1050" b="0" i="0" u="none" strike="noStrike" cap="none">
              <a:solidFill>
                <a:schemeClr val="dk1"/>
              </a:solidFill>
              <a:latin typeface="Calibri"/>
              <a:ea typeface="Calibri"/>
              <a:cs typeface="Calibri"/>
              <a:sym typeface="Calibri"/>
            </a:endParaRPr>
          </a:p>
        </p:txBody>
      </p:sp>
      <p:cxnSp>
        <p:nvCxnSpPr>
          <p:cNvPr id="180" name="Google Shape;180;p11"/>
          <p:cNvCxnSpPr/>
          <p:nvPr/>
        </p:nvCxnSpPr>
        <p:spPr>
          <a:xfrm>
            <a:off x="5486400" y="3630168"/>
            <a:ext cx="0" cy="164592"/>
          </a:xfrm>
          <a:prstGeom prst="straightConnector1">
            <a:avLst/>
          </a:prstGeom>
          <a:noFill/>
          <a:ln w="19050" cap="flat" cmpd="sng">
            <a:solidFill>
              <a:srgbClr val="6B6B6B"/>
            </a:solidFill>
            <a:prstDash val="solid"/>
            <a:round/>
            <a:headEnd type="none" w="sm" len="sm"/>
            <a:tailEnd type="triangle" w="med" len="med"/>
          </a:ln>
        </p:spPr>
      </p:cxnSp>
      <p:sp>
        <p:nvSpPr>
          <p:cNvPr id="181" name="Google Shape;181;p11"/>
          <p:cNvSpPr/>
          <p:nvPr/>
        </p:nvSpPr>
        <p:spPr>
          <a:xfrm>
            <a:off x="3017520" y="3794760"/>
            <a:ext cx="4937760" cy="566928"/>
          </a:xfrm>
          <a:prstGeom prst="rect">
            <a:avLst/>
          </a:prstGeom>
          <a:solidFill>
            <a:srgbClr val="FFFFFF"/>
          </a:solidFill>
          <a:ln w="19050" cap="flat" cmpd="sng">
            <a:solidFill>
              <a:srgbClr val="C0531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1"/>
          <p:cNvSpPr/>
          <p:nvPr/>
        </p:nvSpPr>
        <p:spPr>
          <a:xfrm>
            <a:off x="3017520" y="3794760"/>
            <a:ext cx="4937760"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0531A"/>
              </a:buClr>
              <a:buSzPts val="1050"/>
              <a:buFont typeface="Calibri"/>
              <a:buNone/>
            </a:pPr>
            <a:r>
              <a:rPr lang="en-US" sz="1050" b="1" i="0" u="none" strike="noStrike" cap="none">
                <a:solidFill>
                  <a:srgbClr val="C0531A"/>
                </a:solidFill>
                <a:latin typeface="Calibri"/>
                <a:ea typeface="Calibri"/>
                <a:cs typeface="Calibri"/>
                <a:sym typeface="Calibri"/>
              </a:rPr>
              <a:t>RETRACTION</a:t>
            </a:r>
            <a:br>
              <a:rPr lang="en-US" sz="1050" b="1" i="0" u="none" strike="noStrike" cap="none">
                <a:solidFill>
                  <a:srgbClr val="C0531A"/>
                </a:solidFill>
                <a:latin typeface="Calibri"/>
                <a:ea typeface="Calibri"/>
                <a:cs typeface="Calibri"/>
                <a:sym typeface="Calibri"/>
              </a:rPr>
            </a:br>
            <a:endParaRPr sz="105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404040"/>
              </a:buClr>
              <a:buSzPts val="1300"/>
              <a:buFont typeface="Calibri"/>
              <a:buNone/>
            </a:pPr>
            <a:r>
              <a:rPr lang="en-US" sz="1300" b="0" i="0" u="none" strike="noStrike" cap="none">
                <a:solidFill>
                  <a:srgbClr val="404040"/>
                </a:solidFill>
                <a:latin typeface="Calibri"/>
                <a:ea typeface="Calibri"/>
                <a:cs typeface="Calibri"/>
                <a:sym typeface="Calibri"/>
              </a:rPr>
              <a:t>"Tweety can fly" is withdrawn</a:t>
            </a:r>
            <a:endParaRPr sz="1050" b="0" i="0" u="none" strike="noStrike" cap="none">
              <a:solidFill>
                <a:schemeClr val="dk1"/>
              </a:solidFill>
              <a:latin typeface="Calibri"/>
              <a:ea typeface="Calibri"/>
              <a:cs typeface="Calibri"/>
              <a:sym typeface="Calibri"/>
            </a:endParaRPr>
          </a:p>
        </p:txBody>
      </p:sp>
      <p:cxnSp>
        <p:nvCxnSpPr>
          <p:cNvPr id="183" name="Google Shape;183;p11"/>
          <p:cNvCxnSpPr/>
          <p:nvPr/>
        </p:nvCxnSpPr>
        <p:spPr>
          <a:xfrm>
            <a:off x="5486400" y="4361688"/>
            <a:ext cx="0" cy="164592"/>
          </a:xfrm>
          <a:prstGeom prst="straightConnector1">
            <a:avLst/>
          </a:prstGeom>
          <a:noFill/>
          <a:ln w="19050" cap="flat" cmpd="sng">
            <a:solidFill>
              <a:srgbClr val="6B6B6B"/>
            </a:solidFill>
            <a:prstDash val="solid"/>
            <a:round/>
            <a:headEnd type="none" w="sm" len="sm"/>
            <a:tailEnd type="triangle" w="med" len="med"/>
          </a:ln>
        </p:spPr>
      </p:cxnSp>
      <p:sp>
        <p:nvSpPr>
          <p:cNvPr id="184" name="Google Shape;184;p11"/>
          <p:cNvSpPr/>
          <p:nvPr/>
        </p:nvSpPr>
        <p:spPr>
          <a:xfrm>
            <a:off x="3017520" y="4526280"/>
            <a:ext cx="4937760" cy="566928"/>
          </a:xfrm>
          <a:prstGeom prst="rect">
            <a:avLst/>
          </a:prstGeom>
          <a:solidFill>
            <a:srgbClr val="1F4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1"/>
          <p:cNvSpPr/>
          <p:nvPr/>
        </p:nvSpPr>
        <p:spPr>
          <a:xfrm>
            <a:off x="3017520" y="4526280"/>
            <a:ext cx="4937760"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Calibri"/>
              <a:buNone/>
            </a:pPr>
            <a:r>
              <a:rPr lang="en-US" sz="1050" b="1" i="0" u="none" strike="noStrike" cap="none">
                <a:solidFill>
                  <a:srgbClr val="FFFFFF"/>
                </a:solidFill>
                <a:latin typeface="Calibri"/>
                <a:ea typeface="Calibri"/>
                <a:cs typeface="Calibri"/>
                <a:sym typeface="Calibri"/>
              </a:rPr>
              <a:t>REVISED CONCLUSION</a:t>
            </a:r>
            <a:br>
              <a:rPr lang="en-US" sz="1050" b="1" i="0" u="none" strike="noStrike" cap="none">
                <a:solidFill>
                  <a:srgbClr val="FFFFFF"/>
                </a:solidFill>
                <a:latin typeface="Calibri"/>
                <a:ea typeface="Calibri"/>
                <a:cs typeface="Calibri"/>
                <a:sym typeface="Calibri"/>
              </a:rPr>
            </a:br>
            <a:endParaRPr sz="105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1300"/>
              <a:buFont typeface="Calibri"/>
              <a:buNone/>
            </a:pPr>
            <a:r>
              <a:rPr lang="en-US" sz="1300" b="0" i="0" u="none" strike="noStrike" cap="none">
                <a:solidFill>
                  <a:srgbClr val="FFFFFF"/>
                </a:solidFill>
                <a:latin typeface="Calibri"/>
                <a:ea typeface="Calibri"/>
                <a:cs typeface="Calibri"/>
                <a:sym typeface="Calibri"/>
              </a:rPr>
              <a:t>Tweety cannot fly (penguins don't)</a:t>
            </a:r>
            <a:endParaRPr sz="1050" b="0" i="0" u="none" strike="noStrike" cap="none">
              <a:solidFill>
                <a:schemeClr val="dk1"/>
              </a:solidFill>
              <a:latin typeface="Calibri"/>
              <a:ea typeface="Calibri"/>
              <a:cs typeface="Calibri"/>
              <a:sym typeface="Calibri"/>
            </a:endParaRPr>
          </a:p>
        </p:txBody>
      </p:sp>
      <p:sp>
        <p:nvSpPr>
          <p:cNvPr id="186" name="Google Shape;186;p11"/>
          <p:cNvSpPr/>
          <p:nvPr/>
        </p:nvSpPr>
        <p:spPr>
          <a:xfrm>
            <a:off x="8503920" y="3035808"/>
            <a:ext cx="2606040" cy="621792"/>
          </a:xfrm>
          <a:prstGeom prst="rect">
            <a:avLst/>
          </a:prstGeom>
          <a:solidFill>
            <a:srgbClr val="B33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1"/>
          <p:cNvSpPr/>
          <p:nvPr/>
        </p:nvSpPr>
        <p:spPr>
          <a:xfrm>
            <a:off x="8503920" y="3035808"/>
            <a:ext cx="2606040" cy="62179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i="0" u="none" strike="noStrike" cap="none">
                <a:solidFill>
                  <a:srgbClr val="FFFFFF"/>
                </a:solidFill>
                <a:latin typeface="Calibri"/>
                <a:ea typeface="Calibri"/>
                <a:cs typeface="Calibri"/>
                <a:sym typeface="Calibri"/>
              </a:rPr>
              <a:t>NEW FACT ARRIVES</a:t>
            </a:r>
            <a:br>
              <a:rPr lang="en-US" sz="1000" b="1" i="0" u="none" strike="noStrike" cap="none">
                <a:solidFill>
                  <a:srgbClr val="FFFFFF"/>
                </a:solidFill>
                <a:latin typeface="Calibri"/>
                <a:ea typeface="Calibri"/>
                <a:cs typeface="Calibri"/>
                <a:sym typeface="Calibri"/>
              </a:rPr>
            </a:br>
            <a:endParaRPr sz="10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1150"/>
              <a:buFont typeface="Calibri"/>
              <a:buNone/>
            </a:pPr>
            <a:r>
              <a:rPr lang="en-US" sz="1150" b="0" i="0" u="none" strike="noStrike" cap="none">
                <a:solidFill>
                  <a:srgbClr val="FFFFFF"/>
                </a:solidFill>
                <a:latin typeface="Calibri"/>
                <a:ea typeface="Calibri"/>
                <a:cs typeface="Calibri"/>
                <a:sym typeface="Calibri"/>
              </a:rPr>
              <a:t>Tweety is a penguin</a:t>
            </a:r>
            <a:endParaRPr sz="1000" b="0" i="0" u="none" strike="noStrike" cap="none">
              <a:solidFill>
                <a:schemeClr val="dk1"/>
              </a:solidFill>
              <a:latin typeface="Calibri"/>
              <a:ea typeface="Calibri"/>
              <a:cs typeface="Calibri"/>
              <a:sym typeface="Calibri"/>
            </a:endParaRPr>
          </a:p>
        </p:txBody>
      </p:sp>
      <p:cxnSp>
        <p:nvCxnSpPr>
          <p:cNvPr id="188" name="Google Shape;188;p11"/>
          <p:cNvCxnSpPr/>
          <p:nvPr/>
        </p:nvCxnSpPr>
        <p:spPr>
          <a:xfrm rot="10800000">
            <a:off x="7955280" y="3346704"/>
            <a:ext cx="548640" cy="0"/>
          </a:xfrm>
          <a:prstGeom prst="straightConnector1">
            <a:avLst/>
          </a:prstGeom>
          <a:noFill/>
          <a:ln w="19050" cap="flat" cmpd="sng">
            <a:solidFill>
              <a:srgbClr val="B33A3A"/>
            </a:solidFill>
            <a:prstDash val="solid"/>
            <a:round/>
            <a:headEnd type="none" w="sm" len="sm"/>
            <a:tailEnd type="triangle" w="med" len="med"/>
          </a:ln>
        </p:spPr>
      </p:cxnSp>
      <p:sp>
        <p:nvSpPr>
          <p:cNvPr id="189" name="Google Shape;189;p11"/>
          <p:cNvSpPr/>
          <p:nvPr/>
        </p:nvSpPr>
        <p:spPr>
          <a:xfrm>
            <a:off x="457200" y="5285232"/>
            <a:ext cx="10607040" cy="3200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6B6B"/>
              </a:buClr>
              <a:buSzPts val="1150"/>
              <a:buFont typeface="Calibri"/>
              <a:buNone/>
            </a:pPr>
            <a:r>
              <a:rPr lang="en-US" sz="1150" b="0" i="1" u="none" strike="noStrike" cap="none">
                <a:solidFill>
                  <a:srgbClr val="6B6B6B"/>
                </a:solidFill>
                <a:latin typeface="Calibri"/>
                <a:ea typeface="Calibri"/>
                <a:cs typeface="Calibri"/>
                <a:sym typeface="Calibri"/>
              </a:rPr>
              <a:t>Figure 1.1 — A default belief is formed, then withdrawn the moment more specific information arrives.</a:t>
            </a:r>
            <a:endParaRPr sz="1150" b="0" i="0" u="none" strike="noStrike" cap="none">
              <a:solidFill>
                <a:schemeClr val="dk1"/>
              </a:solidFill>
              <a:latin typeface="Calibri"/>
              <a:ea typeface="Calibri"/>
              <a:cs typeface="Calibri"/>
              <a:sym typeface="Calibri"/>
            </a:endParaRPr>
          </a:p>
        </p:txBody>
      </p:sp>
      <p:sp>
        <p:nvSpPr>
          <p:cNvPr id="190" name="Google Shape;190;p11"/>
          <p:cNvSpPr/>
          <p:nvPr/>
        </p:nvSpPr>
        <p:spPr>
          <a:xfrm>
            <a:off x="640080" y="5669280"/>
            <a:ext cx="10241280" cy="868680"/>
          </a:xfrm>
          <a:prstGeom prst="rect">
            <a:avLst/>
          </a:prstGeom>
          <a:solidFill>
            <a:srgbClr val="FFF6EC"/>
          </a:solidFill>
          <a:ln w="9525" cap="flat" cmpd="sng">
            <a:solidFill>
              <a:srgbClr val="C0531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1"/>
          <p:cNvSpPr/>
          <p:nvPr/>
        </p:nvSpPr>
        <p:spPr>
          <a:xfrm>
            <a:off x="640080" y="5669280"/>
            <a:ext cx="64008" cy="868680"/>
          </a:xfrm>
          <a:prstGeom prst="rect">
            <a:avLst/>
          </a:prstGeom>
          <a:solidFill>
            <a:srgbClr val="C053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1"/>
          <p:cNvSpPr/>
          <p:nvPr/>
        </p:nvSpPr>
        <p:spPr>
          <a:xfrm>
            <a:off x="868680" y="5779008"/>
            <a:ext cx="98755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531A"/>
              </a:buClr>
              <a:buSzPts val="1050"/>
              <a:buFont typeface="Calibri"/>
              <a:buNone/>
            </a:pPr>
            <a:r>
              <a:rPr lang="en-US" sz="1050" b="1" i="0" u="none" strike="noStrike" cap="none">
                <a:solidFill>
                  <a:srgbClr val="C0531A"/>
                </a:solidFill>
                <a:latin typeface="Calibri"/>
                <a:ea typeface="Calibri"/>
                <a:cs typeface="Calibri"/>
                <a:sym typeface="Calibri"/>
              </a:rPr>
              <a:t>IMPORTANT PRINCIPLE</a:t>
            </a:r>
            <a:endParaRPr sz="1050" b="0" i="0" u="none" strike="noStrike" cap="none">
              <a:solidFill>
                <a:schemeClr val="dk1"/>
              </a:solidFill>
              <a:latin typeface="Calibri"/>
              <a:ea typeface="Calibri"/>
              <a:cs typeface="Calibri"/>
              <a:sym typeface="Calibri"/>
            </a:endParaRPr>
          </a:p>
        </p:txBody>
      </p:sp>
      <p:sp>
        <p:nvSpPr>
          <p:cNvPr id="193" name="Google Shape;193;p11"/>
          <p:cNvSpPr/>
          <p:nvPr/>
        </p:nvSpPr>
        <p:spPr>
          <a:xfrm>
            <a:off x="868680" y="6071616"/>
            <a:ext cx="9829800" cy="37490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250"/>
              <a:buFont typeface="Calibri"/>
              <a:buNone/>
            </a:pPr>
            <a:r>
              <a:rPr lang="en-US" sz="1250" b="0" i="0" u="none" strike="noStrike" cap="none">
                <a:solidFill>
                  <a:srgbClr val="404040"/>
                </a:solidFill>
                <a:latin typeface="Calibri"/>
                <a:ea typeface="Calibri"/>
                <a:cs typeface="Calibri"/>
                <a:sym typeface="Calibri"/>
              </a:rPr>
              <a:t>Specificity beats generality. A more specific rule ("penguins don't fly") always overrides a more general default rule ("birds fly"). This is the Specificity Preference Principle, and it resolves most conflicts automatically.</a:t>
            </a:r>
            <a:endParaRPr sz="1250" b="0" i="0" u="none" strike="noStrike" cap="none">
              <a:solidFill>
                <a:schemeClr val="dk1"/>
              </a:solidFill>
              <a:latin typeface="Calibri"/>
              <a:ea typeface="Calibri"/>
              <a:cs typeface="Calibri"/>
              <a:sym typeface="Calibri"/>
            </a:endParaRPr>
          </a:p>
        </p:txBody>
      </p:sp>
      <p:sp>
        <p:nvSpPr>
          <p:cNvPr id="194" name="Google Shape;194;p11"/>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4 / 40</a:t>
            </a:r>
            <a:endParaRPr sz="950" b="0" i="0" u="none" strike="noStrike" cap="none">
              <a:solidFill>
                <a:schemeClr val="dk1"/>
              </a:solidFill>
              <a:latin typeface="Calibri"/>
              <a:ea typeface="Calibri"/>
              <a:cs typeface="Calibri"/>
              <a:sym typeface="Calibri"/>
            </a:endParaRPr>
          </a:p>
        </p:txBody>
      </p:sp>
      <p:sp>
        <p:nvSpPr>
          <p:cNvPr id="195" name="Google Shape;195;p11"/>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0"/>
        <p:cNvGrpSpPr/>
        <p:nvPr/>
      </p:nvGrpSpPr>
      <p:grpSpPr>
        <a:xfrm>
          <a:off x="0" y="0"/>
          <a:ext cx="0" cy="0"/>
          <a:chOff x="0" y="0"/>
          <a:chExt cx="0" cy="0"/>
        </a:xfrm>
      </p:grpSpPr>
      <p:sp>
        <p:nvSpPr>
          <p:cNvPr id="201" name="Google Shape;201;p12"/>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531A"/>
              </a:buClr>
              <a:buSzPts val="1100"/>
              <a:buFont typeface="Calibri"/>
              <a:buNone/>
            </a:pPr>
            <a:r>
              <a:rPr lang="en-US" sz="1100" b="1" i="0" u="none" strike="noStrike" cap="none">
                <a:solidFill>
                  <a:srgbClr val="C0531A"/>
                </a:solidFill>
                <a:latin typeface="Calibri"/>
                <a:ea typeface="Calibri"/>
                <a:cs typeface="Calibri"/>
                <a:sym typeface="Calibri"/>
              </a:rPr>
              <a:t>1.6 HANDLING MISSING INFO</a:t>
            </a:r>
            <a:endParaRPr sz="1100" b="0" i="0" u="none" strike="noStrike" cap="none">
              <a:solidFill>
                <a:schemeClr val="dk1"/>
              </a:solidFill>
              <a:latin typeface="Calibri"/>
              <a:ea typeface="Calibri"/>
              <a:cs typeface="Calibri"/>
              <a:sym typeface="Calibri"/>
            </a:endParaRPr>
          </a:p>
        </p:txBody>
      </p:sp>
      <p:sp>
        <p:nvSpPr>
          <p:cNvPr id="202" name="Google Shape;202;p12"/>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Closed-World Assumption (CWA)</a:t>
            </a:r>
            <a:endParaRPr sz="2300" b="0" i="0" u="none" strike="noStrike" cap="none">
              <a:solidFill>
                <a:schemeClr val="dk1"/>
              </a:solidFill>
              <a:latin typeface="Calibri"/>
              <a:ea typeface="Calibri"/>
              <a:cs typeface="Calibri"/>
              <a:sym typeface="Calibri"/>
            </a:endParaRPr>
          </a:p>
        </p:txBody>
      </p:sp>
      <p:cxnSp>
        <p:nvCxnSpPr>
          <p:cNvPr id="203" name="Google Shape;203;p12"/>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204" name="Google Shape;204;p12"/>
          <p:cNvSpPr/>
          <p:nvPr/>
        </p:nvSpPr>
        <p:spPr>
          <a:xfrm>
            <a:off x="457200" y="1600200"/>
            <a:ext cx="10607040" cy="1051560"/>
          </a:xfrm>
          <a:prstGeom prst="rect">
            <a:avLst/>
          </a:prstGeom>
          <a:solidFill>
            <a:srgbClr val="EAF4F4"/>
          </a:solidFill>
          <a:ln w="9525" cap="flat" cmpd="sng">
            <a:solidFill>
              <a:srgbClr val="C0531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p:cNvSpPr/>
          <p:nvPr/>
        </p:nvSpPr>
        <p:spPr>
          <a:xfrm>
            <a:off x="457200" y="1600200"/>
            <a:ext cx="64008" cy="1051560"/>
          </a:xfrm>
          <a:prstGeom prst="rect">
            <a:avLst/>
          </a:prstGeom>
          <a:solidFill>
            <a:srgbClr val="C053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p:cNvSpPr/>
          <p:nvPr/>
        </p:nvSpPr>
        <p:spPr>
          <a:xfrm>
            <a:off x="685800" y="1709928"/>
            <a:ext cx="102412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531A"/>
              </a:buClr>
              <a:buSzPts val="1050"/>
              <a:buFont typeface="Calibri"/>
              <a:buNone/>
            </a:pPr>
            <a:r>
              <a:rPr lang="en-US" sz="1050" b="1" i="0" u="none" strike="noStrike" cap="none">
                <a:solidFill>
                  <a:srgbClr val="C0531A"/>
                </a:solidFill>
                <a:latin typeface="Calibri"/>
                <a:ea typeface="Calibri"/>
                <a:cs typeface="Calibri"/>
                <a:sym typeface="Calibri"/>
              </a:rPr>
              <a:t>DEFINITION</a:t>
            </a:r>
            <a:endParaRPr sz="1050" b="0" i="0" u="none" strike="noStrike" cap="none">
              <a:solidFill>
                <a:schemeClr val="dk1"/>
              </a:solidFill>
              <a:latin typeface="Calibri"/>
              <a:ea typeface="Calibri"/>
              <a:cs typeface="Calibri"/>
              <a:sym typeface="Calibri"/>
            </a:endParaRPr>
          </a:p>
        </p:txBody>
      </p:sp>
      <p:sp>
        <p:nvSpPr>
          <p:cNvPr id="207" name="Google Shape;207;p12"/>
          <p:cNvSpPr/>
          <p:nvPr/>
        </p:nvSpPr>
        <p:spPr>
          <a:xfrm>
            <a:off x="685800" y="2002536"/>
            <a:ext cx="10195560" cy="55778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450"/>
              <a:buFont typeface="Calibri"/>
              <a:buNone/>
            </a:pPr>
            <a:r>
              <a:rPr lang="en-US" sz="1450" b="0" i="0" u="none" strike="noStrike" cap="none">
                <a:solidFill>
                  <a:srgbClr val="404040"/>
                </a:solidFill>
                <a:latin typeface="Calibri"/>
                <a:ea typeface="Calibri"/>
                <a:cs typeface="Calibri"/>
                <a:sym typeface="Calibri"/>
              </a:rPr>
              <a:t>Under the Closed-World Assumption, if a fact is not explicitly known to be true, the system assumes it is false. This is how most ordinary databases work.</a:t>
            </a:r>
            <a:endParaRPr sz="1450" b="0" i="0" u="none" strike="noStrike" cap="none">
              <a:solidFill>
                <a:schemeClr val="dk1"/>
              </a:solidFill>
              <a:latin typeface="Calibri"/>
              <a:ea typeface="Calibri"/>
              <a:cs typeface="Calibri"/>
              <a:sym typeface="Calibri"/>
            </a:endParaRPr>
          </a:p>
        </p:txBody>
      </p:sp>
      <p:sp>
        <p:nvSpPr>
          <p:cNvPr id="208" name="Google Shape;208;p12"/>
          <p:cNvSpPr/>
          <p:nvPr/>
        </p:nvSpPr>
        <p:spPr>
          <a:xfrm>
            <a:off x="457200" y="2834640"/>
            <a:ext cx="10607040" cy="118872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404040"/>
              </a:buClr>
              <a:buSzPts val="1450"/>
              <a:buFont typeface="Calibri"/>
              <a:buNone/>
            </a:pPr>
            <a:r>
              <a:rPr lang="en-US" sz="1450" b="1" i="0" u="none" strike="noStrike" cap="none">
                <a:solidFill>
                  <a:srgbClr val="404040"/>
                </a:solidFill>
                <a:latin typeface="Calibri"/>
                <a:ea typeface="Calibri"/>
                <a:cs typeface="Calibri"/>
                <a:sym typeface="Calibri"/>
              </a:rPr>
              <a:t>Example:  </a:t>
            </a:r>
            <a:r>
              <a:rPr lang="en-US" sz="1450" b="0" i="0" u="none" strike="noStrike" cap="none">
                <a:solidFill>
                  <a:srgbClr val="404040"/>
                </a:solidFill>
                <a:latin typeface="Calibri"/>
                <a:ea typeface="Calibri"/>
                <a:cs typeface="Calibri"/>
                <a:sym typeface="Calibri"/>
              </a:rPr>
              <a:t>a student database lists Ali, Ahmed, and Sara. If you ask "Is Bilal a student?" and Bilal is not in the table, the database concludes Bilal is </a:t>
            </a:r>
            <a:r>
              <a:rPr lang="en-US" sz="1450" b="1" i="0" u="none" strike="noStrike" cap="none">
                <a:solidFill>
                  <a:srgbClr val="404040"/>
                </a:solidFill>
                <a:latin typeface="Calibri"/>
                <a:ea typeface="Calibri"/>
                <a:cs typeface="Calibri"/>
                <a:sym typeface="Calibri"/>
              </a:rPr>
              <a:t>not</a:t>
            </a:r>
            <a:r>
              <a:rPr lang="en-US" sz="1450" b="0" i="0" u="none" strike="noStrike" cap="none">
                <a:solidFill>
                  <a:srgbClr val="404040"/>
                </a:solidFill>
                <a:latin typeface="Calibri"/>
                <a:ea typeface="Calibri"/>
                <a:cs typeface="Calibri"/>
                <a:sym typeface="Calibri"/>
              </a:rPr>
              <a:t> a student — not "unknown," but definitively false. This works because the database is assumed to be a </a:t>
            </a:r>
            <a:r>
              <a:rPr lang="en-US" sz="1450" b="1" i="0" u="none" strike="noStrike" cap="none">
                <a:solidFill>
                  <a:srgbClr val="404040"/>
                </a:solidFill>
                <a:latin typeface="Calibri"/>
                <a:ea typeface="Calibri"/>
                <a:cs typeface="Calibri"/>
                <a:sym typeface="Calibri"/>
              </a:rPr>
              <a:t>complete</a:t>
            </a:r>
            <a:r>
              <a:rPr lang="en-US" sz="1450" b="0" i="0" u="none" strike="noStrike" cap="none">
                <a:solidFill>
                  <a:srgbClr val="404040"/>
                </a:solidFill>
                <a:latin typeface="Calibri"/>
                <a:ea typeface="Calibri"/>
                <a:cs typeface="Calibri"/>
                <a:sym typeface="Calibri"/>
              </a:rPr>
              <a:t> record of all students.</a:t>
            </a:r>
            <a:endParaRPr sz="1450" b="0" i="0" u="none" strike="noStrike" cap="none">
              <a:solidFill>
                <a:schemeClr val="dk1"/>
              </a:solidFill>
              <a:latin typeface="Calibri"/>
              <a:ea typeface="Calibri"/>
              <a:cs typeface="Calibri"/>
              <a:sym typeface="Calibri"/>
            </a:endParaRPr>
          </a:p>
        </p:txBody>
      </p:sp>
      <p:sp>
        <p:nvSpPr>
          <p:cNvPr id="209" name="Google Shape;209;p12"/>
          <p:cNvSpPr/>
          <p:nvPr/>
        </p:nvSpPr>
        <p:spPr>
          <a:xfrm>
            <a:off x="457200" y="4160520"/>
            <a:ext cx="10607040" cy="77724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6B6B6B"/>
              </a:buClr>
              <a:buSzPts val="1350"/>
              <a:buFont typeface="Calibri"/>
              <a:buNone/>
            </a:pPr>
            <a:r>
              <a:rPr lang="en-US" sz="1350" b="0" i="1" u="none" strike="noStrike" cap="none">
                <a:solidFill>
                  <a:srgbClr val="6B6B6B"/>
                </a:solidFill>
                <a:latin typeface="Calibri"/>
                <a:ea typeface="Calibri"/>
                <a:cs typeface="Calibri"/>
                <a:sym typeface="Calibri"/>
              </a:rPr>
              <a:t>A second major tool in non-monotonic reasoning concerns how a system treats missing information — the next slide compares it directly with its counterpart, the Open-World Assumption.</a:t>
            </a:r>
            <a:endParaRPr sz="1350" b="0" i="0" u="none" strike="noStrike" cap="none">
              <a:solidFill>
                <a:schemeClr val="dk1"/>
              </a:solidFill>
              <a:latin typeface="Calibri"/>
              <a:ea typeface="Calibri"/>
              <a:cs typeface="Calibri"/>
              <a:sym typeface="Calibri"/>
            </a:endParaRPr>
          </a:p>
        </p:txBody>
      </p:sp>
      <p:sp>
        <p:nvSpPr>
          <p:cNvPr id="210" name="Google Shape;210;p12"/>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5 / 40</a:t>
            </a:r>
            <a:endParaRPr sz="950" b="0" i="0" u="none" strike="noStrike" cap="none">
              <a:solidFill>
                <a:schemeClr val="dk1"/>
              </a:solidFill>
              <a:latin typeface="Calibri"/>
              <a:ea typeface="Calibri"/>
              <a:cs typeface="Calibri"/>
              <a:sym typeface="Calibri"/>
            </a:endParaRPr>
          </a:p>
        </p:txBody>
      </p:sp>
      <p:sp>
        <p:nvSpPr>
          <p:cNvPr id="211" name="Google Shape;211;p12"/>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6"/>
        <p:cNvGrpSpPr/>
        <p:nvPr/>
      </p:nvGrpSpPr>
      <p:grpSpPr>
        <a:xfrm>
          <a:off x="0" y="0"/>
          <a:ext cx="0" cy="0"/>
          <a:chOff x="0" y="0"/>
          <a:chExt cx="0" cy="0"/>
        </a:xfrm>
      </p:grpSpPr>
      <p:sp>
        <p:nvSpPr>
          <p:cNvPr id="217" name="Google Shape;217;p13"/>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531A"/>
              </a:buClr>
              <a:buSzPts val="1100"/>
              <a:buFont typeface="Calibri"/>
              <a:buNone/>
            </a:pPr>
            <a:r>
              <a:rPr lang="en-US" sz="1100" b="1" i="0" u="none" strike="noStrike" cap="none">
                <a:solidFill>
                  <a:srgbClr val="C0531A"/>
                </a:solidFill>
                <a:latin typeface="Calibri"/>
                <a:ea typeface="Calibri"/>
                <a:cs typeface="Calibri"/>
                <a:sym typeface="Calibri"/>
              </a:rPr>
              <a:t>1.6 HANDLING MISSING INFO</a:t>
            </a:r>
            <a:endParaRPr sz="1100" b="0" i="0" u="none" strike="noStrike" cap="none">
              <a:solidFill>
                <a:schemeClr val="dk1"/>
              </a:solidFill>
              <a:latin typeface="Calibri"/>
              <a:ea typeface="Calibri"/>
              <a:cs typeface="Calibri"/>
              <a:sym typeface="Calibri"/>
            </a:endParaRPr>
          </a:p>
        </p:txBody>
      </p:sp>
      <p:sp>
        <p:nvSpPr>
          <p:cNvPr id="218" name="Google Shape;218;p13"/>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Open-World Assumption (OWA) vs. CWA</a:t>
            </a:r>
            <a:endParaRPr sz="2300" b="0" i="0" u="none" strike="noStrike" cap="none">
              <a:solidFill>
                <a:schemeClr val="dk1"/>
              </a:solidFill>
              <a:latin typeface="Calibri"/>
              <a:ea typeface="Calibri"/>
              <a:cs typeface="Calibri"/>
              <a:sym typeface="Calibri"/>
            </a:endParaRPr>
          </a:p>
        </p:txBody>
      </p:sp>
      <p:cxnSp>
        <p:nvCxnSpPr>
          <p:cNvPr id="219" name="Google Shape;219;p13"/>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220" name="Google Shape;220;p13"/>
          <p:cNvSpPr/>
          <p:nvPr/>
        </p:nvSpPr>
        <p:spPr>
          <a:xfrm>
            <a:off x="457200" y="1554480"/>
            <a:ext cx="10607040" cy="1005840"/>
          </a:xfrm>
          <a:prstGeom prst="rect">
            <a:avLst/>
          </a:prstGeom>
          <a:solidFill>
            <a:srgbClr val="EAF4F4"/>
          </a:solidFill>
          <a:ln w="9525" cap="flat" cmpd="sng">
            <a:solidFill>
              <a:srgbClr val="C0531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3"/>
          <p:cNvSpPr/>
          <p:nvPr/>
        </p:nvSpPr>
        <p:spPr>
          <a:xfrm>
            <a:off x="457200" y="1554480"/>
            <a:ext cx="64008" cy="1005840"/>
          </a:xfrm>
          <a:prstGeom prst="rect">
            <a:avLst/>
          </a:prstGeom>
          <a:solidFill>
            <a:srgbClr val="C053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3"/>
          <p:cNvSpPr/>
          <p:nvPr/>
        </p:nvSpPr>
        <p:spPr>
          <a:xfrm>
            <a:off x="685800" y="1664208"/>
            <a:ext cx="102412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531A"/>
              </a:buClr>
              <a:buSzPts val="1050"/>
              <a:buFont typeface="Calibri"/>
              <a:buNone/>
            </a:pPr>
            <a:r>
              <a:rPr lang="en-US" sz="1050" b="1" i="0" u="none" strike="noStrike" cap="none">
                <a:solidFill>
                  <a:srgbClr val="C0531A"/>
                </a:solidFill>
                <a:latin typeface="Calibri"/>
                <a:ea typeface="Calibri"/>
                <a:cs typeface="Calibri"/>
                <a:sym typeface="Calibri"/>
              </a:rPr>
              <a:t>DEFINITION</a:t>
            </a:r>
            <a:endParaRPr sz="1050" b="0" i="0" u="none" strike="noStrike" cap="none">
              <a:solidFill>
                <a:schemeClr val="dk1"/>
              </a:solidFill>
              <a:latin typeface="Calibri"/>
              <a:ea typeface="Calibri"/>
              <a:cs typeface="Calibri"/>
              <a:sym typeface="Calibri"/>
            </a:endParaRPr>
          </a:p>
        </p:txBody>
      </p:sp>
      <p:sp>
        <p:nvSpPr>
          <p:cNvPr id="223" name="Google Shape;223;p13"/>
          <p:cNvSpPr/>
          <p:nvPr/>
        </p:nvSpPr>
        <p:spPr>
          <a:xfrm>
            <a:off x="685800" y="1956816"/>
            <a:ext cx="10195560" cy="51206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400"/>
              <a:buFont typeface="Calibri"/>
              <a:buNone/>
            </a:pPr>
            <a:r>
              <a:rPr lang="en-US" sz="1400" b="0" i="0" u="none" strike="noStrike" cap="none">
                <a:solidFill>
                  <a:srgbClr val="404040"/>
                </a:solidFill>
                <a:latin typeface="Calibri"/>
                <a:ea typeface="Calibri"/>
                <a:cs typeface="Calibri"/>
                <a:sym typeface="Calibri"/>
              </a:rPr>
              <a:t>Under the Open-World Assumption, if a fact is not known to be true, the system does not assume it is false — it simply remains unknown. This is used in semantic web systems and knowledge graphs.</a:t>
            </a:r>
            <a:endParaRPr sz="1400" b="0" i="0" u="none" strike="noStrike" cap="none">
              <a:solidFill>
                <a:schemeClr val="dk1"/>
              </a:solidFill>
              <a:latin typeface="Calibri"/>
              <a:ea typeface="Calibri"/>
              <a:cs typeface="Calibri"/>
              <a:sym typeface="Calibri"/>
            </a:endParaRPr>
          </a:p>
        </p:txBody>
      </p:sp>
      <p:sp>
        <p:nvSpPr>
          <p:cNvPr id="224" name="Google Shape;224;p13"/>
          <p:cNvSpPr/>
          <p:nvPr/>
        </p:nvSpPr>
        <p:spPr>
          <a:xfrm>
            <a:off x="457200" y="2651760"/>
            <a:ext cx="10607040" cy="77724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404040"/>
              </a:buClr>
              <a:buSzPts val="1350"/>
              <a:buFont typeface="Calibri"/>
              <a:buNone/>
            </a:pPr>
            <a:r>
              <a:rPr lang="en-US" sz="1350" b="1" i="0" u="none" strike="noStrike" cap="none">
                <a:solidFill>
                  <a:srgbClr val="404040"/>
                </a:solidFill>
                <a:latin typeface="Calibri"/>
                <a:ea typeface="Calibri"/>
                <a:cs typeface="Calibri"/>
                <a:sym typeface="Calibri"/>
              </a:rPr>
              <a:t>Example:  </a:t>
            </a:r>
            <a:r>
              <a:rPr lang="en-US" sz="1350" b="0" i="0" u="none" strike="noStrike" cap="none">
                <a:solidFill>
                  <a:srgbClr val="404040"/>
                </a:solidFill>
                <a:latin typeface="Calibri"/>
                <a:ea typeface="Calibri"/>
                <a:cs typeface="Calibri"/>
                <a:sym typeface="Calibri"/>
              </a:rPr>
              <a:t>a knowledge graph states "Ali studies at UMT." If you ask "Does Ali own a car?" and no such fact exists, OWA answers </a:t>
            </a:r>
            <a:r>
              <a:rPr lang="en-US" sz="1350" b="1" i="0" u="none" strike="noStrike" cap="none">
                <a:solidFill>
                  <a:srgbClr val="404040"/>
                </a:solidFill>
                <a:latin typeface="Calibri"/>
                <a:ea typeface="Calibri"/>
                <a:cs typeface="Calibri"/>
                <a:sym typeface="Calibri"/>
              </a:rPr>
              <a:t>"unknown"</a:t>
            </a:r>
            <a:r>
              <a:rPr lang="en-US" sz="1350" b="0" i="0" u="none" strike="noStrike" cap="none">
                <a:solidFill>
                  <a:srgbClr val="404040"/>
                </a:solidFill>
                <a:latin typeface="Calibri"/>
                <a:ea typeface="Calibri"/>
                <a:cs typeface="Calibri"/>
                <a:sym typeface="Calibri"/>
              </a:rPr>
              <a:t> — because the graph never claimed to be a complete record of everything true about Ali.</a:t>
            </a:r>
            <a:endParaRPr sz="1350" b="0" i="0" u="none" strike="noStrike" cap="none">
              <a:solidFill>
                <a:schemeClr val="dk1"/>
              </a:solidFill>
              <a:latin typeface="Calibri"/>
              <a:ea typeface="Calibri"/>
              <a:cs typeface="Calibri"/>
              <a:sym typeface="Calibri"/>
            </a:endParaRPr>
          </a:p>
        </p:txBody>
      </p:sp>
      <p:graphicFrame>
        <p:nvGraphicFramePr>
          <p:cNvPr id="225" name="Google Shape;225;p13"/>
          <p:cNvGraphicFramePr/>
          <p:nvPr/>
        </p:nvGraphicFramePr>
        <p:xfrm>
          <a:off x="457200" y="3520440"/>
          <a:ext cx="10607050" cy="2514625"/>
        </p:xfrm>
        <a:graphic>
          <a:graphicData uri="http://schemas.openxmlformats.org/drawingml/2006/table">
            <a:tbl>
              <a:tblPr>
                <a:noFill/>
                <a:tableStyleId>{18CE5CEB-0992-447E-8985-1B7A4AD8BB01}</a:tableStyleId>
              </a:tblPr>
              <a:tblGrid>
                <a:gridCol w="2743200">
                  <a:extLst>
                    <a:ext uri="{9D8B030D-6E8A-4147-A177-3AD203B41FA5}">
                      <a16:colId xmlns:a16="http://schemas.microsoft.com/office/drawing/2014/main" val="20000"/>
                    </a:ext>
                  </a:extLst>
                </a:gridCol>
                <a:gridCol w="3931925">
                  <a:extLst>
                    <a:ext uri="{9D8B030D-6E8A-4147-A177-3AD203B41FA5}">
                      <a16:colId xmlns:a16="http://schemas.microsoft.com/office/drawing/2014/main" val="20001"/>
                    </a:ext>
                  </a:extLst>
                </a:gridCol>
                <a:gridCol w="3931925">
                  <a:extLst>
                    <a:ext uri="{9D8B030D-6E8A-4147-A177-3AD203B41FA5}">
                      <a16:colId xmlns:a16="http://schemas.microsoft.com/office/drawing/2014/main" val="20002"/>
                    </a:ext>
                  </a:extLst>
                </a:gridCol>
              </a:tblGrid>
              <a:tr h="502925">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Feature</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C0531A"/>
                    </a:solidFill>
                  </a:tcPr>
                </a:tc>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Closed-World (CWA)</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C0531A"/>
                    </a:solidFill>
                  </a:tcPr>
                </a:tc>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Open-World (OWA)</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C0531A"/>
                    </a:solidFill>
                  </a:tcPr>
                </a:tc>
                <a:extLst>
                  <a:ext uri="{0D108BD9-81ED-4DB2-BD59-A6C34878D82A}">
                    <a16:rowId xmlns:a16="http://schemas.microsoft.com/office/drawing/2014/main" val="10000"/>
                  </a:ext>
                </a:extLst>
              </a:tr>
              <a:tr h="502925">
                <a:tc>
                  <a:txBody>
                    <a:bodyPr/>
                    <a:lstStyle/>
                    <a:p>
                      <a:pPr marL="0" marR="0" lvl="0" indent="0" algn="l" rtl="0">
                        <a:spcBef>
                          <a:spcPts val="0"/>
                        </a:spcBef>
                        <a:spcAft>
                          <a:spcPts val="0"/>
                        </a:spcAft>
                        <a:buClr>
                          <a:srgbClr val="404040"/>
                        </a:buClr>
                        <a:buSzPts val="1300"/>
                        <a:buFont typeface="Calibri"/>
                        <a:buNone/>
                      </a:pPr>
                      <a:r>
                        <a:rPr lang="en-US" sz="1300" u="none" strike="noStrike" cap="none">
                          <a:solidFill>
                            <a:srgbClr val="404040"/>
                          </a:solidFill>
                          <a:latin typeface="Calibri"/>
                          <a:ea typeface="Calibri"/>
                          <a:cs typeface="Calibri"/>
                          <a:sym typeface="Calibri"/>
                        </a:rPr>
                        <a:t>Missing fact treated as</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300"/>
                        <a:buFont typeface="Calibri"/>
                        <a:buNone/>
                      </a:pPr>
                      <a:r>
                        <a:rPr lang="en-US" sz="1300" u="none" strike="noStrike" cap="none">
                          <a:solidFill>
                            <a:srgbClr val="404040"/>
                          </a:solidFill>
                          <a:latin typeface="Calibri"/>
                          <a:ea typeface="Calibri"/>
                          <a:cs typeface="Calibri"/>
                          <a:sym typeface="Calibri"/>
                        </a:rPr>
                        <a:t>False</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300"/>
                        <a:buFont typeface="Calibri"/>
                        <a:buNone/>
                      </a:pPr>
                      <a:r>
                        <a:rPr lang="en-US" sz="1300" u="none" strike="noStrike" cap="none">
                          <a:solidFill>
                            <a:srgbClr val="404040"/>
                          </a:solidFill>
                          <a:latin typeface="Calibri"/>
                          <a:ea typeface="Calibri"/>
                          <a:cs typeface="Calibri"/>
                          <a:sym typeface="Calibri"/>
                        </a:rPr>
                        <a:t>Unknown</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502925">
                <a:tc>
                  <a:txBody>
                    <a:bodyPr/>
                    <a:lstStyle/>
                    <a:p>
                      <a:pPr marL="0" marR="0" lvl="0" indent="0" algn="l" rtl="0">
                        <a:spcBef>
                          <a:spcPts val="0"/>
                        </a:spcBef>
                        <a:spcAft>
                          <a:spcPts val="0"/>
                        </a:spcAft>
                        <a:buClr>
                          <a:srgbClr val="404040"/>
                        </a:buClr>
                        <a:buSzPts val="1300"/>
                        <a:buFont typeface="Calibri"/>
                        <a:buNone/>
                      </a:pPr>
                      <a:r>
                        <a:rPr lang="en-US" sz="1300" u="none" strike="noStrike" cap="none">
                          <a:solidFill>
                            <a:srgbClr val="404040"/>
                          </a:solidFill>
                          <a:latin typeface="Calibri"/>
                          <a:ea typeface="Calibri"/>
                          <a:cs typeface="Calibri"/>
                          <a:sym typeface="Calibri"/>
                        </a:rPr>
                        <a:t>Typical use case</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300"/>
                        <a:buFont typeface="Calibri"/>
                        <a:buNone/>
                      </a:pPr>
                      <a:r>
                        <a:rPr lang="en-US" sz="1300" u="none" strike="noStrike" cap="none">
                          <a:solidFill>
                            <a:srgbClr val="404040"/>
                          </a:solidFill>
                          <a:latin typeface="Calibri"/>
                          <a:ea typeface="Calibri"/>
                          <a:cs typeface="Calibri"/>
                          <a:sym typeface="Calibri"/>
                        </a:rPr>
                        <a:t>Databases</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300"/>
                        <a:buFont typeface="Calibri"/>
                        <a:buNone/>
                      </a:pPr>
                      <a:r>
                        <a:rPr lang="en-US" sz="1300" u="none" strike="noStrike" cap="none">
                          <a:solidFill>
                            <a:srgbClr val="404040"/>
                          </a:solidFill>
                          <a:latin typeface="Calibri"/>
                          <a:ea typeface="Calibri"/>
                          <a:cs typeface="Calibri"/>
                          <a:sym typeface="Calibri"/>
                        </a:rPr>
                        <a:t>Knowledge Graphs, Semantic Web</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extLst>
                  <a:ext uri="{0D108BD9-81ED-4DB2-BD59-A6C34878D82A}">
                    <a16:rowId xmlns:a16="http://schemas.microsoft.com/office/drawing/2014/main" val="10002"/>
                  </a:ext>
                </a:extLst>
              </a:tr>
              <a:tr h="502925">
                <a:tc>
                  <a:txBody>
                    <a:bodyPr/>
                    <a:lstStyle/>
                    <a:p>
                      <a:pPr marL="0" marR="0" lvl="0" indent="0" algn="l" rtl="0">
                        <a:spcBef>
                          <a:spcPts val="0"/>
                        </a:spcBef>
                        <a:spcAft>
                          <a:spcPts val="0"/>
                        </a:spcAft>
                        <a:buClr>
                          <a:srgbClr val="404040"/>
                        </a:buClr>
                        <a:buSzPts val="1300"/>
                        <a:buFont typeface="Calibri"/>
                        <a:buNone/>
                      </a:pPr>
                      <a:r>
                        <a:rPr lang="en-US" sz="1300" u="none" strike="noStrike" cap="none">
                          <a:solidFill>
                            <a:srgbClr val="404040"/>
                          </a:solidFill>
                          <a:latin typeface="Calibri"/>
                          <a:ea typeface="Calibri"/>
                          <a:cs typeface="Calibri"/>
                          <a:sym typeface="Calibri"/>
                        </a:rPr>
                        <a:t>Assumes knowledge base is</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300"/>
                        <a:buFont typeface="Calibri"/>
                        <a:buNone/>
                      </a:pPr>
                      <a:r>
                        <a:rPr lang="en-US" sz="1300" u="none" strike="noStrike" cap="none">
                          <a:solidFill>
                            <a:srgbClr val="404040"/>
                          </a:solidFill>
                          <a:latin typeface="Calibri"/>
                          <a:ea typeface="Calibri"/>
                          <a:cs typeface="Calibri"/>
                          <a:sym typeface="Calibri"/>
                        </a:rPr>
                        <a:t>Complete</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300"/>
                        <a:buFont typeface="Calibri"/>
                        <a:buNone/>
                      </a:pPr>
                      <a:r>
                        <a:rPr lang="en-US" sz="1300" u="none" strike="noStrike" cap="none">
                          <a:solidFill>
                            <a:srgbClr val="404040"/>
                          </a:solidFill>
                          <a:latin typeface="Calibri"/>
                          <a:ea typeface="Calibri"/>
                          <a:cs typeface="Calibri"/>
                          <a:sym typeface="Calibri"/>
                        </a:rPr>
                        <a:t>Possibly incomplete</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502925">
                <a:tc>
                  <a:txBody>
                    <a:bodyPr/>
                    <a:lstStyle/>
                    <a:p>
                      <a:pPr marL="0" marR="0" lvl="0" indent="0" algn="l" rtl="0">
                        <a:spcBef>
                          <a:spcPts val="0"/>
                        </a:spcBef>
                        <a:spcAft>
                          <a:spcPts val="0"/>
                        </a:spcAft>
                        <a:buClr>
                          <a:srgbClr val="404040"/>
                        </a:buClr>
                        <a:buSzPts val="1300"/>
                        <a:buFont typeface="Calibri"/>
                        <a:buNone/>
                      </a:pPr>
                      <a:r>
                        <a:rPr lang="en-US" sz="1300" u="none" strike="noStrike" cap="none">
                          <a:solidFill>
                            <a:srgbClr val="404040"/>
                          </a:solidFill>
                          <a:latin typeface="Calibri"/>
                          <a:ea typeface="Calibri"/>
                          <a:cs typeface="Calibri"/>
                          <a:sym typeface="Calibri"/>
                        </a:rPr>
                        <a:t>Risk if assumption wrong</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300"/>
                        <a:buFont typeface="Calibri"/>
                        <a:buNone/>
                      </a:pPr>
                      <a:r>
                        <a:rPr lang="en-US" sz="1300" u="none" strike="noStrike" cap="none">
                          <a:solidFill>
                            <a:srgbClr val="404040"/>
                          </a:solidFill>
                          <a:latin typeface="Calibri"/>
                          <a:ea typeface="Calibri"/>
                          <a:cs typeface="Calibri"/>
                          <a:sym typeface="Calibri"/>
                        </a:rPr>
                        <a:t>False negatives (wrongly says "no")</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300"/>
                        <a:buFont typeface="Calibri"/>
                        <a:buNone/>
                      </a:pPr>
                      <a:r>
                        <a:rPr lang="en-US" sz="1300" u="none" strike="noStrike" cap="none">
                          <a:solidFill>
                            <a:srgbClr val="404040"/>
                          </a:solidFill>
                          <a:latin typeface="Calibri"/>
                          <a:ea typeface="Calibri"/>
                          <a:cs typeface="Calibri"/>
                          <a:sym typeface="Calibri"/>
                        </a:rPr>
                        <a:t>Cannot confirm or deny — less decisive</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extLst>
                  <a:ext uri="{0D108BD9-81ED-4DB2-BD59-A6C34878D82A}">
                    <a16:rowId xmlns:a16="http://schemas.microsoft.com/office/drawing/2014/main" val="10004"/>
                  </a:ext>
                </a:extLst>
              </a:tr>
            </a:tbl>
          </a:graphicData>
        </a:graphic>
      </p:graphicFrame>
      <p:sp>
        <p:nvSpPr>
          <p:cNvPr id="226" name="Google Shape;226;p13"/>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5 / 40</a:t>
            </a:r>
            <a:endParaRPr sz="950" b="0" i="0" u="none" strike="noStrike" cap="none">
              <a:solidFill>
                <a:schemeClr val="dk1"/>
              </a:solidFill>
              <a:latin typeface="Calibri"/>
              <a:ea typeface="Calibri"/>
              <a:cs typeface="Calibri"/>
              <a:sym typeface="Calibri"/>
            </a:endParaRPr>
          </a:p>
        </p:txBody>
      </p:sp>
      <p:sp>
        <p:nvSpPr>
          <p:cNvPr id="227" name="Google Shape;227;p13"/>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2"/>
        <p:cNvGrpSpPr/>
        <p:nvPr/>
      </p:nvGrpSpPr>
      <p:grpSpPr>
        <a:xfrm>
          <a:off x="0" y="0"/>
          <a:ext cx="0" cy="0"/>
          <a:chOff x="0" y="0"/>
          <a:chExt cx="0" cy="0"/>
        </a:xfrm>
      </p:grpSpPr>
      <p:sp>
        <p:nvSpPr>
          <p:cNvPr id="233" name="Google Shape;233;p14"/>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531A"/>
              </a:buClr>
              <a:buSzPts val="1100"/>
              <a:buFont typeface="Calibri"/>
              <a:buNone/>
            </a:pPr>
            <a:r>
              <a:rPr lang="en-US" sz="1100" b="1" i="0" u="none" strike="noStrike" cap="none">
                <a:solidFill>
                  <a:srgbClr val="C0531A"/>
                </a:solidFill>
                <a:latin typeface="Calibri"/>
                <a:ea typeface="Calibri"/>
                <a:cs typeface="Calibri"/>
                <a:sym typeface="Calibri"/>
              </a:rPr>
              <a:t>1.7 BELIEF REVISION</a:t>
            </a:r>
            <a:endParaRPr sz="1100" b="0" i="0" u="none" strike="noStrike" cap="none">
              <a:solidFill>
                <a:schemeClr val="dk1"/>
              </a:solidFill>
              <a:latin typeface="Calibri"/>
              <a:ea typeface="Calibri"/>
              <a:cs typeface="Calibri"/>
              <a:sym typeface="Calibri"/>
            </a:endParaRPr>
          </a:p>
        </p:txBody>
      </p:sp>
      <p:sp>
        <p:nvSpPr>
          <p:cNvPr id="234" name="Google Shape;234;p14"/>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Belief Revision</a:t>
            </a:r>
            <a:endParaRPr sz="2300" b="0" i="0" u="none" strike="noStrike" cap="none">
              <a:solidFill>
                <a:schemeClr val="dk1"/>
              </a:solidFill>
              <a:latin typeface="Calibri"/>
              <a:ea typeface="Calibri"/>
              <a:cs typeface="Calibri"/>
              <a:sym typeface="Calibri"/>
            </a:endParaRPr>
          </a:p>
        </p:txBody>
      </p:sp>
      <p:cxnSp>
        <p:nvCxnSpPr>
          <p:cNvPr id="235" name="Google Shape;235;p14"/>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236" name="Google Shape;236;p14"/>
          <p:cNvSpPr/>
          <p:nvPr/>
        </p:nvSpPr>
        <p:spPr>
          <a:xfrm>
            <a:off x="457200" y="1645920"/>
            <a:ext cx="10607040" cy="86868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404040"/>
              </a:buClr>
              <a:buSzPts val="1500"/>
              <a:buFont typeface="Calibri"/>
              <a:buNone/>
            </a:pPr>
            <a:r>
              <a:rPr lang="en-US" sz="1500" b="1" i="1" u="none" strike="noStrike" cap="none">
                <a:solidFill>
                  <a:srgbClr val="404040"/>
                </a:solidFill>
                <a:latin typeface="Calibri"/>
                <a:ea typeface="Calibri"/>
                <a:cs typeface="Calibri"/>
                <a:sym typeface="Calibri"/>
              </a:rPr>
              <a:t>Belief revision</a:t>
            </a:r>
            <a:r>
              <a:rPr lang="en-US" sz="1500" b="0" i="0" u="none" strike="noStrike" cap="none">
                <a:solidFill>
                  <a:srgbClr val="404040"/>
                </a:solidFill>
                <a:latin typeface="Calibri"/>
                <a:ea typeface="Calibri"/>
                <a:cs typeface="Calibri"/>
                <a:sym typeface="Calibri"/>
              </a:rPr>
              <a:t> is the general process of modifying beliefs when new information arrives — it is the broader principle that default reasoning, CWA, and truth maintenance all serve.</a:t>
            </a:r>
            <a:endParaRPr sz="1500" b="0" i="0" u="none" strike="noStrike" cap="none">
              <a:solidFill>
                <a:schemeClr val="dk1"/>
              </a:solidFill>
              <a:latin typeface="Calibri"/>
              <a:ea typeface="Calibri"/>
              <a:cs typeface="Calibri"/>
              <a:sym typeface="Calibri"/>
            </a:endParaRPr>
          </a:p>
        </p:txBody>
      </p:sp>
      <p:sp>
        <p:nvSpPr>
          <p:cNvPr id="237" name="Google Shape;237;p14"/>
          <p:cNvSpPr/>
          <p:nvPr/>
        </p:nvSpPr>
        <p:spPr>
          <a:xfrm>
            <a:off x="1005840" y="2697480"/>
            <a:ext cx="8778240" cy="960120"/>
          </a:xfrm>
          <a:prstGeom prst="rect">
            <a:avLst/>
          </a:prstGeom>
          <a:solidFill>
            <a:srgbClr val="F4F8F8"/>
          </a:solidFill>
          <a:ln w="9525" cap="flat" cmpd="sng">
            <a:solidFill>
              <a:srgbClr val="DDE3E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4"/>
          <p:cNvSpPr/>
          <p:nvPr/>
        </p:nvSpPr>
        <p:spPr>
          <a:xfrm>
            <a:off x="1234440" y="2788920"/>
            <a:ext cx="8321040" cy="77724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ts val="0"/>
              </a:spcBef>
              <a:spcAft>
                <a:spcPts val="0"/>
              </a:spcAft>
              <a:buClr>
                <a:srgbClr val="404040"/>
              </a:buClr>
              <a:buSzPts val="1500"/>
              <a:buFont typeface="Courier New"/>
              <a:buNone/>
            </a:pPr>
            <a:r>
              <a:rPr lang="en-US" sz="1500" b="0" i="0" u="none" strike="noStrike" cap="none">
                <a:solidFill>
                  <a:srgbClr val="404040"/>
                </a:solidFill>
                <a:latin typeface="Courier New"/>
                <a:ea typeface="Courier New"/>
                <a:cs typeface="Courier New"/>
                <a:sym typeface="Courier New"/>
              </a:rPr>
              <a:t>Knowledge → Inference → Conclusion → New Evidence</a:t>
            </a:r>
            <a:endParaRPr sz="1500" b="0" i="0" u="none" strike="noStrike" cap="none">
              <a:solidFill>
                <a:schemeClr val="dk1"/>
              </a:solidFill>
              <a:latin typeface="Calibri"/>
              <a:ea typeface="Calibri"/>
              <a:cs typeface="Calibri"/>
              <a:sym typeface="Calibri"/>
            </a:endParaRPr>
          </a:p>
          <a:p>
            <a:pPr marL="0" marR="0" lvl="0" indent="0" algn="ctr" rtl="0">
              <a:lnSpc>
                <a:spcPct val="115000"/>
              </a:lnSpc>
              <a:spcBef>
                <a:spcPts val="0"/>
              </a:spcBef>
              <a:spcAft>
                <a:spcPts val="0"/>
              </a:spcAft>
              <a:buClr>
                <a:srgbClr val="404040"/>
              </a:buClr>
              <a:buSzPts val="1500"/>
              <a:buFont typeface="Courier New"/>
              <a:buNone/>
            </a:pPr>
            <a:r>
              <a:rPr lang="en-US" sz="1500" b="0" i="0" u="none" strike="noStrike" cap="none">
                <a:solidFill>
                  <a:srgbClr val="404040"/>
                </a:solidFill>
                <a:latin typeface="Courier New"/>
                <a:ea typeface="Courier New"/>
                <a:cs typeface="Courier New"/>
                <a:sym typeface="Courier New"/>
              </a:rPr>
              <a:t>  → Belief Revision → Updated Conclusion</a:t>
            </a:r>
            <a:endParaRPr sz="1500" b="0" i="0" u="none" strike="noStrike" cap="none">
              <a:solidFill>
                <a:schemeClr val="dk1"/>
              </a:solidFill>
              <a:latin typeface="Calibri"/>
              <a:ea typeface="Calibri"/>
              <a:cs typeface="Calibri"/>
              <a:sym typeface="Calibri"/>
            </a:endParaRPr>
          </a:p>
        </p:txBody>
      </p:sp>
      <p:sp>
        <p:nvSpPr>
          <p:cNvPr id="239" name="Google Shape;239;p14"/>
          <p:cNvSpPr/>
          <p:nvPr/>
        </p:nvSpPr>
        <p:spPr>
          <a:xfrm>
            <a:off x="457200" y="4023360"/>
            <a:ext cx="10607040" cy="137160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404040"/>
              </a:buClr>
              <a:buSzPts val="1500"/>
              <a:buFont typeface="Calibri"/>
              <a:buNone/>
            </a:pPr>
            <a:r>
              <a:rPr lang="en-US" sz="1500" b="1" i="0" u="none" strike="noStrike" cap="none">
                <a:solidFill>
                  <a:srgbClr val="404040"/>
                </a:solidFill>
                <a:latin typeface="Calibri"/>
                <a:ea typeface="Calibri"/>
                <a:cs typeface="Calibri"/>
                <a:sym typeface="Calibri"/>
              </a:rPr>
              <a:t>Example:  </a:t>
            </a:r>
            <a:r>
              <a:rPr lang="en-US" sz="1500" b="0" i="0" u="none" strike="noStrike" cap="none">
                <a:solidFill>
                  <a:srgbClr val="404040"/>
                </a:solidFill>
                <a:latin typeface="Calibri"/>
                <a:ea typeface="Calibri"/>
                <a:cs typeface="Calibri"/>
                <a:sym typeface="Calibri"/>
              </a:rPr>
              <a:t>your initial belief is "the weather is sunny," so you decide to go for a picnic. A storm warning is issued. Your belief is revised to "bad weather is expected," and your decision changes accordingly. This cycle — belief, evidence, revision, updated belief — is the heart of intelligent decision-making under uncertainty.</a:t>
            </a:r>
            <a:endParaRPr sz="1500" b="0" i="0" u="none" strike="noStrike" cap="none">
              <a:solidFill>
                <a:schemeClr val="dk1"/>
              </a:solidFill>
              <a:latin typeface="Calibri"/>
              <a:ea typeface="Calibri"/>
              <a:cs typeface="Calibri"/>
              <a:sym typeface="Calibri"/>
            </a:endParaRPr>
          </a:p>
        </p:txBody>
      </p:sp>
      <p:sp>
        <p:nvSpPr>
          <p:cNvPr id="240" name="Google Shape;240;p14"/>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5 / 40</a:t>
            </a:r>
            <a:endParaRPr sz="950" b="0" i="0" u="none" strike="noStrike" cap="none">
              <a:solidFill>
                <a:schemeClr val="dk1"/>
              </a:solidFill>
              <a:latin typeface="Calibri"/>
              <a:ea typeface="Calibri"/>
              <a:cs typeface="Calibri"/>
              <a:sym typeface="Calibri"/>
            </a:endParaRPr>
          </a:p>
        </p:txBody>
      </p:sp>
      <p:sp>
        <p:nvSpPr>
          <p:cNvPr id="241" name="Google Shape;241;p14"/>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6"/>
        <p:cNvGrpSpPr/>
        <p:nvPr/>
      </p:nvGrpSpPr>
      <p:grpSpPr>
        <a:xfrm>
          <a:off x="0" y="0"/>
          <a:ext cx="0" cy="0"/>
          <a:chOff x="0" y="0"/>
          <a:chExt cx="0" cy="0"/>
        </a:xfrm>
      </p:grpSpPr>
      <p:sp>
        <p:nvSpPr>
          <p:cNvPr id="247" name="Google Shape;247;p15"/>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531A"/>
              </a:buClr>
              <a:buSzPts val="1100"/>
              <a:buFont typeface="Calibri"/>
              <a:buNone/>
            </a:pPr>
            <a:r>
              <a:rPr lang="en-US" sz="1100" b="1" i="0" u="none" strike="noStrike" cap="none">
                <a:solidFill>
                  <a:srgbClr val="C0531A"/>
                </a:solidFill>
                <a:latin typeface="Calibri"/>
                <a:ea typeface="Calibri"/>
                <a:cs typeface="Calibri"/>
                <a:sym typeface="Calibri"/>
              </a:rPr>
              <a:t>1.8 TRUTH MAINTENANCE SYSTEMS</a:t>
            </a:r>
            <a:endParaRPr sz="1100" b="0" i="0" u="none" strike="noStrike" cap="none">
              <a:solidFill>
                <a:schemeClr val="dk1"/>
              </a:solidFill>
              <a:latin typeface="Calibri"/>
              <a:ea typeface="Calibri"/>
              <a:cs typeface="Calibri"/>
              <a:sym typeface="Calibri"/>
            </a:endParaRPr>
          </a:p>
        </p:txBody>
      </p:sp>
      <p:sp>
        <p:nvSpPr>
          <p:cNvPr id="248" name="Google Shape;248;p15"/>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Truth Maintenance Systems (TMS)</a:t>
            </a:r>
            <a:endParaRPr sz="2300" b="0" i="0" u="none" strike="noStrike" cap="none">
              <a:solidFill>
                <a:schemeClr val="dk1"/>
              </a:solidFill>
              <a:latin typeface="Calibri"/>
              <a:ea typeface="Calibri"/>
              <a:cs typeface="Calibri"/>
              <a:sym typeface="Calibri"/>
            </a:endParaRPr>
          </a:p>
        </p:txBody>
      </p:sp>
      <p:cxnSp>
        <p:nvCxnSpPr>
          <p:cNvPr id="249" name="Google Shape;249;p15"/>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250" name="Google Shape;250;p15"/>
          <p:cNvSpPr/>
          <p:nvPr/>
        </p:nvSpPr>
        <p:spPr>
          <a:xfrm>
            <a:off x="457200" y="1600200"/>
            <a:ext cx="10607040" cy="118872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404040"/>
              </a:buClr>
              <a:buSzPts val="1450"/>
              <a:buFont typeface="Calibri"/>
              <a:buNone/>
            </a:pPr>
            <a:r>
              <a:rPr lang="en-US" sz="1450" b="0" i="0" u="none" strike="noStrike" cap="none">
                <a:solidFill>
                  <a:srgbClr val="404040"/>
                </a:solidFill>
                <a:latin typeface="Calibri"/>
                <a:ea typeface="Calibri"/>
                <a:cs typeface="Calibri"/>
                <a:sym typeface="Calibri"/>
              </a:rPr>
              <a:t>As a knowledge base grows, contradictions inevitably appear. A </a:t>
            </a:r>
            <a:r>
              <a:rPr lang="en-US" sz="1450" b="1" i="0" u="none" strike="noStrike" cap="none">
                <a:solidFill>
                  <a:srgbClr val="404040"/>
                </a:solidFill>
                <a:latin typeface="Calibri"/>
                <a:ea typeface="Calibri"/>
                <a:cs typeface="Calibri"/>
                <a:sym typeface="Calibri"/>
              </a:rPr>
              <a:t>Truth Maintenance System</a:t>
            </a:r>
            <a:r>
              <a:rPr lang="en-US" sz="1450" b="0" i="0" u="none" strike="noStrike" cap="none">
                <a:solidFill>
                  <a:srgbClr val="404040"/>
                </a:solidFill>
                <a:latin typeface="Calibri"/>
                <a:ea typeface="Calibri"/>
                <a:cs typeface="Calibri"/>
                <a:sym typeface="Calibri"/>
              </a:rPr>
              <a:t> keeps track of why each belief was added — which facts justify it — so that when a supporting fact disappears or is contradicted, the system can automatically retract every conclusion that depended on it, like a chain reaction of "un-believing."</a:t>
            </a:r>
            <a:endParaRPr sz="1450" b="0" i="0" u="none" strike="noStrike" cap="none">
              <a:solidFill>
                <a:schemeClr val="dk1"/>
              </a:solidFill>
              <a:latin typeface="Calibri"/>
              <a:ea typeface="Calibri"/>
              <a:cs typeface="Calibri"/>
              <a:sym typeface="Calibri"/>
            </a:endParaRPr>
          </a:p>
        </p:txBody>
      </p:sp>
      <p:sp>
        <p:nvSpPr>
          <p:cNvPr id="251" name="Google Shape;251;p15"/>
          <p:cNvSpPr/>
          <p:nvPr/>
        </p:nvSpPr>
        <p:spPr>
          <a:xfrm>
            <a:off x="457200" y="2971800"/>
            <a:ext cx="3502152" cy="457200"/>
          </a:xfrm>
          <a:prstGeom prst="rect">
            <a:avLst/>
          </a:prstGeom>
          <a:solidFill>
            <a:srgbClr val="1F4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5"/>
          <p:cNvSpPr/>
          <p:nvPr/>
        </p:nvSpPr>
        <p:spPr>
          <a:xfrm>
            <a:off x="457200" y="2971800"/>
            <a:ext cx="3502152"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Beliefs</a:t>
            </a:r>
            <a:endParaRPr sz="1400" b="0" i="0" u="none" strike="noStrike" cap="none">
              <a:solidFill>
                <a:schemeClr val="dk1"/>
              </a:solidFill>
              <a:latin typeface="Calibri"/>
              <a:ea typeface="Calibri"/>
              <a:cs typeface="Calibri"/>
              <a:sym typeface="Calibri"/>
            </a:endParaRPr>
          </a:p>
        </p:txBody>
      </p:sp>
      <p:sp>
        <p:nvSpPr>
          <p:cNvPr id="253" name="Google Shape;253;p15"/>
          <p:cNvSpPr/>
          <p:nvPr/>
        </p:nvSpPr>
        <p:spPr>
          <a:xfrm>
            <a:off x="457200" y="3456432"/>
            <a:ext cx="3502152" cy="1005840"/>
          </a:xfrm>
          <a:prstGeom prst="rect">
            <a:avLst/>
          </a:prstGeom>
          <a:solidFill>
            <a:srgbClr val="F7F9FA"/>
          </a:solidFill>
          <a:ln w="9525" cap="flat" cmpd="sng">
            <a:solidFill>
              <a:srgbClr val="DDE3E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5"/>
          <p:cNvSpPr/>
          <p:nvPr/>
        </p:nvSpPr>
        <p:spPr>
          <a:xfrm>
            <a:off x="594360" y="3456432"/>
            <a:ext cx="3227832" cy="10058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404040"/>
              </a:buClr>
              <a:buSzPts val="1250"/>
              <a:buFont typeface="Calibri"/>
              <a:buNone/>
            </a:pPr>
            <a:r>
              <a:rPr lang="en-US" sz="1250" b="0" i="0" u="none" strike="noStrike" cap="none">
                <a:solidFill>
                  <a:srgbClr val="404040"/>
                </a:solidFill>
                <a:latin typeface="Calibri"/>
                <a:ea typeface="Calibri"/>
                <a:cs typeface="Calibri"/>
                <a:sym typeface="Calibri"/>
              </a:rPr>
              <a:t>Things currently considered true</a:t>
            </a:r>
            <a:endParaRPr sz="1250" b="0" i="0" u="none" strike="noStrike" cap="none">
              <a:solidFill>
                <a:schemeClr val="dk1"/>
              </a:solidFill>
              <a:latin typeface="Calibri"/>
              <a:ea typeface="Calibri"/>
              <a:cs typeface="Calibri"/>
              <a:sym typeface="Calibri"/>
            </a:endParaRPr>
          </a:p>
        </p:txBody>
      </p:sp>
      <p:sp>
        <p:nvSpPr>
          <p:cNvPr id="255" name="Google Shape;255;p15"/>
          <p:cNvSpPr/>
          <p:nvPr/>
        </p:nvSpPr>
        <p:spPr>
          <a:xfrm>
            <a:off x="4005072" y="2971800"/>
            <a:ext cx="3502152" cy="457200"/>
          </a:xfrm>
          <a:prstGeom prst="rect">
            <a:avLst/>
          </a:prstGeom>
          <a:solidFill>
            <a:srgbClr val="2E8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5"/>
          <p:cNvSpPr/>
          <p:nvPr/>
        </p:nvSpPr>
        <p:spPr>
          <a:xfrm>
            <a:off x="4005072" y="2971800"/>
            <a:ext cx="3502152"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Justifications</a:t>
            </a:r>
            <a:endParaRPr sz="1400" b="0" i="0" u="none" strike="noStrike" cap="none">
              <a:solidFill>
                <a:schemeClr val="dk1"/>
              </a:solidFill>
              <a:latin typeface="Calibri"/>
              <a:ea typeface="Calibri"/>
              <a:cs typeface="Calibri"/>
              <a:sym typeface="Calibri"/>
            </a:endParaRPr>
          </a:p>
        </p:txBody>
      </p:sp>
      <p:sp>
        <p:nvSpPr>
          <p:cNvPr id="257" name="Google Shape;257;p15"/>
          <p:cNvSpPr/>
          <p:nvPr/>
        </p:nvSpPr>
        <p:spPr>
          <a:xfrm>
            <a:off x="4005072" y="3456432"/>
            <a:ext cx="3502152" cy="1005840"/>
          </a:xfrm>
          <a:prstGeom prst="rect">
            <a:avLst/>
          </a:prstGeom>
          <a:solidFill>
            <a:srgbClr val="F7F9FA"/>
          </a:solidFill>
          <a:ln w="9525" cap="flat" cmpd="sng">
            <a:solidFill>
              <a:srgbClr val="DDE3E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5"/>
          <p:cNvSpPr/>
          <p:nvPr/>
        </p:nvSpPr>
        <p:spPr>
          <a:xfrm>
            <a:off x="4142232" y="3456432"/>
            <a:ext cx="3227832" cy="10058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404040"/>
              </a:buClr>
              <a:buSzPts val="1250"/>
              <a:buFont typeface="Calibri"/>
              <a:buNone/>
            </a:pPr>
            <a:r>
              <a:rPr lang="en-US" sz="1250" b="0" i="0" u="none" strike="noStrike" cap="none">
                <a:solidFill>
                  <a:srgbClr val="404040"/>
                </a:solidFill>
                <a:latin typeface="Calibri"/>
                <a:ea typeface="Calibri"/>
                <a:cs typeface="Calibri"/>
                <a:sym typeface="Calibri"/>
              </a:rPr>
              <a:t>The reasons supporting each belief</a:t>
            </a:r>
            <a:endParaRPr sz="1250" b="0" i="0" u="none" strike="noStrike" cap="none">
              <a:solidFill>
                <a:schemeClr val="dk1"/>
              </a:solidFill>
              <a:latin typeface="Calibri"/>
              <a:ea typeface="Calibri"/>
              <a:cs typeface="Calibri"/>
              <a:sym typeface="Calibri"/>
            </a:endParaRPr>
          </a:p>
        </p:txBody>
      </p:sp>
      <p:sp>
        <p:nvSpPr>
          <p:cNvPr id="259" name="Google Shape;259;p15"/>
          <p:cNvSpPr/>
          <p:nvPr/>
        </p:nvSpPr>
        <p:spPr>
          <a:xfrm>
            <a:off x="7552944" y="2971800"/>
            <a:ext cx="3502152" cy="457200"/>
          </a:xfrm>
          <a:prstGeom prst="rect">
            <a:avLst/>
          </a:prstGeom>
          <a:solidFill>
            <a:srgbClr val="C053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5"/>
          <p:cNvSpPr/>
          <p:nvPr/>
        </p:nvSpPr>
        <p:spPr>
          <a:xfrm>
            <a:off x="7552944" y="2971800"/>
            <a:ext cx="3502152"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Dependencies</a:t>
            </a:r>
            <a:endParaRPr sz="1400" b="0" i="0" u="none" strike="noStrike" cap="none">
              <a:solidFill>
                <a:schemeClr val="dk1"/>
              </a:solidFill>
              <a:latin typeface="Calibri"/>
              <a:ea typeface="Calibri"/>
              <a:cs typeface="Calibri"/>
              <a:sym typeface="Calibri"/>
            </a:endParaRPr>
          </a:p>
        </p:txBody>
      </p:sp>
      <p:sp>
        <p:nvSpPr>
          <p:cNvPr id="261" name="Google Shape;261;p15"/>
          <p:cNvSpPr/>
          <p:nvPr/>
        </p:nvSpPr>
        <p:spPr>
          <a:xfrm>
            <a:off x="7552944" y="3456432"/>
            <a:ext cx="3502152" cy="1005840"/>
          </a:xfrm>
          <a:prstGeom prst="rect">
            <a:avLst/>
          </a:prstGeom>
          <a:solidFill>
            <a:srgbClr val="F7F9FA"/>
          </a:solidFill>
          <a:ln w="9525" cap="flat" cmpd="sng">
            <a:solidFill>
              <a:srgbClr val="DDE3E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5"/>
          <p:cNvSpPr/>
          <p:nvPr/>
        </p:nvSpPr>
        <p:spPr>
          <a:xfrm>
            <a:off x="7690104" y="3456432"/>
            <a:ext cx="3227832" cy="10058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404040"/>
              </a:buClr>
              <a:buSzPts val="1250"/>
              <a:buFont typeface="Calibri"/>
              <a:buNone/>
            </a:pPr>
            <a:r>
              <a:rPr lang="en-US" sz="1250" b="0" i="0" u="none" strike="noStrike" cap="none">
                <a:solidFill>
                  <a:srgbClr val="404040"/>
                </a:solidFill>
                <a:latin typeface="Calibri"/>
                <a:ea typeface="Calibri"/>
                <a:cs typeface="Calibri"/>
                <a:sym typeface="Calibri"/>
              </a:rPr>
              <a:t>Relationships between beliefs, so removing one can cascade to others</a:t>
            </a:r>
            <a:endParaRPr sz="1250" b="0" i="0" u="none" strike="noStrike" cap="none">
              <a:solidFill>
                <a:schemeClr val="dk1"/>
              </a:solidFill>
              <a:latin typeface="Calibri"/>
              <a:ea typeface="Calibri"/>
              <a:cs typeface="Calibri"/>
              <a:sym typeface="Calibri"/>
            </a:endParaRPr>
          </a:p>
        </p:txBody>
      </p:sp>
      <p:sp>
        <p:nvSpPr>
          <p:cNvPr id="263" name="Google Shape;263;p15"/>
          <p:cNvSpPr/>
          <p:nvPr/>
        </p:nvSpPr>
        <p:spPr>
          <a:xfrm>
            <a:off x="457200" y="4663440"/>
            <a:ext cx="10607040" cy="1508760"/>
          </a:xfrm>
          <a:prstGeom prst="rect">
            <a:avLst/>
          </a:prstGeom>
          <a:solidFill>
            <a:srgbClr val="FFF6EC"/>
          </a:solidFill>
          <a:ln w="9525" cap="flat" cmpd="sng">
            <a:solidFill>
              <a:srgbClr val="C0531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5"/>
          <p:cNvSpPr/>
          <p:nvPr/>
        </p:nvSpPr>
        <p:spPr>
          <a:xfrm>
            <a:off x="457200" y="4663440"/>
            <a:ext cx="64008" cy="1508760"/>
          </a:xfrm>
          <a:prstGeom prst="rect">
            <a:avLst/>
          </a:prstGeom>
          <a:solidFill>
            <a:srgbClr val="C053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5"/>
          <p:cNvSpPr/>
          <p:nvPr/>
        </p:nvSpPr>
        <p:spPr>
          <a:xfrm>
            <a:off x="685800" y="4773168"/>
            <a:ext cx="102412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531A"/>
              </a:buClr>
              <a:buSzPts val="1050"/>
              <a:buFont typeface="Calibri"/>
              <a:buNone/>
            </a:pPr>
            <a:r>
              <a:rPr lang="en-US" sz="1050" b="1" i="0" u="none" strike="noStrike" cap="none">
                <a:solidFill>
                  <a:srgbClr val="C0531A"/>
                </a:solidFill>
                <a:latin typeface="Calibri"/>
                <a:ea typeface="Calibri"/>
                <a:cs typeface="Calibri"/>
                <a:sym typeface="Calibri"/>
              </a:rPr>
              <a:t>BUILDING ANALOGY</a:t>
            </a:r>
            <a:endParaRPr sz="1050" b="0" i="0" u="none" strike="noStrike" cap="none">
              <a:solidFill>
                <a:schemeClr val="dk1"/>
              </a:solidFill>
              <a:latin typeface="Calibri"/>
              <a:ea typeface="Calibri"/>
              <a:cs typeface="Calibri"/>
              <a:sym typeface="Calibri"/>
            </a:endParaRPr>
          </a:p>
        </p:txBody>
      </p:sp>
      <p:sp>
        <p:nvSpPr>
          <p:cNvPr id="266" name="Google Shape;266;p15"/>
          <p:cNvSpPr/>
          <p:nvPr/>
        </p:nvSpPr>
        <p:spPr>
          <a:xfrm>
            <a:off x="685800" y="5065776"/>
            <a:ext cx="10195560" cy="101498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350"/>
              <a:buFont typeface="Calibri"/>
              <a:buNone/>
            </a:pPr>
            <a:r>
              <a:rPr lang="en-US" sz="1350" b="0" i="0" u="none" strike="noStrike" cap="none">
                <a:solidFill>
                  <a:srgbClr val="404040"/>
                </a:solidFill>
                <a:latin typeface="Calibri"/>
                <a:ea typeface="Calibri"/>
                <a:cs typeface="Calibri"/>
                <a:sym typeface="Calibri"/>
              </a:rPr>
              <a:t>Think of beliefs as floors of a building, and justifications as the pillars holding each floor up. If a pillar (a supporting fact) is removed, the floor it supports collapses. Likewise, if the evidence behind a conclusion disappears, the conclusion itself must fall.</a:t>
            </a:r>
            <a:endParaRPr sz="1350" b="0" i="0" u="none" strike="noStrike" cap="none">
              <a:solidFill>
                <a:schemeClr val="dk1"/>
              </a:solidFill>
              <a:latin typeface="Calibri"/>
              <a:ea typeface="Calibri"/>
              <a:cs typeface="Calibri"/>
              <a:sym typeface="Calibri"/>
            </a:endParaRPr>
          </a:p>
        </p:txBody>
      </p:sp>
      <p:sp>
        <p:nvSpPr>
          <p:cNvPr id="267" name="Google Shape;267;p15"/>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6 / 40</a:t>
            </a:r>
            <a:endParaRPr sz="950" b="0" i="0" u="none" strike="noStrike" cap="none">
              <a:solidFill>
                <a:schemeClr val="dk1"/>
              </a:solidFill>
              <a:latin typeface="Calibri"/>
              <a:ea typeface="Calibri"/>
              <a:cs typeface="Calibri"/>
              <a:sym typeface="Calibri"/>
            </a:endParaRPr>
          </a:p>
        </p:txBody>
      </p:sp>
      <p:sp>
        <p:nvSpPr>
          <p:cNvPr id="268" name="Google Shape;268;p15"/>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3"/>
        <p:cNvGrpSpPr/>
        <p:nvPr/>
      </p:nvGrpSpPr>
      <p:grpSpPr>
        <a:xfrm>
          <a:off x="0" y="0"/>
          <a:ext cx="0" cy="0"/>
          <a:chOff x="0" y="0"/>
          <a:chExt cx="0" cy="0"/>
        </a:xfrm>
      </p:grpSpPr>
      <p:sp>
        <p:nvSpPr>
          <p:cNvPr id="274" name="Google Shape;274;p16"/>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531A"/>
              </a:buClr>
              <a:buSzPts val="1100"/>
              <a:buFont typeface="Calibri"/>
              <a:buNone/>
            </a:pPr>
            <a:r>
              <a:rPr lang="en-US" sz="1100" b="1" i="0" u="none" strike="noStrike" cap="none">
                <a:solidFill>
                  <a:srgbClr val="C0531A"/>
                </a:solidFill>
                <a:latin typeface="Calibri"/>
                <a:ea typeface="Calibri"/>
                <a:cs typeface="Calibri"/>
                <a:sym typeface="Calibri"/>
              </a:rPr>
              <a:t>1.8 TMS IN ACTION</a:t>
            </a:r>
            <a:endParaRPr sz="1100" b="0" i="0" u="none" strike="noStrike" cap="none">
              <a:solidFill>
                <a:schemeClr val="dk1"/>
              </a:solidFill>
              <a:latin typeface="Calibri"/>
              <a:ea typeface="Calibri"/>
              <a:cs typeface="Calibri"/>
              <a:sym typeface="Calibri"/>
            </a:endParaRPr>
          </a:p>
        </p:txBody>
      </p:sp>
      <p:sp>
        <p:nvSpPr>
          <p:cNvPr id="275" name="Google Shape;275;p16"/>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TMS Walkthrough — Road A Is Best, Until It Isn't</a:t>
            </a:r>
            <a:endParaRPr sz="2300" b="0" i="0" u="none" strike="noStrike" cap="none">
              <a:solidFill>
                <a:schemeClr val="dk1"/>
              </a:solidFill>
              <a:latin typeface="Calibri"/>
              <a:ea typeface="Calibri"/>
              <a:cs typeface="Calibri"/>
              <a:sym typeface="Calibri"/>
            </a:endParaRPr>
          </a:p>
        </p:txBody>
      </p:sp>
      <p:cxnSp>
        <p:nvCxnSpPr>
          <p:cNvPr id="276" name="Google Shape;276;p16"/>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277" name="Google Shape;277;p16"/>
          <p:cNvSpPr/>
          <p:nvPr/>
        </p:nvSpPr>
        <p:spPr>
          <a:xfrm>
            <a:off x="457200" y="1600200"/>
            <a:ext cx="10607040" cy="54864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404040"/>
              </a:buClr>
              <a:buSzPts val="1400"/>
              <a:buFont typeface="Calibri"/>
              <a:buNone/>
            </a:pPr>
            <a:r>
              <a:rPr lang="en-US" sz="1400" b="1" i="0" u="none" strike="noStrike" cap="none">
                <a:solidFill>
                  <a:srgbClr val="404040"/>
                </a:solidFill>
                <a:latin typeface="Calibri"/>
                <a:ea typeface="Calibri"/>
                <a:cs typeface="Calibri"/>
                <a:sym typeface="Calibri"/>
              </a:rPr>
              <a:t>Belief: </a:t>
            </a:r>
            <a:r>
              <a:rPr lang="en-US" sz="1400" b="0" i="0" u="none" strike="noStrike" cap="none">
                <a:solidFill>
                  <a:srgbClr val="404040"/>
                </a:solidFill>
                <a:latin typeface="Calibri"/>
                <a:ea typeface="Calibri"/>
                <a:cs typeface="Calibri"/>
                <a:sym typeface="Calibri"/>
              </a:rPr>
              <a:t>"Road A is best." Supported by: no traffic and shortest distance. Later: heavy traffic is reported on Road A.</a:t>
            </a:r>
            <a:endParaRPr sz="1400" b="0" i="0" u="none" strike="noStrike" cap="none">
              <a:solidFill>
                <a:schemeClr val="dk1"/>
              </a:solidFill>
              <a:latin typeface="Calibri"/>
              <a:ea typeface="Calibri"/>
              <a:cs typeface="Calibri"/>
              <a:sym typeface="Calibri"/>
            </a:endParaRPr>
          </a:p>
        </p:txBody>
      </p:sp>
      <p:sp>
        <p:nvSpPr>
          <p:cNvPr id="278" name="Google Shape;278;p16"/>
          <p:cNvSpPr/>
          <p:nvPr/>
        </p:nvSpPr>
        <p:spPr>
          <a:xfrm>
            <a:off x="457200" y="2331720"/>
            <a:ext cx="384048" cy="384048"/>
          </a:xfrm>
          <a:prstGeom prst="ellipse">
            <a:avLst/>
          </a:prstGeom>
          <a:solidFill>
            <a:srgbClr val="C053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6"/>
          <p:cNvSpPr/>
          <p:nvPr/>
        </p:nvSpPr>
        <p:spPr>
          <a:xfrm>
            <a:off x="457200" y="2331720"/>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280" name="Google Shape;280;p16"/>
          <p:cNvSpPr/>
          <p:nvPr/>
        </p:nvSpPr>
        <p:spPr>
          <a:xfrm>
            <a:off x="1005840" y="2286000"/>
            <a:ext cx="10058400" cy="502920"/>
          </a:xfrm>
          <a:prstGeom prst="rect">
            <a:avLst/>
          </a:prstGeom>
          <a:noFill/>
          <a:ln>
            <a:noFill/>
          </a:ln>
        </p:spPr>
        <p:txBody>
          <a:bodyPr spcFirstLastPara="1" wrap="square" lIns="0" tIns="0" rIns="0" bIns="0" anchor="ctr" anchorCtr="0">
            <a:noAutofit/>
          </a:bodyPr>
          <a:lstStyle/>
          <a:p>
            <a:pPr marL="0" marR="0" lvl="0" indent="0" algn="l" rtl="0">
              <a:lnSpc>
                <a:spcPct val="112000"/>
              </a:lnSpc>
              <a:spcBef>
                <a:spcPts val="0"/>
              </a:spcBef>
              <a:spcAft>
                <a:spcPts val="0"/>
              </a:spcAft>
              <a:buClr>
                <a:srgbClr val="404040"/>
              </a:buClr>
              <a:buSzPts val="1300"/>
              <a:buFont typeface="Calibri"/>
              <a:buNone/>
            </a:pPr>
            <a:r>
              <a:rPr lang="en-US" sz="1300" b="0" i="0" u="none" strike="noStrike" cap="none">
                <a:solidFill>
                  <a:srgbClr val="404040"/>
                </a:solidFill>
                <a:latin typeface="Calibri"/>
                <a:ea typeface="Calibri"/>
                <a:cs typeface="Calibri"/>
                <a:sym typeface="Calibri"/>
              </a:rPr>
              <a:t>It identifies that "no traffic" was one of the two justifications for "Road A is best."</a:t>
            </a:r>
            <a:endParaRPr sz="1300" b="0" i="0" u="none" strike="noStrike" cap="none">
              <a:solidFill>
                <a:schemeClr val="dk1"/>
              </a:solidFill>
              <a:latin typeface="Calibri"/>
              <a:ea typeface="Calibri"/>
              <a:cs typeface="Calibri"/>
              <a:sym typeface="Calibri"/>
            </a:endParaRPr>
          </a:p>
        </p:txBody>
      </p:sp>
      <p:sp>
        <p:nvSpPr>
          <p:cNvPr id="281" name="Google Shape;281;p16"/>
          <p:cNvSpPr/>
          <p:nvPr/>
        </p:nvSpPr>
        <p:spPr>
          <a:xfrm>
            <a:off x="457200" y="2898648"/>
            <a:ext cx="384048" cy="384048"/>
          </a:xfrm>
          <a:prstGeom prst="ellipse">
            <a:avLst/>
          </a:prstGeom>
          <a:solidFill>
            <a:srgbClr val="C053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6"/>
          <p:cNvSpPr/>
          <p:nvPr/>
        </p:nvSpPr>
        <p:spPr>
          <a:xfrm>
            <a:off x="457200" y="2898648"/>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283" name="Google Shape;283;p16"/>
          <p:cNvSpPr/>
          <p:nvPr/>
        </p:nvSpPr>
        <p:spPr>
          <a:xfrm>
            <a:off x="1005840" y="2852928"/>
            <a:ext cx="10058400" cy="502920"/>
          </a:xfrm>
          <a:prstGeom prst="rect">
            <a:avLst/>
          </a:prstGeom>
          <a:noFill/>
          <a:ln>
            <a:noFill/>
          </a:ln>
        </p:spPr>
        <p:txBody>
          <a:bodyPr spcFirstLastPara="1" wrap="square" lIns="0" tIns="0" rIns="0" bIns="0" anchor="ctr" anchorCtr="0">
            <a:noAutofit/>
          </a:bodyPr>
          <a:lstStyle/>
          <a:p>
            <a:pPr marL="0" marR="0" lvl="0" indent="0" algn="l" rtl="0">
              <a:lnSpc>
                <a:spcPct val="112000"/>
              </a:lnSpc>
              <a:spcBef>
                <a:spcPts val="0"/>
              </a:spcBef>
              <a:spcAft>
                <a:spcPts val="0"/>
              </a:spcAft>
              <a:buClr>
                <a:srgbClr val="404040"/>
              </a:buClr>
              <a:buSzPts val="1300"/>
              <a:buFont typeface="Calibri"/>
              <a:buNone/>
            </a:pPr>
            <a:r>
              <a:rPr lang="en-US" sz="1300" b="0" i="0" u="none" strike="noStrike" cap="none">
                <a:solidFill>
                  <a:srgbClr val="404040"/>
                </a:solidFill>
                <a:latin typeface="Calibri"/>
                <a:ea typeface="Calibri"/>
                <a:cs typeface="Calibri"/>
                <a:sym typeface="Calibri"/>
              </a:rPr>
              <a:t>Since that justification is now false, the TMS automatically marks "Road A is best" as unsupported and retracts it — without needing to re-examine the entire knowledge base.</a:t>
            </a:r>
            <a:endParaRPr sz="1300" b="0" i="0" u="none" strike="noStrike" cap="none">
              <a:solidFill>
                <a:schemeClr val="dk1"/>
              </a:solidFill>
              <a:latin typeface="Calibri"/>
              <a:ea typeface="Calibri"/>
              <a:cs typeface="Calibri"/>
              <a:sym typeface="Calibri"/>
            </a:endParaRPr>
          </a:p>
        </p:txBody>
      </p:sp>
      <p:sp>
        <p:nvSpPr>
          <p:cNvPr id="284" name="Google Shape;284;p16"/>
          <p:cNvSpPr/>
          <p:nvPr/>
        </p:nvSpPr>
        <p:spPr>
          <a:xfrm>
            <a:off x="457200" y="3465576"/>
            <a:ext cx="384048" cy="384048"/>
          </a:xfrm>
          <a:prstGeom prst="ellipse">
            <a:avLst/>
          </a:prstGeom>
          <a:solidFill>
            <a:srgbClr val="C053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6"/>
          <p:cNvSpPr/>
          <p:nvPr/>
        </p:nvSpPr>
        <p:spPr>
          <a:xfrm>
            <a:off x="457200" y="3465576"/>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286" name="Google Shape;286;p16"/>
          <p:cNvSpPr/>
          <p:nvPr/>
        </p:nvSpPr>
        <p:spPr>
          <a:xfrm>
            <a:off x="1005840" y="3419856"/>
            <a:ext cx="10058400" cy="502920"/>
          </a:xfrm>
          <a:prstGeom prst="rect">
            <a:avLst/>
          </a:prstGeom>
          <a:noFill/>
          <a:ln>
            <a:noFill/>
          </a:ln>
        </p:spPr>
        <p:txBody>
          <a:bodyPr spcFirstLastPara="1" wrap="square" lIns="0" tIns="0" rIns="0" bIns="0" anchor="ctr" anchorCtr="0">
            <a:noAutofit/>
          </a:bodyPr>
          <a:lstStyle/>
          <a:p>
            <a:pPr marL="0" marR="0" lvl="0" indent="0" algn="l" rtl="0">
              <a:lnSpc>
                <a:spcPct val="112000"/>
              </a:lnSpc>
              <a:spcBef>
                <a:spcPts val="0"/>
              </a:spcBef>
              <a:spcAft>
                <a:spcPts val="0"/>
              </a:spcAft>
              <a:buClr>
                <a:srgbClr val="404040"/>
              </a:buClr>
              <a:buSzPts val="1300"/>
              <a:buFont typeface="Calibri"/>
              <a:buNone/>
            </a:pPr>
            <a:r>
              <a:rPr lang="en-US" sz="1300" b="0" i="0" u="none" strike="noStrike" cap="none">
                <a:solidFill>
                  <a:srgbClr val="404040"/>
                </a:solidFill>
                <a:latin typeface="Calibri"/>
                <a:ea typeface="Calibri"/>
                <a:cs typeface="Calibri"/>
                <a:sym typeface="Calibri"/>
              </a:rPr>
              <a:t>The system updates its recommendation, e.g., to "Road B is best," based on whatever beliefs remain justified.</a:t>
            </a:r>
            <a:endParaRPr sz="1300" b="0" i="0" u="none" strike="noStrike" cap="none">
              <a:solidFill>
                <a:schemeClr val="dk1"/>
              </a:solidFill>
              <a:latin typeface="Calibri"/>
              <a:ea typeface="Calibri"/>
              <a:cs typeface="Calibri"/>
              <a:sym typeface="Calibri"/>
            </a:endParaRPr>
          </a:p>
        </p:txBody>
      </p:sp>
      <p:sp>
        <p:nvSpPr>
          <p:cNvPr id="287" name="Google Shape;287;p16"/>
          <p:cNvSpPr/>
          <p:nvPr/>
        </p:nvSpPr>
        <p:spPr>
          <a:xfrm>
            <a:off x="457200" y="4251960"/>
            <a:ext cx="1060704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1550"/>
              <a:buFont typeface="Calibri"/>
              <a:buNone/>
            </a:pPr>
            <a:r>
              <a:rPr lang="en-US" sz="1550" b="1" i="0" u="none" strike="noStrike" cap="none">
                <a:solidFill>
                  <a:srgbClr val="404040"/>
                </a:solidFill>
                <a:latin typeface="Calibri"/>
                <a:ea typeface="Calibri"/>
                <a:cs typeface="Calibri"/>
                <a:sym typeface="Calibri"/>
              </a:rPr>
              <a:t>Real-World Applications of Non-Monotonic Reasoning</a:t>
            </a:r>
            <a:endParaRPr sz="1550" b="0" i="0" u="none" strike="noStrike" cap="none">
              <a:solidFill>
                <a:schemeClr val="dk1"/>
              </a:solidFill>
              <a:latin typeface="Calibri"/>
              <a:ea typeface="Calibri"/>
              <a:cs typeface="Calibri"/>
              <a:sym typeface="Calibri"/>
            </a:endParaRPr>
          </a:p>
        </p:txBody>
      </p:sp>
      <p:graphicFrame>
        <p:nvGraphicFramePr>
          <p:cNvPr id="288" name="Google Shape;288;p16"/>
          <p:cNvGraphicFramePr/>
          <p:nvPr/>
        </p:nvGraphicFramePr>
        <p:xfrm>
          <a:off x="457200" y="4663440"/>
          <a:ext cx="10607025" cy="1828750"/>
        </p:xfrm>
        <a:graphic>
          <a:graphicData uri="http://schemas.openxmlformats.org/drawingml/2006/table">
            <a:tbl>
              <a:tblPr>
                <a:noFill/>
                <a:tableStyleId>{18CE5CEB-0992-447E-8985-1B7A4AD8BB01}</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926075">
                  <a:extLst>
                    <a:ext uri="{9D8B030D-6E8A-4147-A177-3AD203B41FA5}">
                      <a16:colId xmlns:a16="http://schemas.microsoft.com/office/drawing/2014/main" val="20002"/>
                    </a:ext>
                  </a:extLst>
                </a:gridCol>
                <a:gridCol w="3108950">
                  <a:extLst>
                    <a:ext uri="{9D8B030D-6E8A-4147-A177-3AD203B41FA5}">
                      <a16:colId xmlns:a16="http://schemas.microsoft.com/office/drawing/2014/main" val="20003"/>
                    </a:ext>
                  </a:extLst>
                </a:gridCol>
              </a:tblGrid>
              <a:tr h="365750">
                <a:tc>
                  <a:txBody>
                    <a:bodyPr/>
                    <a:lstStyle/>
                    <a:p>
                      <a:pPr marL="0" marR="0" lvl="0" indent="0" algn="l" rtl="0">
                        <a:spcBef>
                          <a:spcPts val="0"/>
                        </a:spcBef>
                        <a:spcAft>
                          <a:spcPts val="0"/>
                        </a:spcAft>
                        <a:buClr>
                          <a:srgbClr val="FFFFFF"/>
                        </a:buClr>
                        <a:buSzPts val="1200"/>
                        <a:buFont typeface="Calibri"/>
                        <a:buNone/>
                      </a:pPr>
                      <a:r>
                        <a:rPr lang="en-US" sz="1200" b="1" u="none" strike="noStrike" cap="none">
                          <a:solidFill>
                            <a:srgbClr val="FFFFFF"/>
                          </a:solidFill>
                          <a:latin typeface="Calibri"/>
                          <a:ea typeface="Calibri"/>
                          <a:cs typeface="Calibri"/>
                          <a:sym typeface="Calibri"/>
                        </a:rPr>
                        <a:t>Domain</a:t>
                      </a:r>
                      <a:endParaRPr sz="12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C0531A"/>
                    </a:solidFill>
                  </a:tcPr>
                </a:tc>
                <a:tc>
                  <a:txBody>
                    <a:bodyPr/>
                    <a:lstStyle/>
                    <a:p>
                      <a:pPr marL="0" marR="0" lvl="0" indent="0" algn="l" rtl="0">
                        <a:spcBef>
                          <a:spcPts val="0"/>
                        </a:spcBef>
                        <a:spcAft>
                          <a:spcPts val="0"/>
                        </a:spcAft>
                        <a:buClr>
                          <a:srgbClr val="FFFFFF"/>
                        </a:buClr>
                        <a:buSzPts val="1200"/>
                        <a:buFont typeface="Calibri"/>
                        <a:buNone/>
                      </a:pPr>
                      <a:r>
                        <a:rPr lang="en-US" sz="1200" b="1" u="none" strike="noStrike" cap="none">
                          <a:solidFill>
                            <a:srgbClr val="FFFFFF"/>
                          </a:solidFill>
                          <a:latin typeface="Calibri"/>
                          <a:ea typeface="Calibri"/>
                          <a:cs typeface="Calibri"/>
                          <a:sym typeface="Calibri"/>
                        </a:rPr>
                        <a:t>Initial Belief</a:t>
                      </a:r>
                      <a:endParaRPr sz="12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C0531A"/>
                    </a:solidFill>
                  </a:tcPr>
                </a:tc>
                <a:tc>
                  <a:txBody>
                    <a:bodyPr/>
                    <a:lstStyle/>
                    <a:p>
                      <a:pPr marL="0" marR="0" lvl="0" indent="0" algn="l" rtl="0">
                        <a:spcBef>
                          <a:spcPts val="0"/>
                        </a:spcBef>
                        <a:spcAft>
                          <a:spcPts val="0"/>
                        </a:spcAft>
                        <a:buClr>
                          <a:srgbClr val="FFFFFF"/>
                        </a:buClr>
                        <a:buSzPts val="1200"/>
                        <a:buFont typeface="Calibri"/>
                        <a:buNone/>
                      </a:pPr>
                      <a:r>
                        <a:rPr lang="en-US" sz="1200" b="1" u="none" strike="noStrike" cap="none">
                          <a:solidFill>
                            <a:srgbClr val="FFFFFF"/>
                          </a:solidFill>
                          <a:latin typeface="Calibri"/>
                          <a:ea typeface="Calibri"/>
                          <a:cs typeface="Calibri"/>
                          <a:sym typeface="Calibri"/>
                        </a:rPr>
                        <a:t>New Information</a:t>
                      </a:r>
                      <a:endParaRPr sz="12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C0531A"/>
                    </a:solidFill>
                  </a:tcPr>
                </a:tc>
                <a:tc>
                  <a:txBody>
                    <a:bodyPr/>
                    <a:lstStyle/>
                    <a:p>
                      <a:pPr marL="0" marR="0" lvl="0" indent="0" algn="l" rtl="0">
                        <a:spcBef>
                          <a:spcPts val="0"/>
                        </a:spcBef>
                        <a:spcAft>
                          <a:spcPts val="0"/>
                        </a:spcAft>
                        <a:buClr>
                          <a:srgbClr val="FFFFFF"/>
                        </a:buClr>
                        <a:buSzPts val="1200"/>
                        <a:buFont typeface="Calibri"/>
                        <a:buNone/>
                      </a:pPr>
                      <a:r>
                        <a:rPr lang="en-US" sz="1200" b="1" u="none" strike="noStrike" cap="none">
                          <a:solidFill>
                            <a:srgbClr val="FFFFFF"/>
                          </a:solidFill>
                          <a:latin typeface="Calibri"/>
                          <a:ea typeface="Calibri"/>
                          <a:cs typeface="Calibri"/>
                          <a:sym typeface="Calibri"/>
                        </a:rPr>
                        <a:t>Revised Conclusion</a:t>
                      </a:r>
                      <a:endParaRPr sz="12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C0531A"/>
                    </a:solidFill>
                  </a:tcPr>
                </a:tc>
                <a:extLst>
                  <a:ext uri="{0D108BD9-81ED-4DB2-BD59-A6C34878D82A}">
                    <a16:rowId xmlns:a16="http://schemas.microsoft.com/office/drawing/2014/main" val="10000"/>
                  </a:ext>
                </a:extLst>
              </a:tr>
              <a:tr h="365750">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Medical Diagnosis</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Flu</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Lab test detects COVID</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Diagnosis changes to COVID</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65750">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Self-Driving Cars</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Road is clear</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Pedestrian detected by sensor</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Brake immediately</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extLst>
                  <a:ext uri="{0D108BD9-81ED-4DB2-BD59-A6C34878D82A}">
                    <a16:rowId xmlns:a16="http://schemas.microsoft.com/office/drawing/2014/main" val="10002"/>
                  </a:ext>
                </a:extLst>
              </a:tr>
              <a:tr h="365750">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Robotics</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Door is open</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Camera shows door closed</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Plan is revised</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65750">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Expert / Loan Systems</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Customer eligible</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Credit default history found</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Decision reversed</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extLst>
                  <a:ext uri="{0D108BD9-81ED-4DB2-BD59-A6C34878D82A}">
                    <a16:rowId xmlns:a16="http://schemas.microsoft.com/office/drawing/2014/main" val="10004"/>
                  </a:ext>
                </a:extLst>
              </a:tr>
            </a:tbl>
          </a:graphicData>
        </a:graphic>
      </p:graphicFrame>
      <p:sp>
        <p:nvSpPr>
          <p:cNvPr id="289" name="Google Shape;289;p16"/>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6 / 40</a:t>
            </a:r>
            <a:endParaRPr sz="950" b="0" i="0" u="none" strike="noStrike" cap="none">
              <a:solidFill>
                <a:schemeClr val="dk1"/>
              </a:solidFill>
              <a:latin typeface="Calibri"/>
              <a:ea typeface="Calibri"/>
              <a:cs typeface="Calibri"/>
              <a:sym typeface="Calibri"/>
            </a:endParaRPr>
          </a:p>
        </p:txBody>
      </p:sp>
      <p:sp>
        <p:nvSpPr>
          <p:cNvPr id="290" name="Google Shape;290;p16"/>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95"/>
        <p:cNvGrpSpPr/>
        <p:nvPr/>
      </p:nvGrpSpPr>
      <p:grpSpPr>
        <a:xfrm>
          <a:off x="0" y="0"/>
          <a:ext cx="0" cy="0"/>
          <a:chOff x="0" y="0"/>
          <a:chExt cx="0" cy="0"/>
        </a:xfrm>
      </p:grpSpPr>
      <p:sp>
        <p:nvSpPr>
          <p:cNvPr id="296" name="Google Shape;296;p17"/>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531A"/>
              </a:buClr>
              <a:buSzPts val="1100"/>
              <a:buFont typeface="Calibri"/>
              <a:buNone/>
            </a:pPr>
            <a:r>
              <a:rPr lang="en-US" sz="1100" b="1" i="0" u="none" strike="noStrike" cap="none">
                <a:solidFill>
                  <a:srgbClr val="C0531A"/>
                </a:solidFill>
                <a:latin typeface="Calibri"/>
                <a:ea typeface="Calibri"/>
                <a:cs typeface="Calibri"/>
                <a:sym typeface="Calibri"/>
              </a:rPr>
              <a:t>WORKED EXAMPLE 1 — TRY IT YOURSELF</a:t>
            </a:r>
            <a:endParaRPr sz="1100" b="0" i="0" u="none" strike="noStrike" cap="none">
              <a:solidFill>
                <a:schemeClr val="dk1"/>
              </a:solidFill>
              <a:latin typeface="Calibri"/>
              <a:ea typeface="Calibri"/>
              <a:cs typeface="Calibri"/>
              <a:sym typeface="Calibri"/>
            </a:endParaRPr>
          </a:p>
        </p:txBody>
      </p:sp>
      <p:sp>
        <p:nvSpPr>
          <p:cNvPr id="297" name="Google Shape;297;p17"/>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The Classic Bird Problem</a:t>
            </a:r>
            <a:endParaRPr sz="2300" b="0" i="0" u="none" strike="noStrike" cap="none">
              <a:solidFill>
                <a:schemeClr val="dk1"/>
              </a:solidFill>
              <a:latin typeface="Calibri"/>
              <a:ea typeface="Calibri"/>
              <a:cs typeface="Calibri"/>
              <a:sym typeface="Calibri"/>
            </a:endParaRPr>
          </a:p>
        </p:txBody>
      </p:sp>
      <p:cxnSp>
        <p:nvCxnSpPr>
          <p:cNvPr id="298" name="Google Shape;298;p17"/>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299" name="Google Shape;299;p17"/>
          <p:cNvSpPr/>
          <p:nvPr/>
        </p:nvSpPr>
        <p:spPr>
          <a:xfrm>
            <a:off x="640080" y="1691640"/>
            <a:ext cx="10241280" cy="2743200"/>
          </a:xfrm>
          <a:prstGeom prst="rect">
            <a:avLst/>
          </a:prstGeom>
          <a:solidFill>
            <a:srgbClr val="FFF8F0"/>
          </a:solidFill>
          <a:ln w="15875" cap="flat" cmpd="sng">
            <a:solidFill>
              <a:srgbClr val="C0531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7"/>
          <p:cNvSpPr/>
          <p:nvPr/>
        </p:nvSpPr>
        <p:spPr>
          <a:xfrm>
            <a:off x="868680" y="1874520"/>
            <a:ext cx="3657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531A"/>
              </a:buClr>
              <a:buSzPts val="1200"/>
              <a:buFont typeface="Calibri"/>
              <a:buNone/>
            </a:pPr>
            <a:r>
              <a:rPr lang="en-US" sz="1200" b="1" i="0" u="none" strike="noStrike" cap="none">
                <a:solidFill>
                  <a:srgbClr val="C0531A"/>
                </a:solidFill>
                <a:latin typeface="Calibri"/>
                <a:ea typeface="Calibri"/>
                <a:cs typeface="Calibri"/>
                <a:sym typeface="Calibri"/>
              </a:rPr>
              <a:t>PROBLEM</a:t>
            </a:r>
            <a:endParaRPr sz="1200" b="0" i="0" u="none" strike="noStrike" cap="none">
              <a:solidFill>
                <a:schemeClr val="dk1"/>
              </a:solidFill>
              <a:latin typeface="Calibri"/>
              <a:ea typeface="Calibri"/>
              <a:cs typeface="Calibri"/>
              <a:sym typeface="Calibri"/>
            </a:endParaRPr>
          </a:p>
        </p:txBody>
      </p:sp>
      <p:sp>
        <p:nvSpPr>
          <p:cNvPr id="301" name="Google Shape;301;p17"/>
          <p:cNvSpPr/>
          <p:nvPr/>
        </p:nvSpPr>
        <p:spPr>
          <a:xfrm>
            <a:off x="868680" y="2194560"/>
            <a:ext cx="9784080" cy="1188720"/>
          </a:xfrm>
          <a:prstGeom prst="rect">
            <a:avLst/>
          </a:prstGeom>
          <a:noFill/>
          <a:ln>
            <a:noFill/>
          </a:ln>
        </p:spPr>
        <p:txBody>
          <a:bodyPr spcFirstLastPara="1" wrap="square" lIns="0" tIns="0" rIns="0" bIns="0" anchor="ctr" anchorCtr="0">
            <a:noAutofit/>
          </a:bodyPr>
          <a:lstStyle/>
          <a:p>
            <a:pPr marL="0" marR="0" lvl="0" indent="0" algn="l" rtl="0">
              <a:lnSpc>
                <a:spcPct val="135000"/>
              </a:lnSpc>
              <a:spcBef>
                <a:spcPts val="0"/>
              </a:spcBef>
              <a:spcAft>
                <a:spcPts val="0"/>
              </a:spcAft>
              <a:buClr>
                <a:srgbClr val="404040"/>
              </a:buClr>
              <a:buSzPts val="1500"/>
              <a:buFont typeface="Calibri"/>
              <a:buNone/>
            </a:pPr>
            <a:r>
              <a:rPr lang="en-US" sz="1500" b="0" i="0" u="none" strike="noStrike" cap="none">
                <a:solidFill>
                  <a:srgbClr val="404040"/>
                </a:solidFill>
                <a:latin typeface="Calibri"/>
                <a:ea typeface="Calibri"/>
                <a:cs typeface="Calibri"/>
                <a:sym typeface="Calibri"/>
              </a:rPr>
              <a:t>You are told the following facts and rules, in this exact order:</a:t>
            </a:r>
            <a:endParaRPr sz="1500" b="0" i="0" u="none" strike="noStrike" cap="none">
              <a:solidFill>
                <a:schemeClr val="dk1"/>
              </a:solidFill>
              <a:latin typeface="Calibri"/>
              <a:ea typeface="Calibri"/>
              <a:cs typeface="Calibri"/>
              <a:sym typeface="Calibri"/>
            </a:endParaRPr>
          </a:p>
          <a:p>
            <a:pPr marL="0" marR="0" lvl="0" indent="0" algn="l" rtl="0">
              <a:lnSpc>
                <a:spcPct val="135000"/>
              </a:lnSpc>
              <a:spcBef>
                <a:spcPts val="0"/>
              </a:spcBef>
              <a:spcAft>
                <a:spcPts val="0"/>
              </a:spcAft>
              <a:buClr>
                <a:srgbClr val="404040"/>
              </a:buClr>
              <a:buSzPts val="1500"/>
              <a:buFont typeface="Calibri"/>
              <a:buNone/>
            </a:pPr>
            <a:r>
              <a:rPr lang="en-US" sz="1500" b="0" i="0" u="none" strike="noStrike" cap="none">
                <a:solidFill>
                  <a:srgbClr val="404040"/>
                </a:solidFill>
                <a:latin typeface="Calibri"/>
                <a:ea typeface="Calibri"/>
                <a:cs typeface="Calibri"/>
                <a:sym typeface="Calibri"/>
              </a:rPr>
              <a:t>1.  Rule: "Birds typically fly, unless there is information that they cannot."</a:t>
            </a:r>
            <a:endParaRPr sz="1500" b="0" i="0" u="none" strike="noStrike" cap="none">
              <a:solidFill>
                <a:schemeClr val="dk1"/>
              </a:solidFill>
              <a:latin typeface="Calibri"/>
              <a:ea typeface="Calibri"/>
              <a:cs typeface="Calibri"/>
              <a:sym typeface="Calibri"/>
            </a:endParaRPr>
          </a:p>
          <a:p>
            <a:pPr marL="0" marR="0" lvl="0" indent="0" algn="l" rtl="0">
              <a:lnSpc>
                <a:spcPct val="135000"/>
              </a:lnSpc>
              <a:spcBef>
                <a:spcPts val="0"/>
              </a:spcBef>
              <a:spcAft>
                <a:spcPts val="0"/>
              </a:spcAft>
              <a:buClr>
                <a:srgbClr val="404040"/>
              </a:buClr>
              <a:buSzPts val="1500"/>
              <a:buFont typeface="Calibri"/>
              <a:buNone/>
            </a:pPr>
            <a:r>
              <a:rPr lang="en-US" sz="1500" b="0" i="0" u="none" strike="noStrike" cap="none">
                <a:solidFill>
                  <a:srgbClr val="404040"/>
                </a:solidFill>
                <a:latin typeface="Calibri"/>
                <a:ea typeface="Calibri"/>
                <a:cs typeface="Calibri"/>
                <a:sym typeface="Calibri"/>
              </a:rPr>
              <a:t>2.  Fact: "Polly is a bird."</a:t>
            </a:r>
            <a:endParaRPr sz="1500" b="0" i="0" u="none" strike="noStrike" cap="none">
              <a:solidFill>
                <a:schemeClr val="dk1"/>
              </a:solidFill>
              <a:latin typeface="Calibri"/>
              <a:ea typeface="Calibri"/>
              <a:cs typeface="Calibri"/>
              <a:sym typeface="Calibri"/>
            </a:endParaRPr>
          </a:p>
          <a:p>
            <a:pPr marL="0" marR="0" lvl="0" indent="0" algn="l" rtl="0">
              <a:lnSpc>
                <a:spcPct val="135000"/>
              </a:lnSpc>
              <a:spcBef>
                <a:spcPts val="0"/>
              </a:spcBef>
              <a:spcAft>
                <a:spcPts val="0"/>
              </a:spcAft>
              <a:buClr>
                <a:srgbClr val="404040"/>
              </a:buClr>
              <a:buSzPts val="1500"/>
              <a:buFont typeface="Calibri"/>
              <a:buNone/>
            </a:pPr>
            <a:r>
              <a:rPr lang="en-US" sz="1500" b="0" i="0" u="none" strike="noStrike" cap="none">
                <a:solidFill>
                  <a:srgbClr val="404040"/>
                </a:solidFill>
                <a:latin typeface="Calibri"/>
                <a:ea typeface="Calibri"/>
                <a:cs typeface="Calibri"/>
                <a:sym typeface="Calibri"/>
              </a:rPr>
              <a:t>3.  Fact (added later): "Polly has a broken wing."</a:t>
            </a:r>
            <a:endParaRPr sz="1500" b="0" i="0" u="none" strike="noStrike" cap="none">
              <a:solidFill>
                <a:schemeClr val="dk1"/>
              </a:solidFill>
              <a:latin typeface="Calibri"/>
              <a:ea typeface="Calibri"/>
              <a:cs typeface="Calibri"/>
              <a:sym typeface="Calibri"/>
            </a:endParaRPr>
          </a:p>
        </p:txBody>
      </p:sp>
      <p:sp>
        <p:nvSpPr>
          <p:cNvPr id="302" name="Google Shape;302;p17"/>
          <p:cNvSpPr/>
          <p:nvPr/>
        </p:nvSpPr>
        <p:spPr>
          <a:xfrm>
            <a:off x="868680" y="3520440"/>
            <a:ext cx="9784080" cy="73152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404040"/>
              </a:buClr>
              <a:buSzPts val="1550"/>
              <a:buFont typeface="Calibri"/>
              <a:buNone/>
            </a:pPr>
            <a:r>
              <a:rPr lang="en-US" sz="1550" b="1" i="1" u="none" strike="noStrike" cap="none">
                <a:solidFill>
                  <a:srgbClr val="404040"/>
                </a:solidFill>
                <a:latin typeface="Calibri"/>
                <a:ea typeface="Calibri"/>
                <a:cs typeface="Calibri"/>
                <a:sym typeface="Calibri"/>
              </a:rPr>
              <a:t>Question:  </a:t>
            </a:r>
            <a:r>
              <a:rPr lang="en-US" sz="1550" b="0" i="1" u="none" strike="noStrike" cap="none">
                <a:solidFill>
                  <a:srgbClr val="404040"/>
                </a:solidFill>
                <a:latin typeface="Calibri"/>
                <a:ea typeface="Calibri"/>
                <a:cs typeface="Calibri"/>
                <a:sym typeface="Calibri"/>
              </a:rPr>
              <a:t>Can Polly fly? What should the system believe after each new fact?</a:t>
            </a:r>
            <a:endParaRPr sz="1550" b="0" i="0" u="none" strike="noStrike" cap="none">
              <a:solidFill>
                <a:schemeClr val="dk1"/>
              </a:solidFill>
              <a:latin typeface="Calibri"/>
              <a:ea typeface="Calibri"/>
              <a:cs typeface="Calibri"/>
              <a:sym typeface="Calibri"/>
            </a:endParaRPr>
          </a:p>
        </p:txBody>
      </p:sp>
      <p:sp>
        <p:nvSpPr>
          <p:cNvPr id="303" name="Google Shape;303;p17"/>
          <p:cNvSpPr/>
          <p:nvPr/>
        </p:nvSpPr>
        <p:spPr>
          <a:xfrm>
            <a:off x="640080" y="4663440"/>
            <a:ext cx="1024128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6B6B"/>
              </a:buClr>
              <a:buSzPts val="1250"/>
              <a:buFont typeface="Calibri"/>
              <a:buNone/>
            </a:pPr>
            <a:r>
              <a:rPr lang="en-US" sz="1250" b="0" i="1" u="none" strike="noStrike" cap="none">
                <a:solidFill>
                  <a:srgbClr val="6B6B6B"/>
                </a:solidFill>
                <a:latin typeface="Calibri"/>
                <a:ea typeface="Calibri"/>
                <a:cs typeface="Calibri"/>
                <a:sym typeface="Calibri"/>
              </a:rPr>
              <a:t>Think it through step by step — what does the system believe after fact 2? What changes after fact 3?</a:t>
            </a:r>
            <a:endParaRPr sz="1250" b="0" i="0" u="none" strike="noStrike" cap="none">
              <a:solidFill>
                <a:schemeClr val="dk1"/>
              </a:solidFill>
              <a:latin typeface="Calibri"/>
              <a:ea typeface="Calibri"/>
              <a:cs typeface="Calibri"/>
              <a:sym typeface="Calibri"/>
            </a:endParaRPr>
          </a:p>
        </p:txBody>
      </p:sp>
      <p:sp>
        <p:nvSpPr>
          <p:cNvPr id="304" name="Google Shape;304;p17"/>
          <p:cNvSpPr/>
          <p:nvPr/>
        </p:nvSpPr>
        <p:spPr>
          <a:xfrm>
            <a:off x="640080" y="5349240"/>
            <a:ext cx="1024128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0531A"/>
              </a:buClr>
              <a:buSzPts val="1250"/>
              <a:buFont typeface="Calibri"/>
              <a:buNone/>
            </a:pPr>
            <a:r>
              <a:rPr lang="en-US" sz="1250" b="1" i="1" u="none" strike="noStrike" cap="none">
                <a:solidFill>
                  <a:srgbClr val="C0531A"/>
                </a:solidFill>
                <a:latin typeface="Calibri"/>
                <a:ea typeface="Calibri"/>
                <a:cs typeface="Calibri"/>
                <a:sym typeface="Calibri"/>
              </a:rPr>
              <a:t>PAUSE HERE — work out your answer before the next slide</a:t>
            </a:r>
            <a:endParaRPr sz="1250" b="0" i="0" u="none" strike="noStrike" cap="none">
              <a:solidFill>
                <a:schemeClr val="dk1"/>
              </a:solidFill>
              <a:latin typeface="Calibri"/>
              <a:ea typeface="Calibri"/>
              <a:cs typeface="Calibri"/>
              <a:sym typeface="Calibri"/>
            </a:endParaRPr>
          </a:p>
        </p:txBody>
      </p:sp>
      <p:sp>
        <p:nvSpPr>
          <p:cNvPr id="305" name="Google Shape;305;p17"/>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7 / 40</a:t>
            </a:r>
            <a:endParaRPr sz="950" b="0" i="0" u="none" strike="noStrike" cap="none">
              <a:solidFill>
                <a:schemeClr val="dk1"/>
              </a:solidFill>
              <a:latin typeface="Calibri"/>
              <a:ea typeface="Calibri"/>
              <a:cs typeface="Calibri"/>
              <a:sym typeface="Calibri"/>
            </a:endParaRPr>
          </a:p>
        </p:txBody>
      </p:sp>
      <p:sp>
        <p:nvSpPr>
          <p:cNvPr id="306" name="Google Shape;306;p17"/>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1"/>
        <p:cNvGrpSpPr/>
        <p:nvPr/>
      </p:nvGrpSpPr>
      <p:grpSpPr>
        <a:xfrm>
          <a:off x="0" y="0"/>
          <a:ext cx="0" cy="0"/>
          <a:chOff x="0" y="0"/>
          <a:chExt cx="0" cy="0"/>
        </a:xfrm>
      </p:grpSpPr>
      <p:sp>
        <p:nvSpPr>
          <p:cNvPr id="312" name="Google Shape;312;p18"/>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531A"/>
              </a:buClr>
              <a:buSzPts val="1100"/>
              <a:buFont typeface="Calibri"/>
              <a:buNone/>
            </a:pPr>
            <a:r>
              <a:rPr lang="en-US" sz="1100" b="1" i="0" u="none" strike="noStrike" cap="none">
                <a:solidFill>
                  <a:srgbClr val="C0531A"/>
                </a:solidFill>
                <a:latin typeface="Calibri"/>
                <a:ea typeface="Calibri"/>
                <a:cs typeface="Calibri"/>
                <a:sym typeface="Calibri"/>
              </a:rPr>
              <a:t>WORKED EXAMPLE 1 — SOLUTION</a:t>
            </a:r>
            <a:endParaRPr sz="1100" b="0" i="0" u="none" strike="noStrike" cap="none">
              <a:solidFill>
                <a:schemeClr val="dk1"/>
              </a:solidFill>
              <a:latin typeface="Calibri"/>
              <a:ea typeface="Calibri"/>
              <a:cs typeface="Calibri"/>
              <a:sym typeface="Calibri"/>
            </a:endParaRPr>
          </a:p>
        </p:txBody>
      </p:sp>
      <p:sp>
        <p:nvSpPr>
          <p:cNvPr id="313" name="Google Shape;313;p18"/>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The Classic Bird Problem — Step-by-Step</a:t>
            </a:r>
            <a:endParaRPr sz="2300" b="0" i="0" u="none" strike="noStrike" cap="none">
              <a:solidFill>
                <a:schemeClr val="dk1"/>
              </a:solidFill>
              <a:latin typeface="Calibri"/>
              <a:ea typeface="Calibri"/>
              <a:cs typeface="Calibri"/>
              <a:sym typeface="Calibri"/>
            </a:endParaRPr>
          </a:p>
        </p:txBody>
      </p:sp>
      <p:cxnSp>
        <p:nvCxnSpPr>
          <p:cNvPr id="314" name="Google Shape;314;p18"/>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315" name="Google Shape;315;p18"/>
          <p:cNvSpPr/>
          <p:nvPr/>
        </p:nvSpPr>
        <p:spPr>
          <a:xfrm>
            <a:off x="457200" y="1627632"/>
            <a:ext cx="365760" cy="365760"/>
          </a:xfrm>
          <a:prstGeom prst="ellipse">
            <a:avLst/>
          </a:prstGeom>
          <a:solidFill>
            <a:srgbClr val="C053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18"/>
          <p:cNvSpPr/>
          <p:nvPr/>
        </p:nvSpPr>
        <p:spPr>
          <a:xfrm>
            <a:off x="457200" y="1627632"/>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317" name="Google Shape;317;p18"/>
          <p:cNvSpPr/>
          <p:nvPr/>
        </p:nvSpPr>
        <p:spPr>
          <a:xfrm>
            <a:off x="960120" y="1554480"/>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12000"/>
              </a:lnSpc>
              <a:spcBef>
                <a:spcPts val="0"/>
              </a:spcBef>
              <a:spcAft>
                <a:spcPts val="0"/>
              </a:spcAft>
              <a:buClr>
                <a:srgbClr val="404040"/>
              </a:buClr>
              <a:buSzPts val="1280"/>
              <a:buFont typeface="Calibri"/>
              <a:buNone/>
            </a:pPr>
            <a:r>
              <a:rPr lang="en-US" sz="1280" b="0" i="0" u="none" strike="noStrike" cap="none">
                <a:solidFill>
                  <a:srgbClr val="404040"/>
                </a:solidFill>
                <a:latin typeface="Calibri"/>
                <a:ea typeface="Calibri"/>
                <a:cs typeface="Calibri"/>
                <a:sym typeface="Calibri"/>
              </a:rPr>
              <a:t>After Fact 1 ("Polly is a bird") is added, the default rule fires because nothing contradicts it yet. The system tentatively concludes: Polly can fly.</a:t>
            </a:r>
            <a:endParaRPr sz="1280" b="0" i="0" u="none" strike="noStrike" cap="none">
              <a:solidFill>
                <a:schemeClr val="dk1"/>
              </a:solidFill>
              <a:latin typeface="Calibri"/>
              <a:ea typeface="Calibri"/>
              <a:cs typeface="Calibri"/>
              <a:sym typeface="Calibri"/>
            </a:endParaRPr>
          </a:p>
        </p:txBody>
      </p:sp>
      <p:sp>
        <p:nvSpPr>
          <p:cNvPr id="318" name="Google Shape;318;p18"/>
          <p:cNvSpPr/>
          <p:nvPr/>
        </p:nvSpPr>
        <p:spPr>
          <a:xfrm>
            <a:off x="457200" y="2295144"/>
            <a:ext cx="365760" cy="365760"/>
          </a:xfrm>
          <a:prstGeom prst="ellipse">
            <a:avLst/>
          </a:prstGeom>
          <a:solidFill>
            <a:srgbClr val="C053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8"/>
          <p:cNvSpPr/>
          <p:nvPr/>
        </p:nvSpPr>
        <p:spPr>
          <a:xfrm>
            <a:off x="457200" y="2295144"/>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320" name="Google Shape;320;p18"/>
          <p:cNvSpPr/>
          <p:nvPr/>
        </p:nvSpPr>
        <p:spPr>
          <a:xfrm>
            <a:off x="960120" y="2221992"/>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12000"/>
              </a:lnSpc>
              <a:spcBef>
                <a:spcPts val="0"/>
              </a:spcBef>
              <a:spcAft>
                <a:spcPts val="0"/>
              </a:spcAft>
              <a:buClr>
                <a:srgbClr val="404040"/>
              </a:buClr>
              <a:buSzPts val="1280"/>
              <a:buFont typeface="Calibri"/>
              <a:buNone/>
            </a:pPr>
            <a:r>
              <a:rPr lang="en-US" sz="1280" b="0" i="0" u="none" strike="noStrike" cap="none">
                <a:solidFill>
                  <a:srgbClr val="404040"/>
                </a:solidFill>
                <a:latin typeface="Calibri"/>
                <a:ea typeface="Calibri"/>
                <a:cs typeface="Calibri"/>
                <a:sym typeface="Calibri"/>
              </a:rPr>
              <a:t>When Fact 2 ("Polly has a broken wing") is added, the system checks: does this new fact conflict with the default conclusion? Yes — a broken wing directly blocks flight.</a:t>
            </a:r>
            <a:endParaRPr sz="1280" b="0" i="0" u="none" strike="noStrike" cap="none">
              <a:solidFill>
                <a:schemeClr val="dk1"/>
              </a:solidFill>
              <a:latin typeface="Calibri"/>
              <a:ea typeface="Calibri"/>
              <a:cs typeface="Calibri"/>
              <a:sym typeface="Calibri"/>
            </a:endParaRPr>
          </a:p>
        </p:txBody>
      </p:sp>
      <p:sp>
        <p:nvSpPr>
          <p:cNvPr id="321" name="Google Shape;321;p18"/>
          <p:cNvSpPr/>
          <p:nvPr/>
        </p:nvSpPr>
        <p:spPr>
          <a:xfrm>
            <a:off x="457200" y="2962656"/>
            <a:ext cx="365760" cy="365760"/>
          </a:xfrm>
          <a:prstGeom prst="ellipse">
            <a:avLst/>
          </a:prstGeom>
          <a:solidFill>
            <a:srgbClr val="C053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18"/>
          <p:cNvSpPr/>
          <p:nvPr/>
        </p:nvSpPr>
        <p:spPr>
          <a:xfrm>
            <a:off x="457200" y="2962656"/>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323" name="Google Shape;323;p18"/>
          <p:cNvSpPr/>
          <p:nvPr/>
        </p:nvSpPr>
        <p:spPr>
          <a:xfrm>
            <a:off x="960120" y="2889504"/>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12000"/>
              </a:lnSpc>
              <a:spcBef>
                <a:spcPts val="0"/>
              </a:spcBef>
              <a:spcAft>
                <a:spcPts val="0"/>
              </a:spcAft>
              <a:buClr>
                <a:srgbClr val="404040"/>
              </a:buClr>
              <a:buSzPts val="1280"/>
              <a:buFont typeface="Calibri"/>
              <a:buNone/>
            </a:pPr>
            <a:r>
              <a:rPr lang="en-US" sz="1280" b="0" i="0" u="none" strike="noStrike" cap="none">
                <a:solidFill>
                  <a:srgbClr val="404040"/>
                </a:solidFill>
                <a:latin typeface="Calibri"/>
                <a:ea typeface="Calibri"/>
                <a:cs typeface="Calibri"/>
                <a:sym typeface="Calibri"/>
              </a:rPr>
              <a:t>The default rule's condition ("unless there is information that they cannot") is now satisfied by the broken-wing fact, so the rule no longer applies. The earlier conclusion is retracted.</a:t>
            </a:r>
            <a:endParaRPr sz="1280" b="0" i="0" u="none" strike="noStrike" cap="none">
              <a:solidFill>
                <a:schemeClr val="dk1"/>
              </a:solidFill>
              <a:latin typeface="Calibri"/>
              <a:ea typeface="Calibri"/>
              <a:cs typeface="Calibri"/>
              <a:sym typeface="Calibri"/>
            </a:endParaRPr>
          </a:p>
        </p:txBody>
      </p:sp>
      <p:sp>
        <p:nvSpPr>
          <p:cNvPr id="324" name="Google Shape;324;p18"/>
          <p:cNvSpPr/>
          <p:nvPr/>
        </p:nvSpPr>
        <p:spPr>
          <a:xfrm>
            <a:off x="457200" y="3630168"/>
            <a:ext cx="365760" cy="365760"/>
          </a:xfrm>
          <a:prstGeom prst="ellipse">
            <a:avLst/>
          </a:prstGeom>
          <a:solidFill>
            <a:srgbClr val="C053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8"/>
          <p:cNvSpPr/>
          <p:nvPr/>
        </p:nvSpPr>
        <p:spPr>
          <a:xfrm>
            <a:off x="457200" y="3630168"/>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4</a:t>
            </a:r>
            <a:endParaRPr sz="1400" b="0" i="0" u="none" strike="noStrike" cap="none">
              <a:solidFill>
                <a:schemeClr val="dk1"/>
              </a:solidFill>
              <a:latin typeface="Calibri"/>
              <a:ea typeface="Calibri"/>
              <a:cs typeface="Calibri"/>
              <a:sym typeface="Calibri"/>
            </a:endParaRPr>
          </a:p>
        </p:txBody>
      </p:sp>
      <p:sp>
        <p:nvSpPr>
          <p:cNvPr id="326" name="Google Shape;326;p18"/>
          <p:cNvSpPr/>
          <p:nvPr/>
        </p:nvSpPr>
        <p:spPr>
          <a:xfrm>
            <a:off x="960120" y="3557016"/>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12000"/>
              </a:lnSpc>
              <a:spcBef>
                <a:spcPts val="0"/>
              </a:spcBef>
              <a:spcAft>
                <a:spcPts val="0"/>
              </a:spcAft>
              <a:buClr>
                <a:srgbClr val="404040"/>
              </a:buClr>
              <a:buSzPts val="1280"/>
              <a:buFont typeface="Calibri"/>
              <a:buNone/>
            </a:pPr>
            <a:r>
              <a:rPr lang="en-US" sz="1280" b="0" i="0" u="none" strike="noStrike" cap="none">
                <a:solidFill>
                  <a:srgbClr val="404040"/>
                </a:solidFill>
                <a:latin typeface="Calibri"/>
                <a:ea typeface="Calibri"/>
                <a:cs typeface="Calibri"/>
                <a:sym typeface="Calibri"/>
              </a:rPr>
              <a:t>Final belief: Polly cannot fly. No contradiction exists in the system, because the tentative belief was withdrawn rather than fought against.</a:t>
            </a:r>
            <a:endParaRPr sz="1280" b="0" i="0" u="none" strike="noStrike" cap="none">
              <a:solidFill>
                <a:schemeClr val="dk1"/>
              </a:solidFill>
              <a:latin typeface="Calibri"/>
              <a:ea typeface="Calibri"/>
              <a:cs typeface="Calibri"/>
              <a:sym typeface="Calibri"/>
            </a:endParaRPr>
          </a:p>
        </p:txBody>
      </p:sp>
      <p:sp>
        <p:nvSpPr>
          <p:cNvPr id="327" name="Google Shape;327;p18"/>
          <p:cNvSpPr/>
          <p:nvPr/>
        </p:nvSpPr>
        <p:spPr>
          <a:xfrm>
            <a:off x="457200" y="4480560"/>
            <a:ext cx="10607040" cy="1691640"/>
          </a:xfrm>
          <a:prstGeom prst="rect">
            <a:avLst/>
          </a:prstGeom>
          <a:solidFill>
            <a:srgbClr val="FFF6EC"/>
          </a:solidFill>
          <a:ln w="9525" cap="flat" cmpd="sng">
            <a:solidFill>
              <a:srgbClr val="C0531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8"/>
          <p:cNvSpPr/>
          <p:nvPr/>
        </p:nvSpPr>
        <p:spPr>
          <a:xfrm>
            <a:off x="457200" y="4480560"/>
            <a:ext cx="64008" cy="1691640"/>
          </a:xfrm>
          <a:prstGeom prst="rect">
            <a:avLst/>
          </a:prstGeom>
          <a:solidFill>
            <a:srgbClr val="C053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8"/>
          <p:cNvSpPr/>
          <p:nvPr/>
        </p:nvSpPr>
        <p:spPr>
          <a:xfrm>
            <a:off x="685800" y="4590288"/>
            <a:ext cx="102412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531A"/>
              </a:buClr>
              <a:buSzPts val="1050"/>
              <a:buFont typeface="Calibri"/>
              <a:buNone/>
            </a:pPr>
            <a:r>
              <a:rPr lang="en-US" sz="1050" b="1" i="0" u="none" strike="noStrike" cap="none">
                <a:solidFill>
                  <a:srgbClr val="C0531A"/>
                </a:solidFill>
                <a:latin typeface="Calibri"/>
                <a:ea typeface="Calibri"/>
                <a:cs typeface="Calibri"/>
                <a:sym typeface="Calibri"/>
              </a:rPr>
              <a:t>WHY THIS SOLUTION WORKS</a:t>
            </a:r>
            <a:endParaRPr sz="1050" b="0" i="0" u="none" strike="noStrike" cap="none">
              <a:solidFill>
                <a:schemeClr val="dk1"/>
              </a:solidFill>
              <a:latin typeface="Calibri"/>
              <a:ea typeface="Calibri"/>
              <a:cs typeface="Calibri"/>
              <a:sym typeface="Calibri"/>
            </a:endParaRPr>
          </a:p>
        </p:txBody>
      </p:sp>
      <p:sp>
        <p:nvSpPr>
          <p:cNvPr id="330" name="Google Shape;330;p18"/>
          <p:cNvSpPr/>
          <p:nvPr/>
        </p:nvSpPr>
        <p:spPr>
          <a:xfrm>
            <a:off x="685800" y="4882896"/>
            <a:ext cx="10195560" cy="119786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250"/>
              <a:buFont typeface="Calibri"/>
              <a:buNone/>
            </a:pPr>
            <a:r>
              <a:rPr lang="en-US" sz="1250" b="0" i="0" u="none" strike="noStrike" cap="none">
                <a:solidFill>
                  <a:srgbClr val="404040"/>
                </a:solidFill>
                <a:latin typeface="Calibri"/>
                <a:ea typeface="Calibri"/>
                <a:cs typeface="Calibri"/>
                <a:sym typeface="Calibri"/>
              </a:rPr>
              <a:t>This example shows the heart of non-monotonic reasoning: the system never "knew" for certain that Polly could fly — it only assumed so because no counter-evidence existed at the time. The moment more specific, conflicting evidence (the broken wing) appeared, the assumption was dropped without any logical error. This mirrors how a doctor revises a diagnosis when a new test result comes in.</a:t>
            </a:r>
            <a:endParaRPr sz="1250" b="0" i="0" u="none" strike="noStrike" cap="none">
              <a:solidFill>
                <a:schemeClr val="dk1"/>
              </a:solidFill>
              <a:latin typeface="Calibri"/>
              <a:ea typeface="Calibri"/>
              <a:cs typeface="Calibri"/>
              <a:sym typeface="Calibri"/>
            </a:endParaRPr>
          </a:p>
        </p:txBody>
      </p:sp>
      <p:sp>
        <p:nvSpPr>
          <p:cNvPr id="331" name="Google Shape;331;p18"/>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7 / 40</a:t>
            </a:r>
            <a:endParaRPr sz="950" b="0" i="0" u="none" strike="noStrike" cap="none">
              <a:solidFill>
                <a:schemeClr val="dk1"/>
              </a:solidFill>
              <a:latin typeface="Calibri"/>
              <a:ea typeface="Calibri"/>
              <a:cs typeface="Calibri"/>
              <a:sym typeface="Calibri"/>
            </a:endParaRPr>
          </a:p>
        </p:txBody>
      </p:sp>
      <p:sp>
        <p:nvSpPr>
          <p:cNvPr id="332" name="Google Shape;332;p18"/>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37"/>
        <p:cNvGrpSpPr/>
        <p:nvPr/>
      </p:nvGrpSpPr>
      <p:grpSpPr>
        <a:xfrm>
          <a:off x="0" y="0"/>
          <a:ext cx="0" cy="0"/>
          <a:chOff x="0" y="0"/>
          <a:chExt cx="0" cy="0"/>
        </a:xfrm>
      </p:grpSpPr>
      <p:sp>
        <p:nvSpPr>
          <p:cNvPr id="338" name="Google Shape;338;p19"/>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531A"/>
              </a:buClr>
              <a:buSzPts val="1100"/>
              <a:buFont typeface="Calibri"/>
              <a:buNone/>
            </a:pPr>
            <a:r>
              <a:rPr lang="en-US" sz="1100" b="1" i="0" u="none" strike="noStrike" cap="none">
                <a:solidFill>
                  <a:srgbClr val="C0531A"/>
                </a:solidFill>
                <a:latin typeface="Calibri"/>
                <a:ea typeface="Calibri"/>
                <a:cs typeface="Calibri"/>
                <a:sym typeface="Calibri"/>
              </a:rPr>
              <a:t>WORKED EXAMPLE 2 — TRY IT YOURSELF</a:t>
            </a:r>
            <a:endParaRPr sz="1100" b="0" i="0" u="none" strike="noStrike" cap="none">
              <a:solidFill>
                <a:schemeClr val="dk1"/>
              </a:solidFill>
              <a:latin typeface="Calibri"/>
              <a:ea typeface="Calibri"/>
              <a:cs typeface="Calibri"/>
              <a:sym typeface="Calibri"/>
            </a:endParaRPr>
          </a:p>
        </p:txBody>
      </p:sp>
      <p:sp>
        <p:nvSpPr>
          <p:cNvPr id="339" name="Google Shape;339;p19"/>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Closed-World Assumption in a Library System</a:t>
            </a:r>
            <a:endParaRPr sz="2300" b="0" i="0" u="none" strike="noStrike" cap="none">
              <a:solidFill>
                <a:schemeClr val="dk1"/>
              </a:solidFill>
              <a:latin typeface="Calibri"/>
              <a:ea typeface="Calibri"/>
              <a:cs typeface="Calibri"/>
              <a:sym typeface="Calibri"/>
            </a:endParaRPr>
          </a:p>
        </p:txBody>
      </p:sp>
      <p:cxnSp>
        <p:nvCxnSpPr>
          <p:cNvPr id="340" name="Google Shape;340;p19"/>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341" name="Google Shape;341;p19"/>
          <p:cNvSpPr/>
          <p:nvPr/>
        </p:nvSpPr>
        <p:spPr>
          <a:xfrm>
            <a:off x="640080" y="1691640"/>
            <a:ext cx="10241280" cy="2743200"/>
          </a:xfrm>
          <a:prstGeom prst="rect">
            <a:avLst/>
          </a:prstGeom>
          <a:solidFill>
            <a:srgbClr val="FFF8F0"/>
          </a:solidFill>
          <a:ln w="15875" cap="flat" cmpd="sng">
            <a:solidFill>
              <a:srgbClr val="C0531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9"/>
          <p:cNvSpPr/>
          <p:nvPr/>
        </p:nvSpPr>
        <p:spPr>
          <a:xfrm>
            <a:off x="868680" y="1874520"/>
            <a:ext cx="3657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531A"/>
              </a:buClr>
              <a:buSzPts val="1200"/>
              <a:buFont typeface="Calibri"/>
              <a:buNone/>
            </a:pPr>
            <a:r>
              <a:rPr lang="en-US" sz="1200" b="1" i="0" u="none" strike="noStrike" cap="none">
                <a:solidFill>
                  <a:srgbClr val="C0531A"/>
                </a:solidFill>
                <a:latin typeface="Calibri"/>
                <a:ea typeface="Calibri"/>
                <a:cs typeface="Calibri"/>
                <a:sym typeface="Calibri"/>
              </a:rPr>
              <a:t>PROBLEM</a:t>
            </a:r>
            <a:endParaRPr sz="1200" b="0" i="0" u="none" strike="noStrike" cap="none">
              <a:solidFill>
                <a:schemeClr val="dk1"/>
              </a:solidFill>
              <a:latin typeface="Calibri"/>
              <a:ea typeface="Calibri"/>
              <a:cs typeface="Calibri"/>
              <a:sym typeface="Calibri"/>
            </a:endParaRPr>
          </a:p>
        </p:txBody>
      </p:sp>
      <p:sp>
        <p:nvSpPr>
          <p:cNvPr id="343" name="Google Shape;343;p19"/>
          <p:cNvSpPr/>
          <p:nvPr/>
        </p:nvSpPr>
        <p:spPr>
          <a:xfrm>
            <a:off x="868680" y="2194560"/>
            <a:ext cx="9784080" cy="1097280"/>
          </a:xfrm>
          <a:prstGeom prst="rect">
            <a:avLst/>
          </a:prstGeom>
          <a:noFill/>
          <a:ln>
            <a:noFill/>
          </a:ln>
        </p:spPr>
        <p:txBody>
          <a:bodyPr spcFirstLastPara="1" wrap="square" lIns="0" tIns="0" rIns="0" bIns="0" anchor="ctr" anchorCtr="0">
            <a:noAutofit/>
          </a:bodyPr>
          <a:lstStyle/>
          <a:p>
            <a:pPr marL="0" marR="0" lvl="0" indent="0" algn="l" rtl="0">
              <a:lnSpc>
                <a:spcPct val="135000"/>
              </a:lnSpc>
              <a:spcBef>
                <a:spcPts val="0"/>
              </a:spcBef>
              <a:spcAft>
                <a:spcPts val="0"/>
              </a:spcAft>
              <a:buClr>
                <a:srgbClr val="404040"/>
              </a:buClr>
              <a:buSzPts val="1500"/>
              <a:buFont typeface="Calibri"/>
              <a:buNone/>
            </a:pPr>
            <a:r>
              <a:rPr lang="en-US" sz="1500" b="0" i="0" u="none" strike="noStrike" cap="none">
                <a:solidFill>
                  <a:srgbClr val="404040"/>
                </a:solidFill>
                <a:latin typeface="Calibri"/>
                <a:ea typeface="Calibri"/>
                <a:cs typeface="Calibri"/>
                <a:sym typeface="Calibri"/>
              </a:rPr>
              <a:t>A library database contains book loan records. It lists:</a:t>
            </a:r>
            <a:endParaRPr sz="1500" b="0" i="0" u="none" strike="noStrike" cap="none">
              <a:solidFill>
                <a:schemeClr val="dk1"/>
              </a:solidFill>
              <a:latin typeface="Calibri"/>
              <a:ea typeface="Calibri"/>
              <a:cs typeface="Calibri"/>
              <a:sym typeface="Calibri"/>
            </a:endParaRPr>
          </a:p>
          <a:p>
            <a:pPr marL="0" marR="0" lvl="0" indent="0" algn="l" rtl="0">
              <a:lnSpc>
                <a:spcPct val="135000"/>
              </a:lnSpc>
              <a:spcBef>
                <a:spcPts val="0"/>
              </a:spcBef>
              <a:spcAft>
                <a:spcPts val="0"/>
              </a:spcAft>
              <a:buClr>
                <a:srgbClr val="404040"/>
              </a:buClr>
              <a:buSzPts val="1500"/>
              <a:buFont typeface="Calibri"/>
              <a:buNone/>
            </a:pPr>
            <a:r>
              <a:rPr lang="en-US" sz="1500" b="1" i="0" u="none" strike="noStrike" cap="none">
                <a:solidFill>
                  <a:srgbClr val="404040"/>
                </a:solidFill>
                <a:latin typeface="Calibri"/>
                <a:ea typeface="Calibri"/>
                <a:cs typeface="Calibri"/>
                <a:sym typeface="Calibri"/>
              </a:rPr>
              <a:t>"Ali borrowed Book A."   "Sara borrowed Book B."</a:t>
            </a:r>
            <a:endParaRPr sz="1500" b="0" i="0" u="none" strike="noStrike" cap="none">
              <a:solidFill>
                <a:schemeClr val="dk1"/>
              </a:solidFill>
              <a:latin typeface="Calibri"/>
              <a:ea typeface="Calibri"/>
              <a:cs typeface="Calibri"/>
              <a:sym typeface="Calibri"/>
            </a:endParaRPr>
          </a:p>
          <a:p>
            <a:pPr marL="0" marR="0" lvl="0" indent="0" algn="l" rtl="0">
              <a:lnSpc>
                <a:spcPct val="135000"/>
              </a:lnSpc>
              <a:spcBef>
                <a:spcPts val="0"/>
              </a:spcBef>
              <a:spcAft>
                <a:spcPts val="0"/>
              </a:spcAft>
              <a:buClr>
                <a:srgbClr val="404040"/>
              </a:buClr>
              <a:buSzPts val="1500"/>
              <a:buFont typeface="Calibri"/>
              <a:buNone/>
            </a:pPr>
            <a:r>
              <a:rPr lang="en-US" sz="1500" b="0" i="0" u="none" strike="noStrike" cap="none">
                <a:solidFill>
                  <a:srgbClr val="404040"/>
                </a:solidFill>
                <a:latin typeface="Calibri"/>
                <a:ea typeface="Calibri"/>
                <a:cs typeface="Calibri"/>
                <a:sym typeface="Calibri"/>
              </a:rPr>
              <a:t>There is no record anywhere stating that Ahmed borrowed any book.</a:t>
            </a:r>
            <a:endParaRPr sz="1500" b="0" i="0" u="none" strike="noStrike" cap="none">
              <a:solidFill>
                <a:schemeClr val="dk1"/>
              </a:solidFill>
              <a:latin typeface="Calibri"/>
              <a:ea typeface="Calibri"/>
              <a:cs typeface="Calibri"/>
              <a:sym typeface="Calibri"/>
            </a:endParaRPr>
          </a:p>
        </p:txBody>
      </p:sp>
      <p:sp>
        <p:nvSpPr>
          <p:cNvPr id="344" name="Google Shape;344;p19"/>
          <p:cNvSpPr/>
          <p:nvPr/>
        </p:nvSpPr>
        <p:spPr>
          <a:xfrm>
            <a:off x="868680" y="3429000"/>
            <a:ext cx="9784080" cy="77724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404040"/>
              </a:buClr>
              <a:buSzPts val="1550"/>
              <a:buFont typeface="Calibri"/>
              <a:buNone/>
            </a:pPr>
            <a:r>
              <a:rPr lang="en-US" sz="1550" b="1" i="1" u="none" strike="noStrike" cap="none">
                <a:solidFill>
                  <a:srgbClr val="404040"/>
                </a:solidFill>
                <a:latin typeface="Calibri"/>
                <a:ea typeface="Calibri"/>
                <a:cs typeface="Calibri"/>
                <a:sym typeface="Calibri"/>
              </a:rPr>
              <a:t>Question:  </a:t>
            </a:r>
            <a:r>
              <a:rPr lang="en-US" sz="1550" b="0" i="1" u="none" strike="noStrike" cap="none">
                <a:solidFill>
                  <a:srgbClr val="404040"/>
                </a:solidFill>
                <a:latin typeface="Calibri"/>
                <a:ea typeface="Calibri"/>
                <a:cs typeface="Calibri"/>
                <a:sym typeface="Calibri"/>
              </a:rPr>
              <a:t>Using the Closed-World Assumption, what does the system conclude about whether Ahmed has borrowed Book C?</a:t>
            </a:r>
            <a:endParaRPr sz="1550" b="0" i="0" u="none" strike="noStrike" cap="none">
              <a:solidFill>
                <a:schemeClr val="dk1"/>
              </a:solidFill>
              <a:latin typeface="Calibri"/>
              <a:ea typeface="Calibri"/>
              <a:cs typeface="Calibri"/>
              <a:sym typeface="Calibri"/>
            </a:endParaRPr>
          </a:p>
        </p:txBody>
      </p:sp>
      <p:sp>
        <p:nvSpPr>
          <p:cNvPr id="345" name="Google Shape;345;p19"/>
          <p:cNvSpPr/>
          <p:nvPr/>
        </p:nvSpPr>
        <p:spPr>
          <a:xfrm>
            <a:off x="640080" y="5120640"/>
            <a:ext cx="1024128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0531A"/>
              </a:buClr>
              <a:buSzPts val="1250"/>
              <a:buFont typeface="Calibri"/>
              <a:buNone/>
            </a:pPr>
            <a:r>
              <a:rPr lang="en-US" sz="1250" b="1" i="1" u="none" strike="noStrike" cap="none">
                <a:solidFill>
                  <a:srgbClr val="C0531A"/>
                </a:solidFill>
                <a:latin typeface="Calibri"/>
                <a:ea typeface="Calibri"/>
                <a:cs typeface="Calibri"/>
                <a:sym typeface="Calibri"/>
              </a:rPr>
              <a:t>PAUSE HERE — work out your answer before the next slide</a:t>
            </a:r>
            <a:endParaRPr sz="1250" b="0" i="0" u="none" strike="noStrike" cap="none">
              <a:solidFill>
                <a:schemeClr val="dk1"/>
              </a:solidFill>
              <a:latin typeface="Calibri"/>
              <a:ea typeface="Calibri"/>
              <a:cs typeface="Calibri"/>
              <a:sym typeface="Calibri"/>
            </a:endParaRPr>
          </a:p>
        </p:txBody>
      </p:sp>
      <p:sp>
        <p:nvSpPr>
          <p:cNvPr id="346" name="Google Shape;346;p19"/>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7 / 40</a:t>
            </a:r>
            <a:endParaRPr sz="950" b="0" i="0" u="none" strike="noStrike" cap="none">
              <a:solidFill>
                <a:schemeClr val="dk1"/>
              </a:solidFill>
              <a:latin typeface="Calibri"/>
              <a:ea typeface="Calibri"/>
              <a:cs typeface="Calibri"/>
              <a:sym typeface="Calibri"/>
            </a:endParaRPr>
          </a:p>
        </p:txBody>
      </p:sp>
      <p:sp>
        <p:nvSpPr>
          <p:cNvPr id="347" name="Google Shape;347;p19"/>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2"/>
        <p:cNvGrpSpPr/>
        <p:nvPr/>
      </p:nvGrpSpPr>
      <p:grpSpPr>
        <a:xfrm>
          <a:off x="0" y="0"/>
          <a:ext cx="0" cy="0"/>
          <a:chOff x="0" y="0"/>
          <a:chExt cx="0" cy="0"/>
        </a:xfrm>
      </p:grpSpPr>
      <p:sp>
        <p:nvSpPr>
          <p:cNvPr id="353" name="Google Shape;353;p20"/>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531A"/>
              </a:buClr>
              <a:buSzPts val="1100"/>
              <a:buFont typeface="Calibri"/>
              <a:buNone/>
            </a:pPr>
            <a:r>
              <a:rPr lang="en-US" sz="1100" b="1" i="0" u="none" strike="noStrike" cap="none">
                <a:solidFill>
                  <a:srgbClr val="C0531A"/>
                </a:solidFill>
                <a:latin typeface="Calibri"/>
                <a:ea typeface="Calibri"/>
                <a:cs typeface="Calibri"/>
                <a:sym typeface="Calibri"/>
              </a:rPr>
              <a:t>WORKED EXAMPLE 2 — SOLUTION</a:t>
            </a:r>
            <a:endParaRPr sz="1100" b="0" i="0" u="none" strike="noStrike" cap="none">
              <a:solidFill>
                <a:schemeClr val="dk1"/>
              </a:solidFill>
              <a:latin typeface="Calibri"/>
              <a:ea typeface="Calibri"/>
              <a:cs typeface="Calibri"/>
              <a:sym typeface="Calibri"/>
            </a:endParaRPr>
          </a:p>
        </p:txBody>
      </p:sp>
      <p:sp>
        <p:nvSpPr>
          <p:cNvPr id="354" name="Google Shape;354;p20"/>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Closed-World Assumption in a Library System</a:t>
            </a:r>
            <a:endParaRPr sz="2300" b="0" i="0" u="none" strike="noStrike" cap="none">
              <a:solidFill>
                <a:schemeClr val="dk1"/>
              </a:solidFill>
              <a:latin typeface="Calibri"/>
              <a:ea typeface="Calibri"/>
              <a:cs typeface="Calibri"/>
              <a:sym typeface="Calibri"/>
            </a:endParaRPr>
          </a:p>
        </p:txBody>
      </p:sp>
      <p:cxnSp>
        <p:nvCxnSpPr>
          <p:cNvPr id="355" name="Google Shape;355;p20"/>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356" name="Google Shape;356;p20"/>
          <p:cNvSpPr/>
          <p:nvPr/>
        </p:nvSpPr>
        <p:spPr>
          <a:xfrm>
            <a:off x="457200" y="1627632"/>
            <a:ext cx="365760" cy="365760"/>
          </a:xfrm>
          <a:prstGeom prst="ellipse">
            <a:avLst/>
          </a:prstGeom>
          <a:solidFill>
            <a:srgbClr val="C053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0"/>
          <p:cNvSpPr/>
          <p:nvPr/>
        </p:nvSpPr>
        <p:spPr>
          <a:xfrm>
            <a:off x="457200" y="1627632"/>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358" name="Google Shape;358;p20"/>
          <p:cNvSpPr/>
          <p:nvPr/>
        </p:nvSpPr>
        <p:spPr>
          <a:xfrm>
            <a:off x="960120" y="1554480"/>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12000"/>
              </a:lnSpc>
              <a:spcBef>
                <a:spcPts val="0"/>
              </a:spcBef>
              <a:spcAft>
                <a:spcPts val="0"/>
              </a:spcAft>
              <a:buClr>
                <a:srgbClr val="404040"/>
              </a:buClr>
              <a:buSzPts val="1280"/>
              <a:buFont typeface="Calibri"/>
              <a:buNone/>
            </a:pPr>
            <a:r>
              <a:rPr lang="en-US" sz="1280" b="0" i="0" u="none" strike="noStrike" cap="none">
                <a:solidFill>
                  <a:srgbClr val="404040"/>
                </a:solidFill>
                <a:latin typeface="Calibri"/>
                <a:ea typeface="Calibri"/>
                <a:cs typeface="Calibri"/>
                <a:sym typeface="Calibri"/>
              </a:rPr>
              <a:t>Identify what is explicitly stated in the database: only two loan facts exist (Ali → Book A, Sara → Book B). Nothing about Ahmed appears anywhere.</a:t>
            </a:r>
            <a:endParaRPr sz="1280" b="0" i="0" u="none" strike="noStrike" cap="none">
              <a:solidFill>
                <a:schemeClr val="dk1"/>
              </a:solidFill>
              <a:latin typeface="Calibri"/>
              <a:ea typeface="Calibri"/>
              <a:cs typeface="Calibri"/>
              <a:sym typeface="Calibri"/>
            </a:endParaRPr>
          </a:p>
        </p:txBody>
      </p:sp>
      <p:sp>
        <p:nvSpPr>
          <p:cNvPr id="359" name="Google Shape;359;p20"/>
          <p:cNvSpPr/>
          <p:nvPr/>
        </p:nvSpPr>
        <p:spPr>
          <a:xfrm>
            <a:off x="457200" y="2295144"/>
            <a:ext cx="365760" cy="365760"/>
          </a:xfrm>
          <a:prstGeom prst="ellipse">
            <a:avLst/>
          </a:prstGeom>
          <a:solidFill>
            <a:srgbClr val="C053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0"/>
          <p:cNvSpPr/>
          <p:nvPr/>
        </p:nvSpPr>
        <p:spPr>
          <a:xfrm>
            <a:off x="457200" y="2295144"/>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361" name="Google Shape;361;p20"/>
          <p:cNvSpPr/>
          <p:nvPr/>
        </p:nvSpPr>
        <p:spPr>
          <a:xfrm>
            <a:off x="960120" y="2221992"/>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12000"/>
              </a:lnSpc>
              <a:spcBef>
                <a:spcPts val="0"/>
              </a:spcBef>
              <a:spcAft>
                <a:spcPts val="0"/>
              </a:spcAft>
              <a:buClr>
                <a:srgbClr val="404040"/>
              </a:buClr>
              <a:buSzPts val="1280"/>
              <a:buFont typeface="Calibri"/>
              <a:buNone/>
            </a:pPr>
            <a:r>
              <a:rPr lang="en-US" sz="1280" b="0" i="0" u="none" strike="noStrike" cap="none">
                <a:solidFill>
                  <a:srgbClr val="404040"/>
                </a:solidFill>
                <a:latin typeface="Calibri"/>
                <a:ea typeface="Calibri"/>
                <a:cs typeface="Calibri"/>
                <a:sym typeface="Calibri"/>
              </a:rPr>
              <a:t>Apply the Closed-World Assumption: "If a fact is not present in the knowledge base, treat it as false." The database is assumed to be a complete record of all loans.</a:t>
            </a:r>
            <a:endParaRPr sz="1280" b="0" i="0" u="none" strike="noStrike" cap="none">
              <a:solidFill>
                <a:schemeClr val="dk1"/>
              </a:solidFill>
              <a:latin typeface="Calibri"/>
              <a:ea typeface="Calibri"/>
              <a:cs typeface="Calibri"/>
              <a:sym typeface="Calibri"/>
            </a:endParaRPr>
          </a:p>
        </p:txBody>
      </p:sp>
      <p:sp>
        <p:nvSpPr>
          <p:cNvPr id="362" name="Google Shape;362;p20"/>
          <p:cNvSpPr/>
          <p:nvPr/>
        </p:nvSpPr>
        <p:spPr>
          <a:xfrm>
            <a:off x="457200" y="2962656"/>
            <a:ext cx="365760" cy="365760"/>
          </a:xfrm>
          <a:prstGeom prst="ellipse">
            <a:avLst/>
          </a:prstGeom>
          <a:solidFill>
            <a:srgbClr val="C053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0"/>
          <p:cNvSpPr/>
          <p:nvPr/>
        </p:nvSpPr>
        <p:spPr>
          <a:xfrm>
            <a:off x="457200" y="2962656"/>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364" name="Google Shape;364;p20"/>
          <p:cNvSpPr/>
          <p:nvPr/>
        </p:nvSpPr>
        <p:spPr>
          <a:xfrm>
            <a:off x="960120" y="2889504"/>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12000"/>
              </a:lnSpc>
              <a:spcBef>
                <a:spcPts val="0"/>
              </a:spcBef>
              <a:spcAft>
                <a:spcPts val="0"/>
              </a:spcAft>
              <a:buClr>
                <a:srgbClr val="404040"/>
              </a:buClr>
              <a:buSzPts val="1280"/>
              <a:buFont typeface="Calibri"/>
              <a:buNone/>
            </a:pPr>
            <a:r>
              <a:rPr lang="en-US" sz="1280" b="0" i="0" u="none" strike="noStrike" cap="none">
                <a:solidFill>
                  <a:srgbClr val="404040"/>
                </a:solidFill>
                <a:latin typeface="Calibri"/>
                <a:ea typeface="Calibri"/>
                <a:cs typeface="Calibri"/>
                <a:sym typeface="Calibri"/>
              </a:rPr>
              <a:t>Since "Ahmed borrowed Book C" does not appear anywhere in the records, the system concludes this statement is false — Ahmed has not borrowed Book C.</a:t>
            </a:r>
            <a:endParaRPr sz="1280" b="0" i="0" u="none" strike="noStrike" cap="none">
              <a:solidFill>
                <a:schemeClr val="dk1"/>
              </a:solidFill>
              <a:latin typeface="Calibri"/>
              <a:ea typeface="Calibri"/>
              <a:cs typeface="Calibri"/>
              <a:sym typeface="Calibri"/>
            </a:endParaRPr>
          </a:p>
        </p:txBody>
      </p:sp>
      <p:sp>
        <p:nvSpPr>
          <p:cNvPr id="365" name="Google Shape;365;p20"/>
          <p:cNvSpPr/>
          <p:nvPr/>
        </p:nvSpPr>
        <p:spPr>
          <a:xfrm>
            <a:off x="457200" y="3630168"/>
            <a:ext cx="365760" cy="365760"/>
          </a:xfrm>
          <a:prstGeom prst="ellipse">
            <a:avLst/>
          </a:prstGeom>
          <a:solidFill>
            <a:srgbClr val="C053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0"/>
          <p:cNvSpPr/>
          <p:nvPr/>
        </p:nvSpPr>
        <p:spPr>
          <a:xfrm>
            <a:off x="457200" y="3630168"/>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4</a:t>
            </a:r>
            <a:endParaRPr sz="1400" b="0" i="0" u="none" strike="noStrike" cap="none">
              <a:solidFill>
                <a:schemeClr val="dk1"/>
              </a:solidFill>
              <a:latin typeface="Calibri"/>
              <a:ea typeface="Calibri"/>
              <a:cs typeface="Calibri"/>
              <a:sym typeface="Calibri"/>
            </a:endParaRPr>
          </a:p>
        </p:txBody>
      </p:sp>
      <p:sp>
        <p:nvSpPr>
          <p:cNvPr id="367" name="Google Shape;367;p20"/>
          <p:cNvSpPr/>
          <p:nvPr/>
        </p:nvSpPr>
        <p:spPr>
          <a:xfrm>
            <a:off x="960120" y="3557016"/>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12000"/>
              </a:lnSpc>
              <a:spcBef>
                <a:spcPts val="0"/>
              </a:spcBef>
              <a:spcAft>
                <a:spcPts val="0"/>
              </a:spcAft>
              <a:buClr>
                <a:srgbClr val="404040"/>
              </a:buClr>
              <a:buSzPts val="1280"/>
              <a:buFont typeface="Calibri"/>
              <a:buNone/>
            </a:pPr>
            <a:r>
              <a:rPr lang="en-US" sz="1280" b="0" i="0" u="none" strike="noStrike" cap="none">
                <a:solidFill>
                  <a:srgbClr val="404040"/>
                </a:solidFill>
                <a:latin typeface="Calibri"/>
                <a:ea typeface="Calibri"/>
                <a:cs typeface="Calibri"/>
                <a:sym typeface="Calibri"/>
              </a:rPr>
              <a:t>Contrast with an Open-World Assumption system (like the public internet), which would instead answer "unknown" rather than "false," because it cannot assume its records are complete.</a:t>
            </a:r>
            <a:endParaRPr sz="1280" b="0" i="0" u="none" strike="noStrike" cap="none">
              <a:solidFill>
                <a:schemeClr val="dk1"/>
              </a:solidFill>
              <a:latin typeface="Calibri"/>
              <a:ea typeface="Calibri"/>
              <a:cs typeface="Calibri"/>
              <a:sym typeface="Calibri"/>
            </a:endParaRPr>
          </a:p>
        </p:txBody>
      </p:sp>
      <p:sp>
        <p:nvSpPr>
          <p:cNvPr id="368" name="Google Shape;368;p20"/>
          <p:cNvSpPr/>
          <p:nvPr/>
        </p:nvSpPr>
        <p:spPr>
          <a:xfrm>
            <a:off x="457200" y="4480560"/>
            <a:ext cx="10607040" cy="1691640"/>
          </a:xfrm>
          <a:prstGeom prst="rect">
            <a:avLst/>
          </a:prstGeom>
          <a:solidFill>
            <a:srgbClr val="FFF6EC"/>
          </a:solidFill>
          <a:ln w="9525" cap="flat" cmpd="sng">
            <a:solidFill>
              <a:srgbClr val="C0531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0"/>
          <p:cNvSpPr/>
          <p:nvPr/>
        </p:nvSpPr>
        <p:spPr>
          <a:xfrm>
            <a:off x="457200" y="4480560"/>
            <a:ext cx="64008" cy="1691640"/>
          </a:xfrm>
          <a:prstGeom prst="rect">
            <a:avLst/>
          </a:prstGeom>
          <a:solidFill>
            <a:srgbClr val="C053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0"/>
          <p:cNvSpPr/>
          <p:nvPr/>
        </p:nvSpPr>
        <p:spPr>
          <a:xfrm>
            <a:off x="685800" y="4590288"/>
            <a:ext cx="102412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531A"/>
              </a:buClr>
              <a:buSzPts val="1050"/>
              <a:buFont typeface="Calibri"/>
              <a:buNone/>
            </a:pPr>
            <a:r>
              <a:rPr lang="en-US" sz="1050" b="1" i="0" u="none" strike="noStrike" cap="none">
                <a:solidFill>
                  <a:srgbClr val="C0531A"/>
                </a:solidFill>
                <a:latin typeface="Calibri"/>
                <a:ea typeface="Calibri"/>
                <a:cs typeface="Calibri"/>
                <a:sym typeface="Calibri"/>
              </a:rPr>
              <a:t>WHY THIS SOLUTION WORKS</a:t>
            </a:r>
            <a:endParaRPr sz="1050" b="0" i="0" u="none" strike="noStrike" cap="none">
              <a:solidFill>
                <a:schemeClr val="dk1"/>
              </a:solidFill>
              <a:latin typeface="Calibri"/>
              <a:ea typeface="Calibri"/>
              <a:cs typeface="Calibri"/>
              <a:sym typeface="Calibri"/>
            </a:endParaRPr>
          </a:p>
        </p:txBody>
      </p:sp>
      <p:sp>
        <p:nvSpPr>
          <p:cNvPr id="371" name="Google Shape;371;p20"/>
          <p:cNvSpPr/>
          <p:nvPr/>
        </p:nvSpPr>
        <p:spPr>
          <a:xfrm>
            <a:off x="685800" y="4882896"/>
            <a:ext cx="10195560" cy="119786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250"/>
              <a:buFont typeface="Calibri"/>
              <a:buNone/>
            </a:pPr>
            <a:r>
              <a:rPr lang="en-US" sz="1250" b="0" i="0" u="none" strike="noStrike" cap="none">
                <a:solidFill>
                  <a:srgbClr val="404040"/>
                </a:solidFill>
                <a:latin typeface="Calibri"/>
                <a:ea typeface="Calibri"/>
                <a:cs typeface="Calibri"/>
                <a:sym typeface="Calibri"/>
              </a:rPr>
              <a:t>Most everyday databases — banking, student records, library systems — silently rely on the Closed-World Assumption every day. It is a form of non-monotonic reasoning because if a new loan record for Ahmed is added tomorrow, the earlier conclusion is instantly retracted. The assumption only works because the domain is genuinely expected to be complete — this is why CWA fails badly on open domains like the web.</a:t>
            </a:r>
            <a:endParaRPr sz="1250" b="0" i="0" u="none" strike="noStrike" cap="none">
              <a:solidFill>
                <a:schemeClr val="dk1"/>
              </a:solidFill>
              <a:latin typeface="Calibri"/>
              <a:ea typeface="Calibri"/>
              <a:cs typeface="Calibri"/>
              <a:sym typeface="Calibri"/>
            </a:endParaRPr>
          </a:p>
        </p:txBody>
      </p:sp>
      <p:sp>
        <p:nvSpPr>
          <p:cNvPr id="372" name="Google Shape;372;p20"/>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7 / 40</a:t>
            </a:r>
            <a:endParaRPr sz="950" b="0" i="0" u="none" strike="noStrike" cap="none">
              <a:solidFill>
                <a:schemeClr val="dk1"/>
              </a:solidFill>
              <a:latin typeface="Calibri"/>
              <a:ea typeface="Calibri"/>
              <a:cs typeface="Calibri"/>
              <a:sym typeface="Calibri"/>
            </a:endParaRPr>
          </a:p>
        </p:txBody>
      </p:sp>
      <p:sp>
        <p:nvSpPr>
          <p:cNvPr id="373" name="Google Shape;373;p20"/>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78"/>
        <p:cNvGrpSpPr/>
        <p:nvPr/>
      </p:nvGrpSpPr>
      <p:grpSpPr>
        <a:xfrm>
          <a:off x="0" y="0"/>
          <a:ext cx="0" cy="0"/>
          <a:chOff x="0" y="0"/>
          <a:chExt cx="0" cy="0"/>
        </a:xfrm>
      </p:grpSpPr>
      <p:sp>
        <p:nvSpPr>
          <p:cNvPr id="379" name="Google Shape;379;p21"/>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531A"/>
              </a:buClr>
              <a:buSzPts val="1100"/>
              <a:buFont typeface="Calibri"/>
              <a:buNone/>
            </a:pPr>
            <a:r>
              <a:rPr lang="en-US" sz="1100" b="1" i="0" u="none" strike="noStrike" cap="none">
                <a:solidFill>
                  <a:srgbClr val="C0531A"/>
                </a:solidFill>
                <a:latin typeface="Calibri"/>
                <a:ea typeface="Calibri"/>
                <a:cs typeface="Calibri"/>
                <a:sym typeface="Calibri"/>
              </a:rPr>
              <a:t>WORKED EXAMPLE 3 — TRY IT YOURSELF</a:t>
            </a:r>
            <a:endParaRPr sz="1100" b="0" i="0" u="none" strike="noStrike" cap="none">
              <a:solidFill>
                <a:schemeClr val="dk1"/>
              </a:solidFill>
              <a:latin typeface="Calibri"/>
              <a:ea typeface="Calibri"/>
              <a:cs typeface="Calibri"/>
              <a:sym typeface="Calibri"/>
            </a:endParaRPr>
          </a:p>
        </p:txBody>
      </p:sp>
      <p:sp>
        <p:nvSpPr>
          <p:cNvPr id="380" name="Google Shape;380;p21"/>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Conflicting Defaults — The Nixon Diamond</a:t>
            </a:r>
            <a:endParaRPr sz="2300" b="0" i="0" u="none" strike="noStrike" cap="none">
              <a:solidFill>
                <a:schemeClr val="dk1"/>
              </a:solidFill>
              <a:latin typeface="Calibri"/>
              <a:ea typeface="Calibri"/>
              <a:cs typeface="Calibri"/>
              <a:sym typeface="Calibri"/>
            </a:endParaRPr>
          </a:p>
        </p:txBody>
      </p:sp>
      <p:cxnSp>
        <p:nvCxnSpPr>
          <p:cNvPr id="381" name="Google Shape;381;p21"/>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382" name="Google Shape;382;p21"/>
          <p:cNvSpPr/>
          <p:nvPr/>
        </p:nvSpPr>
        <p:spPr>
          <a:xfrm>
            <a:off x="640080" y="1691640"/>
            <a:ext cx="10241280" cy="2926080"/>
          </a:xfrm>
          <a:prstGeom prst="rect">
            <a:avLst/>
          </a:prstGeom>
          <a:solidFill>
            <a:srgbClr val="FFF8F0"/>
          </a:solidFill>
          <a:ln w="15875" cap="flat" cmpd="sng">
            <a:solidFill>
              <a:srgbClr val="C0531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21"/>
          <p:cNvSpPr/>
          <p:nvPr/>
        </p:nvSpPr>
        <p:spPr>
          <a:xfrm>
            <a:off x="868680" y="1874520"/>
            <a:ext cx="3657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531A"/>
              </a:buClr>
              <a:buSzPts val="1200"/>
              <a:buFont typeface="Calibri"/>
              <a:buNone/>
            </a:pPr>
            <a:r>
              <a:rPr lang="en-US" sz="1200" b="1" i="0" u="none" strike="noStrike" cap="none">
                <a:solidFill>
                  <a:srgbClr val="C0531A"/>
                </a:solidFill>
                <a:latin typeface="Calibri"/>
                <a:ea typeface="Calibri"/>
                <a:cs typeface="Calibri"/>
                <a:sym typeface="Calibri"/>
              </a:rPr>
              <a:t>PROBLEM</a:t>
            </a:r>
            <a:endParaRPr sz="1200" b="0" i="0" u="none" strike="noStrike" cap="none">
              <a:solidFill>
                <a:schemeClr val="dk1"/>
              </a:solidFill>
              <a:latin typeface="Calibri"/>
              <a:ea typeface="Calibri"/>
              <a:cs typeface="Calibri"/>
              <a:sym typeface="Calibri"/>
            </a:endParaRPr>
          </a:p>
        </p:txBody>
      </p:sp>
      <p:sp>
        <p:nvSpPr>
          <p:cNvPr id="384" name="Google Shape;384;p21"/>
          <p:cNvSpPr/>
          <p:nvPr/>
        </p:nvSpPr>
        <p:spPr>
          <a:xfrm>
            <a:off x="868680" y="2194560"/>
            <a:ext cx="9784080" cy="137160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404040"/>
              </a:buClr>
              <a:buSzPts val="1450"/>
              <a:buFont typeface="Calibri"/>
              <a:buNone/>
            </a:pPr>
            <a:r>
              <a:rPr lang="en-US" sz="1450" b="0" i="0" u="none" strike="noStrike" cap="none">
                <a:solidFill>
                  <a:srgbClr val="404040"/>
                </a:solidFill>
                <a:latin typeface="Calibri"/>
                <a:ea typeface="Calibri"/>
                <a:cs typeface="Calibri"/>
                <a:sym typeface="Calibri"/>
              </a:rPr>
              <a:t>Consider two default rules that both apply to the same individual:</a:t>
            </a:r>
            <a:endParaRPr sz="1450" b="0" i="0" u="none" strike="noStrike" cap="none">
              <a:solidFill>
                <a:schemeClr val="dk1"/>
              </a:solidFill>
              <a:latin typeface="Calibri"/>
              <a:ea typeface="Calibri"/>
              <a:cs typeface="Calibri"/>
              <a:sym typeface="Calibri"/>
            </a:endParaRPr>
          </a:p>
          <a:p>
            <a:pPr marL="0" marR="0" lvl="0" indent="0" algn="l" rtl="0">
              <a:lnSpc>
                <a:spcPct val="130000"/>
              </a:lnSpc>
              <a:spcBef>
                <a:spcPts val="0"/>
              </a:spcBef>
              <a:spcAft>
                <a:spcPts val="0"/>
              </a:spcAft>
              <a:buClr>
                <a:srgbClr val="404040"/>
              </a:buClr>
              <a:buSzPts val="1450"/>
              <a:buFont typeface="Calibri"/>
              <a:buNone/>
            </a:pPr>
            <a:r>
              <a:rPr lang="en-US" sz="1450" b="0" i="0" u="none" strike="noStrike" cap="none">
                <a:solidFill>
                  <a:srgbClr val="404040"/>
                </a:solidFill>
                <a:latin typeface="Calibri"/>
                <a:ea typeface="Calibri"/>
                <a:cs typeface="Calibri"/>
                <a:sym typeface="Calibri"/>
              </a:rPr>
              <a:t>Rule A:  "Quakers are typically pacifists (against war)."</a:t>
            </a:r>
            <a:endParaRPr sz="1450" b="0" i="0" u="none" strike="noStrike" cap="none">
              <a:solidFill>
                <a:schemeClr val="dk1"/>
              </a:solidFill>
              <a:latin typeface="Calibri"/>
              <a:ea typeface="Calibri"/>
              <a:cs typeface="Calibri"/>
              <a:sym typeface="Calibri"/>
            </a:endParaRPr>
          </a:p>
          <a:p>
            <a:pPr marL="0" marR="0" lvl="0" indent="0" algn="l" rtl="0">
              <a:lnSpc>
                <a:spcPct val="130000"/>
              </a:lnSpc>
              <a:spcBef>
                <a:spcPts val="0"/>
              </a:spcBef>
              <a:spcAft>
                <a:spcPts val="0"/>
              </a:spcAft>
              <a:buClr>
                <a:srgbClr val="404040"/>
              </a:buClr>
              <a:buSzPts val="1450"/>
              <a:buFont typeface="Calibri"/>
              <a:buNone/>
            </a:pPr>
            <a:r>
              <a:rPr lang="en-US" sz="1450" b="0" i="0" u="none" strike="noStrike" cap="none">
                <a:solidFill>
                  <a:srgbClr val="404040"/>
                </a:solidFill>
                <a:latin typeface="Calibri"/>
                <a:ea typeface="Calibri"/>
                <a:cs typeface="Calibri"/>
                <a:sym typeface="Calibri"/>
              </a:rPr>
              <a:t>Rule B:  "Republicans are typically not pacifists."</a:t>
            </a:r>
            <a:endParaRPr sz="1450" b="0" i="0" u="none" strike="noStrike" cap="none">
              <a:solidFill>
                <a:schemeClr val="dk1"/>
              </a:solidFill>
              <a:latin typeface="Calibri"/>
              <a:ea typeface="Calibri"/>
              <a:cs typeface="Calibri"/>
              <a:sym typeface="Calibri"/>
            </a:endParaRPr>
          </a:p>
          <a:p>
            <a:pPr marL="0" marR="0" lvl="0" indent="0" algn="l" rtl="0">
              <a:lnSpc>
                <a:spcPct val="130000"/>
              </a:lnSpc>
              <a:spcBef>
                <a:spcPts val="0"/>
              </a:spcBef>
              <a:spcAft>
                <a:spcPts val="0"/>
              </a:spcAft>
              <a:buClr>
                <a:srgbClr val="404040"/>
              </a:buClr>
              <a:buSzPts val="1450"/>
              <a:buFont typeface="Calibri"/>
              <a:buNone/>
            </a:pPr>
            <a:r>
              <a:rPr lang="en-US" sz="1450" b="0" i="0" u="none" strike="noStrike" cap="none">
                <a:solidFill>
                  <a:srgbClr val="404040"/>
                </a:solidFill>
                <a:latin typeface="Calibri"/>
                <a:ea typeface="Calibri"/>
                <a:cs typeface="Calibri"/>
                <a:sym typeface="Calibri"/>
              </a:rPr>
              <a:t>Fact:  "Richard is both a Quaker and a Republican."</a:t>
            </a:r>
            <a:endParaRPr sz="1450" b="0" i="0" u="none" strike="noStrike" cap="none">
              <a:solidFill>
                <a:schemeClr val="dk1"/>
              </a:solidFill>
              <a:latin typeface="Calibri"/>
              <a:ea typeface="Calibri"/>
              <a:cs typeface="Calibri"/>
              <a:sym typeface="Calibri"/>
            </a:endParaRPr>
          </a:p>
        </p:txBody>
      </p:sp>
      <p:sp>
        <p:nvSpPr>
          <p:cNvPr id="385" name="Google Shape;385;p21"/>
          <p:cNvSpPr/>
          <p:nvPr/>
        </p:nvSpPr>
        <p:spPr>
          <a:xfrm>
            <a:off x="868680" y="3657600"/>
            <a:ext cx="9784080" cy="77724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404040"/>
              </a:buClr>
              <a:buSzPts val="1450"/>
              <a:buFont typeface="Calibri"/>
              <a:buNone/>
            </a:pPr>
            <a:r>
              <a:rPr lang="en-US" sz="1450" b="1" i="1" u="none" strike="noStrike" cap="none">
                <a:solidFill>
                  <a:srgbClr val="404040"/>
                </a:solidFill>
                <a:latin typeface="Calibri"/>
                <a:ea typeface="Calibri"/>
                <a:cs typeface="Calibri"/>
                <a:sym typeface="Calibri"/>
              </a:rPr>
              <a:t>Question:  </a:t>
            </a:r>
            <a:r>
              <a:rPr lang="en-US" sz="1450" b="0" i="1" u="none" strike="noStrike" cap="none">
                <a:solidFill>
                  <a:srgbClr val="404040"/>
                </a:solidFill>
                <a:latin typeface="Calibri"/>
                <a:ea typeface="Calibri"/>
                <a:cs typeface="Calibri"/>
                <a:sym typeface="Calibri"/>
              </a:rPr>
              <a:t>Should the system conclude Richard is a pacifist, not a pacifist, or something else? This famous puzzle is called the "Nixon Diamond."</a:t>
            </a:r>
            <a:endParaRPr sz="1450" b="0" i="0" u="none" strike="noStrike" cap="none">
              <a:solidFill>
                <a:schemeClr val="dk1"/>
              </a:solidFill>
              <a:latin typeface="Calibri"/>
              <a:ea typeface="Calibri"/>
              <a:cs typeface="Calibri"/>
              <a:sym typeface="Calibri"/>
            </a:endParaRPr>
          </a:p>
        </p:txBody>
      </p:sp>
      <p:sp>
        <p:nvSpPr>
          <p:cNvPr id="386" name="Google Shape;386;p21"/>
          <p:cNvSpPr/>
          <p:nvPr/>
        </p:nvSpPr>
        <p:spPr>
          <a:xfrm>
            <a:off x="640080" y="5120640"/>
            <a:ext cx="1024128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0531A"/>
              </a:buClr>
              <a:buSzPts val="1250"/>
              <a:buFont typeface="Calibri"/>
              <a:buNone/>
            </a:pPr>
            <a:r>
              <a:rPr lang="en-US" sz="1250" b="1" i="1" u="none" strike="noStrike" cap="none">
                <a:solidFill>
                  <a:srgbClr val="C0531A"/>
                </a:solidFill>
                <a:latin typeface="Calibri"/>
                <a:ea typeface="Calibri"/>
                <a:cs typeface="Calibri"/>
                <a:sym typeface="Calibri"/>
              </a:rPr>
              <a:t>PAUSE HERE — work out your answer before the next slide</a:t>
            </a:r>
            <a:endParaRPr sz="1250" b="0" i="0" u="none" strike="noStrike" cap="none">
              <a:solidFill>
                <a:schemeClr val="dk1"/>
              </a:solidFill>
              <a:latin typeface="Calibri"/>
              <a:ea typeface="Calibri"/>
              <a:cs typeface="Calibri"/>
              <a:sym typeface="Calibri"/>
            </a:endParaRPr>
          </a:p>
        </p:txBody>
      </p:sp>
      <p:sp>
        <p:nvSpPr>
          <p:cNvPr id="387" name="Google Shape;387;p21"/>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8 / 40</a:t>
            </a:r>
            <a:endParaRPr sz="950" b="0" i="0" u="none" strike="noStrike" cap="none">
              <a:solidFill>
                <a:schemeClr val="dk1"/>
              </a:solidFill>
              <a:latin typeface="Calibri"/>
              <a:ea typeface="Calibri"/>
              <a:cs typeface="Calibri"/>
              <a:sym typeface="Calibri"/>
            </a:endParaRPr>
          </a:p>
        </p:txBody>
      </p:sp>
      <p:sp>
        <p:nvSpPr>
          <p:cNvPr id="388" name="Google Shape;388;p21"/>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93"/>
        <p:cNvGrpSpPr/>
        <p:nvPr/>
      </p:nvGrpSpPr>
      <p:grpSpPr>
        <a:xfrm>
          <a:off x="0" y="0"/>
          <a:ext cx="0" cy="0"/>
          <a:chOff x="0" y="0"/>
          <a:chExt cx="0" cy="0"/>
        </a:xfrm>
      </p:grpSpPr>
      <p:sp>
        <p:nvSpPr>
          <p:cNvPr id="394" name="Google Shape;394;p22"/>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531A"/>
              </a:buClr>
              <a:buSzPts val="1100"/>
              <a:buFont typeface="Calibri"/>
              <a:buNone/>
            </a:pPr>
            <a:r>
              <a:rPr lang="en-US" sz="1100" b="1" i="0" u="none" strike="noStrike" cap="none">
                <a:solidFill>
                  <a:srgbClr val="C0531A"/>
                </a:solidFill>
                <a:latin typeface="Calibri"/>
                <a:ea typeface="Calibri"/>
                <a:cs typeface="Calibri"/>
                <a:sym typeface="Calibri"/>
              </a:rPr>
              <a:t>WORKED EXAMPLE 3 — SOLUTION</a:t>
            </a:r>
            <a:endParaRPr sz="1100" b="0" i="0" u="none" strike="noStrike" cap="none">
              <a:solidFill>
                <a:schemeClr val="dk1"/>
              </a:solidFill>
              <a:latin typeface="Calibri"/>
              <a:ea typeface="Calibri"/>
              <a:cs typeface="Calibri"/>
              <a:sym typeface="Calibri"/>
            </a:endParaRPr>
          </a:p>
        </p:txBody>
      </p:sp>
      <p:sp>
        <p:nvSpPr>
          <p:cNvPr id="395" name="Google Shape;395;p22"/>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Conflicting Defaults — The Nixon Diamond</a:t>
            </a:r>
            <a:endParaRPr sz="2300" b="0" i="0" u="none" strike="noStrike" cap="none">
              <a:solidFill>
                <a:schemeClr val="dk1"/>
              </a:solidFill>
              <a:latin typeface="Calibri"/>
              <a:ea typeface="Calibri"/>
              <a:cs typeface="Calibri"/>
              <a:sym typeface="Calibri"/>
            </a:endParaRPr>
          </a:p>
        </p:txBody>
      </p:sp>
      <p:cxnSp>
        <p:nvCxnSpPr>
          <p:cNvPr id="396" name="Google Shape;396;p22"/>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397" name="Google Shape;397;p22"/>
          <p:cNvSpPr/>
          <p:nvPr/>
        </p:nvSpPr>
        <p:spPr>
          <a:xfrm>
            <a:off x="457200" y="1627632"/>
            <a:ext cx="365760" cy="365760"/>
          </a:xfrm>
          <a:prstGeom prst="ellipse">
            <a:avLst/>
          </a:prstGeom>
          <a:solidFill>
            <a:srgbClr val="C053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2"/>
          <p:cNvSpPr/>
          <p:nvPr/>
        </p:nvSpPr>
        <p:spPr>
          <a:xfrm>
            <a:off x="457200" y="1627632"/>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399" name="Google Shape;399;p22"/>
          <p:cNvSpPr/>
          <p:nvPr/>
        </p:nvSpPr>
        <p:spPr>
          <a:xfrm>
            <a:off x="960120" y="1554480"/>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404040"/>
              </a:buClr>
              <a:buSzPts val="1250"/>
              <a:buFont typeface="Calibri"/>
              <a:buNone/>
            </a:pPr>
            <a:r>
              <a:rPr lang="en-US" sz="1250" b="0" i="0" u="none" strike="noStrike" cap="none">
                <a:solidFill>
                  <a:srgbClr val="404040"/>
                </a:solidFill>
                <a:latin typeface="Calibri"/>
                <a:ea typeface="Calibri"/>
                <a:cs typeface="Calibri"/>
                <a:sym typeface="Calibri"/>
              </a:rPr>
              <a:t>Check Rule A: Richard is a Quaker → default suggests pacifist.</a:t>
            </a:r>
            <a:endParaRPr sz="1250" b="0" i="0" u="none" strike="noStrike" cap="none">
              <a:solidFill>
                <a:schemeClr val="dk1"/>
              </a:solidFill>
              <a:latin typeface="Calibri"/>
              <a:ea typeface="Calibri"/>
              <a:cs typeface="Calibri"/>
              <a:sym typeface="Calibri"/>
            </a:endParaRPr>
          </a:p>
        </p:txBody>
      </p:sp>
      <p:sp>
        <p:nvSpPr>
          <p:cNvPr id="400" name="Google Shape;400;p22"/>
          <p:cNvSpPr/>
          <p:nvPr/>
        </p:nvSpPr>
        <p:spPr>
          <a:xfrm>
            <a:off x="457200" y="2295144"/>
            <a:ext cx="365760" cy="365760"/>
          </a:xfrm>
          <a:prstGeom prst="ellipse">
            <a:avLst/>
          </a:prstGeom>
          <a:solidFill>
            <a:srgbClr val="C053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2"/>
          <p:cNvSpPr/>
          <p:nvPr/>
        </p:nvSpPr>
        <p:spPr>
          <a:xfrm>
            <a:off x="457200" y="2295144"/>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402" name="Google Shape;402;p22"/>
          <p:cNvSpPr/>
          <p:nvPr/>
        </p:nvSpPr>
        <p:spPr>
          <a:xfrm>
            <a:off x="960120" y="2221992"/>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404040"/>
              </a:buClr>
              <a:buSzPts val="1250"/>
              <a:buFont typeface="Calibri"/>
              <a:buNone/>
            </a:pPr>
            <a:r>
              <a:rPr lang="en-US" sz="1250" b="0" i="0" u="none" strike="noStrike" cap="none">
                <a:solidFill>
                  <a:srgbClr val="404040"/>
                </a:solidFill>
                <a:latin typeface="Calibri"/>
                <a:ea typeface="Calibri"/>
                <a:cs typeface="Calibri"/>
                <a:sym typeface="Calibri"/>
              </a:rPr>
              <a:t>Check Rule B: Richard is a Republican → default suggests not pacifist.</a:t>
            </a:r>
            <a:endParaRPr sz="1250" b="0" i="0" u="none" strike="noStrike" cap="none">
              <a:solidFill>
                <a:schemeClr val="dk1"/>
              </a:solidFill>
              <a:latin typeface="Calibri"/>
              <a:ea typeface="Calibri"/>
              <a:cs typeface="Calibri"/>
              <a:sym typeface="Calibri"/>
            </a:endParaRPr>
          </a:p>
        </p:txBody>
      </p:sp>
      <p:sp>
        <p:nvSpPr>
          <p:cNvPr id="403" name="Google Shape;403;p22"/>
          <p:cNvSpPr/>
          <p:nvPr/>
        </p:nvSpPr>
        <p:spPr>
          <a:xfrm>
            <a:off x="457200" y="2962656"/>
            <a:ext cx="365760" cy="365760"/>
          </a:xfrm>
          <a:prstGeom prst="ellipse">
            <a:avLst/>
          </a:prstGeom>
          <a:solidFill>
            <a:srgbClr val="C053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2"/>
          <p:cNvSpPr/>
          <p:nvPr/>
        </p:nvSpPr>
        <p:spPr>
          <a:xfrm>
            <a:off x="457200" y="2962656"/>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405" name="Google Shape;405;p22"/>
          <p:cNvSpPr/>
          <p:nvPr/>
        </p:nvSpPr>
        <p:spPr>
          <a:xfrm>
            <a:off x="960120" y="2889504"/>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404040"/>
              </a:buClr>
              <a:buSzPts val="1250"/>
              <a:buFont typeface="Calibri"/>
              <a:buNone/>
            </a:pPr>
            <a:r>
              <a:rPr lang="en-US" sz="1250" b="0" i="0" u="none" strike="noStrike" cap="none">
                <a:solidFill>
                  <a:srgbClr val="404040"/>
                </a:solidFill>
                <a:latin typeface="Calibri"/>
                <a:ea typeface="Calibri"/>
                <a:cs typeface="Calibri"/>
                <a:sym typeface="Calibri"/>
              </a:rPr>
              <a:t>Check the Specificity Principle: is one rule more specific than the other? No — "Quaker" and "Republican" are independent categories; neither is a sub-case of the other.</a:t>
            </a:r>
            <a:endParaRPr sz="1250" b="0" i="0" u="none" strike="noStrike" cap="none">
              <a:solidFill>
                <a:schemeClr val="dk1"/>
              </a:solidFill>
              <a:latin typeface="Calibri"/>
              <a:ea typeface="Calibri"/>
              <a:cs typeface="Calibri"/>
              <a:sym typeface="Calibri"/>
            </a:endParaRPr>
          </a:p>
        </p:txBody>
      </p:sp>
      <p:sp>
        <p:nvSpPr>
          <p:cNvPr id="406" name="Google Shape;406;p22"/>
          <p:cNvSpPr/>
          <p:nvPr/>
        </p:nvSpPr>
        <p:spPr>
          <a:xfrm>
            <a:off x="457200" y="3630168"/>
            <a:ext cx="365760" cy="365760"/>
          </a:xfrm>
          <a:prstGeom prst="ellipse">
            <a:avLst/>
          </a:prstGeom>
          <a:solidFill>
            <a:srgbClr val="C053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2"/>
          <p:cNvSpPr/>
          <p:nvPr/>
        </p:nvSpPr>
        <p:spPr>
          <a:xfrm>
            <a:off x="457200" y="3630168"/>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4</a:t>
            </a:r>
            <a:endParaRPr sz="1400" b="0" i="0" u="none" strike="noStrike" cap="none">
              <a:solidFill>
                <a:schemeClr val="dk1"/>
              </a:solidFill>
              <a:latin typeface="Calibri"/>
              <a:ea typeface="Calibri"/>
              <a:cs typeface="Calibri"/>
              <a:sym typeface="Calibri"/>
            </a:endParaRPr>
          </a:p>
        </p:txBody>
      </p:sp>
      <p:sp>
        <p:nvSpPr>
          <p:cNvPr id="408" name="Google Shape;408;p22"/>
          <p:cNvSpPr/>
          <p:nvPr/>
        </p:nvSpPr>
        <p:spPr>
          <a:xfrm>
            <a:off x="960120" y="3557016"/>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404040"/>
              </a:buClr>
              <a:buSzPts val="1250"/>
              <a:buFont typeface="Calibri"/>
              <a:buNone/>
            </a:pPr>
            <a:r>
              <a:rPr lang="en-US" sz="1250" b="0" i="0" u="none" strike="noStrike" cap="none">
                <a:solidFill>
                  <a:srgbClr val="404040"/>
                </a:solidFill>
                <a:latin typeface="Calibri"/>
                <a:ea typeface="Calibri"/>
                <a:cs typeface="Calibri"/>
                <a:sym typeface="Calibri"/>
              </a:rPr>
              <a:t>Because neither default is more specific, the two conclusions are in genuine, unresolved conflict. A well-designed system reports: "The status is undetermined — both defaults are equally justified, and they cannot both hold."</a:t>
            </a:r>
            <a:endParaRPr sz="1250" b="0" i="0" u="none" strike="noStrike" cap="none">
              <a:solidFill>
                <a:schemeClr val="dk1"/>
              </a:solidFill>
              <a:latin typeface="Calibri"/>
              <a:ea typeface="Calibri"/>
              <a:cs typeface="Calibri"/>
              <a:sym typeface="Calibri"/>
            </a:endParaRPr>
          </a:p>
        </p:txBody>
      </p:sp>
      <p:sp>
        <p:nvSpPr>
          <p:cNvPr id="409" name="Google Shape;409;p22"/>
          <p:cNvSpPr/>
          <p:nvPr/>
        </p:nvSpPr>
        <p:spPr>
          <a:xfrm>
            <a:off x="457200" y="4480560"/>
            <a:ext cx="10607040" cy="1691640"/>
          </a:xfrm>
          <a:prstGeom prst="rect">
            <a:avLst/>
          </a:prstGeom>
          <a:solidFill>
            <a:srgbClr val="FFF6EC"/>
          </a:solidFill>
          <a:ln w="9525" cap="flat" cmpd="sng">
            <a:solidFill>
              <a:srgbClr val="C0531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2"/>
          <p:cNvSpPr/>
          <p:nvPr/>
        </p:nvSpPr>
        <p:spPr>
          <a:xfrm>
            <a:off x="457200" y="4480560"/>
            <a:ext cx="64008" cy="1691640"/>
          </a:xfrm>
          <a:prstGeom prst="rect">
            <a:avLst/>
          </a:prstGeom>
          <a:solidFill>
            <a:srgbClr val="C053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2"/>
          <p:cNvSpPr/>
          <p:nvPr/>
        </p:nvSpPr>
        <p:spPr>
          <a:xfrm>
            <a:off x="685800" y="4590288"/>
            <a:ext cx="102412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531A"/>
              </a:buClr>
              <a:buSzPts val="1050"/>
              <a:buFont typeface="Calibri"/>
              <a:buNone/>
            </a:pPr>
            <a:r>
              <a:rPr lang="en-US" sz="1050" b="1" i="0" u="none" strike="noStrike" cap="none">
                <a:solidFill>
                  <a:srgbClr val="C0531A"/>
                </a:solidFill>
                <a:latin typeface="Calibri"/>
                <a:ea typeface="Calibri"/>
                <a:cs typeface="Calibri"/>
                <a:sym typeface="Calibri"/>
              </a:rPr>
              <a:t>WHY THIS SOLUTION WORKS</a:t>
            </a:r>
            <a:endParaRPr sz="1050" b="0" i="0" u="none" strike="noStrike" cap="none">
              <a:solidFill>
                <a:schemeClr val="dk1"/>
              </a:solidFill>
              <a:latin typeface="Calibri"/>
              <a:ea typeface="Calibri"/>
              <a:cs typeface="Calibri"/>
              <a:sym typeface="Calibri"/>
            </a:endParaRPr>
          </a:p>
        </p:txBody>
      </p:sp>
      <p:sp>
        <p:nvSpPr>
          <p:cNvPr id="412" name="Google Shape;412;p22"/>
          <p:cNvSpPr/>
          <p:nvPr/>
        </p:nvSpPr>
        <p:spPr>
          <a:xfrm>
            <a:off x="685800" y="4882896"/>
            <a:ext cx="10195560" cy="119786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250"/>
              <a:buFont typeface="Calibri"/>
              <a:buNone/>
            </a:pPr>
            <a:r>
              <a:rPr lang="en-US" sz="1250" b="0" i="0" u="none" strike="noStrike" cap="none">
                <a:solidFill>
                  <a:srgbClr val="404040"/>
                </a:solidFill>
                <a:latin typeface="Calibri"/>
                <a:ea typeface="Calibri"/>
                <a:cs typeface="Calibri"/>
                <a:sym typeface="Calibri"/>
              </a:rPr>
              <a:t>This example tests whether a reasoning system can recognize the limits of default reasoning. A poorly designed system might pick a conclusion at random — dangerous in real applications such as medical or legal AI. The correct, honest answer is to flag the conflict and ask for more information rather than silently guessing.</a:t>
            </a:r>
            <a:endParaRPr sz="1250" b="0" i="0" u="none" strike="noStrike" cap="none">
              <a:solidFill>
                <a:schemeClr val="dk1"/>
              </a:solidFill>
              <a:latin typeface="Calibri"/>
              <a:ea typeface="Calibri"/>
              <a:cs typeface="Calibri"/>
              <a:sym typeface="Calibri"/>
            </a:endParaRPr>
          </a:p>
        </p:txBody>
      </p:sp>
      <p:sp>
        <p:nvSpPr>
          <p:cNvPr id="413" name="Google Shape;413;p22"/>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8 / 40</a:t>
            </a:r>
            <a:endParaRPr sz="950" b="0" i="0" u="none" strike="noStrike" cap="none">
              <a:solidFill>
                <a:schemeClr val="dk1"/>
              </a:solidFill>
              <a:latin typeface="Calibri"/>
              <a:ea typeface="Calibri"/>
              <a:cs typeface="Calibri"/>
              <a:sym typeface="Calibri"/>
            </a:endParaRPr>
          </a:p>
        </p:txBody>
      </p:sp>
      <p:sp>
        <p:nvSpPr>
          <p:cNvPr id="414" name="Google Shape;414;p22"/>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57"/>
        <p:cNvGrpSpPr/>
        <p:nvPr/>
      </p:nvGrpSpPr>
      <p:grpSpPr>
        <a:xfrm>
          <a:off x="0" y="0"/>
          <a:ext cx="0" cy="0"/>
          <a:chOff x="0" y="0"/>
          <a:chExt cx="0" cy="0"/>
        </a:xfrm>
      </p:grpSpPr>
      <p:sp>
        <p:nvSpPr>
          <p:cNvPr id="558" name="Google Shape;558;p32"/>
          <p:cNvSpPr/>
          <p:nvPr/>
        </p:nvSpPr>
        <p:spPr>
          <a:xfrm>
            <a:off x="0" y="0"/>
            <a:ext cx="12191695" cy="3657600"/>
          </a:xfrm>
          <a:prstGeom prst="rect">
            <a:avLst/>
          </a:prstGeom>
          <a:solidFill>
            <a:srgbClr val="2E8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2"/>
          <p:cNvSpPr/>
          <p:nvPr/>
        </p:nvSpPr>
        <p:spPr>
          <a:xfrm>
            <a:off x="822960" y="1051560"/>
            <a:ext cx="365760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TOPIC 02</a:t>
            </a:r>
            <a:endParaRPr sz="1400" b="0" i="0" u="none" strike="noStrike" cap="none">
              <a:solidFill>
                <a:schemeClr val="dk1"/>
              </a:solidFill>
              <a:latin typeface="Calibri"/>
              <a:ea typeface="Calibri"/>
              <a:cs typeface="Calibri"/>
              <a:sym typeface="Calibri"/>
            </a:endParaRPr>
          </a:p>
        </p:txBody>
      </p:sp>
      <p:sp>
        <p:nvSpPr>
          <p:cNvPr id="560" name="Google Shape;560;p32"/>
          <p:cNvSpPr/>
          <p:nvPr/>
        </p:nvSpPr>
        <p:spPr>
          <a:xfrm>
            <a:off x="777240" y="1463040"/>
            <a:ext cx="10607040" cy="137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800"/>
              <a:buFont typeface="Calibri"/>
              <a:buNone/>
            </a:pPr>
            <a:r>
              <a:rPr lang="en-US" sz="3800" b="1" i="0" u="none" strike="noStrike" cap="none">
                <a:solidFill>
                  <a:srgbClr val="FFFFFF"/>
                </a:solidFill>
                <a:latin typeface="Calibri"/>
                <a:ea typeface="Calibri"/>
                <a:cs typeface="Calibri"/>
                <a:sym typeface="Calibri"/>
              </a:rPr>
              <a:t>Commonsense Reasoning in AI Systems</a:t>
            </a:r>
            <a:endParaRPr sz="3800" b="0" i="0" u="none" strike="noStrike" cap="none">
              <a:solidFill>
                <a:schemeClr val="dk1"/>
              </a:solidFill>
              <a:latin typeface="Calibri"/>
              <a:ea typeface="Calibri"/>
              <a:cs typeface="Calibri"/>
              <a:sym typeface="Calibri"/>
            </a:endParaRPr>
          </a:p>
        </p:txBody>
      </p:sp>
      <p:sp>
        <p:nvSpPr>
          <p:cNvPr id="561" name="Google Shape;561;p32"/>
          <p:cNvSpPr/>
          <p:nvPr/>
        </p:nvSpPr>
        <p:spPr>
          <a:xfrm>
            <a:off x="822960" y="2697480"/>
            <a:ext cx="987552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700"/>
              <a:buFont typeface="Calibri"/>
              <a:buNone/>
            </a:pPr>
            <a:r>
              <a:rPr lang="en-US" sz="1700" b="0" i="1" u="none" strike="noStrike" cap="none">
                <a:solidFill>
                  <a:srgbClr val="FFFFFF"/>
                </a:solidFill>
                <a:latin typeface="Calibri"/>
                <a:ea typeface="Calibri"/>
                <a:cs typeface="Calibri"/>
                <a:sym typeface="Calibri"/>
              </a:rPr>
              <a:t>Teaching machines the "obvious" things humans never think twice about.</a:t>
            </a:r>
            <a:endParaRPr sz="1700" b="0" i="0" u="none" strike="noStrike" cap="non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66"/>
        <p:cNvGrpSpPr/>
        <p:nvPr/>
      </p:nvGrpSpPr>
      <p:grpSpPr>
        <a:xfrm>
          <a:off x="0" y="0"/>
          <a:ext cx="0" cy="0"/>
          <a:chOff x="0" y="0"/>
          <a:chExt cx="0" cy="0"/>
        </a:xfrm>
      </p:grpSpPr>
      <p:sp>
        <p:nvSpPr>
          <p:cNvPr id="567" name="Google Shape;567;p33"/>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8B57"/>
              </a:buClr>
              <a:buSzPts val="1100"/>
              <a:buFont typeface="Calibri"/>
              <a:buNone/>
            </a:pPr>
            <a:r>
              <a:rPr lang="en-US" sz="1100" b="1" i="0" u="none" strike="noStrike" cap="none">
                <a:solidFill>
                  <a:srgbClr val="2E8B57"/>
                </a:solidFill>
                <a:latin typeface="Calibri"/>
                <a:ea typeface="Calibri"/>
                <a:cs typeface="Calibri"/>
                <a:sym typeface="Calibri"/>
              </a:rPr>
              <a:t>2.1 THE BASIC IDEA</a:t>
            </a:r>
            <a:endParaRPr sz="1100" b="0" i="0" u="none" strike="noStrike" cap="none">
              <a:solidFill>
                <a:schemeClr val="dk1"/>
              </a:solidFill>
              <a:latin typeface="Calibri"/>
              <a:ea typeface="Calibri"/>
              <a:cs typeface="Calibri"/>
              <a:sym typeface="Calibri"/>
            </a:endParaRPr>
          </a:p>
        </p:txBody>
      </p:sp>
      <p:sp>
        <p:nvSpPr>
          <p:cNvPr id="568" name="Google Shape;568;p33"/>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What Is Commonsense Reasoning?</a:t>
            </a:r>
            <a:endParaRPr sz="2300" b="0" i="0" u="none" strike="noStrike" cap="none">
              <a:solidFill>
                <a:schemeClr val="dk1"/>
              </a:solidFill>
              <a:latin typeface="Calibri"/>
              <a:ea typeface="Calibri"/>
              <a:cs typeface="Calibri"/>
              <a:sym typeface="Calibri"/>
            </a:endParaRPr>
          </a:p>
        </p:txBody>
      </p:sp>
      <p:cxnSp>
        <p:nvCxnSpPr>
          <p:cNvPr id="569" name="Google Shape;569;p33"/>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570" name="Google Shape;570;p33"/>
          <p:cNvSpPr/>
          <p:nvPr/>
        </p:nvSpPr>
        <p:spPr>
          <a:xfrm>
            <a:off x="457200" y="1600200"/>
            <a:ext cx="10607040" cy="150876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404040"/>
              </a:buClr>
              <a:buSzPts val="1450"/>
              <a:buFont typeface="Calibri"/>
              <a:buNone/>
            </a:pPr>
            <a:r>
              <a:rPr lang="en-US" sz="1450" b="0" i="0" u="none" strike="noStrike" cap="none">
                <a:solidFill>
                  <a:srgbClr val="404040"/>
                </a:solidFill>
                <a:latin typeface="Calibri"/>
                <a:ea typeface="Calibri"/>
                <a:cs typeface="Calibri"/>
                <a:sym typeface="Calibri"/>
              </a:rPr>
              <a:t>Consider this statement: "Ahmed dropped a glass cup onto a concrete floor." Even without any extra information, you instantly infer several things: the cup may break, pieces may scatter, someone might get injured, and the cup may no longer be usable. </a:t>
            </a:r>
            <a:r>
              <a:rPr lang="en-US" sz="1450" b="1" i="0" u="none" strike="noStrike" cap="none">
                <a:solidFill>
                  <a:srgbClr val="404040"/>
                </a:solidFill>
                <a:latin typeface="Calibri"/>
                <a:ea typeface="Calibri"/>
                <a:cs typeface="Calibri"/>
                <a:sym typeface="Calibri"/>
              </a:rPr>
              <a:t>Notice that none of this was explicitly stated</a:t>
            </a:r>
            <a:r>
              <a:rPr lang="en-US" sz="1450" b="0" i="0" u="none" strike="noStrike" cap="none">
                <a:solidFill>
                  <a:srgbClr val="404040"/>
                </a:solidFill>
                <a:latin typeface="Calibri"/>
                <a:ea typeface="Calibri"/>
                <a:cs typeface="Calibri"/>
                <a:sym typeface="Calibri"/>
              </a:rPr>
              <a:t> — yet every human understands it immediately. This is because humans possess commonsense knowledge: one of the greatest strengths of human intelligence, and historically one of the greatest weaknesses of AI.</a:t>
            </a:r>
            <a:endParaRPr sz="1450" b="0" i="0" u="none" strike="noStrike" cap="none">
              <a:solidFill>
                <a:schemeClr val="dk1"/>
              </a:solidFill>
              <a:latin typeface="Calibri"/>
              <a:ea typeface="Calibri"/>
              <a:cs typeface="Calibri"/>
              <a:sym typeface="Calibri"/>
            </a:endParaRPr>
          </a:p>
        </p:txBody>
      </p:sp>
      <p:sp>
        <p:nvSpPr>
          <p:cNvPr id="571" name="Google Shape;571;p33"/>
          <p:cNvSpPr/>
          <p:nvPr/>
        </p:nvSpPr>
        <p:spPr>
          <a:xfrm>
            <a:off x="457200" y="3246120"/>
            <a:ext cx="10607040" cy="1005840"/>
          </a:xfrm>
          <a:prstGeom prst="rect">
            <a:avLst/>
          </a:prstGeom>
          <a:solidFill>
            <a:srgbClr val="EAF4F4"/>
          </a:solidFill>
          <a:ln w="9525" cap="flat" cmpd="sng">
            <a:solidFill>
              <a:srgbClr val="2E8B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3"/>
          <p:cNvSpPr/>
          <p:nvPr/>
        </p:nvSpPr>
        <p:spPr>
          <a:xfrm>
            <a:off x="457200" y="3246120"/>
            <a:ext cx="64008" cy="1005840"/>
          </a:xfrm>
          <a:prstGeom prst="rect">
            <a:avLst/>
          </a:prstGeom>
          <a:solidFill>
            <a:srgbClr val="2E8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3"/>
          <p:cNvSpPr/>
          <p:nvPr/>
        </p:nvSpPr>
        <p:spPr>
          <a:xfrm>
            <a:off x="685800" y="3355848"/>
            <a:ext cx="102412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8B57"/>
              </a:buClr>
              <a:buSzPts val="1050"/>
              <a:buFont typeface="Calibri"/>
              <a:buNone/>
            </a:pPr>
            <a:r>
              <a:rPr lang="en-US" sz="1050" b="1" i="0" u="none" strike="noStrike" cap="none">
                <a:solidFill>
                  <a:srgbClr val="2E8B57"/>
                </a:solidFill>
                <a:latin typeface="Calibri"/>
                <a:ea typeface="Calibri"/>
                <a:cs typeface="Calibri"/>
                <a:sym typeface="Calibri"/>
              </a:rPr>
              <a:t>DEFINITION</a:t>
            </a:r>
            <a:endParaRPr sz="1050" b="0" i="0" u="none" strike="noStrike" cap="none">
              <a:solidFill>
                <a:schemeClr val="dk1"/>
              </a:solidFill>
              <a:latin typeface="Calibri"/>
              <a:ea typeface="Calibri"/>
              <a:cs typeface="Calibri"/>
              <a:sym typeface="Calibri"/>
            </a:endParaRPr>
          </a:p>
        </p:txBody>
      </p:sp>
      <p:sp>
        <p:nvSpPr>
          <p:cNvPr id="574" name="Google Shape;574;p33"/>
          <p:cNvSpPr/>
          <p:nvPr/>
        </p:nvSpPr>
        <p:spPr>
          <a:xfrm>
            <a:off x="685800" y="3648456"/>
            <a:ext cx="10195560" cy="51206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400"/>
              <a:buFont typeface="Calibri"/>
              <a:buNone/>
            </a:pPr>
            <a:r>
              <a:rPr lang="en-US" sz="1400" b="0" i="0" u="none" strike="noStrike" cap="none">
                <a:solidFill>
                  <a:srgbClr val="404040"/>
                </a:solidFill>
                <a:latin typeface="Calibri"/>
                <a:ea typeface="Calibri"/>
                <a:cs typeface="Calibri"/>
                <a:sym typeface="Calibri"/>
              </a:rPr>
              <a:t>Commonsense reasoning is the ability of an intelligent system to use general world knowledge to make reasonable assumptions and draw conclusions in situations where information is incomplete.</a:t>
            </a:r>
            <a:endParaRPr sz="1400" b="0" i="0" u="none" strike="noStrike" cap="none">
              <a:solidFill>
                <a:schemeClr val="dk1"/>
              </a:solidFill>
              <a:latin typeface="Calibri"/>
              <a:ea typeface="Calibri"/>
              <a:cs typeface="Calibri"/>
              <a:sym typeface="Calibri"/>
            </a:endParaRPr>
          </a:p>
        </p:txBody>
      </p:sp>
      <p:sp>
        <p:nvSpPr>
          <p:cNvPr id="575" name="Google Shape;575;p33"/>
          <p:cNvSpPr/>
          <p:nvPr/>
        </p:nvSpPr>
        <p:spPr>
          <a:xfrm>
            <a:off x="457200" y="4434840"/>
            <a:ext cx="10607040" cy="128016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404040"/>
              </a:buClr>
              <a:buSzPts val="1400"/>
              <a:buFont typeface="Calibri"/>
              <a:buNone/>
            </a:pPr>
            <a:r>
              <a:rPr lang="en-US" sz="1400" b="0" i="0" u="none" strike="noStrike" cap="none">
                <a:solidFill>
                  <a:srgbClr val="404040"/>
                </a:solidFill>
                <a:latin typeface="Calibri"/>
                <a:ea typeface="Calibri"/>
                <a:cs typeface="Calibri"/>
                <a:sym typeface="Calibri"/>
              </a:rPr>
              <a:t>Humans begin learning commonsense from birth. A child quickly learns that hot objects cause pain, dropped toys fall, people smile when happy, and food satisfies hunger. After years of interaction, billions of such small observations form a rich, implicit knowledge base — humans rarely need explicit rules; they simply "know."</a:t>
            </a:r>
            <a:endParaRPr sz="1400" b="0" i="0" u="none" strike="noStrike" cap="none">
              <a:solidFill>
                <a:schemeClr val="dk1"/>
              </a:solidFill>
              <a:latin typeface="Calibri"/>
              <a:ea typeface="Calibri"/>
              <a:cs typeface="Calibri"/>
              <a:sym typeface="Calibri"/>
            </a:endParaRPr>
          </a:p>
        </p:txBody>
      </p:sp>
      <p:sp>
        <p:nvSpPr>
          <p:cNvPr id="576" name="Google Shape;576;p33"/>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10 / 40</a:t>
            </a:r>
            <a:endParaRPr sz="950" b="0" i="0" u="none" strike="noStrike" cap="none">
              <a:solidFill>
                <a:schemeClr val="dk1"/>
              </a:solidFill>
              <a:latin typeface="Calibri"/>
              <a:ea typeface="Calibri"/>
              <a:cs typeface="Calibri"/>
              <a:sym typeface="Calibri"/>
            </a:endParaRPr>
          </a:p>
        </p:txBody>
      </p:sp>
      <p:sp>
        <p:nvSpPr>
          <p:cNvPr id="577" name="Google Shape;577;p33"/>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82"/>
        <p:cNvGrpSpPr/>
        <p:nvPr/>
      </p:nvGrpSpPr>
      <p:grpSpPr>
        <a:xfrm>
          <a:off x="0" y="0"/>
          <a:ext cx="0" cy="0"/>
          <a:chOff x="0" y="0"/>
          <a:chExt cx="0" cy="0"/>
        </a:xfrm>
      </p:grpSpPr>
      <p:sp>
        <p:nvSpPr>
          <p:cNvPr id="583" name="Google Shape;583;p34"/>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8B57"/>
              </a:buClr>
              <a:buSzPts val="1100"/>
              <a:buFont typeface="Calibri"/>
              <a:buNone/>
            </a:pPr>
            <a:r>
              <a:rPr lang="en-US" sz="1100" b="1" i="0" u="none" strike="noStrike" cap="none">
                <a:solidFill>
                  <a:srgbClr val="2E8B57"/>
                </a:solidFill>
                <a:latin typeface="Calibri"/>
                <a:ea typeface="Calibri"/>
                <a:cs typeface="Calibri"/>
                <a:sym typeface="Calibri"/>
              </a:rPr>
              <a:t>2.2 THE CHALLENGE</a:t>
            </a:r>
            <a:endParaRPr sz="1100" b="0" i="0" u="none" strike="noStrike" cap="none">
              <a:solidFill>
                <a:schemeClr val="dk1"/>
              </a:solidFill>
              <a:latin typeface="Calibri"/>
              <a:ea typeface="Calibri"/>
              <a:cs typeface="Calibri"/>
              <a:sym typeface="Calibri"/>
            </a:endParaRPr>
          </a:p>
        </p:txBody>
      </p:sp>
      <p:sp>
        <p:nvSpPr>
          <p:cNvPr id="584" name="Google Shape;584;p34"/>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Why Is This So Difficult for AI?</a:t>
            </a:r>
            <a:endParaRPr sz="2300" b="0" i="0" u="none" strike="noStrike" cap="none">
              <a:solidFill>
                <a:schemeClr val="dk1"/>
              </a:solidFill>
              <a:latin typeface="Calibri"/>
              <a:ea typeface="Calibri"/>
              <a:cs typeface="Calibri"/>
              <a:sym typeface="Calibri"/>
            </a:endParaRPr>
          </a:p>
        </p:txBody>
      </p:sp>
      <p:cxnSp>
        <p:nvCxnSpPr>
          <p:cNvPr id="585" name="Google Shape;585;p34"/>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586" name="Google Shape;586;p34"/>
          <p:cNvSpPr/>
          <p:nvPr/>
        </p:nvSpPr>
        <p:spPr>
          <a:xfrm>
            <a:off x="457200" y="1600200"/>
            <a:ext cx="10607040" cy="1417320"/>
          </a:xfrm>
          <a:prstGeom prst="rect">
            <a:avLst/>
          </a:prstGeom>
          <a:noFill/>
          <a:ln>
            <a:noFill/>
          </a:ln>
        </p:spPr>
        <p:txBody>
          <a:bodyPr spcFirstLastPara="1" wrap="square" lIns="0" tIns="0" rIns="0" bIns="0" anchor="ctr" anchorCtr="0">
            <a:noAutofit/>
          </a:bodyPr>
          <a:lstStyle/>
          <a:p>
            <a:pPr marL="0" marR="0" lvl="0" indent="0" algn="l" rtl="0">
              <a:lnSpc>
                <a:spcPct val="122000"/>
              </a:lnSpc>
              <a:spcBef>
                <a:spcPts val="0"/>
              </a:spcBef>
              <a:spcAft>
                <a:spcPts val="0"/>
              </a:spcAft>
              <a:buClr>
                <a:srgbClr val="404040"/>
              </a:buClr>
              <a:buSzPts val="1400"/>
              <a:buFont typeface="Calibri"/>
              <a:buNone/>
            </a:pPr>
            <a:r>
              <a:rPr lang="en-US" sz="1400" b="0" i="0" u="none" strike="noStrike" cap="none">
                <a:solidFill>
                  <a:srgbClr val="404040"/>
                </a:solidFill>
                <a:latin typeface="Calibri"/>
                <a:ea typeface="Calibri"/>
                <a:cs typeface="Calibri"/>
                <a:sym typeface="Calibri"/>
              </a:rPr>
              <a:t>The challenge is not that commonsense is logically complex — it is that commonsense </a:t>
            </a:r>
            <a:r>
              <a:rPr lang="en-US" sz="1400" b="0" i="1" u="none" strike="noStrike" cap="none">
                <a:solidFill>
                  <a:srgbClr val="404040"/>
                </a:solidFill>
                <a:latin typeface="Calibri"/>
                <a:ea typeface="Calibri"/>
                <a:cs typeface="Calibri"/>
                <a:sym typeface="Calibri"/>
              </a:rPr>
              <a:t>appears</a:t>
            </a:r>
            <a:r>
              <a:rPr lang="en-US" sz="1400" b="0" i="0" u="none" strike="noStrike" cap="none">
                <a:solidFill>
                  <a:srgbClr val="404040"/>
                </a:solidFill>
                <a:latin typeface="Calibri"/>
                <a:ea typeface="Calibri"/>
                <a:cs typeface="Calibri"/>
                <a:sym typeface="Calibri"/>
              </a:rPr>
              <a:t> simple while hiding enormous amounts of implicit knowledge. Consider: "Ali entered a restaurant." Humans automatically infer that Ali is probably hungry, that there will be tables, that someone may take his order, and that payment will eventually occur. A computer sees only words; without additional knowledge, none of these conclusions are reachable.</a:t>
            </a:r>
            <a:endParaRPr sz="1400" b="0" i="0" u="none" strike="noStrike" cap="none">
              <a:solidFill>
                <a:schemeClr val="dk1"/>
              </a:solidFill>
              <a:latin typeface="Calibri"/>
              <a:ea typeface="Calibri"/>
              <a:cs typeface="Calibri"/>
              <a:sym typeface="Calibri"/>
            </a:endParaRPr>
          </a:p>
        </p:txBody>
      </p:sp>
      <p:sp>
        <p:nvSpPr>
          <p:cNvPr id="587" name="Google Shape;587;p34"/>
          <p:cNvSpPr/>
          <p:nvPr/>
        </p:nvSpPr>
        <p:spPr>
          <a:xfrm>
            <a:off x="457200" y="3246120"/>
            <a:ext cx="146304" cy="146304"/>
          </a:xfrm>
          <a:prstGeom prst="rect">
            <a:avLst/>
          </a:prstGeom>
          <a:solidFill>
            <a:srgbClr val="2E8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4"/>
          <p:cNvSpPr/>
          <p:nvPr/>
        </p:nvSpPr>
        <p:spPr>
          <a:xfrm>
            <a:off x="777240" y="3108960"/>
            <a:ext cx="10241280" cy="59436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404040"/>
              </a:buClr>
              <a:buSzPts val="1300"/>
              <a:buFont typeface="Calibri"/>
              <a:buNone/>
            </a:pPr>
            <a:r>
              <a:rPr lang="en-US" sz="1300" b="1" i="0" u="none" strike="noStrike" cap="none">
                <a:solidFill>
                  <a:srgbClr val="404040"/>
                </a:solidFill>
                <a:latin typeface="Calibri"/>
                <a:ea typeface="Calibri"/>
                <a:cs typeface="Calibri"/>
                <a:sym typeface="Calibri"/>
              </a:rPr>
              <a:t>Everywhere but never written down</a:t>
            </a:r>
            <a:br>
              <a:rPr lang="en-US" sz="1300" b="1" i="0" u="none" strike="noStrike" cap="none">
                <a:solidFill>
                  <a:srgbClr val="404040"/>
                </a:solidFill>
                <a:latin typeface="Calibri"/>
                <a:ea typeface="Calibri"/>
                <a:cs typeface="Calibri"/>
                <a:sym typeface="Calibri"/>
              </a:rPr>
            </a:br>
            <a:endParaRPr sz="1300" b="0" i="0" u="none" strike="noStrike" cap="none">
              <a:solidFill>
                <a:schemeClr val="dk1"/>
              </a:solidFill>
              <a:latin typeface="Calibri"/>
              <a:ea typeface="Calibri"/>
              <a:cs typeface="Calibri"/>
              <a:sym typeface="Calibri"/>
            </a:endParaRPr>
          </a:p>
          <a:p>
            <a:pPr marL="0" marR="0" lvl="0" indent="0" algn="l" rtl="0">
              <a:lnSpc>
                <a:spcPct val="115000"/>
              </a:lnSpc>
              <a:spcBef>
                <a:spcPts val="0"/>
              </a:spcBef>
              <a:spcAft>
                <a:spcPts val="0"/>
              </a:spcAft>
              <a:buClr>
                <a:srgbClr val="6B6B6B"/>
              </a:buClr>
              <a:buSzPts val="1300"/>
              <a:buFont typeface="Calibri"/>
              <a:buNone/>
            </a:pPr>
            <a:r>
              <a:rPr lang="en-US" sz="1300" b="0" i="0" u="none" strike="noStrike" cap="none">
                <a:solidFill>
                  <a:srgbClr val="6B6B6B"/>
                </a:solidFill>
                <a:latin typeface="Calibri"/>
                <a:ea typeface="Calibri"/>
                <a:cs typeface="Calibri"/>
                <a:sym typeface="Calibri"/>
              </a:rPr>
              <a:t>Nobody writes an encyclopedia entry for "water is wet" — yet AI needs millions of such facts.</a:t>
            </a:r>
            <a:endParaRPr sz="1300" b="0" i="0" u="none" strike="noStrike" cap="none">
              <a:solidFill>
                <a:schemeClr val="dk1"/>
              </a:solidFill>
              <a:latin typeface="Calibri"/>
              <a:ea typeface="Calibri"/>
              <a:cs typeface="Calibri"/>
              <a:sym typeface="Calibri"/>
            </a:endParaRPr>
          </a:p>
        </p:txBody>
      </p:sp>
      <p:sp>
        <p:nvSpPr>
          <p:cNvPr id="589" name="Google Shape;589;p34"/>
          <p:cNvSpPr/>
          <p:nvPr/>
        </p:nvSpPr>
        <p:spPr>
          <a:xfrm>
            <a:off x="457200" y="3867912"/>
            <a:ext cx="146304" cy="146304"/>
          </a:xfrm>
          <a:prstGeom prst="rect">
            <a:avLst/>
          </a:prstGeom>
          <a:solidFill>
            <a:srgbClr val="2E8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4"/>
          <p:cNvSpPr/>
          <p:nvPr/>
        </p:nvSpPr>
        <p:spPr>
          <a:xfrm>
            <a:off x="685800" y="3926996"/>
            <a:ext cx="10241280" cy="59436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404040"/>
              </a:buClr>
              <a:buSzPts val="1300"/>
              <a:buFont typeface="Calibri"/>
              <a:buNone/>
            </a:pPr>
            <a:r>
              <a:rPr lang="en-US" sz="1300" b="1" i="0" u="none" strike="noStrike" cap="none" dirty="0">
                <a:solidFill>
                  <a:srgbClr val="404040"/>
                </a:solidFill>
                <a:latin typeface="Calibri"/>
                <a:ea typeface="Calibri"/>
                <a:cs typeface="Calibri"/>
                <a:sym typeface="Calibri"/>
              </a:rPr>
              <a:t>Requires combining many small facts at once</a:t>
            </a:r>
            <a:br>
              <a:rPr lang="en-US" sz="1300" b="1" i="0" u="none" strike="noStrike" cap="none" dirty="0">
                <a:solidFill>
                  <a:srgbClr val="404040"/>
                </a:solidFill>
                <a:latin typeface="Calibri"/>
                <a:ea typeface="Calibri"/>
                <a:cs typeface="Calibri"/>
                <a:sym typeface="Calibri"/>
              </a:rPr>
            </a:br>
            <a:r>
              <a:rPr lang="en-US" sz="1300" b="0" i="0" u="none" strike="noStrike" cap="none" dirty="0">
                <a:solidFill>
                  <a:srgbClr val="6B6B6B"/>
                </a:solidFill>
                <a:latin typeface="Calibri"/>
                <a:ea typeface="Calibri"/>
                <a:cs typeface="Calibri"/>
                <a:sym typeface="Calibri"/>
              </a:rPr>
              <a:t>Understanding "She left her umbrella because it stopped raining" requires knowing what umbrellas are for, that rain stops, and why protection is no longer needed.</a:t>
            </a:r>
            <a:endParaRPr sz="1300" b="0" i="0" u="none" strike="noStrike" cap="none" dirty="0">
              <a:solidFill>
                <a:schemeClr val="dk1"/>
              </a:solidFill>
              <a:latin typeface="Calibri"/>
              <a:ea typeface="Calibri"/>
              <a:cs typeface="Calibri"/>
              <a:sym typeface="Calibri"/>
            </a:endParaRPr>
          </a:p>
        </p:txBody>
      </p:sp>
      <p:sp>
        <p:nvSpPr>
          <p:cNvPr id="591" name="Google Shape;591;p34"/>
          <p:cNvSpPr/>
          <p:nvPr/>
        </p:nvSpPr>
        <p:spPr>
          <a:xfrm>
            <a:off x="457200" y="4489704"/>
            <a:ext cx="146304" cy="146304"/>
          </a:xfrm>
          <a:prstGeom prst="rect">
            <a:avLst/>
          </a:prstGeom>
          <a:solidFill>
            <a:srgbClr val="2E8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4"/>
          <p:cNvSpPr/>
          <p:nvPr/>
        </p:nvSpPr>
        <p:spPr>
          <a:xfrm>
            <a:off x="731520" y="4608576"/>
            <a:ext cx="10241280" cy="59436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404040"/>
              </a:buClr>
              <a:buSzPts val="1300"/>
              <a:buFont typeface="Calibri"/>
              <a:buNone/>
            </a:pPr>
            <a:r>
              <a:rPr lang="en-US" sz="1300" b="1" i="0" u="none" strike="noStrike" cap="none" dirty="0">
                <a:solidFill>
                  <a:srgbClr val="404040"/>
                </a:solidFill>
                <a:latin typeface="Calibri"/>
                <a:ea typeface="Calibri"/>
                <a:cs typeface="Calibri"/>
                <a:sym typeface="Calibri"/>
              </a:rPr>
              <a:t>Full of exceptions</a:t>
            </a:r>
            <a:br>
              <a:rPr lang="en-US" sz="1300" b="1" i="0" u="none" strike="noStrike" cap="none" dirty="0">
                <a:solidFill>
                  <a:srgbClr val="404040"/>
                </a:solidFill>
                <a:latin typeface="Calibri"/>
                <a:ea typeface="Calibri"/>
                <a:cs typeface="Calibri"/>
                <a:sym typeface="Calibri"/>
              </a:rPr>
            </a:br>
            <a:r>
              <a:rPr lang="en-US" sz="1300" b="0" i="0" u="none" strike="noStrike" cap="none" dirty="0">
                <a:solidFill>
                  <a:srgbClr val="6B6B6B"/>
                </a:solidFill>
                <a:latin typeface="Calibri"/>
                <a:ea typeface="Calibri"/>
                <a:cs typeface="Calibri"/>
                <a:sym typeface="Calibri"/>
              </a:rPr>
              <a:t>Closely related to the non-monotonic reasoning covered in Topic 1.</a:t>
            </a:r>
            <a:endParaRPr sz="1300" b="0" i="0" u="none" strike="noStrike" cap="none" dirty="0">
              <a:solidFill>
                <a:schemeClr val="dk1"/>
              </a:solidFill>
              <a:latin typeface="Calibri"/>
              <a:ea typeface="Calibri"/>
              <a:cs typeface="Calibri"/>
              <a:sym typeface="Calibri"/>
            </a:endParaRPr>
          </a:p>
        </p:txBody>
      </p:sp>
      <p:sp>
        <p:nvSpPr>
          <p:cNvPr id="593" name="Google Shape;593;p34"/>
          <p:cNvSpPr/>
          <p:nvPr/>
        </p:nvSpPr>
        <p:spPr>
          <a:xfrm>
            <a:off x="457200" y="5257800"/>
            <a:ext cx="10607040" cy="1188720"/>
          </a:xfrm>
          <a:prstGeom prst="rect">
            <a:avLst/>
          </a:prstGeom>
          <a:solidFill>
            <a:srgbClr val="FFF6EC"/>
          </a:solidFill>
          <a:ln w="9525" cap="flat" cmpd="sng">
            <a:solidFill>
              <a:srgbClr val="2E8B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4"/>
          <p:cNvSpPr/>
          <p:nvPr/>
        </p:nvSpPr>
        <p:spPr>
          <a:xfrm>
            <a:off x="457200" y="5257800"/>
            <a:ext cx="64008" cy="1188720"/>
          </a:xfrm>
          <a:prstGeom prst="rect">
            <a:avLst/>
          </a:prstGeom>
          <a:solidFill>
            <a:srgbClr val="2E8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4"/>
          <p:cNvSpPr/>
          <p:nvPr/>
        </p:nvSpPr>
        <p:spPr>
          <a:xfrm>
            <a:off x="685800" y="5367528"/>
            <a:ext cx="102412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8B57"/>
              </a:buClr>
              <a:buSzPts val="1050"/>
              <a:buFont typeface="Calibri"/>
              <a:buNone/>
            </a:pPr>
            <a:r>
              <a:rPr lang="en-US" sz="1050" b="1" i="0" u="none" strike="noStrike" cap="none">
                <a:solidFill>
                  <a:srgbClr val="2E8B57"/>
                </a:solidFill>
                <a:latin typeface="Calibri"/>
                <a:ea typeface="Calibri"/>
                <a:cs typeface="Calibri"/>
                <a:sym typeface="Calibri"/>
              </a:rPr>
              <a:t>THE KNOWLEDGE ACQUISITION BOTTLENECK</a:t>
            </a:r>
            <a:endParaRPr sz="1050" b="0" i="0" u="none" strike="noStrike" cap="none">
              <a:solidFill>
                <a:schemeClr val="dk1"/>
              </a:solidFill>
              <a:latin typeface="Calibri"/>
              <a:ea typeface="Calibri"/>
              <a:cs typeface="Calibri"/>
              <a:sym typeface="Calibri"/>
            </a:endParaRPr>
          </a:p>
        </p:txBody>
      </p:sp>
      <p:sp>
        <p:nvSpPr>
          <p:cNvPr id="596" name="Google Shape;596;p34"/>
          <p:cNvSpPr/>
          <p:nvPr/>
        </p:nvSpPr>
        <p:spPr>
          <a:xfrm>
            <a:off x="685800" y="5660136"/>
            <a:ext cx="10195560" cy="69494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200"/>
              <a:buFont typeface="Calibri"/>
              <a:buNone/>
            </a:pPr>
            <a:r>
              <a:rPr lang="en-US" sz="1200" b="0" i="0" u="none" strike="noStrike" cap="none">
                <a:solidFill>
                  <a:srgbClr val="404040"/>
                </a:solidFill>
                <a:latin typeface="Calibri"/>
                <a:ea typeface="Calibri"/>
                <a:cs typeface="Calibri"/>
                <a:sym typeface="Calibri"/>
              </a:rPr>
              <a:t>Imagine manually teaching an AI everything a child knows: ice is cold, cars need fuel, doors can be opened, rain makes surfaces wet — then multiplying this by billions of real-world situations. This scale problem has challenged AI researchers for over fifty years.</a:t>
            </a:r>
            <a:endParaRPr sz="1200" b="0" i="0" u="none" strike="noStrike" cap="none">
              <a:solidFill>
                <a:schemeClr val="dk1"/>
              </a:solidFill>
              <a:latin typeface="Calibri"/>
              <a:ea typeface="Calibri"/>
              <a:cs typeface="Calibri"/>
              <a:sym typeface="Calibri"/>
            </a:endParaRPr>
          </a:p>
        </p:txBody>
      </p:sp>
      <p:sp>
        <p:nvSpPr>
          <p:cNvPr id="597" name="Google Shape;597;p34"/>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10 / 40</a:t>
            </a:r>
            <a:endParaRPr sz="950" b="0" i="0" u="none" strike="noStrike" cap="none">
              <a:solidFill>
                <a:schemeClr val="dk1"/>
              </a:solidFill>
              <a:latin typeface="Calibri"/>
              <a:ea typeface="Calibri"/>
              <a:cs typeface="Calibri"/>
              <a:sym typeface="Calibri"/>
            </a:endParaRPr>
          </a:p>
        </p:txBody>
      </p:sp>
      <p:sp>
        <p:nvSpPr>
          <p:cNvPr id="598" name="Google Shape;598;p34"/>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03"/>
        <p:cNvGrpSpPr/>
        <p:nvPr/>
      </p:nvGrpSpPr>
      <p:grpSpPr>
        <a:xfrm>
          <a:off x="0" y="0"/>
          <a:ext cx="0" cy="0"/>
          <a:chOff x="0" y="0"/>
          <a:chExt cx="0" cy="0"/>
        </a:xfrm>
      </p:grpSpPr>
      <p:sp>
        <p:nvSpPr>
          <p:cNvPr id="604" name="Google Shape;604;p35"/>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8B57"/>
              </a:buClr>
              <a:buSzPts val="1100"/>
              <a:buFont typeface="Calibri"/>
              <a:buNone/>
            </a:pPr>
            <a:r>
              <a:rPr lang="en-US" sz="1100" b="1" i="0" u="none" strike="noStrike" cap="none">
                <a:solidFill>
                  <a:srgbClr val="2E8B57"/>
                </a:solidFill>
                <a:latin typeface="Calibri"/>
                <a:ea typeface="Calibri"/>
                <a:cs typeface="Calibri"/>
                <a:sym typeface="Calibri"/>
              </a:rPr>
              <a:t>2.3 TWO KINDS OF REASONING</a:t>
            </a:r>
            <a:endParaRPr sz="1100" b="0" i="0" u="none" strike="noStrike" cap="none">
              <a:solidFill>
                <a:schemeClr val="dk1"/>
              </a:solidFill>
              <a:latin typeface="Calibri"/>
              <a:ea typeface="Calibri"/>
              <a:cs typeface="Calibri"/>
              <a:sym typeface="Calibri"/>
            </a:endParaRPr>
          </a:p>
        </p:txBody>
      </p:sp>
      <p:sp>
        <p:nvSpPr>
          <p:cNvPr id="605" name="Google Shape;605;p35"/>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Logical Reasoning vs. Commonsense Reasoning</a:t>
            </a:r>
            <a:endParaRPr sz="2300" b="0" i="0" u="none" strike="noStrike" cap="none">
              <a:solidFill>
                <a:schemeClr val="dk1"/>
              </a:solidFill>
              <a:latin typeface="Calibri"/>
              <a:ea typeface="Calibri"/>
              <a:cs typeface="Calibri"/>
              <a:sym typeface="Calibri"/>
            </a:endParaRPr>
          </a:p>
        </p:txBody>
      </p:sp>
      <p:cxnSp>
        <p:nvCxnSpPr>
          <p:cNvPr id="606" name="Google Shape;606;p35"/>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graphicFrame>
        <p:nvGraphicFramePr>
          <p:cNvPr id="607" name="Google Shape;607;p35"/>
          <p:cNvGraphicFramePr/>
          <p:nvPr/>
        </p:nvGraphicFramePr>
        <p:xfrm>
          <a:off x="457200" y="1691640"/>
          <a:ext cx="10607025" cy="2606025"/>
        </p:xfrm>
        <a:graphic>
          <a:graphicData uri="http://schemas.openxmlformats.org/drawingml/2006/table">
            <a:tbl>
              <a:tblPr>
                <a:noFill/>
                <a:tableStyleId>{18CE5CEB-0992-447E-8985-1B7A4AD8BB01}</a:tableStyleId>
              </a:tblPr>
              <a:tblGrid>
                <a:gridCol w="2103125">
                  <a:extLst>
                    <a:ext uri="{9D8B030D-6E8A-4147-A177-3AD203B41FA5}">
                      <a16:colId xmlns:a16="http://schemas.microsoft.com/office/drawing/2014/main" val="20000"/>
                    </a:ext>
                  </a:extLst>
                </a:gridCol>
                <a:gridCol w="4251950">
                  <a:extLst>
                    <a:ext uri="{9D8B030D-6E8A-4147-A177-3AD203B41FA5}">
                      <a16:colId xmlns:a16="http://schemas.microsoft.com/office/drawing/2014/main" val="20001"/>
                    </a:ext>
                  </a:extLst>
                </a:gridCol>
                <a:gridCol w="4251950">
                  <a:extLst>
                    <a:ext uri="{9D8B030D-6E8A-4147-A177-3AD203B41FA5}">
                      <a16:colId xmlns:a16="http://schemas.microsoft.com/office/drawing/2014/main" val="20002"/>
                    </a:ext>
                  </a:extLst>
                </a:gridCol>
              </a:tblGrid>
              <a:tr h="868675">
                <a:tc>
                  <a:txBody>
                    <a:bodyPr/>
                    <a:lstStyle/>
                    <a:p>
                      <a:pPr marL="0" marR="0" lvl="0" indent="0" algn="l" rtl="0">
                        <a:spcBef>
                          <a:spcPts val="0"/>
                        </a:spcBef>
                        <a:spcAft>
                          <a:spcPts val="0"/>
                        </a:spcAft>
                        <a:buClr>
                          <a:schemeClr val="dk1"/>
                        </a:buClr>
                        <a:buSzPts val="1350"/>
                        <a:buFont typeface="Calibri"/>
                        <a:buNone/>
                      </a:pPr>
                      <a:endParaRPr sz="13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2E8B57"/>
                    </a:solidFill>
                  </a:tcPr>
                </a:tc>
                <a:tc>
                  <a:txBody>
                    <a:bodyPr/>
                    <a:lstStyle/>
                    <a:p>
                      <a:pPr marL="0" marR="0" lvl="0" indent="0" algn="l" rtl="0">
                        <a:spcBef>
                          <a:spcPts val="0"/>
                        </a:spcBef>
                        <a:spcAft>
                          <a:spcPts val="0"/>
                        </a:spcAft>
                        <a:buClr>
                          <a:srgbClr val="FFFFFF"/>
                        </a:buClr>
                        <a:buSzPts val="1350"/>
                        <a:buFont typeface="Calibri"/>
                        <a:buNone/>
                      </a:pPr>
                      <a:r>
                        <a:rPr lang="en-US" sz="1350" b="1" u="none" strike="noStrike" cap="none">
                          <a:solidFill>
                            <a:srgbClr val="FFFFFF"/>
                          </a:solidFill>
                          <a:latin typeface="Calibri"/>
                          <a:ea typeface="Calibri"/>
                          <a:cs typeface="Calibri"/>
                          <a:sym typeface="Calibri"/>
                        </a:rPr>
                        <a:t>Logical Reasoning</a:t>
                      </a:r>
                      <a:endParaRPr sz="13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2E8B57"/>
                    </a:solidFill>
                  </a:tcPr>
                </a:tc>
                <a:tc>
                  <a:txBody>
                    <a:bodyPr/>
                    <a:lstStyle/>
                    <a:p>
                      <a:pPr marL="0" marR="0" lvl="0" indent="0" algn="l" rtl="0">
                        <a:spcBef>
                          <a:spcPts val="0"/>
                        </a:spcBef>
                        <a:spcAft>
                          <a:spcPts val="0"/>
                        </a:spcAft>
                        <a:buClr>
                          <a:srgbClr val="FFFFFF"/>
                        </a:buClr>
                        <a:buSzPts val="1350"/>
                        <a:buFont typeface="Calibri"/>
                        <a:buNone/>
                      </a:pPr>
                      <a:r>
                        <a:rPr lang="en-US" sz="1350" b="1" u="none" strike="noStrike" cap="none">
                          <a:solidFill>
                            <a:srgbClr val="FFFFFF"/>
                          </a:solidFill>
                          <a:latin typeface="Calibri"/>
                          <a:ea typeface="Calibri"/>
                          <a:cs typeface="Calibri"/>
                          <a:sym typeface="Calibri"/>
                        </a:rPr>
                        <a:t>Commonsense Reasoning</a:t>
                      </a:r>
                      <a:endParaRPr sz="13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2E8B57"/>
                    </a:solidFill>
                  </a:tcPr>
                </a:tc>
                <a:extLst>
                  <a:ext uri="{0D108BD9-81ED-4DB2-BD59-A6C34878D82A}">
                    <a16:rowId xmlns:a16="http://schemas.microsoft.com/office/drawing/2014/main" val="10000"/>
                  </a:ext>
                </a:extLst>
              </a:tr>
              <a:tr h="868675">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Style</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Follows strict rules, guaranteed conclusions</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Deals with uncertainty, defeasible conclusions</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868675">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Example</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"All humans are mortal; Socrates is human" → "Socrates is mortal" (certain)</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"Ali entered a restaurant" → "Ali wants food" (usually true, not certain)</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extLst>
                  <a:ext uri="{0D108BD9-81ED-4DB2-BD59-A6C34878D82A}">
                    <a16:rowId xmlns:a16="http://schemas.microsoft.com/office/drawing/2014/main" val="10002"/>
                  </a:ext>
                </a:extLst>
              </a:tr>
            </a:tbl>
          </a:graphicData>
        </a:graphic>
      </p:graphicFrame>
      <p:sp>
        <p:nvSpPr>
          <p:cNvPr id="608" name="Google Shape;608;p35"/>
          <p:cNvSpPr/>
          <p:nvPr/>
        </p:nvSpPr>
        <p:spPr>
          <a:xfrm>
            <a:off x="457200" y="4251960"/>
            <a:ext cx="10607040" cy="1371600"/>
          </a:xfrm>
          <a:prstGeom prst="rect">
            <a:avLst/>
          </a:prstGeom>
          <a:noFill/>
          <a:ln>
            <a:noFill/>
          </a:ln>
        </p:spPr>
        <p:txBody>
          <a:bodyPr spcFirstLastPara="1" wrap="square" lIns="0" tIns="0" rIns="0" bIns="0" anchor="ctr" anchorCtr="0">
            <a:noAutofit/>
          </a:bodyPr>
          <a:lstStyle/>
          <a:p>
            <a:pPr marL="0" marR="0" lvl="0" indent="0" algn="l" rtl="0">
              <a:lnSpc>
                <a:spcPct val="128000"/>
              </a:lnSpc>
              <a:spcBef>
                <a:spcPts val="0"/>
              </a:spcBef>
              <a:spcAft>
                <a:spcPts val="0"/>
              </a:spcAft>
              <a:buClr>
                <a:srgbClr val="404040"/>
              </a:buClr>
              <a:buSzPts val="1450"/>
              <a:buFont typeface="Calibri"/>
              <a:buNone/>
            </a:pPr>
            <a:r>
              <a:rPr lang="en-US" sz="1450" b="0" i="0" u="none" strike="noStrike" cap="none">
                <a:solidFill>
                  <a:srgbClr val="404040"/>
                </a:solidFill>
                <a:latin typeface="Calibri"/>
                <a:ea typeface="Calibri"/>
                <a:cs typeface="Calibri"/>
                <a:sym typeface="Calibri"/>
              </a:rPr>
              <a:t>Commonsense reasoning is therefore </a:t>
            </a:r>
            <a:r>
              <a:rPr lang="en-US" sz="1450" b="1" i="1" u="none" strike="noStrike" cap="none">
                <a:solidFill>
                  <a:srgbClr val="404040"/>
                </a:solidFill>
                <a:latin typeface="Calibri"/>
                <a:ea typeface="Calibri"/>
                <a:cs typeface="Calibri"/>
                <a:sym typeface="Calibri"/>
              </a:rPr>
              <a:t>probabilistic and defeasible</a:t>
            </a:r>
            <a:r>
              <a:rPr lang="en-US" sz="1450" b="0" i="0" u="none" strike="noStrike" cap="none">
                <a:solidFill>
                  <a:srgbClr val="404040"/>
                </a:solidFill>
                <a:latin typeface="Calibri"/>
                <a:ea typeface="Calibri"/>
                <a:cs typeface="Calibri"/>
                <a:sym typeface="Calibri"/>
              </a:rPr>
              <a:t> rather than absolute — another reason it connects so closely to the non-monotonic reasoning of Topic 1. A conclusion that is "usually true" can always be overturned by a more specific fact, just as Tweety's ability to fly was overturned by learning he was a penguin.</a:t>
            </a:r>
            <a:endParaRPr sz="1450" b="0" i="0" u="none" strike="noStrike" cap="none">
              <a:solidFill>
                <a:schemeClr val="dk1"/>
              </a:solidFill>
              <a:latin typeface="Calibri"/>
              <a:ea typeface="Calibri"/>
              <a:cs typeface="Calibri"/>
              <a:sym typeface="Calibri"/>
            </a:endParaRPr>
          </a:p>
        </p:txBody>
      </p:sp>
      <p:sp>
        <p:nvSpPr>
          <p:cNvPr id="609" name="Google Shape;609;p35"/>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10 / 40</a:t>
            </a:r>
            <a:endParaRPr sz="950" b="0" i="0" u="none" strike="noStrike" cap="none">
              <a:solidFill>
                <a:schemeClr val="dk1"/>
              </a:solidFill>
              <a:latin typeface="Calibri"/>
              <a:ea typeface="Calibri"/>
              <a:cs typeface="Calibri"/>
              <a:sym typeface="Calibri"/>
            </a:endParaRPr>
          </a:p>
        </p:txBody>
      </p:sp>
      <p:sp>
        <p:nvSpPr>
          <p:cNvPr id="610" name="Google Shape;610;p35"/>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15"/>
        <p:cNvGrpSpPr/>
        <p:nvPr/>
      </p:nvGrpSpPr>
      <p:grpSpPr>
        <a:xfrm>
          <a:off x="0" y="0"/>
          <a:ext cx="0" cy="0"/>
          <a:chOff x="0" y="0"/>
          <a:chExt cx="0" cy="0"/>
        </a:xfrm>
      </p:grpSpPr>
      <p:sp>
        <p:nvSpPr>
          <p:cNvPr id="616" name="Google Shape;616;p36"/>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8B57"/>
              </a:buClr>
              <a:buSzPts val="1100"/>
              <a:buFont typeface="Calibri"/>
              <a:buNone/>
            </a:pPr>
            <a:r>
              <a:rPr lang="en-US" sz="1100" b="1" i="0" u="none" strike="noStrike" cap="none">
                <a:solidFill>
                  <a:srgbClr val="2E8B57"/>
                </a:solidFill>
                <a:latin typeface="Calibri"/>
                <a:ea typeface="Calibri"/>
                <a:cs typeface="Calibri"/>
                <a:sym typeface="Calibri"/>
              </a:rPr>
              <a:t>2.4 CATEGORIES</a:t>
            </a:r>
            <a:endParaRPr sz="1100" b="0" i="0" u="none" strike="noStrike" cap="none">
              <a:solidFill>
                <a:schemeClr val="dk1"/>
              </a:solidFill>
              <a:latin typeface="Calibri"/>
              <a:ea typeface="Calibri"/>
              <a:cs typeface="Calibri"/>
              <a:sym typeface="Calibri"/>
            </a:endParaRPr>
          </a:p>
        </p:txBody>
      </p:sp>
      <p:sp>
        <p:nvSpPr>
          <p:cNvPr id="617" name="Google Shape;617;p36"/>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Five Types of Commonsense Knowledge</a:t>
            </a:r>
            <a:endParaRPr sz="2300" b="0" i="0" u="none" strike="noStrike" cap="none">
              <a:solidFill>
                <a:schemeClr val="dk1"/>
              </a:solidFill>
              <a:latin typeface="Calibri"/>
              <a:ea typeface="Calibri"/>
              <a:cs typeface="Calibri"/>
              <a:sym typeface="Calibri"/>
            </a:endParaRPr>
          </a:p>
        </p:txBody>
      </p:sp>
      <p:cxnSp>
        <p:nvCxnSpPr>
          <p:cNvPr id="618" name="Google Shape;618;p36"/>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graphicFrame>
        <p:nvGraphicFramePr>
          <p:cNvPr id="619" name="Google Shape;619;p36"/>
          <p:cNvGraphicFramePr/>
          <p:nvPr/>
        </p:nvGraphicFramePr>
        <p:xfrm>
          <a:off x="457200" y="1691640"/>
          <a:ext cx="10607050" cy="3291900"/>
        </p:xfrm>
        <a:graphic>
          <a:graphicData uri="http://schemas.openxmlformats.org/drawingml/2006/table">
            <a:tbl>
              <a:tblPr>
                <a:noFill/>
                <a:tableStyleId>{18CE5CEB-0992-447E-8985-1B7A4AD8BB01}</a:tableStyleId>
              </a:tblPr>
              <a:tblGrid>
                <a:gridCol w="18288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6035050">
                  <a:extLst>
                    <a:ext uri="{9D8B030D-6E8A-4147-A177-3AD203B41FA5}">
                      <a16:colId xmlns:a16="http://schemas.microsoft.com/office/drawing/2014/main" val="20002"/>
                    </a:ext>
                  </a:extLst>
                </a:gridCol>
              </a:tblGrid>
              <a:tr h="548650">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Type</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2E8B57"/>
                    </a:solidFill>
                  </a:tcPr>
                </a:tc>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What It Covers</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2E8B57"/>
                    </a:solidFill>
                  </a:tcPr>
                </a:tc>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Example Inference</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2E8B57"/>
                    </a:solidFill>
                  </a:tcPr>
                </a:tc>
                <a:extLst>
                  <a:ext uri="{0D108BD9-81ED-4DB2-BD59-A6C34878D82A}">
                    <a16:rowId xmlns:a16="http://schemas.microsoft.com/office/drawing/2014/main" val="10000"/>
                  </a:ext>
                </a:extLst>
              </a:tr>
              <a:tr h="548650">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Physical</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Objects and the natural world</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"Sara threw a glass bottle onto the road" → it may break</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548650">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Spatial</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Location and containment</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"Keys are in the drawer; drawer is in the desk" → keys are in the desk</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extLst>
                  <a:ext uri="{0D108BD9-81ED-4DB2-BD59-A6C34878D82A}">
                    <a16:rowId xmlns:a16="http://schemas.microsoft.com/office/drawing/2014/main" val="10002"/>
                  </a:ext>
                </a:extLst>
              </a:tr>
              <a:tr h="548650">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Temporal</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Order and timing of events</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"Ali graduated in 2020" → he was a student before 2020</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548650">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Social</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Human interactions and roles</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"Ahmed visited a doctor" → he may have a health concern</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extLst>
                  <a:ext uri="{0D108BD9-81ED-4DB2-BD59-A6C34878D82A}">
                    <a16:rowId xmlns:a16="http://schemas.microsoft.com/office/drawing/2014/main" val="10004"/>
                  </a:ext>
                </a:extLst>
              </a:tr>
              <a:tr h="548650">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Psychological</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Emotions and intentions</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"Ali failed an important exam" → he may feel disappointed</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bl>
          </a:graphicData>
        </a:graphic>
      </p:graphicFrame>
      <p:sp>
        <p:nvSpPr>
          <p:cNvPr id="620" name="Google Shape;620;p36"/>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11 / 40</a:t>
            </a:r>
            <a:endParaRPr sz="950" b="0" i="0" u="none" strike="noStrike" cap="none">
              <a:solidFill>
                <a:schemeClr val="dk1"/>
              </a:solidFill>
              <a:latin typeface="Calibri"/>
              <a:ea typeface="Calibri"/>
              <a:cs typeface="Calibri"/>
              <a:sym typeface="Calibri"/>
            </a:endParaRPr>
          </a:p>
        </p:txBody>
      </p:sp>
      <p:sp>
        <p:nvSpPr>
          <p:cNvPr id="621" name="Google Shape;621;p36"/>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26"/>
        <p:cNvGrpSpPr/>
        <p:nvPr/>
      </p:nvGrpSpPr>
      <p:grpSpPr>
        <a:xfrm>
          <a:off x="0" y="0"/>
          <a:ext cx="0" cy="0"/>
          <a:chOff x="0" y="0"/>
          <a:chExt cx="0" cy="0"/>
        </a:xfrm>
      </p:grpSpPr>
      <p:sp>
        <p:nvSpPr>
          <p:cNvPr id="627" name="Google Shape;627;p37"/>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8B57"/>
              </a:buClr>
              <a:buSzPts val="1100"/>
              <a:buFont typeface="Calibri"/>
              <a:buNone/>
            </a:pPr>
            <a:r>
              <a:rPr lang="en-US" sz="1100" b="1" i="0" u="none" strike="noStrike" cap="none">
                <a:solidFill>
                  <a:srgbClr val="2E8B57"/>
                </a:solidFill>
                <a:latin typeface="Calibri"/>
                <a:ea typeface="Calibri"/>
                <a:cs typeface="Calibri"/>
                <a:sym typeface="Calibri"/>
              </a:rPr>
              <a:t>2.5 VISUALIZING THE CONCEPT</a:t>
            </a:r>
            <a:endParaRPr sz="1100" b="0" i="0" u="none" strike="noStrike" cap="none">
              <a:solidFill>
                <a:schemeClr val="dk1"/>
              </a:solidFill>
              <a:latin typeface="Calibri"/>
              <a:ea typeface="Calibri"/>
              <a:cs typeface="Calibri"/>
              <a:sym typeface="Calibri"/>
            </a:endParaRPr>
          </a:p>
        </p:txBody>
      </p:sp>
      <p:sp>
        <p:nvSpPr>
          <p:cNvPr id="628" name="Google Shape;628;p37"/>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Combining Facts: The Ice Cream Example</a:t>
            </a:r>
            <a:endParaRPr sz="2300" b="0" i="0" u="none" strike="noStrike" cap="none">
              <a:solidFill>
                <a:schemeClr val="dk1"/>
              </a:solidFill>
              <a:latin typeface="Calibri"/>
              <a:ea typeface="Calibri"/>
              <a:cs typeface="Calibri"/>
              <a:sym typeface="Calibri"/>
            </a:endParaRPr>
          </a:p>
        </p:txBody>
      </p:sp>
      <p:cxnSp>
        <p:nvCxnSpPr>
          <p:cNvPr id="629" name="Google Shape;629;p37"/>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630" name="Google Shape;630;p37"/>
          <p:cNvSpPr/>
          <p:nvPr/>
        </p:nvSpPr>
        <p:spPr>
          <a:xfrm>
            <a:off x="2651760" y="1554480"/>
            <a:ext cx="6858000" cy="594360"/>
          </a:xfrm>
          <a:prstGeom prst="rect">
            <a:avLst/>
          </a:prstGeom>
          <a:solidFill>
            <a:srgbClr val="1F4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7"/>
          <p:cNvSpPr/>
          <p:nvPr/>
        </p:nvSpPr>
        <p:spPr>
          <a:xfrm>
            <a:off x="2651760" y="1554480"/>
            <a:ext cx="6858000" cy="5943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i="0" u="none" strike="noStrike" cap="none">
                <a:solidFill>
                  <a:srgbClr val="FFFFFF"/>
                </a:solidFill>
                <a:latin typeface="Calibri"/>
                <a:ea typeface="Calibri"/>
                <a:cs typeface="Calibri"/>
                <a:sym typeface="Calibri"/>
              </a:rPr>
              <a:t>INPUT SENTENCE</a:t>
            </a:r>
            <a:br>
              <a:rPr lang="en-US" sz="1000" b="1" i="0" u="none" strike="noStrike" cap="none">
                <a:solidFill>
                  <a:srgbClr val="FFFFFF"/>
                </a:solidFill>
                <a:latin typeface="Calibri"/>
                <a:ea typeface="Calibri"/>
                <a:cs typeface="Calibri"/>
                <a:sym typeface="Calibri"/>
              </a:rPr>
            </a:br>
            <a:endParaRPr sz="10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1250"/>
              <a:buFont typeface="Calibri"/>
              <a:buNone/>
            </a:pPr>
            <a:r>
              <a:rPr lang="en-US" sz="1250" b="0" i="1" u="none" strike="noStrike" cap="none">
                <a:solidFill>
                  <a:srgbClr val="FFFFFF"/>
                </a:solidFill>
                <a:latin typeface="Calibri"/>
                <a:ea typeface="Calibri"/>
                <a:cs typeface="Calibri"/>
                <a:sym typeface="Calibri"/>
              </a:rPr>
              <a:t>"John put the ice cream on the table and left for an hour."</a:t>
            </a:r>
            <a:endParaRPr sz="1000" b="0" i="0" u="none" strike="noStrike" cap="none">
              <a:solidFill>
                <a:schemeClr val="dk1"/>
              </a:solidFill>
              <a:latin typeface="Calibri"/>
              <a:ea typeface="Calibri"/>
              <a:cs typeface="Calibri"/>
              <a:sym typeface="Calibri"/>
            </a:endParaRPr>
          </a:p>
        </p:txBody>
      </p:sp>
      <p:sp>
        <p:nvSpPr>
          <p:cNvPr id="632" name="Google Shape;632;p37"/>
          <p:cNvSpPr/>
          <p:nvPr/>
        </p:nvSpPr>
        <p:spPr>
          <a:xfrm>
            <a:off x="457200" y="2423160"/>
            <a:ext cx="3474720" cy="777240"/>
          </a:xfrm>
          <a:prstGeom prst="rect">
            <a:avLst/>
          </a:prstGeom>
          <a:solidFill>
            <a:srgbClr val="EAF4ED"/>
          </a:solidFill>
          <a:ln w="12700" cap="flat" cmpd="sng">
            <a:solidFill>
              <a:srgbClr val="2E8B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7"/>
          <p:cNvSpPr/>
          <p:nvPr/>
        </p:nvSpPr>
        <p:spPr>
          <a:xfrm>
            <a:off x="548640" y="2423160"/>
            <a:ext cx="3291840" cy="7772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E8B57"/>
              </a:buClr>
              <a:buSzPts val="1050"/>
              <a:buFont typeface="Calibri"/>
              <a:buNone/>
            </a:pPr>
            <a:r>
              <a:rPr lang="en-US" sz="1050" b="1" i="0" u="none" strike="noStrike" cap="none">
                <a:solidFill>
                  <a:srgbClr val="2E8B57"/>
                </a:solidFill>
                <a:latin typeface="Calibri"/>
                <a:ea typeface="Calibri"/>
                <a:cs typeface="Calibri"/>
                <a:sym typeface="Calibri"/>
              </a:rPr>
              <a:t>FACT 1</a:t>
            </a:r>
            <a:br>
              <a:rPr lang="en-US" sz="1050" b="1" i="0" u="none" strike="noStrike" cap="none">
                <a:solidFill>
                  <a:srgbClr val="2E8B57"/>
                </a:solidFill>
                <a:latin typeface="Calibri"/>
                <a:ea typeface="Calibri"/>
                <a:cs typeface="Calibri"/>
                <a:sym typeface="Calibri"/>
              </a:rPr>
            </a:br>
            <a:endParaRPr sz="105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404040"/>
              </a:buClr>
              <a:buSzPts val="1150"/>
              <a:buFont typeface="Calibri"/>
              <a:buNone/>
            </a:pPr>
            <a:r>
              <a:rPr lang="en-US" sz="1150" b="0" i="0" u="none" strike="noStrike" cap="none">
                <a:solidFill>
                  <a:srgbClr val="404040"/>
                </a:solidFill>
                <a:latin typeface="Calibri"/>
                <a:ea typeface="Calibri"/>
                <a:cs typeface="Calibri"/>
                <a:sym typeface="Calibri"/>
              </a:rPr>
              <a:t>Ice cream melts at room temp</a:t>
            </a:r>
            <a:endParaRPr sz="1050" b="0" i="0" u="none" strike="noStrike" cap="none">
              <a:solidFill>
                <a:schemeClr val="dk1"/>
              </a:solidFill>
              <a:latin typeface="Calibri"/>
              <a:ea typeface="Calibri"/>
              <a:cs typeface="Calibri"/>
              <a:sym typeface="Calibri"/>
            </a:endParaRPr>
          </a:p>
        </p:txBody>
      </p:sp>
      <p:cxnSp>
        <p:nvCxnSpPr>
          <p:cNvPr id="634" name="Google Shape;634;p37"/>
          <p:cNvCxnSpPr/>
          <p:nvPr/>
        </p:nvCxnSpPr>
        <p:spPr>
          <a:xfrm>
            <a:off x="2194560" y="3200400"/>
            <a:ext cx="3813048" cy="502920"/>
          </a:xfrm>
          <a:prstGeom prst="straightConnector1">
            <a:avLst/>
          </a:prstGeom>
          <a:noFill/>
          <a:ln w="15875" cap="flat" cmpd="sng">
            <a:solidFill>
              <a:srgbClr val="6B6B6B"/>
            </a:solidFill>
            <a:prstDash val="solid"/>
            <a:round/>
            <a:headEnd type="none" w="sm" len="sm"/>
            <a:tailEnd type="triangle" w="med" len="med"/>
          </a:ln>
        </p:spPr>
      </p:cxnSp>
      <p:sp>
        <p:nvSpPr>
          <p:cNvPr id="635" name="Google Shape;635;p37"/>
          <p:cNvSpPr/>
          <p:nvPr/>
        </p:nvSpPr>
        <p:spPr>
          <a:xfrm>
            <a:off x="3904488" y="2423160"/>
            <a:ext cx="3474720" cy="777240"/>
          </a:xfrm>
          <a:prstGeom prst="rect">
            <a:avLst/>
          </a:prstGeom>
          <a:solidFill>
            <a:srgbClr val="EAF4ED"/>
          </a:solidFill>
          <a:ln w="12700" cap="flat" cmpd="sng">
            <a:solidFill>
              <a:srgbClr val="2E8B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7"/>
          <p:cNvSpPr/>
          <p:nvPr/>
        </p:nvSpPr>
        <p:spPr>
          <a:xfrm>
            <a:off x="3995928" y="2423160"/>
            <a:ext cx="3291840" cy="7772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E8B57"/>
              </a:buClr>
              <a:buSzPts val="1050"/>
              <a:buFont typeface="Calibri"/>
              <a:buNone/>
            </a:pPr>
            <a:r>
              <a:rPr lang="en-US" sz="1050" b="1" i="0" u="none" strike="noStrike" cap="none">
                <a:solidFill>
                  <a:srgbClr val="2E8B57"/>
                </a:solidFill>
                <a:latin typeface="Calibri"/>
                <a:ea typeface="Calibri"/>
                <a:cs typeface="Calibri"/>
                <a:sym typeface="Calibri"/>
              </a:rPr>
              <a:t>FACT 2</a:t>
            </a:r>
            <a:br>
              <a:rPr lang="en-US" sz="1050" b="1" i="0" u="none" strike="noStrike" cap="none">
                <a:solidFill>
                  <a:srgbClr val="2E8B57"/>
                </a:solidFill>
                <a:latin typeface="Calibri"/>
                <a:ea typeface="Calibri"/>
                <a:cs typeface="Calibri"/>
                <a:sym typeface="Calibri"/>
              </a:rPr>
            </a:br>
            <a:endParaRPr sz="105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404040"/>
              </a:buClr>
              <a:buSzPts val="1150"/>
              <a:buFont typeface="Calibri"/>
              <a:buNone/>
            </a:pPr>
            <a:r>
              <a:rPr lang="en-US" sz="1150" b="0" i="0" u="none" strike="noStrike" cap="none">
                <a:solidFill>
                  <a:srgbClr val="404040"/>
                </a:solidFill>
                <a:latin typeface="Calibri"/>
                <a:ea typeface="Calibri"/>
                <a:cs typeface="Calibri"/>
                <a:sym typeface="Calibri"/>
              </a:rPr>
              <a:t>An hour is a long time</a:t>
            </a:r>
            <a:endParaRPr sz="1050" b="0" i="0" u="none" strike="noStrike" cap="none">
              <a:solidFill>
                <a:schemeClr val="dk1"/>
              </a:solidFill>
              <a:latin typeface="Calibri"/>
              <a:ea typeface="Calibri"/>
              <a:cs typeface="Calibri"/>
              <a:sym typeface="Calibri"/>
            </a:endParaRPr>
          </a:p>
        </p:txBody>
      </p:sp>
      <p:cxnSp>
        <p:nvCxnSpPr>
          <p:cNvPr id="637" name="Google Shape;637;p37"/>
          <p:cNvCxnSpPr/>
          <p:nvPr/>
        </p:nvCxnSpPr>
        <p:spPr>
          <a:xfrm>
            <a:off x="5641848" y="3200400"/>
            <a:ext cx="365760" cy="502920"/>
          </a:xfrm>
          <a:prstGeom prst="straightConnector1">
            <a:avLst/>
          </a:prstGeom>
          <a:noFill/>
          <a:ln w="15875" cap="flat" cmpd="sng">
            <a:solidFill>
              <a:srgbClr val="6B6B6B"/>
            </a:solidFill>
            <a:prstDash val="solid"/>
            <a:round/>
            <a:headEnd type="none" w="sm" len="sm"/>
            <a:tailEnd type="triangle" w="med" len="med"/>
          </a:ln>
        </p:spPr>
      </p:cxnSp>
      <p:sp>
        <p:nvSpPr>
          <p:cNvPr id="638" name="Google Shape;638;p37"/>
          <p:cNvSpPr/>
          <p:nvPr/>
        </p:nvSpPr>
        <p:spPr>
          <a:xfrm>
            <a:off x="7351776" y="2423160"/>
            <a:ext cx="3474720" cy="777240"/>
          </a:xfrm>
          <a:prstGeom prst="rect">
            <a:avLst/>
          </a:prstGeom>
          <a:solidFill>
            <a:srgbClr val="EAF4ED"/>
          </a:solidFill>
          <a:ln w="12700" cap="flat" cmpd="sng">
            <a:solidFill>
              <a:srgbClr val="2E8B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7"/>
          <p:cNvSpPr/>
          <p:nvPr/>
        </p:nvSpPr>
        <p:spPr>
          <a:xfrm>
            <a:off x="7443216" y="2423160"/>
            <a:ext cx="3291840" cy="7772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E8B57"/>
              </a:buClr>
              <a:buSzPts val="1050"/>
              <a:buFont typeface="Calibri"/>
              <a:buNone/>
            </a:pPr>
            <a:r>
              <a:rPr lang="en-US" sz="1050" b="1" i="0" u="none" strike="noStrike" cap="none">
                <a:solidFill>
                  <a:srgbClr val="2E8B57"/>
                </a:solidFill>
                <a:latin typeface="Calibri"/>
                <a:ea typeface="Calibri"/>
                <a:cs typeface="Calibri"/>
                <a:sym typeface="Calibri"/>
              </a:rPr>
              <a:t>FACT 3</a:t>
            </a:r>
            <a:br>
              <a:rPr lang="en-US" sz="1050" b="1" i="0" u="none" strike="noStrike" cap="none">
                <a:solidFill>
                  <a:srgbClr val="2E8B57"/>
                </a:solidFill>
                <a:latin typeface="Calibri"/>
                <a:ea typeface="Calibri"/>
                <a:cs typeface="Calibri"/>
                <a:sym typeface="Calibri"/>
              </a:rPr>
            </a:br>
            <a:endParaRPr sz="105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404040"/>
              </a:buClr>
              <a:buSzPts val="1150"/>
              <a:buFont typeface="Calibri"/>
              <a:buNone/>
            </a:pPr>
            <a:r>
              <a:rPr lang="en-US" sz="1150" b="0" i="0" u="none" strike="noStrike" cap="none">
                <a:solidFill>
                  <a:srgbClr val="404040"/>
                </a:solidFill>
                <a:latin typeface="Calibri"/>
                <a:ea typeface="Calibri"/>
                <a:cs typeface="Calibri"/>
                <a:sym typeface="Calibri"/>
              </a:rPr>
              <a:t>Tables are usually indoors, room temperature</a:t>
            </a:r>
            <a:endParaRPr sz="1050" b="0" i="0" u="none" strike="noStrike" cap="none">
              <a:solidFill>
                <a:schemeClr val="dk1"/>
              </a:solidFill>
              <a:latin typeface="Calibri"/>
              <a:ea typeface="Calibri"/>
              <a:cs typeface="Calibri"/>
              <a:sym typeface="Calibri"/>
            </a:endParaRPr>
          </a:p>
        </p:txBody>
      </p:sp>
      <p:cxnSp>
        <p:nvCxnSpPr>
          <p:cNvPr id="640" name="Google Shape;640;p37"/>
          <p:cNvCxnSpPr/>
          <p:nvPr/>
        </p:nvCxnSpPr>
        <p:spPr>
          <a:xfrm flipH="1">
            <a:off x="6007608" y="3200400"/>
            <a:ext cx="3081528" cy="502920"/>
          </a:xfrm>
          <a:prstGeom prst="straightConnector1">
            <a:avLst/>
          </a:prstGeom>
          <a:noFill/>
          <a:ln w="15875" cap="flat" cmpd="sng">
            <a:solidFill>
              <a:srgbClr val="6B6B6B"/>
            </a:solidFill>
            <a:prstDash val="solid"/>
            <a:round/>
            <a:headEnd type="none" w="sm" len="sm"/>
            <a:tailEnd type="triangle" w="med" len="med"/>
          </a:ln>
        </p:spPr>
      </p:cxnSp>
      <p:sp>
        <p:nvSpPr>
          <p:cNvPr id="641" name="Google Shape;641;p37"/>
          <p:cNvSpPr/>
          <p:nvPr/>
        </p:nvSpPr>
        <p:spPr>
          <a:xfrm>
            <a:off x="3904488" y="3886200"/>
            <a:ext cx="4389120" cy="502920"/>
          </a:xfrm>
          <a:prstGeom prst="rect">
            <a:avLst/>
          </a:prstGeom>
          <a:solidFill>
            <a:srgbClr val="F7F9FA"/>
          </a:solidFill>
          <a:ln w="12700" cap="flat" cmpd="sng">
            <a:solidFill>
              <a:srgbClr val="DDE3E3"/>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7"/>
          <p:cNvSpPr/>
          <p:nvPr/>
        </p:nvSpPr>
        <p:spPr>
          <a:xfrm>
            <a:off x="3904488" y="3886200"/>
            <a:ext cx="438912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6B6B"/>
              </a:buClr>
              <a:buSzPts val="1150"/>
              <a:buFont typeface="Calibri"/>
              <a:buNone/>
            </a:pPr>
            <a:r>
              <a:rPr lang="en-US" sz="1150" b="0" i="1" u="none" strike="noStrike" cap="none">
                <a:solidFill>
                  <a:srgbClr val="6B6B6B"/>
                </a:solidFill>
                <a:latin typeface="Calibri"/>
                <a:ea typeface="Calibri"/>
                <a:cs typeface="Calibri"/>
                <a:sym typeface="Calibri"/>
              </a:rPr>
              <a:t>COMBINE FACTS (silent reasoning step)</a:t>
            </a:r>
            <a:endParaRPr sz="1150" b="0" i="0" u="none" strike="noStrike" cap="none">
              <a:solidFill>
                <a:schemeClr val="dk1"/>
              </a:solidFill>
              <a:latin typeface="Calibri"/>
              <a:ea typeface="Calibri"/>
              <a:cs typeface="Calibri"/>
              <a:sym typeface="Calibri"/>
            </a:endParaRPr>
          </a:p>
        </p:txBody>
      </p:sp>
      <p:sp>
        <p:nvSpPr>
          <p:cNvPr id="643" name="Google Shape;643;p37"/>
          <p:cNvSpPr/>
          <p:nvPr/>
        </p:nvSpPr>
        <p:spPr>
          <a:xfrm>
            <a:off x="3108960" y="4617720"/>
            <a:ext cx="5943600" cy="621792"/>
          </a:xfrm>
          <a:prstGeom prst="rect">
            <a:avLst/>
          </a:prstGeom>
          <a:solidFill>
            <a:srgbClr val="2E8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7"/>
          <p:cNvSpPr/>
          <p:nvPr/>
        </p:nvSpPr>
        <p:spPr>
          <a:xfrm>
            <a:off x="3108960" y="4617720"/>
            <a:ext cx="5943600" cy="62179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Calibri"/>
              <a:buNone/>
            </a:pPr>
            <a:r>
              <a:rPr lang="en-US" sz="1050" b="1" i="0" u="none" strike="noStrike" cap="none">
                <a:solidFill>
                  <a:srgbClr val="FFFFFF"/>
                </a:solidFill>
                <a:latin typeface="Calibri"/>
                <a:ea typeface="Calibri"/>
                <a:cs typeface="Calibri"/>
                <a:sym typeface="Calibri"/>
              </a:rPr>
              <a:t>CONCLUSION</a:t>
            </a:r>
            <a:br>
              <a:rPr lang="en-US" sz="1050" b="1" i="0" u="none" strike="noStrike" cap="none">
                <a:solidFill>
                  <a:srgbClr val="FFFFFF"/>
                </a:solidFill>
                <a:latin typeface="Calibri"/>
                <a:ea typeface="Calibri"/>
                <a:cs typeface="Calibri"/>
                <a:sym typeface="Calibri"/>
              </a:rPr>
            </a:br>
            <a:endParaRPr sz="105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1250"/>
              <a:buFont typeface="Calibri"/>
              <a:buNone/>
            </a:pPr>
            <a:r>
              <a:rPr lang="en-US" sz="1250" b="0" i="0" u="none" strike="noStrike" cap="none">
                <a:solidFill>
                  <a:srgbClr val="FFFFFF"/>
                </a:solidFill>
                <a:latin typeface="Calibri"/>
                <a:ea typeface="Calibri"/>
                <a:cs typeface="Calibri"/>
                <a:sym typeface="Calibri"/>
              </a:rPr>
              <a:t>The ice cream has melted by the time John returns.</a:t>
            </a:r>
            <a:endParaRPr sz="1050" b="0" i="0" u="none" strike="noStrike" cap="none">
              <a:solidFill>
                <a:schemeClr val="dk1"/>
              </a:solidFill>
              <a:latin typeface="Calibri"/>
              <a:ea typeface="Calibri"/>
              <a:cs typeface="Calibri"/>
              <a:sym typeface="Calibri"/>
            </a:endParaRPr>
          </a:p>
        </p:txBody>
      </p:sp>
      <p:sp>
        <p:nvSpPr>
          <p:cNvPr id="645" name="Google Shape;645;p37"/>
          <p:cNvSpPr/>
          <p:nvPr/>
        </p:nvSpPr>
        <p:spPr>
          <a:xfrm>
            <a:off x="457200" y="5303520"/>
            <a:ext cx="10607040" cy="29260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6B6B"/>
              </a:buClr>
              <a:buSzPts val="1050"/>
              <a:buFont typeface="Calibri"/>
              <a:buNone/>
            </a:pPr>
            <a:r>
              <a:rPr lang="en-US" sz="1050" b="0" i="1" u="none" strike="noStrike" cap="none">
                <a:solidFill>
                  <a:srgbClr val="6B6B6B"/>
                </a:solidFill>
                <a:latin typeface="Calibri"/>
                <a:ea typeface="Calibri"/>
                <a:cs typeface="Calibri"/>
                <a:sym typeface="Calibri"/>
              </a:rPr>
              <a:t>Figure 2.1 — Three independent, unstated commonsense facts combine to reach a conclusion a human draws instinctively.</a:t>
            </a:r>
            <a:endParaRPr sz="1050" b="0" i="0" u="none" strike="noStrike" cap="none">
              <a:solidFill>
                <a:schemeClr val="dk1"/>
              </a:solidFill>
              <a:latin typeface="Calibri"/>
              <a:ea typeface="Calibri"/>
              <a:cs typeface="Calibri"/>
              <a:sym typeface="Calibri"/>
            </a:endParaRPr>
          </a:p>
        </p:txBody>
      </p:sp>
      <p:sp>
        <p:nvSpPr>
          <p:cNvPr id="646" name="Google Shape;646;p37"/>
          <p:cNvSpPr/>
          <p:nvPr/>
        </p:nvSpPr>
        <p:spPr>
          <a:xfrm>
            <a:off x="640080" y="5623560"/>
            <a:ext cx="10241280" cy="777240"/>
          </a:xfrm>
          <a:prstGeom prst="rect">
            <a:avLst/>
          </a:prstGeom>
          <a:solidFill>
            <a:srgbClr val="FFF6EC"/>
          </a:solidFill>
          <a:ln w="9525" cap="flat" cmpd="sng">
            <a:solidFill>
              <a:srgbClr val="2E8B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7"/>
          <p:cNvSpPr/>
          <p:nvPr/>
        </p:nvSpPr>
        <p:spPr>
          <a:xfrm>
            <a:off x="640080" y="5623560"/>
            <a:ext cx="64008" cy="777240"/>
          </a:xfrm>
          <a:prstGeom prst="rect">
            <a:avLst/>
          </a:prstGeom>
          <a:solidFill>
            <a:srgbClr val="2E8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7"/>
          <p:cNvSpPr/>
          <p:nvPr/>
        </p:nvSpPr>
        <p:spPr>
          <a:xfrm>
            <a:off x="868680" y="5733288"/>
            <a:ext cx="98755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8B57"/>
              </a:buClr>
              <a:buSzPts val="1050"/>
              <a:buFont typeface="Calibri"/>
              <a:buNone/>
            </a:pPr>
            <a:r>
              <a:rPr lang="en-US" sz="1050" b="1" i="0" u="none" strike="noStrike" cap="none">
                <a:solidFill>
                  <a:srgbClr val="2E8B57"/>
                </a:solidFill>
                <a:latin typeface="Calibri"/>
                <a:ea typeface="Calibri"/>
                <a:cs typeface="Calibri"/>
                <a:sym typeface="Calibri"/>
              </a:rPr>
              <a:t>IMPORTANT PRINCIPLE</a:t>
            </a:r>
            <a:endParaRPr sz="1050" b="0" i="0" u="none" strike="noStrike" cap="none">
              <a:solidFill>
                <a:schemeClr val="dk1"/>
              </a:solidFill>
              <a:latin typeface="Calibri"/>
              <a:ea typeface="Calibri"/>
              <a:cs typeface="Calibri"/>
              <a:sym typeface="Calibri"/>
            </a:endParaRPr>
          </a:p>
        </p:txBody>
      </p:sp>
      <p:sp>
        <p:nvSpPr>
          <p:cNvPr id="649" name="Google Shape;649;p37"/>
          <p:cNvSpPr/>
          <p:nvPr/>
        </p:nvSpPr>
        <p:spPr>
          <a:xfrm>
            <a:off x="868680" y="6025896"/>
            <a:ext cx="9829800" cy="28346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100"/>
              <a:buFont typeface="Calibri"/>
              <a:buNone/>
            </a:pPr>
            <a:r>
              <a:rPr lang="en-US" sz="1100" b="0" i="0" u="none" strike="noStrike" cap="none">
                <a:solidFill>
                  <a:srgbClr val="404040"/>
                </a:solidFill>
                <a:latin typeface="Calibri"/>
                <a:ea typeface="Calibri"/>
                <a:cs typeface="Calibri"/>
                <a:sym typeface="Calibri"/>
              </a:rPr>
              <a:t>Commonsense knowledge is compositional — real understanding rarely comes from one fact alone, but from quietly combining several small, "obvious" facts at once.</a:t>
            </a:r>
            <a:endParaRPr sz="1100" b="0" i="0" u="none" strike="noStrike" cap="none">
              <a:solidFill>
                <a:schemeClr val="dk1"/>
              </a:solidFill>
              <a:latin typeface="Calibri"/>
              <a:ea typeface="Calibri"/>
              <a:cs typeface="Calibri"/>
              <a:sym typeface="Calibri"/>
            </a:endParaRPr>
          </a:p>
        </p:txBody>
      </p:sp>
      <p:sp>
        <p:nvSpPr>
          <p:cNvPr id="650" name="Google Shape;650;p37"/>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11 / 40</a:t>
            </a:r>
            <a:endParaRPr sz="950" b="0" i="0" u="none" strike="noStrike" cap="none">
              <a:solidFill>
                <a:schemeClr val="dk1"/>
              </a:solidFill>
              <a:latin typeface="Calibri"/>
              <a:ea typeface="Calibri"/>
              <a:cs typeface="Calibri"/>
              <a:sym typeface="Calibri"/>
            </a:endParaRPr>
          </a:p>
        </p:txBody>
      </p:sp>
      <p:sp>
        <p:nvSpPr>
          <p:cNvPr id="651" name="Google Shape;651;p37"/>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56"/>
        <p:cNvGrpSpPr/>
        <p:nvPr/>
      </p:nvGrpSpPr>
      <p:grpSpPr>
        <a:xfrm>
          <a:off x="0" y="0"/>
          <a:ext cx="0" cy="0"/>
          <a:chOff x="0" y="0"/>
          <a:chExt cx="0" cy="0"/>
        </a:xfrm>
      </p:grpSpPr>
      <p:sp>
        <p:nvSpPr>
          <p:cNvPr id="657" name="Google Shape;657;p38"/>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8B57"/>
              </a:buClr>
              <a:buSzPts val="1100"/>
              <a:buFont typeface="Calibri"/>
              <a:buNone/>
            </a:pPr>
            <a:r>
              <a:rPr lang="en-US" sz="1100" b="1" i="0" u="none" strike="noStrike" cap="none">
                <a:solidFill>
                  <a:srgbClr val="2E8B57"/>
                </a:solidFill>
                <a:latin typeface="Calibri"/>
                <a:ea typeface="Calibri"/>
                <a:cs typeface="Calibri"/>
                <a:sym typeface="Calibri"/>
              </a:rPr>
              <a:t>2.6 A FAMOUS AI PROBLEM</a:t>
            </a:r>
            <a:endParaRPr sz="1100" b="0" i="0" u="none" strike="noStrike" cap="none">
              <a:solidFill>
                <a:schemeClr val="dk1"/>
              </a:solidFill>
              <a:latin typeface="Calibri"/>
              <a:ea typeface="Calibri"/>
              <a:cs typeface="Calibri"/>
              <a:sym typeface="Calibri"/>
            </a:endParaRPr>
          </a:p>
        </p:txBody>
      </p:sp>
      <p:sp>
        <p:nvSpPr>
          <p:cNvPr id="658" name="Google Shape;658;p38"/>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The Frame Problem</a:t>
            </a:r>
            <a:endParaRPr sz="2300" b="0" i="0" u="none" strike="noStrike" cap="none">
              <a:solidFill>
                <a:schemeClr val="dk1"/>
              </a:solidFill>
              <a:latin typeface="Calibri"/>
              <a:ea typeface="Calibri"/>
              <a:cs typeface="Calibri"/>
              <a:sym typeface="Calibri"/>
            </a:endParaRPr>
          </a:p>
        </p:txBody>
      </p:sp>
      <p:cxnSp>
        <p:nvCxnSpPr>
          <p:cNvPr id="659" name="Google Shape;659;p38"/>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660" name="Google Shape;660;p38"/>
          <p:cNvSpPr/>
          <p:nvPr/>
        </p:nvSpPr>
        <p:spPr>
          <a:xfrm>
            <a:off x="457200" y="1600200"/>
            <a:ext cx="10607040" cy="128016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404040"/>
              </a:buClr>
              <a:buSzPts val="1450"/>
              <a:buFont typeface="Calibri"/>
              <a:buNone/>
            </a:pPr>
            <a:r>
              <a:rPr lang="en-US" sz="1450" b="0" i="0" u="none" strike="noStrike" cap="none">
                <a:solidFill>
                  <a:srgbClr val="404040"/>
                </a:solidFill>
                <a:latin typeface="Calibri"/>
                <a:ea typeface="Calibri"/>
                <a:cs typeface="Calibri"/>
                <a:sym typeface="Calibri"/>
              </a:rPr>
              <a:t>One of the most famous problems in AI, introduced in the late 1960s. Imagine a robot in a room that performs the action Move(Box). Obviously, the box's location changed. But what about everything else? The wall color, floor, ceiling, lights, and windows all remain unchanged — and there are thousands of such facts.</a:t>
            </a:r>
            <a:endParaRPr sz="1450" b="0" i="0" u="none" strike="noStrike" cap="none">
              <a:solidFill>
                <a:schemeClr val="dk1"/>
              </a:solidFill>
              <a:latin typeface="Calibri"/>
              <a:ea typeface="Calibri"/>
              <a:cs typeface="Calibri"/>
              <a:sym typeface="Calibri"/>
            </a:endParaRPr>
          </a:p>
        </p:txBody>
      </p:sp>
      <p:sp>
        <p:nvSpPr>
          <p:cNvPr id="661" name="Google Shape;661;p38"/>
          <p:cNvSpPr/>
          <p:nvPr/>
        </p:nvSpPr>
        <p:spPr>
          <a:xfrm>
            <a:off x="457200" y="3017520"/>
            <a:ext cx="10607040" cy="960120"/>
          </a:xfrm>
          <a:prstGeom prst="rect">
            <a:avLst/>
          </a:prstGeom>
          <a:solidFill>
            <a:srgbClr val="EAF4F4"/>
          </a:solidFill>
          <a:ln w="9525" cap="flat" cmpd="sng">
            <a:solidFill>
              <a:srgbClr val="2E8B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8"/>
          <p:cNvSpPr/>
          <p:nvPr/>
        </p:nvSpPr>
        <p:spPr>
          <a:xfrm>
            <a:off x="457200" y="3017520"/>
            <a:ext cx="64008" cy="960120"/>
          </a:xfrm>
          <a:prstGeom prst="rect">
            <a:avLst/>
          </a:prstGeom>
          <a:solidFill>
            <a:srgbClr val="2E8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8"/>
          <p:cNvSpPr/>
          <p:nvPr/>
        </p:nvSpPr>
        <p:spPr>
          <a:xfrm>
            <a:off x="685800" y="3127248"/>
            <a:ext cx="102412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8B57"/>
              </a:buClr>
              <a:buSzPts val="1050"/>
              <a:buFont typeface="Calibri"/>
              <a:buNone/>
            </a:pPr>
            <a:r>
              <a:rPr lang="en-US" sz="1050" b="1" i="0" u="none" strike="noStrike" cap="none">
                <a:solidFill>
                  <a:srgbClr val="2E8B57"/>
                </a:solidFill>
                <a:latin typeface="Calibri"/>
                <a:ea typeface="Calibri"/>
                <a:cs typeface="Calibri"/>
                <a:sym typeface="Calibri"/>
              </a:rPr>
              <a:t>DEFINITION</a:t>
            </a:r>
            <a:endParaRPr sz="1050" b="0" i="0" u="none" strike="noStrike" cap="none">
              <a:solidFill>
                <a:schemeClr val="dk1"/>
              </a:solidFill>
              <a:latin typeface="Calibri"/>
              <a:ea typeface="Calibri"/>
              <a:cs typeface="Calibri"/>
              <a:sym typeface="Calibri"/>
            </a:endParaRPr>
          </a:p>
        </p:txBody>
      </p:sp>
      <p:sp>
        <p:nvSpPr>
          <p:cNvPr id="664" name="Google Shape;664;p38"/>
          <p:cNvSpPr/>
          <p:nvPr/>
        </p:nvSpPr>
        <p:spPr>
          <a:xfrm>
            <a:off x="685800" y="3419856"/>
            <a:ext cx="10195560" cy="46634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400"/>
              <a:buFont typeface="Calibri"/>
              <a:buNone/>
            </a:pPr>
            <a:r>
              <a:rPr lang="en-US" sz="1400" b="0" i="0" u="none" strike="noStrike" cap="none">
                <a:solidFill>
                  <a:srgbClr val="404040"/>
                </a:solidFill>
                <a:latin typeface="Calibri"/>
                <a:ea typeface="Calibri"/>
                <a:cs typeface="Calibri"/>
                <a:sym typeface="Calibri"/>
              </a:rPr>
              <a:t>The Frame Problem asks: how can an AI efficiently represent the effects of an action without explicitly listing everything that remains unchanged?</a:t>
            </a:r>
            <a:endParaRPr sz="1400" b="0" i="0" u="none" strike="noStrike" cap="none">
              <a:solidFill>
                <a:schemeClr val="dk1"/>
              </a:solidFill>
              <a:latin typeface="Calibri"/>
              <a:ea typeface="Calibri"/>
              <a:cs typeface="Calibri"/>
              <a:sym typeface="Calibri"/>
            </a:endParaRPr>
          </a:p>
        </p:txBody>
      </p:sp>
      <p:sp>
        <p:nvSpPr>
          <p:cNvPr id="665" name="Google Shape;665;p38"/>
          <p:cNvSpPr/>
          <p:nvPr/>
        </p:nvSpPr>
        <p:spPr>
          <a:xfrm>
            <a:off x="457200" y="4160520"/>
            <a:ext cx="10607040" cy="123444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404040"/>
              </a:buClr>
              <a:buSzPts val="1400"/>
              <a:buFont typeface="Calibri"/>
              <a:buNone/>
            </a:pPr>
            <a:r>
              <a:rPr lang="en-US" sz="1400" b="0" i="0" u="none" strike="noStrike" cap="none">
                <a:solidFill>
                  <a:srgbClr val="404040"/>
                </a:solidFill>
                <a:latin typeface="Calibri"/>
                <a:ea typeface="Calibri"/>
                <a:cs typeface="Calibri"/>
                <a:sym typeface="Calibri"/>
              </a:rPr>
              <a:t>Without solving this problem, every single action a robot takes would require updating millions of irrelevant facts, making the system computationally infeasible. Modern solutions (such as the Event Calculus in Topic 3) assume that, by default, everything stays the same </a:t>
            </a:r>
            <a:r>
              <a:rPr lang="en-US" sz="1400" b="1" i="1" u="none" strike="noStrike" cap="none">
                <a:solidFill>
                  <a:srgbClr val="404040"/>
                </a:solidFill>
                <a:latin typeface="Calibri"/>
                <a:ea typeface="Calibri"/>
                <a:cs typeface="Calibri"/>
                <a:sym typeface="Calibri"/>
              </a:rPr>
              <a:t>unless</a:t>
            </a:r>
            <a:r>
              <a:rPr lang="en-US" sz="1400" b="0" i="0" u="none" strike="noStrike" cap="none">
                <a:solidFill>
                  <a:srgbClr val="404040"/>
                </a:solidFill>
                <a:latin typeface="Calibri"/>
                <a:ea typeface="Calibri"/>
                <a:cs typeface="Calibri"/>
                <a:sym typeface="Calibri"/>
              </a:rPr>
              <a:t> an explicit rule says otherwise — directly reusing the default-reasoning idea from Topic 1.</a:t>
            </a:r>
            <a:endParaRPr sz="1400" b="0" i="0" u="none" strike="noStrike" cap="none">
              <a:solidFill>
                <a:schemeClr val="dk1"/>
              </a:solidFill>
              <a:latin typeface="Calibri"/>
              <a:ea typeface="Calibri"/>
              <a:cs typeface="Calibri"/>
              <a:sym typeface="Calibri"/>
            </a:endParaRPr>
          </a:p>
        </p:txBody>
      </p:sp>
      <p:sp>
        <p:nvSpPr>
          <p:cNvPr id="666" name="Google Shape;666;p38"/>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12 / 40</a:t>
            </a:r>
            <a:endParaRPr sz="950" b="0" i="0" u="none" strike="noStrike" cap="none">
              <a:solidFill>
                <a:schemeClr val="dk1"/>
              </a:solidFill>
              <a:latin typeface="Calibri"/>
              <a:ea typeface="Calibri"/>
              <a:cs typeface="Calibri"/>
              <a:sym typeface="Calibri"/>
            </a:endParaRPr>
          </a:p>
        </p:txBody>
      </p:sp>
      <p:sp>
        <p:nvSpPr>
          <p:cNvPr id="667" name="Google Shape;667;p38"/>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2"/>
        <p:cNvGrpSpPr/>
        <p:nvPr/>
      </p:nvGrpSpPr>
      <p:grpSpPr>
        <a:xfrm>
          <a:off x="0" y="0"/>
          <a:ext cx="0" cy="0"/>
          <a:chOff x="0" y="0"/>
          <a:chExt cx="0" cy="0"/>
        </a:xfrm>
      </p:grpSpPr>
      <p:sp>
        <p:nvSpPr>
          <p:cNvPr id="673" name="Google Shape;673;p39"/>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8B57"/>
              </a:buClr>
              <a:buSzPts val="1100"/>
              <a:buFont typeface="Calibri"/>
              <a:buNone/>
            </a:pPr>
            <a:r>
              <a:rPr lang="en-US" sz="1100" b="1" i="0" u="none" strike="noStrike" cap="none">
                <a:solidFill>
                  <a:srgbClr val="2E8B57"/>
                </a:solidFill>
                <a:latin typeface="Calibri"/>
                <a:ea typeface="Calibri"/>
                <a:cs typeface="Calibri"/>
                <a:sym typeface="Calibri"/>
              </a:rPr>
              <a:t>2.7 A FAMOUS AI PROBLEM</a:t>
            </a:r>
            <a:endParaRPr sz="1100" b="0" i="0" u="none" strike="noStrike" cap="none">
              <a:solidFill>
                <a:schemeClr val="dk1"/>
              </a:solidFill>
              <a:latin typeface="Calibri"/>
              <a:ea typeface="Calibri"/>
              <a:cs typeface="Calibri"/>
              <a:sym typeface="Calibri"/>
            </a:endParaRPr>
          </a:p>
        </p:txBody>
      </p:sp>
      <p:sp>
        <p:nvSpPr>
          <p:cNvPr id="674" name="Google Shape;674;p39"/>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The Qualification Problem</a:t>
            </a:r>
            <a:endParaRPr sz="2300" b="0" i="0" u="none" strike="noStrike" cap="none">
              <a:solidFill>
                <a:schemeClr val="dk1"/>
              </a:solidFill>
              <a:latin typeface="Calibri"/>
              <a:ea typeface="Calibri"/>
              <a:cs typeface="Calibri"/>
              <a:sym typeface="Calibri"/>
            </a:endParaRPr>
          </a:p>
        </p:txBody>
      </p:sp>
      <p:cxnSp>
        <p:nvCxnSpPr>
          <p:cNvPr id="675" name="Google Shape;675;p39"/>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676" name="Google Shape;676;p39"/>
          <p:cNvSpPr/>
          <p:nvPr/>
        </p:nvSpPr>
        <p:spPr>
          <a:xfrm>
            <a:off x="457200" y="1691640"/>
            <a:ext cx="10607040" cy="100584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404040"/>
              </a:buClr>
              <a:buSzPts val="1500"/>
              <a:buFont typeface="Calibri"/>
              <a:buNone/>
            </a:pPr>
            <a:r>
              <a:rPr lang="en-US" sz="1500" b="0" i="0" u="none" strike="noStrike" cap="none">
                <a:solidFill>
                  <a:srgbClr val="404040"/>
                </a:solidFill>
                <a:latin typeface="Calibri"/>
                <a:ea typeface="Calibri"/>
                <a:cs typeface="Calibri"/>
                <a:sym typeface="Calibri"/>
              </a:rPr>
              <a:t>Consider the simple rule: "Turning the key starts the car." Sounds simple — but consider the exceptions: dead battery, no fuel, engine failure, wrong key, damaged ignition. There are potentially thousands of hidden conditions.</a:t>
            </a:r>
            <a:endParaRPr sz="1500" b="0" i="0" u="none" strike="noStrike" cap="none">
              <a:solidFill>
                <a:schemeClr val="dk1"/>
              </a:solidFill>
              <a:latin typeface="Calibri"/>
              <a:ea typeface="Calibri"/>
              <a:cs typeface="Calibri"/>
              <a:sym typeface="Calibri"/>
            </a:endParaRPr>
          </a:p>
        </p:txBody>
      </p:sp>
      <p:sp>
        <p:nvSpPr>
          <p:cNvPr id="677" name="Google Shape;677;p39"/>
          <p:cNvSpPr/>
          <p:nvPr/>
        </p:nvSpPr>
        <p:spPr>
          <a:xfrm>
            <a:off x="457200" y="2880360"/>
            <a:ext cx="10607040" cy="1371600"/>
          </a:xfrm>
          <a:prstGeom prst="rect">
            <a:avLst/>
          </a:prstGeom>
          <a:solidFill>
            <a:srgbClr val="EAF4F4"/>
          </a:solidFill>
          <a:ln w="9525" cap="flat" cmpd="sng">
            <a:solidFill>
              <a:srgbClr val="2E8B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9"/>
          <p:cNvSpPr/>
          <p:nvPr/>
        </p:nvSpPr>
        <p:spPr>
          <a:xfrm>
            <a:off x="457200" y="2880360"/>
            <a:ext cx="64008" cy="1371600"/>
          </a:xfrm>
          <a:prstGeom prst="rect">
            <a:avLst/>
          </a:prstGeom>
          <a:solidFill>
            <a:srgbClr val="2E8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9"/>
          <p:cNvSpPr/>
          <p:nvPr/>
        </p:nvSpPr>
        <p:spPr>
          <a:xfrm>
            <a:off x="685800" y="2990088"/>
            <a:ext cx="102412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8B57"/>
              </a:buClr>
              <a:buSzPts val="1050"/>
              <a:buFont typeface="Calibri"/>
              <a:buNone/>
            </a:pPr>
            <a:r>
              <a:rPr lang="en-US" sz="1050" b="1" i="0" u="none" strike="noStrike" cap="none">
                <a:solidFill>
                  <a:srgbClr val="2E8B57"/>
                </a:solidFill>
                <a:latin typeface="Calibri"/>
                <a:ea typeface="Calibri"/>
                <a:cs typeface="Calibri"/>
                <a:sym typeface="Calibri"/>
              </a:rPr>
              <a:t>DEFINITION</a:t>
            </a:r>
            <a:endParaRPr sz="1050" b="0" i="0" u="none" strike="noStrike" cap="none">
              <a:solidFill>
                <a:schemeClr val="dk1"/>
              </a:solidFill>
              <a:latin typeface="Calibri"/>
              <a:ea typeface="Calibri"/>
              <a:cs typeface="Calibri"/>
              <a:sym typeface="Calibri"/>
            </a:endParaRPr>
          </a:p>
        </p:txBody>
      </p:sp>
      <p:sp>
        <p:nvSpPr>
          <p:cNvPr id="680" name="Google Shape;680;p39"/>
          <p:cNvSpPr/>
          <p:nvPr/>
        </p:nvSpPr>
        <p:spPr>
          <a:xfrm>
            <a:off x="685800" y="3282696"/>
            <a:ext cx="10195560" cy="87782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450"/>
              <a:buFont typeface="Calibri"/>
              <a:buNone/>
            </a:pPr>
            <a:r>
              <a:rPr lang="en-US" sz="1450" b="0" i="0" u="none" strike="noStrike" cap="none">
                <a:solidFill>
                  <a:srgbClr val="404040"/>
                </a:solidFill>
                <a:latin typeface="Calibri"/>
                <a:ea typeface="Calibri"/>
                <a:cs typeface="Calibri"/>
                <a:sym typeface="Calibri"/>
              </a:rPr>
              <a:t>The Qualification Problem asks: how can we specify all the conditions required for an action to succeed? Every everyday rule (like "birds fly") carries hidden assumptions (healthy, has wings, not trapped, not injured) that humans ignore naturally but that AI systems must somehow handle.</a:t>
            </a:r>
            <a:endParaRPr sz="1450" b="0" i="0" u="none" strike="noStrike" cap="none">
              <a:solidFill>
                <a:schemeClr val="dk1"/>
              </a:solidFill>
              <a:latin typeface="Calibri"/>
              <a:ea typeface="Calibri"/>
              <a:cs typeface="Calibri"/>
              <a:sym typeface="Calibri"/>
            </a:endParaRPr>
          </a:p>
        </p:txBody>
      </p:sp>
      <p:sp>
        <p:nvSpPr>
          <p:cNvPr id="681" name="Google Shape;681;p39"/>
          <p:cNvSpPr/>
          <p:nvPr/>
        </p:nvSpPr>
        <p:spPr>
          <a:xfrm>
            <a:off x="457200" y="4526280"/>
            <a:ext cx="10607040" cy="73152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6B6B6B"/>
              </a:buClr>
              <a:buSzPts val="1350"/>
              <a:buFont typeface="Calibri"/>
              <a:buNone/>
            </a:pPr>
            <a:r>
              <a:rPr lang="en-US" sz="1350" b="0" i="1" u="none" strike="noStrike" cap="none">
                <a:solidFill>
                  <a:srgbClr val="6B6B6B"/>
                </a:solidFill>
                <a:latin typeface="Calibri"/>
                <a:ea typeface="Calibri"/>
                <a:cs typeface="Calibri"/>
                <a:sym typeface="Calibri"/>
              </a:rPr>
              <a:t>This is closely related to the Frame Problem: where the Frame Problem asks what stays the same, the Qualification Problem asks what could silently prevent an action from working at all.</a:t>
            </a:r>
            <a:endParaRPr sz="1350" b="0" i="0" u="none" strike="noStrike" cap="none">
              <a:solidFill>
                <a:schemeClr val="dk1"/>
              </a:solidFill>
              <a:latin typeface="Calibri"/>
              <a:ea typeface="Calibri"/>
              <a:cs typeface="Calibri"/>
              <a:sym typeface="Calibri"/>
            </a:endParaRPr>
          </a:p>
        </p:txBody>
      </p:sp>
      <p:sp>
        <p:nvSpPr>
          <p:cNvPr id="682" name="Google Shape;682;p39"/>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12 / 40</a:t>
            </a:r>
            <a:endParaRPr sz="950" b="0" i="0" u="none" strike="noStrike" cap="none">
              <a:solidFill>
                <a:schemeClr val="dk1"/>
              </a:solidFill>
              <a:latin typeface="Calibri"/>
              <a:ea typeface="Calibri"/>
              <a:cs typeface="Calibri"/>
              <a:sym typeface="Calibri"/>
            </a:endParaRPr>
          </a:p>
        </p:txBody>
      </p:sp>
      <p:sp>
        <p:nvSpPr>
          <p:cNvPr id="683" name="Google Shape;683;p39"/>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88"/>
        <p:cNvGrpSpPr/>
        <p:nvPr/>
      </p:nvGrpSpPr>
      <p:grpSpPr>
        <a:xfrm>
          <a:off x="0" y="0"/>
          <a:ext cx="0" cy="0"/>
          <a:chOff x="0" y="0"/>
          <a:chExt cx="0" cy="0"/>
        </a:xfrm>
      </p:grpSpPr>
      <p:sp>
        <p:nvSpPr>
          <p:cNvPr id="689" name="Google Shape;689;p40"/>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8B57"/>
              </a:buClr>
              <a:buSzPts val="1100"/>
              <a:buFont typeface="Calibri"/>
              <a:buNone/>
            </a:pPr>
            <a:r>
              <a:rPr lang="en-US" sz="1100" b="1" i="0" u="none" strike="noStrike" cap="none">
                <a:solidFill>
                  <a:srgbClr val="2E8B57"/>
                </a:solidFill>
                <a:latin typeface="Calibri"/>
                <a:ea typeface="Calibri"/>
                <a:cs typeface="Calibri"/>
                <a:sym typeface="Calibri"/>
              </a:rPr>
              <a:t>2.8 A FAMOUS BENCHMARK</a:t>
            </a:r>
            <a:endParaRPr sz="1100" b="0" i="0" u="none" strike="noStrike" cap="none">
              <a:solidFill>
                <a:schemeClr val="dk1"/>
              </a:solidFill>
              <a:latin typeface="Calibri"/>
              <a:ea typeface="Calibri"/>
              <a:cs typeface="Calibri"/>
              <a:sym typeface="Calibri"/>
            </a:endParaRPr>
          </a:p>
        </p:txBody>
      </p:sp>
      <p:sp>
        <p:nvSpPr>
          <p:cNvPr id="690" name="Google Shape;690;p40"/>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The Yale Shooting Problem</a:t>
            </a:r>
            <a:endParaRPr sz="2300" b="0" i="0" u="none" strike="noStrike" cap="none">
              <a:solidFill>
                <a:schemeClr val="dk1"/>
              </a:solidFill>
              <a:latin typeface="Calibri"/>
              <a:ea typeface="Calibri"/>
              <a:cs typeface="Calibri"/>
              <a:sym typeface="Calibri"/>
            </a:endParaRPr>
          </a:p>
        </p:txBody>
      </p:sp>
      <p:cxnSp>
        <p:nvCxnSpPr>
          <p:cNvPr id="691" name="Google Shape;691;p40"/>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692" name="Google Shape;692;p40"/>
          <p:cNvSpPr/>
          <p:nvPr/>
        </p:nvSpPr>
        <p:spPr>
          <a:xfrm>
            <a:off x="457200" y="1600200"/>
            <a:ext cx="1060704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1400"/>
              <a:buFont typeface="Calibri"/>
              <a:buNone/>
            </a:pPr>
            <a:r>
              <a:rPr lang="en-US" sz="1400" b="0" i="0" u="none" strike="noStrike" cap="none">
                <a:solidFill>
                  <a:srgbClr val="404040"/>
                </a:solidFill>
                <a:latin typeface="Calibri"/>
                <a:ea typeface="Calibri"/>
                <a:cs typeface="Calibri"/>
                <a:sym typeface="Calibri"/>
              </a:rPr>
              <a:t>A famous benchmark that demonstrates how reasoning about actions and time can produce unintuitive results if not handled carefully.</a:t>
            </a:r>
            <a:endParaRPr sz="1400" b="0" i="0" u="none" strike="noStrike" cap="none">
              <a:solidFill>
                <a:schemeClr val="dk1"/>
              </a:solidFill>
              <a:latin typeface="Calibri"/>
              <a:ea typeface="Calibri"/>
              <a:cs typeface="Calibri"/>
              <a:sym typeface="Calibri"/>
            </a:endParaRPr>
          </a:p>
        </p:txBody>
      </p:sp>
      <p:sp>
        <p:nvSpPr>
          <p:cNvPr id="693" name="Google Shape;693;p40"/>
          <p:cNvSpPr/>
          <p:nvPr/>
        </p:nvSpPr>
        <p:spPr>
          <a:xfrm>
            <a:off x="1463040" y="2148840"/>
            <a:ext cx="8046720" cy="1188720"/>
          </a:xfrm>
          <a:prstGeom prst="rect">
            <a:avLst/>
          </a:prstGeom>
          <a:solidFill>
            <a:srgbClr val="F4F8F8"/>
          </a:solidFill>
          <a:ln w="9525" cap="flat" cmpd="sng">
            <a:solidFill>
              <a:srgbClr val="DDE3E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40"/>
          <p:cNvSpPr/>
          <p:nvPr/>
        </p:nvSpPr>
        <p:spPr>
          <a:xfrm>
            <a:off x="1691640" y="2240280"/>
            <a:ext cx="7589520" cy="100584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ts val="0"/>
              </a:spcBef>
              <a:spcAft>
                <a:spcPts val="0"/>
              </a:spcAft>
              <a:buClr>
                <a:srgbClr val="404040"/>
              </a:buClr>
              <a:buSzPts val="1400"/>
              <a:buFont typeface="Courier New"/>
              <a:buNone/>
            </a:pPr>
            <a:r>
              <a:rPr lang="en-US" sz="1400" b="0" i="0" u="none" strike="noStrike" cap="none">
                <a:solidFill>
                  <a:srgbClr val="404040"/>
                </a:solidFill>
                <a:latin typeface="Courier New"/>
                <a:ea typeface="Courier New"/>
                <a:cs typeface="Courier New"/>
                <a:sym typeface="Courier New"/>
              </a:rPr>
              <a:t>Initial state:   Gun is loaded.  Person is alive.</a:t>
            </a:r>
            <a:endParaRPr sz="1400" b="0" i="0" u="none" strike="noStrike" cap="none">
              <a:solidFill>
                <a:schemeClr val="dk1"/>
              </a:solidFill>
              <a:latin typeface="Calibri"/>
              <a:ea typeface="Calibri"/>
              <a:cs typeface="Calibri"/>
              <a:sym typeface="Calibri"/>
            </a:endParaRPr>
          </a:p>
          <a:p>
            <a:pPr marL="0" marR="0" lvl="0" indent="0" algn="ctr" rtl="0">
              <a:lnSpc>
                <a:spcPct val="115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a:p>
            <a:pPr marL="0" marR="0" lvl="0" indent="0" algn="ctr" rtl="0">
              <a:lnSpc>
                <a:spcPct val="115000"/>
              </a:lnSpc>
              <a:spcBef>
                <a:spcPts val="0"/>
              </a:spcBef>
              <a:spcAft>
                <a:spcPts val="0"/>
              </a:spcAft>
              <a:buClr>
                <a:srgbClr val="404040"/>
              </a:buClr>
              <a:buSzPts val="1400"/>
              <a:buFont typeface="Courier New"/>
              <a:buNone/>
            </a:pPr>
            <a:r>
              <a:rPr lang="en-US" sz="1400" b="0" i="0" u="none" strike="noStrike" cap="none">
                <a:solidFill>
                  <a:srgbClr val="404040"/>
                </a:solidFill>
                <a:latin typeface="Courier New"/>
                <a:ea typeface="Courier New"/>
                <a:cs typeface="Courier New"/>
                <a:sym typeface="Courier New"/>
              </a:rPr>
              <a:t>Actions (in order):   Load Gun  →  Wait  →  Shoot</a:t>
            </a:r>
            <a:endParaRPr sz="1400" b="0" i="0" u="none" strike="noStrike" cap="none">
              <a:solidFill>
                <a:schemeClr val="dk1"/>
              </a:solidFill>
              <a:latin typeface="Calibri"/>
              <a:ea typeface="Calibri"/>
              <a:cs typeface="Calibri"/>
              <a:sym typeface="Calibri"/>
            </a:endParaRPr>
          </a:p>
          <a:p>
            <a:pPr marL="0" marR="0" lvl="0" indent="0" algn="ctr" rtl="0">
              <a:lnSpc>
                <a:spcPct val="115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a:p>
            <a:pPr marL="0" marR="0" lvl="0" indent="0" algn="ctr" rtl="0">
              <a:lnSpc>
                <a:spcPct val="115000"/>
              </a:lnSpc>
              <a:spcBef>
                <a:spcPts val="0"/>
              </a:spcBef>
              <a:spcAft>
                <a:spcPts val="0"/>
              </a:spcAft>
              <a:buClr>
                <a:srgbClr val="404040"/>
              </a:buClr>
              <a:buSzPts val="1400"/>
              <a:buFont typeface="Courier New"/>
              <a:buNone/>
            </a:pPr>
            <a:r>
              <a:rPr lang="en-US" sz="1400" b="0" i="0" u="none" strike="noStrike" cap="none">
                <a:solidFill>
                  <a:srgbClr val="404040"/>
                </a:solidFill>
                <a:latin typeface="Courier New"/>
                <a:ea typeface="Courier New"/>
                <a:cs typeface="Courier New"/>
                <a:sym typeface="Courier New"/>
              </a:rPr>
              <a:t>Expected conclusion:   Person is dead.</a:t>
            </a:r>
            <a:endParaRPr sz="1400" b="0" i="0" u="none" strike="noStrike" cap="none">
              <a:solidFill>
                <a:schemeClr val="dk1"/>
              </a:solidFill>
              <a:latin typeface="Calibri"/>
              <a:ea typeface="Calibri"/>
              <a:cs typeface="Calibri"/>
              <a:sym typeface="Calibri"/>
            </a:endParaRPr>
          </a:p>
        </p:txBody>
      </p:sp>
      <p:sp>
        <p:nvSpPr>
          <p:cNvPr id="695" name="Google Shape;695;p40"/>
          <p:cNvSpPr/>
          <p:nvPr/>
        </p:nvSpPr>
        <p:spPr>
          <a:xfrm>
            <a:off x="457200" y="3520440"/>
            <a:ext cx="10607040" cy="118872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404040"/>
              </a:buClr>
              <a:buSzPts val="1400"/>
              <a:buFont typeface="Calibri"/>
              <a:buNone/>
            </a:pPr>
            <a:r>
              <a:rPr lang="en-US" sz="1400" b="0" i="0" u="none" strike="noStrike" cap="none">
                <a:solidFill>
                  <a:srgbClr val="404040"/>
                </a:solidFill>
                <a:latin typeface="Calibri"/>
                <a:ea typeface="Calibri"/>
                <a:cs typeface="Calibri"/>
                <a:sym typeface="Calibri"/>
              </a:rPr>
              <a:t>This seems obvious to any human. Yet early logical systems sometimes incorrectly concluded that the person remained alive, because the formal system failed to correctly handle </a:t>
            </a:r>
            <a:r>
              <a:rPr lang="en-US" sz="1400" b="1" i="1" u="none" strike="noStrike" cap="none">
                <a:solidFill>
                  <a:srgbClr val="404040"/>
                </a:solidFill>
                <a:latin typeface="Calibri"/>
                <a:ea typeface="Calibri"/>
                <a:cs typeface="Calibri"/>
                <a:sym typeface="Calibri"/>
              </a:rPr>
              <a:t>persistence</a:t>
            </a:r>
            <a:r>
              <a:rPr lang="en-US" sz="1400" b="0" i="0" u="none" strike="noStrike" cap="none">
                <a:solidFill>
                  <a:srgbClr val="404040"/>
                </a:solidFill>
                <a:latin typeface="Calibri"/>
                <a:ea typeface="Calibri"/>
                <a:cs typeface="Calibri"/>
                <a:sym typeface="Calibri"/>
              </a:rPr>
              <a:t> (the gun staying loaded through the "Wait" action) and the precise effects of actions over time. This failure directly motivated the more careful temporal frameworks covered in Topic 3, including the Event Calculus.</a:t>
            </a:r>
            <a:endParaRPr sz="1400" b="0" i="0" u="none" strike="noStrike" cap="none">
              <a:solidFill>
                <a:schemeClr val="dk1"/>
              </a:solidFill>
              <a:latin typeface="Calibri"/>
              <a:ea typeface="Calibri"/>
              <a:cs typeface="Calibri"/>
              <a:sym typeface="Calibri"/>
            </a:endParaRPr>
          </a:p>
        </p:txBody>
      </p:sp>
      <p:sp>
        <p:nvSpPr>
          <p:cNvPr id="696" name="Google Shape;696;p40"/>
          <p:cNvSpPr/>
          <p:nvPr/>
        </p:nvSpPr>
        <p:spPr>
          <a:xfrm>
            <a:off x="457200" y="4846320"/>
            <a:ext cx="10607040" cy="1097280"/>
          </a:xfrm>
          <a:prstGeom prst="rect">
            <a:avLst/>
          </a:prstGeom>
          <a:solidFill>
            <a:srgbClr val="FFF6EC"/>
          </a:solidFill>
          <a:ln w="9525" cap="flat" cmpd="sng">
            <a:solidFill>
              <a:srgbClr val="2E8B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40"/>
          <p:cNvSpPr/>
          <p:nvPr/>
        </p:nvSpPr>
        <p:spPr>
          <a:xfrm>
            <a:off x="457200" y="4846320"/>
            <a:ext cx="64008" cy="1097280"/>
          </a:xfrm>
          <a:prstGeom prst="rect">
            <a:avLst/>
          </a:prstGeom>
          <a:solidFill>
            <a:srgbClr val="2E8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40"/>
          <p:cNvSpPr/>
          <p:nvPr/>
        </p:nvSpPr>
        <p:spPr>
          <a:xfrm>
            <a:off x="685800" y="4956048"/>
            <a:ext cx="102412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8B57"/>
              </a:buClr>
              <a:buSzPts val="1050"/>
              <a:buFont typeface="Calibri"/>
              <a:buNone/>
            </a:pPr>
            <a:r>
              <a:rPr lang="en-US" sz="1050" b="1" i="0" u="none" strike="noStrike" cap="none">
                <a:solidFill>
                  <a:srgbClr val="2E8B57"/>
                </a:solidFill>
                <a:latin typeface="Calibri"/>
                <a:ea typeface="Calibri"/>
                <a:cs typeface="Calibri"/>
                <a:sym typeface="Calibri"/>
              </a:rPr>
              <a:t>WHY THIS PROBLEM MATTERS</a:t>
            </a:r>
            <a:endParaRPr sz="1050" b="0" i="0" u="none" strike="noStrike" cap="none">
              <a:solidFill>
                <a:schemeClr val="dk1"/>
              </a:solidFill>
              <a:latin typeface="Calibri"/>
              <a:ea typeface="Calibri"/>
              <a:cs typeface="Calibri"/>
              <a:sym typeface="Calibri"/>
            </a:endParaRPr>
          </a:p>
        </p:txBody>
      </p:sp>
      <p:sp>
        <p:nvSpPr>
          <p:cNvPr id="699" name="Google Shape;699;p40"/>
          <p:cNvSpPr/>
          <p:nvPr/>
        </p:nvSpPr>
        <p:spPr>
          <a:xfrm>
            <a:off x="685800" y="5248656"/>
            <a:ext cx="10195560" cy="60350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300"/>
              <a:buFont typeface="Calibri"/>
              <a:buNone/>
            </a:pPr>
            <a:r>
              <a:rPr lang="en-US" sz="1300" b="0" i="0" u="none" strike="noStrike" cap="none">
                <a:solidFill>
                  <a:srgbClr val="404040"/>
                </a:solidFill>
                <a:latin typeface="Calibri"/>
                <a:ea typeface="Calibri"/>
                <a:cs typeface="Calibri"/>
                <a:sym typeface="Calibri"/>
              </a:rPr>
              <a:t>The Yale Shooting Problem proved that time, actions, and persistence all matter for correct reasoning — a fact that remains true must be assumed to persist through irrelevant actions (like "Wait") unless something explicitly changes it.</a:t>
            </a:r>
            <a:endParaRPr sz="1300" b="0" i="0" u="none" strike="noStrike" cap="none">
              <a:solidFill>
                <a:schemeClr val="dk1"/>
              </a:solidFill>
              <a:latin typeface="Calibri"/>
              <a:ea typeface="Calibri"/>
              <a:cs typeface="Calibri"/>
              <a:sym typeface="Calibri"/>
            </a:endParaRPr>
          </a:p>
        </p:txBody>
      </p:sp>
      <p:sp>
        <p:nvSpPr>
          <p:cNvPr id="700" name="Google Shape;700;p40"/>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12 / 40</a:t>
            </a:r>
            <a:endParaRPr sz="950" b="0" i="0" u="none" strike="noStrike" cap="none">
              <a:solidFill>
                <a:schemeClr val="dk1"/>
              </a:solidFill>
              <a:latin typeface="Calibri"/>
              <a:ea typeface="Calibri"/>
              <a:cs typeface="Calibri"/>
              <a:sym typeface="Calibri"/>
            </a:endParaRPr>
          </a:p>
        </p:txBody>
      </p:sp>
      <p:sp>
        <p:nvSpPr>
          <p:cNvPr id="701" name="Google Shape;701;p40"/>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06"/>
        <p:cNvGrpSpPr/>
        <p:nvPr/>
      </p:nvGrpSpPr>
      <p:grpSpPr>
        <a:xfrm>
          <a:off x="0" y="0"/>
          <a:ext cx="0" cy="0"/>
          <a:chOff x="0" y="0"/>
          <a:chExt cx="0" cy="0"/>
        </a:xfrm>
      </p:grpSpPr>
      <p:sp>
        <p:nvSpPr>
          <p:cNvPr id="707" name="Google Shape;707;p41"/>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8B57"/>
              </a:buClr>
              <a:buSzPts val="1100"/>
              <a:buFont typeface="Calibri"/>
              <a:buNone/>
            </a:pPr>
            <a:r>
              <a:rPr lang="en-US" sz="1100" b="1" i="0" u="none" strike="noStrike" cap="none">
                <a:solidFill>
                  <a:srgbClr val="2E8B57"/>
                </a:solidFill>
                <a:latin typeface="Calibri"/>
                <a:ea typeface="Calibri"/>
                <a:cs typeface="Calibri"/>
                <a:sym typeface="Calibri"/>
              </a:rPr>
              <a:t>2.9 STORING COMMONSENSE</a:t>
            </a:r>
            <a:endParaRPr sz="1100" b="0" i="0" u="none" strike="noStrike" cap="none">
              <a:solidFill>
                <a:schemeClr val="dk1"/>
              </a:solidFill>
              <a:latin typeface="Calibri"/>
              <a:ea typeface="Calibri"/>
              <a:cs typeface="Calibri"/>
              <a:sym typeface="Calibri"/>
            </a:endParaRPr>
          </a:p>
        </p:txBody>
      </p:sp>
      <p:sp>
        <p:nvSpPr>
          <p:cNvPr id="708" name="Google Shape;708;p41"/>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Commonsense Knowledge Bases</a:t>
            </a:r>
            <a:endParaRPr sz="2300" b="0" i="0" u="none" strike="noStrike" cap="none">
              <a:solidFill>
                <a:schemeClr val="dk1"/>
              </a:solidFill>
              <a:latin typeface="Calibri"/>
              <a:ea typeface="Calibri"/>
              <a:cs typeface="Calibri"/>
              <a:sym typeface="Calibri"/>
            </a:endParaRPr>
          </a:p>
        </p:txBody>
      </p:sp>
      <p:cxnSp>
        <p:nvCxnSpPr>
          <p:cNvPr id="709" name="Google Shape;709;p41"/>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710" name="Google Shape;710;p41"/>
          <p:cNvSpPr/>
          <p:nvPr/>
        </p:nvSpPr>
        <p:spPr>
          <a:xfrm>
            <a:off x="457200" y="1554480"/>
            <a:ext cx="1060704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1350"/>
              <a:buFont typeface="Calibri"/>
              <a:buNone/>
            </a:pPr>
            <a:r>
              <a:rPr lang="en-US" sz="1350" b="0" i="0" u="none" strike="noStrike" cap="none">
                <a:solidFill>
                  <a:srgbClr val="404040"/>
                </a:solidFill>
                <a:latin typeface="Calibri"/>
                <a:ea typeface="Calibri"/>
                <a:cs typeface="Calibri"/>
                <a:sym typeface="Calibri"/>
              </a:rPr>
              <a:t>Since hand-coding commonsense at scale is so difficult, researchers built dedicated projects to store it explicitly:</a:t>
            </a:r>
            <a:endParaRPr sz="1350" b="0" i="0" u="none" strike="noStrike" cap="none">
              <a:solidFill>
                <a:schemeClr val="dk1"/>
              </a:solidFill>
              <a:latin typeface="Calibri"/>
              <a:ea typeface="Calibri"/>
              <a:cs typeface="Calibri"/>
              <a:sym typeface="Calibri"/>
            </a:endParaRPr>
          </a:p>
        </p:txBody>
      </p:sp>
      <p:sp>
        <p:nvSpPr>
          <p:cNvPr id="711" name="Google Shape;711;p41"/>
          <p:cNvSpPr/>
          <p:nvPr/>
        </p:nvSpPr>
        <p:spPr>
          <a:xfrm>
            <a:off x="457200" y="1965960"/>
            <a:ext cx="10607040" cy="713232"/>
          </a:xfrm>
          <a:prstGeom prst="rect">
            <a:avLst/>
          </a:prstGeom>
          <a:noFill/>
          <a:ln>
            <a:noFill/>
          </a:ln>
        </p:spPr>
        <p:txBody>
          <a:bodyPr spcFirstLastPara="1" wrap="square" lIns="0" tIns="0" rIns="0" bIns="0" anchor="ctr" anchorCtr="0">
            <a:noAutofit/>
          </a:bodyPr>
          <a:lstStyle/>
          <a:p>
            <a:pPr marL="0" marR="0" lvl="0" indent="0" algn="l" rtl="0">
              <a:lnSpc>
                <a:spcPct val="112000"/>
              </a:lnSpc>
              <a:spcBef>
                <a:spcPts val="0"/>
              </a:spcBef>
              <a:spcAft>
                <a:spcPts val="0"/>
              </a:spcAft>
              <a:buClr>
                <a:srgbClr val="2E8B57"/>
              </a:buClr>
              <a:buSzPts val="1250"/>
              <a:buFont typeface="Calibri"/>
              <a:buNone/>
            </a:pPr>
            <a:r>
              <a:rPr lang="en-US" sz="1250" b="1" i="0" u="none" strike="noStrike" cap="none">
                <a:solidFill>
                  <a:srgbClr val="2E8B57"/>
                </a:solidFill>
                <a:latin typeface="Calibri"/>
                <a:ea typeface="Calibri"/>
                <a:cs typeface="Calibri"/>
                <a:sym typeface="Calibri"/>
              </a:rPr>
              <a:t>(a) Cyc  </a:t>
            </a:r>
            <a:r>
              <a:rPr lang="en-US" sz="1250" b="0" i="0" u="none" strike="noStrike" cap="none">
                <a:solidFill>
                  <a:srgbClr val="404040"/>
                </a:solidFill>
                <a:latin typeface="Calibri"/>
                <a:ea typeface="Calibri"/>
                <a:cs typeface="Calibri"/>
                <a:sym typeface="Calibri"/>
              </a:rPr>
              <a:t>Developed by Douglas Lenat, aiming to build a database of millions of facts like "humans need food." Strength: rich, structured reasoning. Weakness: extremely expensive and slow to build.</a:t>
            </a:r>
            <a:endParaRPr sz="1250" b="0" i="0" u="none" strike="noStrike" cap="none">
              <a:solidFill>
                <a:schemeClr val="dk1"/>
              </a:solidFill>
              <a:latin typeface="Calibri"/>
              <a:ea typeface="Calibri"/>
              <a:cs typeface="Calibri"/>
              <a:sym typeface="Calibri"/>
            </a:endParaRPr>
          </a:p>
        </p:txBody>
      </p:sp>
      <p:sp>
        <p:nvSpPr>
          <p:cNvPr id="712" name="Google Shape;712;p41"/>
          <p:cNvSpPr/>
          <p:nvPr/>
        </p:nvSpPr>
        <p:spPr>
          <a:xfrm>
            <a:off x="457200" y="2715768"/>
            <a:ext cx="10607040" cy="713232"/>
          </a:xfrm>
          <a:prstGeom prst="rect">
            <a:avLst/>
          </a:prstGeom>
          <a:noFill/>
          <a:ln>
            <a:noFill/>
          </a:ln>
        </p:spPr>
        <p:txBody>
          <a:bodyPr spcFirstLastPara="1" wrap="square" lIns="0" tIns="0" rIns="0" bIns="0" anchor="ctr" anchorCtr="0">
            <a:noAutofit/>
          </a:bodyPr>
          <a:lstStyle/>
          <a:p>
            <a:pPr marL="0" marR="0" lvl="0" indent="0" algn="l" rtl="0">
              <a:lnSpc>
                <a:spcPct val="112000"/>
              </a:lnSpc>
              <a:spcBef>
                <a:spcPts val="0"/>
              </a:spcBef>
              <a:spcAft>
                <a:spcPts val="0"/>
              </a:spcAft>
              <a:buClr>
                <a:srgbClr val="2E8B57"/>
              </a:buClr>
              <a:buSzPts val="1250"/>
              <a:buFont typeface="Calibri"/>
              <a:buNone/>
            </a:pPr>
            <a:r>
              <a:rPr lang="en-US" sz="1250" b="1" i="0" u="none" strike="noStrike" cap="none">
                <a:solidFill>
                  <a:srgbClr val="2E8B57"/>
                </a:solidFill>
                <a:latin typeface="Calibri"/>
                <a:ea typeface="Calibri"/>
                <a:cs typeface="Calibri"/>
                <a:sym typeface="Calibri"/>
              </a:rPr>
              <a:t>(b) ConceptNet  </a:t>
            </a:r>
            <a:r>
              <a:rPr lang="en-US" sz="1250" b="0" i="0" u="none" strike="noStrike" cap="none">
                <a:solidFill>
                  <a:srgbClr val="404040"/>
                </a:solidFill>
                <a:latin typeface="Calibri"/>
                <a:ea typeface="Calibri"/>
                <a:cs typeface="Calibri"/>
                <a:sym typeface="Calibri"/>
              </a:rPr>
              <a:t>A large commonsense knowledge graph from MIT Media Lab, storing relations like Car → UsedFor → Transportation, letting AI infer that a restaurant visitor likely wants food.</a:t>
            </a:r>
            <a:endParaRPr sz="1250" b="0" i="0" u="none" strike="noStrike" cap="none">
              <a:solidFill>
                <a:schemeClr val="dk1"/>
              </a:solidFill>
              <a:latin typeface="Calibri"/>
              <a:ea typeface="Calibri"/>
              <a:cs typeface="Calibri"/>
              <a:sym typeface="Calibri"/>
            </a:endParaRPr>
          </a:p>
        </p:txBody>
      </p:sp>
      <p:sp>
        <p:nvSpPr>
          <p:cNvPr id="713" name="Google Shape;713;p41"/>
          <p:cNvSpPr/>
          <p:nvPr/>
        </p:nvSpPr>
        <p:spPr>
          <a:xfrm>
            <a:off x="457200" y="3465576"/>
            <a:ext cx="10607040" cy="713232"/>
          </a:xfrm>
          <a:prstGeom prst="rect">
            <a:avLst/>
          </a:prstGeom>
          <a:noFill/>
          <a:ln>
            <a:noFill/>
          </a:ln>
        </p:spPr>
        <p:txBody>
          <a:bodyPr spcFirstLastPara="1" wrap="square" lIns="0" tIns="0" rIns="0" bIns="0" anchor="ctr" anchorCtr="0">
            <a:noAutofit/>
          </a:bodyPr>
          <a:lstStyle/>
          <a:p>
            <a:pPr marL="0" marR="0" lvl="0" indent="0" algn="l" rtl="0">
              <a:lnSpc>
                <a:spcPct val="112000"/>
              </a:lnSpc>
              <a:spcBef>
                <a:spcPts val="0"/>
              </a:spcBef>
              <a:spcAft>
                <a:spcPts val="0"/>
              </a:spcAft>
              <a:buClr>
                <a:srgbClr val="2E8B57"/>
              </a:buClr>
              <a:buSzPts val="1250"/>
              <a:buFont typeface="Calibri"/>
              <a:buNone/>
            </a:pPr>
            <a:r>
              <a:rPr lang="en-US" sz="1250" b="1" i="0" u="none" strike="noStrike" cap="none">
                <a:solidFill>
                  <a:srgbClr val="2E8B57"/>
                </a:solidFill>
                <a:latin typeface="Calibri"/>
                <a:ea typeface="Calibri"/>
                <a:cs typeface="Calibri"/>
                <a:sym typeface="Calibri"/>
              </a:rPr>
              <a:t>(c) ATOMIC  </a:t>
            </a:r>
            <a:r>
              <a:rPr lang="en-US" sz="1250" b="0" i="0" u="none" strike="noStrike" cap="none">
                <a:solidFill>
                  <a:srgbClr val="404040"/>
                </a:solidFill>
                <a:latin typeface="Calibri"/>
                <a:ea typeface="Calibri"/>
                <a:cs typeface="Calibri"/>
                <a:sym typeface="Calibri"/>
              </a:rPr>
              <a:t>A modern knowledge base focused on events and social reasoning. For "Ali helps an elderly person cross the road," it stores: Ali is kind, the person feels grateful, Ali intended to help.</a:t>
            </a:r>
            <a:endParaRPr sz="1250" b="0" i="0" u="none" strike="noStrike" cap="none">
              <a:solidFill>
                <a:schemeClr val="dk1"/>
              </a:solidFill>
              <a:latin typeface="Calibri"/>
              <a:ea typeface="Calibri"/>
              <a:cs typeface="Calibri"/>
              <a:sym typeface="Calibri"/>
            </a:endParaRPr>
          </a:p>
        </p:txBody>
      </p:sp>
      <p:graphicFrame>
        <p:nvGraphicFramePr>
          <p:cNvPr id="714" name="Google Shape;714;p41"/>
          <p:cNvGraphicFramePr/>
          <p:nvPr/>
        </p:nvGraphicFramePr>
        <p:xfrm>
          <a:off x="457200" y="4261104"/>
          <a:ext cx="10607050" cy="1536200"/>
        </p:xfrm>
        <a:graphic>
          <a:graphicData uri="http://schemas.openxmlformats.org/drawingml/2006/table">
            <a:tbl>
              <a:tblPr>
                <a:noFill/>
                <a:tableStyleId>{18CE5CEB-0992-447E-8985-1B7A4AD8BB01}</a:tableStyleId>
              </a:tblPr>
              <a:tblGrid>
                <a:gridCol w="2286000">
                  <a:extLst>
                    <a:ext uri="{9D8B030D-6E8A-4147-A177-3AD203B41FA5}">
                      <a16:colId xmlns:a16="http://schemas.microsoft.com/office/drawing/2014/main" val="20000"/>
                    </a:ext>
                  </a:extLst>
                </a:gridCol>
                <a:gridCol w="4389125">
                  <a:extLst>
                    <a:ext uri="{9D8B030D-6E8A-4147-A177-3AD203B41FA5}">
                      <a16:colId xmlns:a16="http://schemas.microsoft.com/office/drawing/2014/main" val="20001"/>
                    </a:ext>
                  </a:extLst>
                </a:gridCol>
                <a:gridCol w="3931925">
                  <a:extLst>
                    <a:ext uri="{9D8B030D-6E8A-4147-A177-3AD203B41FA5}">
                      <a16:colId xmlns:a16="http://schemas.microsoft.com/office/drawing/2014/main" val="20002"/>
                    </a:ext>
                  </a:extLst>
                </a:gridCol>
              </a:tblGrid>
              <a:tr h="384050">
                <a:tc>
                  <a:txBody>
                    <a:bodyPr/>
                    <a:lstStyle/>
                    <a:p>
                      <a:pPr marL="0" marR="0" lvl="0" indent="0" algn="l" rtl="0">
                        <a:spcBef>
                          <a:spcPts val="0"/>
                        </a:spcBef>
                        <a:spcAft>
                          <a:spcPts val="0"/>
                        </a:spcAft>
                        <a:buClr>
                          <a:srgbClr val="FFFFFF"/>
                        </a:buClr>
                        <a:buSzPts val="1250"/>
                        <a:buFont typeface="Calibri"/>
                        <a:buNone/>
                      </a:pPr>
                      <a:r>
                        <a:rPr lang="en-US" sz="1250" b="1" u="none" strike="noStrike" cap="none">
                          <a:solidFill>
                            <a:srgbClr val="FFFFFF"/>
                          </a:solidFill>
                          <a:latin typeface="Calibri"/>
                          <a:ea typeface="Calibri"/>
                          <a:cs typeface="Calibri"/>
                          <a:sym typeface="Calibri"/>
                        </a:rPr>
                        <a:t>Knowledge Base</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2E8B57"/>
                    </a:solidFill>
                  </a:tcPr>
                </a:tc>
                <a:tc>
                  <a:txBody>
                    <a:bodyPr/>
                    <a:lstStyle/>
                    <a:p>
                      <a:pPr marL="0" marR="0" lvl="0" indent="0" algn="l" rtl="0">
                        <a:spcBef>
                          <a:spcPts val="0"/>
                        </a:spcBef>
                        <a:spcAft>
                          <a:spcPts val="0"/>
                        </a:spcAft>
                        <a:buClr>
                          <a:srgbClr val="FFFFFF"/>
                        </a:buClr>
                        <a:buSzPts val="1250"/>
                        <a:buFont typeface="Calibri"/>
                        <a:buNone/>
                      </a:pPr>
                      <a:r>
                        <a:rPr lang="en-US" sz="1250" b="1" u="none" strike="noStrike" cap="none">
                          <a:solidFill>
                            <a:srgbClr val="FFFFFF"/>
                          </a:solidFill>
                          <a:latin typeface="Calibri"/>
                          <a:ea typeface="Calibri"/>
                          <a:cs typeface="Calibri"/>
                          <a:sym typeface="Calibri"/>
                        </a:rPr>
                        <a:t>Focus</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2E8B57"/>
                    </a:solidFill>
                  </a:tcPr>
                </a:tc>
                <a:tc>
                  <a:txBody>
                    <a:bodyPr/>
                    <a:lstStyle/>
                    <a:p>
                      <a:pPr marL="0" marR="0" lvl="0" indent="0" algn="l" rtl="0">
                        <a:spcBef>
                          <a:spcPts val="0"/>
                        </a:spcBef>
                        <a:spcAft>
                          <a:spcPts val="0"/>
                        </a:spcAft>
                        <a:buClr>
                          <a:srgbClr val="FFFFFF"/>
                        </a:buClr>
                        <a:buSzPts val="1250"/>
                        <a:buFont typeface="Calibri"/>
                        <a:buNone/>
                      </a:pPr>
                      <a:r>
                        <a:rPr lang="en-US" sz="1250" b="1" u="none" strike="noStrike" cap="none">
                          <a:solidFill>
                            <a:srgbClr val="FFFFFF"/>
                          </a:solidFill>
                          <a:latin typeface="Calibri"/>
                          <a:ea typeface="Calibri"/>
                          <a:cs typeface="Calibri"/>
                          <a:sym typeface="Calibri"/>
                        </a:rPr>
                        <a:t>Built By</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2E8B57"/>
                    </a:solidFill>
                  </a:tcPr>
                </a:tc>
                <a:extLst>
                  <a:ext uri="{0D108BD9-81ED-4DB2-BD59-A6C34878D82A}">
                    <a16:rowId xmlns:a16="http://schemas.microsoft.com/office/drawing/2014/main" val="10000"/>
                  </a:ext>
                </a:extLst>
              </a:tr>
              <a:tr h="384050">
                <a:tc>
                  <a:txBody>
                    <a:bodyPr/>
                    <a:lstStyle/>
                    <a:p>
                      <a:pPr marL="0" marR="0" lvl="0" indent="0" algn="l" rtl="0">
                        <a:spcBef>
                          <a:spcPts val="0"/>
                        </a:spcBef>
                        <a:spcAft>
                          <a:spcPts val="0"/>
                        </a:spcAft>
                        <a:buClr>
                          <a:srgbClr val="404040"/>
                        </a:buClr>
                        <a:buSzPts val="1200"/>
                        <a:buFont typeface="Calibri"/>
                        <a:buNone/>
                      </a:pPr>
                      <a:r>
                        <a:rPr lang="en-US" sz="1200" u="none" strike="noStrike" cap="none">
                          <a:solidFill>
                            <a:srgbClr val="404040"/>
                          </a:solidFill>
                          <a:latin typeface="Calibri"/>
                          <a:ea typeface="Calibri"/>
                          <a:cs typeface="Calibri"/>
                          <a:sym typeface="Calibri"/>
                        </a:rPr>
                        <a:t>Cyc</a:t>
                      </a:r>
                      <a:endParaRPr sz="12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200"/>
                        <a:buFont typeface="Calibri"/>
                        <a:buNone/>
                      </a:pPr>
                      <a:r>
                        <a:rPr lang="en-US" sz="1200" u="none" strike="noStrike" cap="none">
                          <a:solidFill>
                            <a:srgbClr val="404040"/>
                          </a:solidFill>
                          <a:latin typeface="Calibri"/>
                          <a:ea typeface="Calibri"/>
                          <a:cs typeface="Calibri"/>
                          <a:sym typeface="Calibri"/>
                        </a:rPr>
                        <a:t>General logical commonsense facts</a:t>
                      </a:r>
                      <a:endParaRPr sz="12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200"/>
                        <a:buFont typeface="Calibri"/>
                        <a:buNone/>
                      </a:pPr>
                      <a:r>
                        <a:rPr lang="en-US" sz="1200" u="none" strike="noStrike" cap="none">
                          <a:solidFill>
                            <a:srgbClr val="404040"/>
                          </a:solidFill>
                          <a:latin typeface="Calibri"/>
                          <a:ea typeface="Calibri"/>
                          <a:cs typeface="Calibri"/>
                          <a:sym typeface="Calibri"/>
                        </a:rPr>
                        <a:t>Douglas Lenat / Cycorp</a:t>
                      </a:r>
                      <a:endParaRPr sz="12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84050">
                <a:tc>
                  <a:txBody>
                    <a:bodyPr/>
                    <a:lstStyle/>
                    <a:p>
                      <a:pPr marL="0" marR="0" lvl="0" indent="0" algn="l" rtl="0">
                        <a:spcBef>
                          <a:spcPts val="0"/>
                        </a:spcBef>
                        <a:spcAft>
                          <a:spcPts val="0"/>
                        </a:spcAft>
                        <a:buClr>
                          <a:srgbClr val="404040"/>
                        </a:buClr>
                        <a:buSzPts val="1200"/>
                        <a:buFont typeface="Calibri"/>
                        <a:buNone/>
                      </a:pPr>
                      <a:r>
                        <a:rPr lang="en-US" sz="1200" u="none" strike="noStrike" cap="none">
                          <a:solidFill>
                            <a:srgbClr val="404040"/>
                          </a:solidFill>
                          <a:latin typeface="Calibri"/>
                          <a:ea typeface="Calibri"/>
                          <a:cs typeface="Calibri"/>
                          <a:sym typeface="Calibri"/>
                        </a:rPr>
                        <a:t>ConceptNet</a:t>
                      </a:r>
                      <a:endParaRPr sz="12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200"/>
                        <a:buFont typeface="Calibri"/>
                        <a:buNone/>
                      </a:pPr>
                      <a:r>
                        <a:rPr lang="en-US" sz="1200" u="none" strike="noStrike" cap="none">
                          <a:solidFill>
                            <a:srgbClr val="404040"/>
                          </a:solidFill>
                          <a:latin typeface="Calibri"/>
                          <a:ea typeface="Calibri"/>
                          <a:cs typeface="Calibri"/>
                          <a:sym typeface="Calibri"/>
                        </a:rPr>
                        <a:t>Everyday concept relationships</a:t>
                      </a:r>
                      <a:endParaRPr sz="12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200"/>
                        <a:buFont typeface="Calibri"/>
                        <a:buNone/>
                      </a:pPr>
                      <a:r>
                        <a:rPr lang="en-US" sz="1200" u="none" strike="noStrike" cap="none">
                          <a:solidFill>
                            <a:srgbClr val="404040"/>
                          </a:solidFill>
                          <a:latin typeface="Calibri"/>
                          <a:ea typeface="Calibri"/>
                          <a:cs typeface="Calibri"/>
                          <a:sym typeface="Calibri"/>
                        </a:rPr>
                        <a:t>MIT Media Lab</a:t>
                      </a:r>
                      <a:endParaRPr sz="12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extLst>
                  <a:ext uri="{0D108BD9-81ED-4DB2-BD59-A6C34878D82A}">
                    <a16:rowId xmlns:a16="http://schemas.microsoft.com/office/drawing/2014/main" val="10002"/>
                  </a:ext>
                </a:extLst>
              </a:tr>
              <a:tr h="384050">
                <a:tc>
                  <a:txBody>
                    <a:bodyPr/>
                    <a:lstStyle/>
                    <a:p>
                      <a:pPr marL="0" marR="0" lvl="0" indent="0" algn="l" rtl="0">
                        <a:spcBef>
                          <a:spcPts val="0"/>
                        </a:spcBef>
                        <a:spcAft>
                          <a:spcPts val="0"/>
                        </a:spcAft>
                        <a:buClr>
                          <a:srgbClr val="404040"/>
                        </a:buClr>
                        <a:buSzPts val="1200"/>
                        <a:buFont typeface="Calibri"/>
                        <a:buNone/>
                      </a:pPr>
                      <a:r>
                        <a:rPr lang="en-US" sz="1200" u="none" strike="noStrike" cap="none">
                          <a:solidFill>
                            <a:srgbClr val="404040"/>
                          </a:solidFill>
                          <a:latin typeface="Calibri"/>
                          <a:ea typeface="Calibri"/>
                          <a:cs typeface="Calibri"/>
                          <a:sym typeface="Calibri"/>
                        </a:rPr>
                        <a:t>ATOMIC</a:t>
                      </a:r>
                      <a:endParaRPr sz="12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200"/>
                        <a:buFont typeface="Calibri"/>
                        <a:buNone/>
                      </a:pPr>
                      <a:r>
                        <a:rPr lang="en-US" sz="1200" u="none" strike="noStrike" cap="none">
                          <a:solidFill>
                            <a:srgbClr val="404040"/>
                          </a:solidFill>
                          <a:latin typeface="Calibri"/>
                          <a:ea typeface="Calibri"/>
                          <a:cs typeface="Calibri"/>
                          <a:sym typeface="Calibri"/>
                        </a:rPr>
                        <a:t>Events, social causes and effects</a:t>
                      </a:r>
                      <a:endParaRPr sz="12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200"/>
                        <a:buFont typeface="Calibri"/>
                        <a:buNone/>
                      </a:pPr>
                      <a:r>
                        <a:rPr lang="en-US" sz="1200" u="none" strike="noStrike" cap="none">
                          <a:solidFill>
                            <a:srgbClr val="404040"/>
                          </a:solidFill>
                          <a:latin typeface="Calibri"/>
                          <a:ea typeface="Calibri"/>
                          <a:cs typeface="Calibri"/>
                          <a:sym typeface="Calibri"/>
                        </a:rPr>
                        <a:t>Allen Institute for AI</a:t>
                      </a:r>
                      <a:endParaRPr sz="12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bl>
          </a:graphicData>
        </a:graphic>
      </p:graphicFrame>
      <p:sp>
        <p:nvSpPr>
          <p:cNvPr id="715" name="Google Shape;715;p41"/>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13 / 40</a:t>
            </a:r>
            <a:endParaRPr sz="950" b="0" i="0" u="none" strike="noStrike" cap="none">
              <a:solidFill>
                <a:schemeClr val="dk1"/>
              </a:solidFill>
              <a:latin typeface="Calibri"/>
              <a:ea typeface="Calibri"/>
              <a:cs typeface="Calibri"/>
              <a:sym typeface="Calibri"/>
            </a:endParaRPr>
          </a:p>
        </p:txBody>
      </p:sp>
      <p:sp>
        <p:nvSpPr>
          <p:cNvPr id="716" name="Google Shape;716;p41"/>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21"/>
        <p:cNvGrpSpPr/>
        <p:nvPr/>
      </p:nvGrpSpPr>
      <p:grpSpPr>
        <a:xfrm>
          <a:off x="0" y="0"/>
          <a:ext cx="0" cy="0"/>
          <a:chOff x="0" y="0"/>
          <a:chExt cx="0" cy="0"/>
        </a:xfrm>
      </p:grpSpPr>
      <p:sp>
        <p:nvSpPr>
          <p:cNvPr id="722" name="Google Shape;722;p42"/>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8B57"/>
              </a:buClr>
              <a:buSzPts val="1100"/>
              <a:buFont typeface="Calibri"/>
              <a:buNone/>
            </a:pPr>
            <a:r>
              <a:rPr lang="en-US" sz="1100" b="1" i="0" u="none" strike="noStrike" cap="none">
                <a:solidFill>
                  <a:srgbClr val="2E8B57"/>
                </a:solidFill>
                <a:latin typeface="Calibri"/>
                <a:ea typeface="Calibri"/>
                <a:cs typeface="Calibri"/>
                <a:sym typeface="Calibri"/>
              </a:rPr>
              <a:t>2.10 MODERN AI</a:t>
            </a:r>
            <a:endParaRPr sz="1100" b="0" i="0" u="none" strike="noStrike" cap="none">
              <a:solidFill>
                <a:schemeClr val="dk1"/>
              </a:solidFill>
              <a:latin typeface="Calibri"/>
              <a:ea typeface="Calibri"/>
              <a:cs typeface="Calibri"/>
              <a:sym typeface="Calibri"/>
            </a:endParaRPr>
          </a:p>
        </p:txBody>
      </p:sp>
      <p:sp>
        <p:nvSpPr>
          <p:cNvPr id="723" name="Google Shape;723;p42"/>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Commonsense Reasoning in Large Language Models</a:t>
            </a:r>
            <a:endParaRPr sz="2300" b="0" i="0" u="none" strike="noStrike" cap="none">
              <a:solidFill>
                <a:schemeClr val="dk1"/>
              </a:solidFill>
              <a:latin typeface="Calibri"/>
              <a:ea typeface="Calibri"/>
              <a:cs typeface="Calibri"/>
              <a:sym typeface="Calibri"/>
            </a:endParaRPr>
          </a:p>
        </p:txBody>
      </p:sp>
      <p:cxnSp>
        <p:nvCxnSpPr>
          <p:cNvPr id="724" name="Google Shape;724;p42"/>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725" name="Google Shape;725;p42"/>
          <p:cNvSpPr/>
          <p:nvPr/>
        </p:nvSpPr>
        <p:spPr>
          <a:xfrm>
            <a:off x="457200" y="1600200"/>
            <a:ext cx="10607040" cy="91440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404040"/>
              </a:buClr>
              <a:buSzPts val="1450"/>
              <a:buFont typeface="Calibri"/>
              <a:buNone/>
            </a:pPr>
            <a:r>
              <a:rPr lang="en-US" sz="1450" b="0" i="0" u="none" strike="noStrike" cap="none">
                <a:solidFill>
                  <a:srgbClr val="404040"/>
                </a:solidFill>
                <a:latin typeface="Calibri"/>
                <a:ea typeface="Calibri"/>
                <a:cs typeface="Calibri"/>
                <a:sym typeface="Calibri"/>
              </a:rPr>
              <a:t>Modern systems like GPT appear to possess commonsense — not because anyone hand-coded rules, but because they learned from billions of examples in books, articles, and websites during training. Patterns become embedded directly in the network's weights.</a:t>
            </a:r>
            <a:endParaRPr sz="1450" b="0" i="0" u="none" strike="noStrike" cap="none">
              <a:solidFill>
                <a:schemeClr val="dk1"/>
              </a:solidFill>
              <a:latin typeface="Calibri"/>
              <a:ea typeface="Calibri"/>
              <a:cs typeface="Calibri"/>
              <a:sym typeface="Calibri"/>
            </a:endParaRPr>
          </a:p>
        </p:txBody>
      </p:sp>
      <p:sp>
        <p:nvSpPr>
          <p:cNvPr id="726" name="Google Shape;726;p42"/>
          <p:cNvSpPr/>
          <p:nvPr/>
        </p:nvSpPr>
        <p:spPr>
          <a:xfrm>
            <a:off x="640080" y="2651760"/>
            <a:ext cx="10241280" cy="1828800"/>
          </a:xfrm>
          <a:prstGeom prst="rect">
            <a:avLst/>
          </a:prstGeom>
          <a:solidFill>
            <a:srgbClr val="FFF8F0"/>
          </a:solidFill>
          <a:ln w="15875" cap="flat" cmpd="sng">
            <a:solidFill>
              <a:srgbClr val="2E8B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42"/>
          <p:cNvSpPr/>
          <p:nvPr/>
        </p:nvSpPr>
        <p:spPr>
          <a:xfrm>
            <a:off x="868680" y="2788920"/>
            <a:ext cx="97840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8B57"/>
              </a:buClr>
              <a:buSzPts val="1200"/>
              <a:buFont typeface="Calibri"/>
              <a:buNone/>
            </a:pPr>
            <a:r>
              <a:rPr lang="en-US" sz="1200" b="1" i="0" u="none" strike="noStrike" cap="none">
                <a:solidFill>
                  <a:srgbClr val="2E8B57"/>
                </a:solidFill>
                <a:latin typeface="Calibri"/>
                <a:ea typeface="Calibri"/>
                <a:cs typeface="Calibri"/>
                <a:sym typeface="Calibri"/>
              </a:rPr>
              <a:t>ILLUSTRATION — Does an LLM "Know" Ice Cream Melts?</a:t>
            </a:r>
            <a:endParaRPr sz="1200" b="0" i="0" u="none" strike="noStrike" cap="none">
              <a:solidFill>
                <a:schemeClr val="dk1"/>
              </a:solidFill>
              <a:latin typeface="Calibri"/>
              <a:ea typeface="Calibri"/>
              <a:cs typeface="Calibri"/>
              <a:sym typeface="Calibri"/>
            </a:endParaRPr>
          </a:p>
        </p:txBody>
      </p:sp>
      <p:sp>
        <p:nvSpPr>
          <p:cNvPr id="728" name="Google Shape;728;p42"/>
          <p:cNvSpPr/>
          <p:nvPr/>
        </p:nvSpPr>
        <p:spPr>
          <a:xfrm>
            <a:off x="868680" y="3108960"/>
            <a:ext cx="978408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1300"/>
              <a:buFont typeface="Calibri"/>
              <a:buNone/>
            </a:pPr>
            <a:r>
              <a:rPr lang="en-US" sz="1300" b="0" i="1" u="none" strike="noStrike" cap="none">
                <a:solidFill>
                  <a:srgbClr val="404040"/>
                </a:solidFill>
                <a:latin typeface="Calibri"/>
                <a:ea typeface="Calibri"/>
                <a:cs typeface="Calibri"/>
                <a:sym typeface="Calibri"/>
              </a:rPr>
              <a:t>Prompt: "John put ice cream on the dashboard of his car on a hot day. What happened later?"</a:t>
            </a:r>
            <a:endParaRPr sz="1300" b="0" i="0" u="none" strike="noStrike" cap="none">
              <a:solidFill>
                <a:schemeClr val="dk1"/>
              </a:solidFill>
              <a:latin typeface="Calibri"/>
              <a:ea typeface="Calibri"/>
              <a:cs typeface="Calibri"/>
              <a:sym typeface="Calibri"/>
            </a:endParaRPr>
          </a:p>
        </p:txBody>
      </p:sp>
      <p:sp>
        <p:nvSpPr>
          <p:cNvPr id="729" name="Google Shape;729;p42"/>
          <p:cNvSpPr/>
          <p:nvPr/>
        </p:nvSpPr>
        <p:spPr>
          <a:xfrm>
            <a:off x="868680" y="3520440"/>
            <a:ext cx="9784080" cy="86868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404040"/>
              </a:buClr>
              <a:buSzPts val="1250"/>
              <a:buFont typeface="Calibri"/>
              <a:buNone/>
            </a:pPr>
            <a:r>
              <a:rPr lang="en-US" sz="1250" b="1" i="0" u="none" strike="noStrike" cap="none">
                <a:solidFill>
                  <a:srgbClr val="404040"/>
                </a:solidFill>
                <a:latin typeface="Calibri"/>
                <a:ea typeface="Calibri"/>
                <a:cs typeface="Calibri"/>
                <a:sym typeface="Calibri"/>
              </a:rPr>
              <a:t>1.  </a:t>
            </a:r>
            <a:r>
              <a:rPr lang="en-US" sz="1250" b="0" i="0" u="none" strike="noStrike" cap="none">
                <a:solidFill>
                  <a:srgbClr val="404040"/>
                </a:solidFill>
                <a:latin typeface="Calibri"/>
                <a:ea typeface="Calibri"/>
                <a:cs typeface="Calibri"/>
                <a:sym typeface="Calibri"/>
              </a:rPr>
              <a:t>A modern LLM will typically answer "the ice cream melted," because it has learned strong statistical associations between heat and melting from its training data.</a:t>
            </a:r>
            <a:endParaRPr sz="125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404040"/>
              </a:buClr>
              <a:buSzPts val="1250"/>
              <a:buFont typeface="Calibri"/>
              <a:buNone/>
            </a:pPr>
            <a:r>
              <a:rPr lang="en-US" sz="1250" b="1" i="0" u="none" strike="noStrike" cap="none">
                <a:solidFill>
                  <a:srgbClr val="404040"/>
                </a:solidFill>
                <a:latin typeface="Calibri"/>
                <a:ea typeface="Calibri"/>
                <a:cs typeface="Calibri"/>
                <a:sym typeface="Calibri"/>
              </a:rPr>
              <a:t>2.  </a:t>
            </a:r>
            <a:r>
              <a:rPr lang="en-US" sz="1250" b="0" i="0" u="none" strike="noStrike" cap="none">
                <a:solidFill>
                  <a:srgbClr val="404040"/>
                </a:solidFill>
                <a:latin typeface="Calibri"/>
                <a:ea typeface="Calibri"/>
                <a:cs typeface="Calibri"/>
                <a:sym typeface="Calibri"/>
              </a:rPr>
              <a:t>This raises an open research question: does the model truly understand causation, or has it only learned a powerful statistical shortcut?</a:t>
            </a:r>
            <a:endParaRPr sz="1250" b="0" i="0" u="none" strike="noStrike" cap="none">
              <a:solidFill>
                <a:schemeClr val="dk1"/>
              </a:solidFill>
              <a:latin typeface="Calibri"/>
              <a:ea typeface="Calibri"/>
              <a:cs typeface="Calibri"/>
              <a:sym typeface="Calibri"/>
            </a:endParaRPr>
          </a:p>
        </p:txBody>
      </p:sp>
      <p:sp>
        <p:nvSpPr>
          <p:cNvPr id="730" name="Google Shape;730;p42"/>
          <p:cNvSpPr/>
          <p:nvPr/>
        </p:nvSpPr>
        <p:spPr>
          <a:xfrm>
            <a:off x="457200" y="4709160"/>
            <a:ext cx="10607040" cy="1234440"/>
          </a:xfrm>
          <a:prstGeom prst="rect">
            <a:avLst/>
          </a:prstGeom>
          <a:solidFill>
            <a:srgbClr val="FFF6EC"/>
          </a:solidFill>
          <a:ln w="9525" cap="flat" cmpd="sng">
            <a:solidFill>
              <a:srgbClr val="2E8B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42"/>
          <p:cNvSpPr/>
          <p:nvPr/>
        </p:nvSpPr>
        <p:spPr>
          <a:xfrm>
            <a:off x="457200" y="4709160"/>
            <a:ext cx="64008" cy="1234440"/>
          </a:xfrm>
          <a:prstGeom prst="rect">
            <a:avLst/>
          </a:prstGeom>
          <a:solidFill>
            <a:srgbClr val="2E8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42"/>
          <p:cNvSpPr/>
          <p:nvPr/>
        </p:nvSpPr>
        <p:spPr>
          <a:xfrm>
            <a:off x="685800" y="4818888"/>
            <a:ext cx="102412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8B57"/>
              </a:buClr>
              <a:buSzPts val="1050"/>
              <a:buFont typeface="Calibri"/>
              <a:buNone/>
            </a:pPr>
            <a:r>
              <a:rPr lang="en-US" sz="1050" b="1" i="0" u="none" strike="noStrike" cap="none">
                <a:solidFill>
                  <a:srgbClr val="2E8B57"/>
                </a:solidFill>
                <a:latin typeface="Calibri"/>
                <a:ea typeface="Calibri"/>
                <a:cs typeface="Calibri"/>
                <a:sym typeface="Calibri"/>
              </a:rPr>
              <a:t>OPEN RESEARCH DEBATE</a:t>
            </a:r>
            <a:endParaRPr sz="1050" b="0" i="0" u="none" strike="noStrike" cap="none">
              <a:solidFill>
                <a:schemeClr val="dk1"/>
              </a:solidFill>
              <a:latin typeface="Calibri"/>
              <a:ea typeface="Calibri"/>
              <a:cs typeface="Calibri"/>
              <a:sym typeface="Calibri"/>
            </a:endParaRPr>
          </a:p>
        </p:txBody>
      </p:sp>
      <p:sp>
        <p:nvSpPr>
          <p:cNvPr id="733" name="Google Shape;733;p42"/>
          <p:cNvSpPr/>
          <p:nvPr/>
        </p:nvSpPr>
        <p:spPr>
          <a:xfrm>
            <a:off x="685800" y="5111496"/>
            <a:ext cx="10195560" cy="74066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300"/>
              <a:buFont typeface="Calibri"/>
              <a:buNone/>
            </a:pPr>
            <a:r>
              <a:rPr lang="en-US" sz="1300" b="0" i="0" u="none" strike="noStrike" cap="none">
                <a:solidFill>
                  <a:srgbClr val="404040"/>
                </a:solidFill>
                <a:latin typeface="Calibri"/>
                <a:ea typeface="Calibri"/>
                <a:cs typeface="Calibri"/>
                <a:sym typeface="Calibri"/>
              </a:rPr>
              <a:t>Some researchers argue LLMs possess genuine statistical commonsense — broad, useful, but occasionally brittle. Others argue true understanding requires explicit symbolic reasoning layered on top. This exact debate motivates Topic 5: Neuro-Symbolic AI, which tries to combine both.</a:t>
            </a:r>
            <a:endParaRPr sz="1300" b="0" i="0" u="none" strike="noStrike" cap="none">
              <a:solidFill>
                <a:schemeClr val="dk1"/>
              </a:solidFill>
              <a:latin typeface="Calibri"/>
              <a:ea typeface="Calibri"/>
              <a:cs typeface="Calibri"/>
              <a:sym typeface="Calibri"/>
            </a:endParaRPr>
          </a:p>
        </p:txBody>
      </p:sp>
      <p:sp>
        <p:nvSpPr>
          <p:cNvPr id="734" name="Google Shape;734;p42"/>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13 / 40</a:t>
            </a:r>
            <a:endParaRPr sz="950" b="0" i="0" u="none" strike="noStrike" cap="none">
              <a:solidFill>
                <a:schemeClr val="dk1"/>
              </a:solidFill>
              <a:latin typeface="Calibri"/>
              <a:ea typeface="Calibri"/>
              <a:cs typeface="Calibri"/>
              <a:sym typeface="Calibri"/>
            </a:endParaRPr>
          </a:p>
        </p:txBody>
      </p:sp>
      <p:sp>
        <p:nvSpPr>
          <p:cNvPr id="735" name="Google Shape;735;p42"/>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40"/>
        <p:cNvGrpSpPr/>
        <p:nvPr/>
      </p:nvGrpSpPr>
      <p:grpSpPr>
        <a:xfrm>
          <a:off x="0" y="0"/>
          <a:ext cx="0" cy="0"/>
          <a:chOff x="0" y="0"/>
          <a:chExt cx="0" cy="0"/>
        </a:xfrm>
      </p:grpSpPr>
      <p:sp>
        <p:nvSpPr>
          <p:cNvPr id="741" name="Google Shape;741;p43"/>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8B57"/>
              </a:buClr>
              <a:buSzPts val="1100"/>
              <a:buFont typeface="Calibri"/>
              <a:buNone/>
            </a:pPr>
            <a:r>
              <a:rPr lang="en-US" sz="1100" b="1" i="0" u="none" strike="noStrike" cap="none">
                <a:solidFill>
                  <a:srgbClr val="2E8B57"/>
                </a:solidFill>
                <a:latin typeface="Calibri"/>
                <a:ea typeface="Calibri"/>
                <a:cs typeface="Calibri"/>
                <a:sym typeface="Calibri"/>
              </a:rPr>
              <a:t>WORKED EXAMPLE 1 — TRY IT YOURSELF</a:t>
            </a:r>
            <a:endParaRPr sz="1100" b="0" i="0" u="none" strike="noStrike" cap="none">
              <a:solidFill>
                <a:schemeClr val="dk1"/>
              </a:solidFill>
              <a:latin typeface="Calibri"/>
              <a:ea typeface="Calibri"/>
              <a:cs typeface="Calibri"/>
              <a:sym typeface="Calibri"/>
            </a:endParaRPr>
          </a:p>
        </p:txBody>
      </p:sp>
      <p:sp>
        <p:nvSpPr>
          <p:cNvPr id="742" name="Google Shape;742;p43"/>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The Winograd Schema Challenge</a:t>
            </a:r>
            <a:endParaRPr sz="2300" b="0" i="0" u="none" strike="noStrike" cap="none">
              <a:solidFill>
                <a:schemeClr val="dk1"/>
              </a:solidFill>
              <a:latin typeface="Calibri"/>
              <a:ea typeface="Calibri"/>
              <a:cs typeface="Calibri"/>
              <a:sym typeface="Calibri"/>
            </a:endParaRPr>
          </a:p>
        </p:txBody>
      </p:sp>
      <p:cxnSp>
        <p:nvCxnSpPr>
          <p:cNvPr id="743" name="Google Shape;743;p43"/>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744" name="Google Shape;744;p43"/>
          <p:cNvSpPr/>
          <p:nvPr/>
        </p:nvSpPr>
        <p:spPr>
          <a:xfrm>
            <a:off x="640080" y="1691640"/>
            <a:ext cx="10241280" cy="2743200"/>
          </a:xfrm>
          <a:prstGeom prst="rect">
            <a:avLst/>
          </a:prstGeom>
          <a:solidFill>
            <a:srgbClr val="FFF8F0"/>
          </a:solidFill>
          <a:ln w="15875" cap="flat" cmpd="sng">
            <a:solidFill>
              <a:srgbClr val="2E8B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43"/>
          <p:cNvSpPr/>
          <p:nvPr/>
        </p:nvSpPr>
        <p:spPr>
          <a:xfrm>
            <a:off x="868680" y="1874520"/>
            <a:ext cx="3657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8B57"/>
              </a:buClr>
              <a:buSzPts val="1200"/>
              <a:buFont typeface="Calibri"/>
              <a:buNone/>
            </a:pPr>
            <a:r>
              <a:rPr lang="en-US" sz="1200" b="1" i="0" u="none" strike="noStrike" cap="none">
                <a:solidFill>
                  <a:srgbClr val="2E8B57"/>
                </a:solidFill>
                <a:latin typeface="Calibri"/>
                <a:ea typeface="Calibri"/>
                <a:cs typeface="Calibri"/>
                <a:sym typeface="Calibri"/>
              </a:rPr>
              <a:t>PROBLEM</a:t>
            </a:r>
            <a:endParaRPr sz="1200" b="0" i="0" u="none" strike="noStrike" cap="none">
              <a:solidFill>
                <a:schemeClr val="dk1"/>
              </a:solidFill>
              <a:latin typeface="Calibri"/>
              <a:ea typeface="Calibri"/>
              <a:cs typeface="Calibri"/>
              <a:sym typeface="Calibri"/>
            </a:endParaRPr>
          </a:p>
        </p:txBody>
      </p:sp>
      <p:sp>
        <p:nvSpPr>
          <p:cNvPr id="746" name="Google Shape;746;p43"/>
          <p:cNvSpPr/>
          <p:nvPr/>
        </p:nvSpPr>
        <p:spPr>
          <a:xfrm>
            <a:off x="868680" y="2240280"/>
            <a:ext cx="9784080" cy="77724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404040"/>
              </a:buClr>
              <a:buSzPts val="1550"/>
              <a:buFont typeface="Calibri"/>
              <a:buNone/>
            </a:pPr>
            <a:r>
              <a:rPr lang="en-US" sz="1550" b="0" i="0" u="none" strike="noStrike" cap="none">
                <a:solidFill>
                  <a:srgbClr val="404040"/>
                </a:solidFill>
                <a:latin typeface="Calibri"/>
                <a:ea typeface="Calibri"/>
                <a:cs typeface="Calibri"/>
                <a:sym typeface="Calibri"/>
              </a:rPr>
              <a:t>Consider this sentence: "The city councilmen refused the demonstrators a permit because they feared violence."</a:t>
            </a:r>
            <a:endParaRPr sz="1550" b="0" i="0" u="none" strike="noStrike" cap="none">
              <a:solidFill>
                <a:schemeClr val="dk1"/>
              </a:solidFill>
              <a:latin typeface="Calibri"/>
              <a:ea typeface="Calibri"/>
              <a:cs typeface="Calibri"/>
              <a:sym typeface="Calibri"/>
            </a:endParaRPr>
          </a:p>
        </p:txBody>
      </p:sp>
      <p:sp>
        <p:nvSpPr>
          <p:cNvPr id="747" name="Google Shape;747;p43"/>
          <p:cNvSpPr/>
          <p:nvPr/>
        </p:nvSpPr>
        <p:spPr>
          <a:xfrm>
            <a:off x="868680" y="3154680"/>
            <a:ext cx="9784080" cy="91440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404040"/>
              </a:buClr>
              <a:buSzPts val="1500"/>
              <a:buFont typeface="Calibri"/>
              <a:buNone/>
            </a:pPr>
            <a:r>
              <a:rPr lang="en-US" sz="1500" b="1" i="1" u="none" strike="noStrike" cap="none">
                <a:solidFill>
                  <a:srgbClr val="404040"/>
                </a:solidFill>
                <a:latin typeface="Calibri"/>
                <a:ea typeface="Calibri"/>
                <a:cs typeface="Calibri"/>
                <a:sym typeface="Calibri"/>
              </a:rPr>
              <a:t>Question:  </a:t>
            </a:r>
            <a:r>
              <a:rPr lang="en-US" sz="1500" b="0" i="1" u="none" strike="noStrike" cap="none">
                <a:solidFill>
                  <a:srgbClr val="404040"/>
                </a:solidFill>
                <a:latin typeface="Calibri"/>
                <a:ea typeface="Calibri"/>
                <a:cs typeface="Calibri"/>
                <a:sym typeface="Calibri"/>
              </a:rPr>
              <a:t>Who does "they" refer to — the councilmen or the demonstrators? Explain how commonsense reasoning answers this, since grammar alone cannot.</a:t>
            </a:r>
            <a:endParaRPr sz="1500" b="0" i="0" u="none" strike="noStrike" cap="none">
              <a:solidFill>
                <a:schemeClr val="dk1"/>
              </a:solidFill>
              <a:latin typeface="Calibri"/>
              <a:ea typeface="Calibri"/>
              <a:cs typeface="Calibri"/>
              <a:sym typeface="Calibri"/>
            </a:endParaRPr>
          </a:p>
        </p:txBody>
      </p:sp>
      <p:sp>
        <p:nvSpPr>
          <p:cNvPr id="748" name="Google Shape;748;p43"/>
          <p:cNvSpPr/>
          <p:nvPr/>
        </p:nvSpPr>
        <p:spPr>
          <a:xfrm>
            <a:off x="640080" y="4709160"/>
            <a:ext cx="1024128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E8B57"/>
              </a:buClr>
              <a:buSzPts val="1250"/>
              <a:buFont typeface="Calibri"/>
              <a:buNone/>
            </a:pPr>
            <a:r>
              <a:rPr lang="en-US" sz="1250" b="1" i="1" u="none" strike="noStrike" cap="none">
                <a:solidFill>
                  <a:srgbClr val="2E8B57"/>
                </a:solidFill>
                <a:latin typeface="Calibri"/>
                <a:ea typeface="Calibri"/>
                <a:cs typeface="Calibri"/>
                <a:sym typeface="Calibri"/>
              </a:rPr>
              <a:t>PAUSE HERE — work out your answer before the next slide</a:t>
            </a:r>
            <a:endParaRPr sz="1250" b="0" i="0" u="none" strike="noStrike" cap="none">
              <a:solidFill>
                <a:schemeClr val="dk1"/>
              </a:solidFill>
              <a:latin typeface="Calibri"/>
              <a:ea typeface="Calibri"/>
              <a:cs typeface="Calibri"/>
              <a:sym typeface="Calibri"/>
            </a:endParaRPr>
          </a:p>
        </p:txBody>
      </p:sp>
      <p:sp>
        <p:nvSpPr>
          <p:cNvPr id="749" name="Google Shape;749;p43"/>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14 / 40</a:t>
            </a:r>
            <a:endParaRPr sz="950" b="0" i="0" u="none" strike="noStrike" cap="none">
              <a:solidFill>
                <a:schemeClr val="dk1"/>
              </a:solidFill>
              <a:latin typeface="Calibri"/>
              <a:ea typeface="Calibri"/>
              <a:cs typeface="Calibri"/>
              <a:sym typeface="Calibri"/>
            </a:endParaRPr>
          </a:p>
        </p:txBody>
      </p:sp>
      <p:sp>
        <p:nvSpPr>
          <p:cNvPr id="750" name="Google Shape;750;p43"/>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55"/>
        <p:cNvGrpSpPr/>
        <p:nvPr/>
      </p:nvGrpSpPr>
      <p:grpSpPr>
        <a:xfrm>
          <a:off x="0" y="0"/>
          <a:ext cx="0" cy="0"/>
          <a:chOff x="0" y="0"/>
          <a:chExt cx="0" cy="0"/>
        </a:xfrm>
      </p:grpSpPr>
      <p:sp>
        <p:nvSpPr>
          <p:cNvPr id="756" name="Google Shape;756;p44"/>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8B57"/>
              </a:buClr>
              <a:buSzPts val="1100"/>
              <a:buFont typeface="Calibri"/>
              <a:buNone/>
            </a:pPr>
            <a:r>
              <a:rPr lang="en-US" sz="1100" b="1" i="0" u="none" strike="noStrike" cap="none">
                <a:solidFill>
                  <a:srgbClr val="2E8B57"/>
                </a:solidFill>
                <a:latin typeface="Calibri"/>
                <a:ea typeface="Calibri"/>
                <a:cs typeface="Calibri"/>
                <a:sym typeface="Calibri"/>
              </a:rPr>
              <a:t>WORKED EXAMPLE 1 — SOLUTION</a:t>
            </a:r>
            <a:endParaRPr sz="1100" b="0" i="0" u="none" strike="noStrike" cap="none">
              <a:solidFill>
                <a:schemeClr val="dk1"/>
              </a:solidFill>
              <a:latin typeface="Calibri"/>
              <a:ea typeface="Calibri"/>
              <a:cs typeface="Calibri"/>
              <a:sym typeface="Calibri"/>
            </a:endParaRPr>
          </a:p>
        </p:txBody>
      </p:sp>
      <p:sp>
        <p:nvSpPr>
          <p:cNvPr id="757" name="Google Shape;757;p44"/>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The Winograd Schema Challenge — Step-by-Step</a:t>
            </a:r>
            <a:endParaRPr sz="2300" b="0" i="0" u="none" strike="noStrike" cap="none">
              <a:solidFill>
                <a:schemeClr val="dk1"/>
              </a:solidFill>
              <a:latin typeface="Calibri"/>
              <a:ea typeface="Calibri"/>
              <a:cs typeface="Calibri"/>
              <a:sym typeface="Calibri"/>
            </a:endParaRPr>
          </a:p>
        </p:txBody>
      </p:sp>
      <p:cxnSp>
        <p:nvCxnSpPr>
          <p:cNvPr id="758" name="Google Shape;758;p44"/>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759" name="Google Shape;759;p44"/>
          <p:cNvSpPr/>
          <p:nvPr/>
        </p:nvSpPr>
        <p:spPr>
          <a:xfrm>
            <a:off x="457200" y="1627632"/>
            <a:ext cx="365760" cy="365760"/>
          </a:xfrm>
          <a:prstGeom prst="ellipse">
            <a:avLst/>
          </a:prstGeom>
          <a:solidFill>
            <a:srgbClr val="2E8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44"/>
          <p:cNvSpPr/>
          <p:nvPr/>
        </p:nvSpPr>
        <p:spPr>
          <a:xfrm>
            <a:off x="457200" y="1627632"/>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761" name="Google Shape;761;p44"/>
          <p:cNvSpPr/>
          <p:nvPr/>
        </p:nvSpPr>
        <p:spPr>
          <a:xfrm>
            <a:off x="960120" y="1554480"/>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404040"/>
              </a:buClr>
              <a:buSzPts val="1260"/>
              <a:buFont typeface="Calibri"/>
              <a:buNone/>
            </a:pPr>
            <a:r>
              <a:rPr lang="en-US" sz="1260" b="0" i="0" u="none" strike="noStrike" cap="none">
                <a:solidFill>
                  <a:srgbClr val="404040"/>
                </a:solidFill>
                <a:latin typeface="Calibri"/>
                <a:ea typeface="Calibri"/>
                <a:cs typeface="Calibri"/>
                <a:sym typeface="Calibri"/>
              </a:rPr>
              <a:t>Check what grammar alone can tell us: "they" could grammatically refer to either group — both are plural nouns earlier in the sentence. Grammar is insufficient to resolve this on its own.</a:t>
            </a:r>
            <a:endParaRPr sz="1260" b="0" i="0" u="none" strike="noStrike" cap="none">
              <a:solidFill>
                <a:schemeClr val="dk1"/>
              </a:solidFill>
              <a:latin typeface="Calibri"/>
              <a:ea typeface="Calibri"/>
              <a:cs typeface="Calibri"/>
              <a:sym typeface="Calibri"/>
            </a:endParaRPr>
          </a:p>
        </p:txBody>
      </p:sp>
      <p:sp>
        <p:nvSpPr>
          <p:cNvPr id="762" name="Google Shape;762;p44"/>
          <p:cNvSpPr/>
          <p:nvPr/>
        </p:nvSpPr>
        <p:spPr>
          <a:xfrm>
            <a:off x="457200" y="2295144"/>
            <a:ext cx="365760" cy="365760"/>
          </a:xfrm>
          <a:prstGeom prst="ellipse">
            <a:avLst/>
          </a:prstGeom>
          <a:solidFill>
            <a:srgbClr val="2E8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44"/>
          <p:cNvSpPr/>
          <p:nvPr/>
        </p:nvSpPr>
        <p:spPr>
          <a:xfrm>
            <a:off x="457200" y="2295144"/>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764" name="Google Shape;764;p44"/>
          <p:cNvSpPr/>
          <p:nvPr/>
        </p:nvSpPr>
        <p:spPr>
          <a:xfrm>
            <a:off x="960120" y="2221992"/>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404040"/>
              </a:buClr>
              <a:buSzPts val="1260"/>
              <a:buFont typeface="Calibri"/>
              <a:buNone/>
            </a:pPr>
            <a:r>
              <a:rPr lang="en-US" sz="1260" b="0" i="0" u="none" strike="noStrike" cap="none">
                <a:solidFill>
                  <a:srgbClr val="404040"/>
                </a:solidFill>
                <a:latin typeface="Calibri"/>
                <a:ea typeface="Calibri"/>
                <a:cs typeface="Calibri"/>
                <a:sym typeface="Calibri"/>
              </a:rPr>
              <a:t>Bring in commonsense fact: people in positions of authority (councilmen) who deny a permit typically do so out of caution about safety risks they perceive.</a:t>
            </a:r>
            <a:endParaRPr sz="1260" b="0" i="0" u="none" strike="noStrike" cap="none">
              <a:solidFill>
                <a:schemeClr val="dk1"/>
              </a:solidFill>
              <a:latin typeface="Calibri"/>
              <a:ea typeface="Calibri"/>
              <a:cs typeface="Calibri"/>
              <a:sym typeface="Calibri"/>
            </a:endParaRPr>
          </a:p>
        </p:txBody>
      </p:sp>
      <p:sp>
        <p:nvSpPr>
          <p:cNvPr id="765" name="Google Shape;765;p44"/>
          <p:cNvSpPr/>
          <p:nvPr/>
        </p:nvSpPr>
        <p:spPr>
          <a:xfrm>
            <a:off x="457200" y="2962656"/>
            <a:ext cx="365760" cy="365760"/>
          </a:xfrm>
          <a:prstGeom prst="ellipse">
            <a:avLst/>
          </a:prstGeom>
          <a:solidFill>
            <a:srgbClr val="2E8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44"/>
          <p:cNvSpPr/>
          <p:nvPr/>
        </p:nvSpPr>
        <p:spPr>
          <a:xfrm>
            <a:off x="457200" y="2962656"/>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767" name="Google Shape;767;p44"/>
          <p:cNvSpPr/>
          <p:nvPr/>
        </p:nvSpPr>
        <p:spPr>
          <a:xfrm>
            <a:off x="960120" y="2889504"/>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404040"/>
              </a:buClr>
              <a:buSzPts val="1260"/>
              <a:buFont typeface="Calibri"/>
              <a:buNone/>
            </a:pPr>
            <a:r>
              <a:rPr lang="en-US" sz="1260" b="0" i="0" u="none" strike="noStrike" cap="none">
                <a:solidFill>
                  <a:srgbClr val="404040"/>
                </a:solidFill>
                <a:latin typeface="Calibri"/>
                <a:ea typeface="Calibri"/>
                <a:cs typeface="Calibri"/>
                <a:sym typeface="Calibri"/>
              </a:rPr>
              <a:t>Bring in a second commonsense fact: it would be unusual for demonstrators to fear violence from themselves — fearing your own actions doesn't match how intentions normally work.</a:t>
            </a:r>
            <a:endParaRPr sz="1260" b="0" i="0" u="none" strike="noStrike" cap="none">
              <a:solidFill>
                <a:schemeClr val="dk1"/>
              </a:solidFill>
              <a:latin typeface="Calibri"/>
              <a:ea typeface="Calibri"/>
              <a:cs typeface="Calibri"/>
              <a:sym typeface="Calibri"/>
            </a:endParaRPr>
          </a:p>
        </p:txBody>
      </p:sp>
      <p:sp>
        <p:nvSpPr>
          <p:cNvPr id="768" name="Google Shape;768;p44"/>
          <p:cNvSpPr/>
          <p:nvPr/>
        </p:nvSpPr>
        <p:spPr>
          <a:xfrm>
            <a:off x="457200" y="3630168"/>
            <a:ext cx="365760" cy="365760"/>
          </a:xfrm>
          <a:prstGeom prst="ellipse">
            <a:avLst/>
          </a:prstGeom>
          <a:solidFill>
            <a:srgbClr val="2E8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44"/>
          <p:cNvSpPr/>
          <p:nvPr/>
        </p:nvSpPr>
        <p:spPr>
          <a:xfrm>
            <a:off x="457200" y="3630168"/>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4</a:t>
            </a:r>
            <a:endParaRPr sz="1400" b="0" i="0" u="none" strike="noStrike" cap="none">
              <a:solidFill>
                <a:schemeClr val="dk1"/>
              </a:solidFill>
              <a:latin typeface="Calibri"/>
              <a:ea typeface="Calibri"/>
              <a:cs typeface="Calibri"/>
              <a:sym typeface="Calibri"/>
            </a:endParaRPr>
          </a:p>
        </p:txBody>
      </p:sp>
      <p:sp>
        <p:nvSpPr>
          <p:cNvPr id="770" name="Google Shape;770;p44"/>
          <p:cNvSpPr/>
          <p:nvPr/>
        </p:nvSpPr>
        <p:spPr>
          <a:xfrm>
            <a:off x="960120" y="3557016"/>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404040"/>
              </a:buClr>
              <a:buSzPts val="1260"/>
              <a:buFont typeface="Calibri"/>
              <a:buNone/>
            </a:pPr>
            <a:r>
              <a:rPr lang="en-US" sz="1260" b="0" i="0" u="none" strike="noStrike" cap="none">
                <a:solidFill>
                  <a:srgbClr val="404040"/>
                </a:solidFill>
                <a:latin typeface="Calibri"/>
                <a:ea typeface="Calibri"/>
                <a:cs typeface="Calibri"/>
                <a:sym typeface="Calibri"/>
              </a:rPr>
              <a:t>Combine both facts: the more sensible interpretation is that "they" = the councilmen, since it is their fear of potential violence that explains why they refused the permit.</a:t>
            </a:r>
            <a:endParaRPr sz="1260" b="0" i="0" u="none" strike="noStrike" cap="none">
              <a:solidFill>
                <a:schemeClr val="dk1"/>
              </a:solidFill>
              <a:latin typeface="Calibri"/>
              <a:ea typeface="Calibri"/>
              <a:cs typeface="Calibri"/>
              <a:sym typeface="Calibri"/>
            </a:endParaRPr>
          </a:p>
        </p:txBody>
      </p:sp>
      <p:sp>
        <p:nvSpPr>
          <p:cNvPr id="771" name="Google Shape;771;p44"/>
          <p:cNvSpPr/>
          <p:nvPr/>
        </p:nvSpPr>
        <p:spPr>
          <a:xfrm>
            <a:off x="457200" y="4480560"/>
            <a:ext cx="10607040" cy="1691640"/>
          </a:xfrm>
          <a:prstGeom prst="rect">
            <a:avLst/>
          </a:prstGeom>
          <a:solidFill>
            <a:srgbClr val="FFF6EC"/>
          </a:solidFill>
          <a:ln w="9525" cap="flat" cmpd="sng">
            <a:solidFill>
              <a:srgbClr val="2E8B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44"/>
          <p:cNvSpPr/>
          <p:nvPr/>
        </p:nvSpPr>
        <p:spPr>
          <a:xfrm>
            <a:off x="457200" y="4480560"/>
            <a:ext cx="64008" cy="1691640"/>
          </a:xfrm>
          <a:prstGeom prst="rect">
            <a:avLst/>
          </a:prstGeom>
          <a:solidFill>
            <a:srgbClr val="2E8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44"/>
          <p:cNvSpPr/>
          <p:nvPr/>
        </p:nvSpPr>
        <p:spPr>
          <a:xfrm>
            <a:off x="685800" y="4590288"/>
            <a:ext cx="102412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8B57"/>
              </a:buClr>
              <a:buSzPts val="1050"/>
              <a:buFont typeface="Calibri"/>
              <a:buNone/>
            </a:pPr>
            <a:r>
              <a:rPr lang="en-US" sz="1050" b="1" i="0" u="none" strike="noStrike" cap="none">
                <a:solidFill>
                  <a:srgbClr val="2E8B57"/>
                </a:solidFill>
                <a:latin typeface="Calibri"/>
                <a:ea typeface="Calibri"/>
                <a:cs typeface="Calibri"/>
                <a:sym typeface="Calibri"/>
              </a:rPr>
              <a:t>WHY THIS SOLUTION WORKS</a:t>
            </a:r>
            <a:endParaRPr sz="1050" b="0" i="0" u="none" strike="noStrike" cap="none">
              <a:solidFill>
                <a:schemeClr val="dk1"/>
              </a:solidFill>
              <a:latin typeface="Calibri"/>
              <a:ea typeface="Calibri"/>
              <a:cs typeface="Calibri"/>
              <a:sym typeface="Calibri"/>
            </a:endParaRPr>
          </a:p>
        </p:txBody>
      </p:sp>
      <p:sp>
        <p:nvSpPr>
          <p:cNvPr id="774" name="Google Shape;774;p44"/>
          <p:cNvSpPr/>
          <p:nvPr/>
        </p:nvSpPr>
        <p:spPr>
          <a:xfrm>
            <a:off x="685800" y="4882896"/>
            <a:ext cx="10195560" cy="119786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250"/>
              <a:buFont typeface="Calibri"/>
              <a:buNone/>
            </a:pPr>
            <a:r>
              <a:rPr lang="en-US" sz="1250" b="0" i="0" u="none" strike="noStrike" cap="none">
                <a:solidFill>
                  <a:srgbClr val="404040"/>
                </a:solidFill>
                <a:latin typeface="Calibri"/>
                <a:ea typeface="Calibri"/>
                <a:cs typeface="Calibri"/>
                <a:sym typeface="Calibri"/>
              </a:rPr>
              <a:t>This is a famous test specifically designed so that swapping one word (changing "feared violence" to "advocated violence") flips the correct answer to the other noun. This proves the sentence cannot be resolved by grammar or word-order statistics alone — it requires genuine reasoning about plausible human motives.</a:t>
            </a:r>
            <a:endParaRPr sz="1250" b="0" i="0" u="none" strike="noStrike" cap="none">
              <a:solidFill>
                <a:schemeClr val="dk1"/>
              </a:solidFill>
              <a:latin typeface="Calibri"/>
              <a:ea typeface="Calibri"/>
              <a:cs typeface="Calibri"/>
              <a:sym typeface="Calibri"/>
            </a:endParaRPr>
          </a:p>
        </p:txBody>
      </p:sp>
      <p:sp>
        <p:nvSpPr>
          <p:cNvPr id="775" name="Google Shape;775;p44"/>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14 / 40</a:t>
            </a:r>
            <a:endParaRPr sz="950" b="0" i="0" u="none" strike="noStrike" cap="none">
              <a:solidFill>
                <a:schemeClr val="dk1"/>
              </a:solidFill>
              <a:latin typeface="Calibri"/>
              <a:ea typeface="Calibri"/>
              <a:cs typeface="Calibri"/>
              <a:sym typeface="Calibri"/>
            </a:endParaRPr>
          </a:p>
        </p:txBody>
      </p:sp>
      <p:sp>
        <p:nvSpPr>
          <p:cNvPr id="776" name="Google Shape;776;p44"/>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81"/>
        <p:cNvGrpSpPr/>
        <p:nvPr/>
      </p:nvGrpSpPr>
      <p:grpSpPr>
        <a:xfrm>
          <a:off x="0" y="0"/>
          <a:ext cx="0" cy="0"/>
          <a:chOff x="0" y="0"/>
          <a:chExt cx="0" cy="0"/>
        </a:xfrm>
      </p:grpSpPr>
      <p:sp>
        <p:nvSpPr>
          <p:cNvPr id="782" name="Google Shape;782;p45"/>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8B57"/>
              </a:buClr>
              <a:buSzPts val="1100"/>
              <a:buFont typeface="Calibri"/>
              <a:buNone/>
            </a:pPr>
            <a:r>
              <a:rPr lang="en-US" sz="1100" b="1" i="0" u="none" strike="noStrike" cap="none">
                <a:solidFill>
                  <a:srgbClr val="2E8B57"/>
                </a:solidFill>
                <a:latin typeface="Calibri"/>
                <a:ea typeface="Calibri"/>
                <a:cs typeface="Calibri"/>
                <a:sym typeface="Calibri"/>
              </a:rPr>
              <a:t>WORKED EXAMPLE 2 — TRY IT YOURSELF</a:t>
            </a:r>
            <a:endParaRPr sz="1100" b="0" i="0" u="none" strike="noStrike" cap="none">
              <a:solidFill>
                <a:schemeClr val="dk1"/>
              </a:solidFill>
              <a:latin typeface="Calibri"/>
              <a:ea typeface="Calibri"/>
              <a:cs typeface="Calibri"/>
              <a:sym typeface="Calibri"/>
            </a:endParaRPr>
          </a:p>
        </p:txBody>
      </p:sp>
      <p:sp>
        <p:nvSpPr>
          <p:cNvPr id="783" name="Google Shape;783;p45"/>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Object Permanence and Physical Commonsense</a:t>
            </a:r>
            <a:endParaRPr sz="2300" b="0" i="0" u="none" strike="noStrike" cap="none">
              <a:solidFill>
                <a:schemeClr val="dk1"/>
              </a:solidFill>
              <a:latin typeface="Calibri"/>
              <a:ea typeface="Calibri"/>
              <a:cs typeface="Calibri"/>
              <a:sym typeface="Calibri"/>
            </a:endParaRPr>
          </a:p>
        </p:txBody>
      </p:sp>
      <p:cxnSp>
        <p:nvCxnSpPr>
          <p:cNvPr id="784" name="Google Shape;784;p45"/>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785" name="Google Shape;785;p45"/>
          <p:cNvSpPr/>
          <p:nvPr/>
        </p:nvSpPr>
        <p:spPr>
          <a:xfrm>
            <a:off x="640080" y="1691640"/>
            <a:ext cx="10241280" cy="2743200"/>
          </a:xfrm>
          <a:prstGeom prst="rect">
            <a:avLst/>
          </a:prstGeom>
          <a:solidFill>
            <a:srgbClr val="FFF8F0"/>
          </a:solidFill>
          <a:ln w="15875" cap="flat" cmpd="sng">
            <a:solidFill>
              <a:srgbClr val="2E8B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45"/>
          <p:cNvSpPr/>
          <p:nvPr/>
        </p:nvSpPr>
        <p:spPr>
          <a:xfrm>
            <a:off x="868680" y="1874520"/>
            <a:ext cx="3657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8B57"/>
              </a:buClr>
              <a:buSzPts val="1200"/>
              <a:buFont typeface="Calibri"/>
              <a:buNone/>
            </a:pPr>
            <a:r>
              <a:rPr lang="en-US" sz="1200" b="1" i="0" u="none" strike="noStrike" cap="none">
                <a:solidFill>
                  <a:srgbClr val="2E8B57"/>
                </a:solidFill>
                <a:latin typeface="Calibri"/>
                <a:ea typeface="Calibri"/>
                <a:cs typeface="Calibri"/>
                <a:sym typeface="Calibri"/>
              </a:rPr>
              <a:t>PROBLEM</a:t>
            </a:r>
            <a:endParaRPr sz="1200" b="0" i="0" u="none" strike="noStrike" cap="none">
              <a:solidFill>
                <a:schemeClr val="dk1"/>
              </a:solidFill>
              <a:latin typeface="Calibri"/>
              <a:ea typeface="Calibri"/>
              <a:cs typeface="Calibri"/>
              <a:sym typeface="Calibri"/>
            </a:endParaRPr>
          </a:p>
        </p:txBody>
      </p:sp>
      <p:sp>
        <p:nvSpPr>
          <p:cNvPr id="787" name="Google Shape;787;p45"/>
          <p:cNvSpPr/>
          <p:nvPr/>
        </p:nvSpPr>
        <p:spPr>
          <a:xfrm>
            <a:off x="868680" y="2240280"/>
            <a:ext cx="9784080" cy="82296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404040"/>
              </a:buClr>
              <a:buSzPts val="1550"/>
              <a:buFont typeface="Calibri"/>
              <a:buNone/>
            </a:pPr>
            <a:r>
              <a:rPr lang="en-US" sz="1550" b="0" i="0" u="none" strike="noStrike" cap="none">
                <a:solidFill>
                  <a:srgbClr val="404040"/>
                </a:solidFill>
                <a:latin typeface="Calibri"/>
                <a:ea typeface="Calibri"/>
                <a:cs typeface="Calibri"/>
                <a:sym typeface="Calibri"/>
              </a:rPr>
              <a:t>A robot's camera sees a ball roll behind a couch and disappear from view. Three seconds later, the robot is asked: "Where is the ball?"</a:t>
            </a:r>
            <a:endParaRPr sz="1550" b="0" i="0" u="none" strike="noStrike" cap="none">
              <a:solidFill>
                <a:schemeClr val="dk1"/>
              </a:solidFill>
              <a:latin typeface="Calibri"/>
              <a:ea typeface="Calibri"/>
              <a:cs typeface="Calibri"/>
              <a:sym typeface="Calibri"/>
            </a:endParaRPr>
          </a:p>
        </p:txBody>
      </p:sp>
      <p:sp>
        <p:nvSpPr>
          <p:cNvPr id="788" name="Google Shape;788;p45"/>
          <p:cNvSpPr/>
          <p:nvPr/>
        </p:nvSpPr>
        <p:spPr>
          <a:xfrm>
            <a:off x="868680" y="3200400"/>
            <a:ext cx="9784080" cy="82296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404040"/>
              </a:buClr>
              <a:buSzPts val="1500"/>
              <a:buFont typeface="Calibri"/>
              <a:buNone/>
            </a:pPr>
            <a:r>
              <a:rPr lang="en-US" sz="1500" b="1" i="1" u="none" strike="noStrike" cap="none">
                <a:solidFill>
                  <a:srgbClr val="404040"/>
                </a:solidFill>
                <a:latin typeface="Calibri"/>
                <a:ea typeface="Calibri"/>
                <a:cs typeface="Calibri"/>
                <a:sym typeface="Calibri"/>
              </a:rPr>
              <a:t>Question:  </a:t>
            </a:r>
            <a:r>
              <a:rPr lang="en-US" sz="1500" b="0" i="1" u="none" strike="noStrike" cap="none">
                <a:solidFill>
                  <a:srgbClr val="404040"/>
                </a:solidFill>
                <a:latin typeface="Calibri"/>
                <a:ea typeface="Calibri"/>
                <a:cs typeface="Calibri"/>
                <a:sym typeface="Calibri"/>
              </a:rPr>
              <a:t>What is the commonsense-correct answer, and what reasoning must the robot perform to avoid a wrong answer?</a:t>
            </a:r>
            <a:endParaRPr sz="1500" b="0" i="0" u="none" strike="noStrike" cap="none">
              <a:solidFill>
                <a:schemeClr val="dk1"/>
              </a:solidFill>
              <a:latin typeface="Calibri"/>
              <a:ea typeface="Calibri"/>
              <a:cs typeface="Calibri"/>
              <a:sym typeface="Calibri"/>
            </a:endParaRPr>
          </a:p>
        </p:txBody>
      </p:sp>
      <p:sp>
        <p:nvSpPr>
          <p:cNvPr id="789" name="Google Shape;789;p45"/>
          <p:cNvSpPr/>
          <p:nvPr/>
        </p:nvSpPr>
        <p:spPr>
          <a:xfrm>
            <a:off x="640080" y="4709160"/>
            <a:ext cx="1024128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E8B57"/>
              </a:buClr>
              <a:buSzPts val="1250"/>
              <a:buFont typeface="Calibri"/>
              <a:buNone/>
            </a:pPr>
            <a:r>
              <a:rPr lang="en-US" sz="1250" b="1" i="1" u="none" strike="noStrike" cap="none">
                <a:solidFill>
                  <a:srgbClr val="2E8B57"/>
                </a:solidFill>
                <a:latin typeface="Calibri"/>
                <a:ea typeface="Calibri"/>
                <a:cs typeface="Calibri"/>
                <a:sym typeface="Calibri"/>
              </a:rPr>
              <a:t>PAUSE HERE — work out your answer before the next slide</a:t>
            </a:r>
            <a:endParaRPr sz="1250" b="0" i="0" u="none" strike="noStrike" cap="none">
              <a:solidFill>
                <a:schemeClr val="dk1"/>
              </a:solidFill>
              <a:latin typeface="Calibri"/>
              <a:ea typeface="Calibri"/>
              <a:cs typeface="Calibri"/>
              <a:sym typeface="Calibri"/>
            </a:endParaRPr>
          </a:p>
        </p:txBody>
      </p:sp>
      <p:sp>
        <p:nvSpPr>
          <p:cNvPr id="790" name="Google Shape;790;p45"/>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14 / 40</a:t>
            </a:r>
            <a:endParaRPr sz="950" b="0" i="0" u="none" strike="noStrike" cap="none">
              <a:solidFill>
                <a:schemeClr val="dk1"/>
              </a:solidFill>
              <a:latin typeface="Calibri"/>
              <a:ea typeface="Calibri"/>
              <a:cs typeface="Calibri"/>
              <a:sym typeface="Calibri"/>
            </a:endParaRPr>
          </a:p>
        </p:txBody>
      </p:sp>
      <p:sp>
        <p:nvSpPr>
          <p:cNvPr id="791" name="Google Shape;791;p45"/>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96"/>
        <p:cNvGrpSpPr/>
        <p:nvPr/>
      </p:nvGrpSpPr>
      <p:grpSpPr>
        <a:xfrm>
          <a:off x="0" y="0"/>
          <a:ext cx="0" cy="0"/>
          <a:chOff x="0" y="0"/>
          <a:chExt cx="0" cy="0"/>
        </a:xfrm>
      </p:grpSpPr>
      <p:sp>
        <p:nvSpPr>
          <p:cNvPr id="797" name="Google Shape;797;p46"/>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8B57"/>
              </a:buClr>
              <a:buSzPts val="1100"/>
              <a:buFont typeface="Calibri"/>
              <a:buNone/>
            </a:pPr>
            <a:r>
              <a:rPr lang="en-US" sz="1100" b="1" i="0" u="none" strike="noStrike" cap="none">
                <a:solidFill>
                  <a:srgbClr val="2E8B57"/>
                </a:solidFill>
                <a:latin typeface="Calibri"/>
                <a:ea typeface="Calibri"/>
                <a:cs typeface="Calibri"/>
                <a:sym typeface="Calibri"/>
              </a:rPr>
              <a:t>WORKED EXAMPLE 2 — SOLUTION</a:t>
            </a:r>
            <a:endParaRPr sz="1100" b="0" i="0" u="none" strike="noStrike" cap="none">
              <a:solidFill>
                <a:schemeClr val="dk1"/>
              </a:solidFill>
              <a:latin typeface="Calibri"/>
              <a:ea typeface="Calibri"/>
              <a:cs typeface="Calibri"/>
              <a:sym typeface="Calibri"/>
            </a:endParaRPr>
          </a:p>
        </p:txBody>
      </p:sp>
      <p:sp>
        <p:nvSpPr>
          <p:cNvPr id="798" name="Google Shape;798;p46"/>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Object Permanence and Physical Commonsense</a:t>
            </a:r>
            <a:endParaRPr sz="2300" b="0" i="0" u="none" strike="noStrike" cap="none">
              <a:solidFill>
                <a:schemeClr val="dk1"/>
              </a:solidFill>
              <a:latin typeface="Calibri"/>
              <a:ea typeface="Calibri"/>
              <a:cs typeface="Calibri"/>
              <a:sym typeface="Calibri"/>
            </a:endParaRPr>
          </a:p>
        </p:txBody>
      </p:sp>
      <p:cxnSp>
        <p:nvCxnSpPr>
          <p:cNvPr id="799" name="Google Shape;799;p46"/>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800" name="Google Shape;800;p46"/>
          <p:cNvSpPr/>
          <p:nvPr/>
        </p:nvSpPr>
        <p:spPr>
          <a:xfrm>
            <a:off x="457200" y="1627632"/>
            <a:ext cx="365760" cy="365760"/>
          </a:xfrm>
          <a:prstGeom prst="ellipse">
            <a:avLst/>
          </a:prstGeom>
          <a:solidFill>
            <a:srgbClr val="2E8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6"/>
          <p:cNvSpPr/>
          <p:nvPr/>
        </p:nvSpPr>
        <p:spPr>
          <a:xfrm>
            <a:off x="457200" y="1627632"/>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802" name="Google Shape;802;p46"/>
          <p:cNvSpPr/>
          <p:nvPr/>
        </p:nvSpPr>
        <p:spPr>
          <a:xfrm>
            <a:off x="960120" y="1554480"/>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404040"/>
              </a:buClr>
              <a:buSzPts val="1260"/>
              <a:buFont typeface="Calibri"/>
              <a:buNone/>
            </a:pPr>
            <a:r>
              <a:rPr lang="en-US" sz="1260" b="0" i="0" u="none" strike="noStrike" cap="none">
                <a:solidFill>
                  <a:srgbClr val="404040"/>
                </a:solidFill>
                <a:latin typeface="Calibri"/>
                <a:ea typeface="Calibri"/>
                <a:cs typeface="Calibri"/>
                <a:sym typeface="Calibri"/>
              </a:rPr>
              <a:t>A naive vision-only system might answer "The ball does not exist" or "unknown," because it can no longer see the ball in any camera frame.</a:t>
            </a:r>
            <a:endParaRPr sz="1260" b="0" i="0" u="none" strike="noStrike" cap="none">
              <a:solidFill>
                <a:schemeClr val="dk1"/>
              </a:solidFill>
              <a:latin typeface="Calibri"/>
              <a:ea typeface="Calibri"/>
              <a:cs typeface="Calibri"/>
              <a:sym typeface="Calibri"/>
            </a:endParaRPr>
          </a:p>
        </p:txBody>
      </p:sp>
      <p:sp>
        <p:nvSpPr>
          <p:cNvPr id="803" name="Google Shape;803;p46"/>
          <p:cNvSpPr/>
          <p:nvPr/>
        </p:nvSpPr>
        <p:spPr>
          <a:xfrm>
            <a:off x="457200" y="2295144"/>
            <a:ext cx="365760" cy="365760"/>
          </a:xfrm>
          <a:prstGeom prst="ellipse">
            <a:avLst/>
          </a:prstGeom>
          <a:solidFill>
            <a:srgbClr val="2E8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46"/>
          <p:cNvSpPr/>
          <p:nvPr/>
        </p:nvSpPr>
        <p:spPr>
          <a:xfrm>
            <a:off x="457200" y="2295144"/>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805" name="Google Shape;805;p46"/>
          <p:cNvSpPr/>
          <p:nvPr/>
        </p:nvSpPr>
        <p:spPr>
          <a:xfrm>
            <a:off x="960120" y="2221992"/>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404040"/>
              </a:buClr>
              <a:buSzPts val="1260"/>
              <a:buFont typeface="Calibri"/>
              <a:buNone/>
            </a:pPr>
            <a:r>
              <a:rPr lang="en-US" sz="1260" b="0" i="0" u="none" strike="noStrike" cap="none">
                <a:solidFill>
                  <a:srgbClr val="404040"/>
                </a:solidFill>
                <a:latin typeface="Calibri"/>
                <a:ea typeface="Calibri"/>
                <a:cs typeface="Calibri"/>
                <a:sym typeface="Calibri"/>
              </a:rPr>
              <a:t>Apply the commonsense principle of object permanence: physical objects continue to exist even when not currently visible — they do not vanish from reality just because they leave a camera's view.</a:t>
            </a:r>
            <a:endParaRPr sz="1260" b="0" i="0" u="none" strike="noStrike" cap="none">
              <a:solidFill>
                <a:schemeClr val="dk1"/>
              </a:solidFill>
              <a:latin typeface="Calibri"/>
              <a:ea typeface="Calibri"/>
              <a:cs typeface="Calibri"/>
              <a:sym typeface="Calibri"/>
            </a:endParaRPr>
          </a:p>
        </p:txBody>
      </p:sp>
      <p:sp>
        <p:nvSpPr>
          <p:cNvPr id="806" name="Google Shape;806;p46"/>
          <p:cNvSpPr/>
          <p:nvPr/>
        </p:nvSpPr>
        <p:spPr>
          <a:xfrm>
            <a:off x="457200" y="2962656"/>
            <a:ext cx="365760" cy="365760"/>
          </a:xfrm>
          <a:prstGeom prst="ellipse">
            <a:avLst/>
          </a:prstGeom>
          <a:solidFill>
            <a:srgbClr val="2E8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6"/>
          <p:cNvSpPr/>
          <p:nvPr/>
        </p:nvSpPr>
        <p:spPr>
          <a:xfrm>
            <a:off x="457200" y="2962656"/>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808" name="Google Shape;808;p46"/>
          <p:cNvSpPr/>
          <p:nvPr/>
        </p:nvSpPr>
        <p:spPr>
          <a:xfrm>
            <a:off x="960120" y="2889504"/>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404040"/>
              </a:buClr>
              <a:buSzPts val="1260"/>
              <a:buFont typeface="Calibri"/>
              <a:buNone/>
            </a:pPr>
            <a:r>
              <a:rPr lang="en-US" sz="1260" b="0" i="0" u="none" strike="noStrike" cap="none">
                <a:solidFill>
                  <a:srgbClr val="404040"/>
                </a:solidFill>
                <a:latin typeface="Calibri"/>
                <a:ea typeface="Calibri"/>
                <a:cs typeface="Calibri"/>
                <a:sym typeface="Calibri"/>
              </a:rPr>
              <a:t>Apply a second commonsense fact: solid objects cannot pass through other solid objects (the couch). So the ball must still be somewhere behind or near the couch.</a:t>
            </a:r>
            <a:endParaRPr sz="1260" b="0" i="0" u="none" strike="noStrike" cap="none">
              <a:solidFill>
                <a:schemeClr val="dk1"/>
              </a:solidFill>
              <a:latin typeface="Calibri"/>
              <a:ea typeface="Calibri"/>
              <a:cs typeface="Calibri"/>
              <a:sym typeface="Calibri"/>
            </a:endParaRPr>
          </a:p>
        </p:txBody>
      </p:sp>
      <p:sp>
        <p:nvSpPr>
          <p:cNvPr id="809" name="Google Shape;809;p46"/>
          <p:cNvSpPr/>
          <p:nvPr/>
        </p:nvSpPr>
        <p:spPr>
          <a:xfrm>
            <a:off x="457200" y="3630168"/>
            <a:ext cx="365760" cy="365760"/>
          </a:xfrm>
          <a:prstGeom prst="ellipse">
            <a:avLst/>
          </a:prstGeom>
          <a:solidFill>
            <a:srgbClr val="2E8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6"/>
          <p:cNvSpPr/>
          <p:nvPr/>
        </p:nvSpPr>
        <p:spPr>
          <a:xfrm>
            <a:off x="457200" y="3630168"/>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4</a:t>
            </a:r>
            <a:endParaRPr sz="1400" b="0" i="0" u="none" strike="noStrike" cap="none">
              <a:solidFill>
                <a:schemeClr val="dk1"/>
              </a:solidFill>
              <a:latin typeface="Calibri"/>
              <a:ea typeface="Calibri"/>
              <a:cs typeface="Calibri"/>
              <a:sym typeface="Calibri"/>
            </a:endParaRPr>
          </a:p>
        </p:txBody>
      </p:sp>
      <p:sp>
        <p:nvSpPr>
          <p:cNvPr id="811" name="Google Shape;811;p46"/>
          <p:cNvSpPr/>
          <p:nvPr/>
        </p:nvSpPr>
        <p:spPr>
          <a:xfrm>
            <a:off x="960120" y="3557016"/>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404040"/>
              </a:buClr>
              <a:buSzPts val="1260"/>
              <a:buFont typeface="Calibri"/>
              <a:buNone/>
            </a:pPr>
            <a:r>
              <a:rPr lang="en-US" sz="1260" b="0" i="0" u="none" strike="noStrike" cap="none">
                <a:solidFill>
                  <a:srgbClr val="404040"/>
                </a:solidFill>
                <a:latin typeface="Calibri"/>
                <a:ea typeface="Calibri"/>
                <a:cs typeface="Calibri"/>
                <a:sym typeface="Calibri"/>
              </a:rPr>
              <a:t>Combine both facts: "The ball is most likely still behind the couch, since nothing was observed to move it elsewhere."</a:t>
            </a:r>
            <a:endParaRPr sz="1260" b="0" i="0" u="none" strike="noStrike" cap="none">
              <a:solidFill>
                <a:schemeClr val="dk1"/>
              </a:solidFill>
              <a:latin typeface="Calibri"/>
              <a:ea typeface="Calibri"/>
              <a:cs typeface="Calibri"/>
              <a:sym typeface="Calibri"/>
            </a:endParaRPr>
          </a:p>
        </p:txBody>
      </p:sp>
      <p:sp>
        <p:nvSpPr>
          <p:cNvPr id="812" name="Google Shape;812;p46"/>
          <p:cNvSpPr/>
          <p:nvPr/>
        </p:nvSpPr>
        <p:spPr>
          <a:xfrm>
            <a:off x="457200" y="4480560"/>
            <a:ext cx="10607040" cy="1691640"/>
          </a:xfrm>
          <a:prstGeom prst="rect">
            <a:avLst/>
          </a:prstGeom>
          <a:solidFill>
            <a:srgbClr val="FFF6EC"/>
          </a:solidFill>
          <a:ln w="9525" cap="flat" cmpd="sng">
            <a:solidFill>
              <a:srgbClr val="2E8B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46"/>
          <p:cNvSpPr/>
          <p:nvPr/>
        </p:nvSpPr>
        <p:spPr>
          <a:xfrm>
            <a:off x="457200" y="4480560"/>
            <a:ext cx="64008" cy="1691640"/>
          </a:xfrm>
          <a:prstGeom prst="rect">
            <a:avLst/>
          </a:prstGeom>
          <a:solidFill>
            <a:srgbClr val="2E8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6"/>
          <p:cNvSpPr/>
          <p:nvPr/>
        </p:nvSpPr>
        <p:spPr>
          <a:xfrm>
            <a:off x="685800" y="4590288"/>
            <a:ext cx="102412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8B57"/>
              </a:buClr>
              <a:buSzPts val="1050"/>
              <a:buFont typeface="Calibri"/>
              <a:buNone/>
            </a:pPr>
            <a:r>
              <a:rPr lang="en-US" sz="1050" b="1" i="0" u="none" strike="noStrike" cap="none">
                <a:solidFill>
                  <a:srgbClr val="2E8B57"/>
                </a:solidFill>
                <a:latin typeface="Calibri"/>
                <a:ea typeface="Calibri"/>
                <a:cs typeface="Calibri"/>
                <a:sym typeface="Calibri"/>
              </a:rPr>
              <a:t>WHY THIS SOLUTION WORKS</a:t>
            </a:r>
            <a:endParaRPr sz="1050" b="0" i="0" u="none" strike="noStrike" cap="none">
              <a:solidFill>
                <a:schemeClr val="dk1"/>
              </a:solidFill>
              <a:latin typeface="Calibri"/>
              <a:ea typeface="Calibri"/>
              <a:cs typeface="Calibri"/>
              <a:sym typeface="Calibri"/>
            </a:endParaRPr>
          </a:p>
        </p:txBody>
      </p:sp>
      <p:sp>
        <p:nvSpPr>
          <p:cNvPr id="815" name="Google Shape;815;p46"/>
          <p:cNvSpPr/>
          <p:nvPr/>
        </p:nvSpPr>
        <p:spPr>
          <a:xfrm>
            <a:off x="685800" y="4882896"/>
            <a:ext cx="10195560" cy="119786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250"/>
              <a:buFont typeface="Calibri"/>
              <a:buNone/>
            </a:pPr>
            <a:r>
              <a:rPr lang="en-US" sz="1250" b="0" i="0" u="none" strike="noStrike" cap="none">
                <a:solidFill>
                  <a:srgbClr val="404040"/>
                </a:solidFill>
                <a:latin typeface="Calibri"/>
                <a:ea typeface="Calibri"/>
                <a:cs typeface="Calibri"/>
                <a:sym typeface="Calibri"/>
              </a:rPr>
              <a:t>This is "naive physics" commonsense reasoning — the same kind a human infant develops around 8 months of age, before learning language. For self-driving cars, a pedestrian walking behind a parked van must still be assumed to exist, rather than assuming the road ahead is clear.</a:t>
            </a:r>
            <a:endParaRPr sz="1250" b="0" i="0" u="none" strike="noStrike" cap="none">
              <a:solidFill>
                <a:schemeClr val="dk1"/>
              </a:solidFill>
              <a:latin typeface="Calibri"/>
              <a:ea typeface="Calibri"/>
              <a:cs typeface="Calibri"/>
              <a:sym typeface="Calibri"/>
            </a:endParaRPr>
          </a:p>
        </p:txBody>
      </p:sp>
      <p:sp>
        <p:nvSpPr>
          <p:cNvPr id="816" name="Google Shape;816;p46"/>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14 / 40</a:t>
            </a:r>
            <a:endParaRPr sz="950" b="0" i="0" u="none" strike="noStrike" cap="none">
              <a:solidFill>
                <a:schemeClr val="dk1"/>
              </a:solidFill>
              <a:latin typeface="Calibri"/>
              <a:ea typeface="Calibri"/>
              <a:cs typeface="Calibri"/>
              <a:sym typeface="Calibri"/>
            </a:endParaRPr>
          </a:p>
        </p:txBody>
      </p:sp>
      <p:sp>
        <p:nvSpPr>
          <p:cNvPr id="817" name="Google Shape;817;p46"/>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22"/>
        <p:cNvGrpSpPr/>
        <p:nvPr/>
      </p:nvGrpSpPr>
      <p:grpSpPr>
        <a:xfrm>
          <a:off x="0" y="0"/>
          <a:ext cx="0" cy="0"/>
          <a:chOff x="0" y="0"/>
          <a:chExt cx="0" cy="0"/>
        </a:xfrm>
      </p:grpSpPr>
      <p:sp>
        <p:nvSpPr>
          <p:cNvPr id="823" name="Google Shape;823;p47"/>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8B57"/>
              </a:buClr>
              <a:buSzPts val="1100"/>
              <a:buFont typeface="Calibri"/>
              <a:buNone/>
            </a:pPr>
            <a:r>
              <a:rPr lang="en-US" sz="1100" b="1" i="0" u="none" strike="noStrike" cap="none">
                <a:solidFill>
                  <a:srgbClr val="2E8B57"/>
                </a:solidFill>
                <a:latin typeface="Calibri"/>
                <a:ea typeface="Calibri"/>
                <a:cs typeface="Calibri"/>
                <a:sym typeface="Calibri"/>
              </a:rPr>
              <a:t>WORKED EXAMPLE 3 — TRY IT YOURSELF</a:t>
            </a:r>
            <a:endParaRPr sz="1100" b="0" i="0" u="none" strike="noStrike" cap="none">
              <a:solidFill>
                <a:schemeClr val="dk1"/>
              </a:solidFill>
              <a:latin typeface="Calibri"/>
              <a:ea typeface="Calibri"/>
              <a:cs typeface="Calibri"/>
              <a:sym typeface="Calibri"/>
            </a:endParaRPr>
          </a:p>
        </p:txBody>
      </p:sp>
      <p:sp>
        <p:nvSpPr>
          <p:cNvPr id="824" name="Google Shape;824;p47"/>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Script-Based Reasoning — The Restaurant Script</a:t>
            </a:r>
            <a:endParaRPr sz="2300" b="0" i="0" u="none" strike="noStrike" cap="none">
              <a:solidFill>
                <a:schemeClr val="dk1"/>
              </a:solidFill>
              <a:latin typeface="Calibri"/>
              <a:ea typeface="Calibri"/>
              <a:cs typeface="Calibri"/>
              <a:sym typeface="Calibri"/>
            </a:endParaRPr>
          </a:p>
        </p:txBody>
      </p:sp>
      <p:cxnSp>
        <p:nvCxnSpPr>
          <p:cNvPr id="825" name="Google Shape;825;p47"/>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826" name="Google Shape;826;p47"/>
          <p:cNvSpPr/>
          <p:nvPr/>
        </p:nvSpPr>
        <p:spPr>
          <a:xfrm>
            <a:off x="640080" y="1691640"/>
            <a:ext cx="10241280" cy="2743200"/>
          </a:xfrm>
          <a:prstGeom prst="rect">
            <a:avLst/>
          </a:prstGeom>
          <a:solidFill>
            <a:srgbClr val="FFF8F0"/>
          </a:solidFill>
          <a:ln w="15875" cap="flat" cmpd="sng">
            <a:solidFill>
              <a:srgbClr val="2E8B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47"/>
          <p:cNvSpPr/>
          <p:nvPr/>
        </p:nvSpPr>
        <p:spPr>
          <a:xfrm>
            <a:off x="868680" y="1874520"/>
            <a:ext cx="3657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8B57"/>
              </a:buClr>
              <a:buSzPts val="1200"/>
              <a:buFont typeface="Calibri"/>
              <a:buNone/>
            </a:pPr>
            <a:r>
              <a:rPr lang="en-US" sz="1200" b="1" i="0" u="none" strike="noStrike" cap="none">
                <a:solidFill>
                  <a:srgbClr val="2E8B57"/>
                </a:solidFill>
                <a:latin typeface="Calibri"/>
                <a:ea typeface="Calibri"/>
                <a:cs typeface="Calibri"/>
                <a:sym typeface="Calibri"/>
              </a:rPr>
              <a:t>PROBLEM</a:t>
            </a:r>
            <a:endParaRPr sz="1200" b="0" i="0" u="none" strike="noStrike" cap="none">
              <a:solidFill>
                <a:schemeClr val="dk1"/>
              </a:solidFill>
              <a:latin typeface="Calibri"/>
              <a:ea typeface="Calibri"/>
              <a:cs typeface="Calibri"/>
              <a:sym typeface="Calibri"/>
            </a:endParaRPr>
          </a:p>
        </p:txBody>
      </p:sp>
      <p:sp>
        <p:nvSpPr>
          <p:cNvPr id="828" name="Google Shape;828;p47"/>
          <p:cNvSpPr/>
          <p:nvPr/>
        </p:nvSpPr>
        <p:spPr>
          <a:xfrm>
            <a:off x="868680" y="2240280"/>
            <a:ext cx="9784080" cy="73152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404040"/>
              </a:buClr>
              <a:buSzPts val="1550"/>
              <a:buFont typeface="Calibri"/>
              <a:buNone/>
            </a:pPr>
            <a:r>
              <a:rPr lang="en-US" sz="1550" b="0" i="0" u="none" strike="noStrike" cap="none">
                <a:solidFill>
                  <a:srgbClr val="404040"/>
                </a:solidFill>
                <a:latin typeface="Calibri"/>
                <a:ea typeface="Calibri"/>
                <a:cs typeface="Calibri"/>
                <a:sym typeface="Calibri"/>
              </a:rPr>
              <a:t>You are told only this: "Maria went to a restaurant. She ordered the salmon. She left a big tip."</a:t>
            </a:r>
            <a:endParaRPr sz="1550" b="0" i="0" u="none" strike="noStrike" cap="none">
              <a:solidFill>
                <a:schemeClr val="dk1"/>
              </a:solidFill>
              <a:latin typeface="Calibri"/>
              <a:ea typeface="Calibri"/>
              <a:cs typeface="Calibri"/>
              <a:sym typeface="Calibri"/>
            </a:endParaRPr>
          </a:p>
        </p:txBody>
      </p:sp>
      <p:sp>
        <p:nvSpPr>
          <p:cNvPr id="829" name="Google Shape;829;p47"/>
          <p:cNvSpPr/>
          <p:nvPr/>
        </p:nvSpPr>
        <p:spPr>
          <a:xfrm>
            <a:off x="868680" y="3063240"/>
            <a:ext cx="9784080" cy="91440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404040"/>
              </a:buClr>
              <a:buSzPts val="1500"/>
              <a:buFont typeface="Calibri"/>
              <a:buNone/>
            </a:pPr>
            <a:r>
              <a:rPr lang="en-US" sz="1500" b="1" i="1" u="none" strike="noStrike" cap="none">
                <a:solidFill>
                  <a:srgbClr val="404040"/>
                </a:solidFill>
                <a:latin typeface="Calibri"/>
                <a:ea typeface="Calibri"/>
                <a:cs typeface="Calibri"/>
                <a:sym typeface="Calibri"/>
              </a:rPr>
              <a:t>Question:  </a:t>
            </a:r>
            <a:r>
              <a:rPr lang="en-US" sz="1500" b="0" i="1" u="none" strike="noStrike" cap="none">
                <a:solidFill>
                  <a:srgbClr val="404040"/>
                </a:solidFill>
                <a:latin typeface="Calibri"/>
                <a:ea typeface="Calibri"/>
                <a:cs typeface="Calibri"/>
                <a:sym typeface="Calibri"/>
              </a:rPr>
              <a:t>Using script-based commonsense reasoning, what unstated events almost certainly also happened, and how does the system infer them?</a:t>
            </a:r>
            <a:endParaRPr sz="1500" b="0" i="0" u="none" strike="noStrike" cap="none">
              <a:solidFill>
                <a:schemeClr val="dk1"/>
              </a:solidFill>
              <a:latin typeface="Calibri"/>
              <a:ea typeface="Calibri"/>
              <a:cs typeface="Calibri"/>
              <a:sym typeface="Calibri"/>
            </a:endParaRPr>
          </a:p>
        </p:txBody>
      </p:sp>
      <p:sp>
        <p:nvSpPr>
          <p:cNvPr id="830" name="Google Shape;830;p47"/>
          <p:cNvSpPr/>
          <p:nvPr/>
        </p:nvSpPr>
        <p:spPr>
          <a:xfrm>
            <a:off x="640080" y="4709160"/>
            <a:ext cx="1024128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E8B57"/>
              </a:buClr>
              <a:buSzPts val="1250"/>
              <a:buFont typeface="Calibri"/>
              <a:buNone/>
            </a:pPr>
            <a:r>
              <a:rPr lang="en-US" sz="1250" b="1" i="1" u="none" strike="noStrike" cap="none">
                <a:solidFill>
                  <a:srgbClr val="2E8B57"/>
                </a:solidFill>
                <a:latin typeface="Calibri"/>
                <a:ea typeface="Calibri"/>
                <a:cs typeface="Calibri"/>
                <a:sym typeface="Calibri"/>
              </a:rPr>
              <a:t>PAUSE HERE — work out your answer before the next slide</a:t>
            </a:r>
            <a:endParaRPr sz="1250" b="0" i="0" u="none" strike="noStrike" cap="none">
              <a:solidFill>
                <a:schemeClr val="dk1"/>
              </a:solidFill>
              <a:latin typeface="Calibri"/>
              <a:ea typeface="Calibri"/>
              <a:cs typeface="Calibri"/>
              <a:sym typeface="Calibri"/>
            </a:endParaRPr>
          </a:p>
        </p:txBody>
      </p:sp>
      <p:sp>
        <p:nvSpPr>
          <p:cNvPr id="831" name="Google Shape;831;p47"/>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15 / 40</a:t>
            </a:r>
            <a:endParaRPr sz="950" b="0" i="0" u="none" strike="noStrike" cap="none">
              <a:solidFill>
                <a:schemeClr val="dk1"/>
              </a:solidFill>
              <a:latin typeface="Calibri"/>
              <a:ea typeface="Calibri"/>
              <a:cs typeface="Calibri"/>
              <a:sym typeface="Calibri"/>
            </a:endParaRPr>
          </a:p>
        </p:txBody>
      </p:sp>
      <p:sp>
        <p:nvSpPr>
          <p:cNvPr id="832" name="Google Shape;832;p47"/>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7"/>
        <p:cNvGrpSpPr/>
        <p:nvPr/>
      </p:nvGrpSpPr>
      <p:grpSpPr>
        <a:xfrm>
          <a:off x="0" y="0"/>
          <a:ext cx="0" cy="0"/>
          <a:chOff x="0" y="0"/>
          <a:chExt cx="0" cy="0"/>
        </a:xfrm>
      </p:grpSpPr>
      <p:sp>
        <p:nvSpPr>
          <p:cNvPr id="838" name="Google Shape;838;p48"/>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8B57"/>
              </a:buClr>
              <a:buSzPts val="1100"/>
              <a:buFont typeface="Calibri"/>
              <a:buNone/>
            </a:pPr>
            <a:r>
              <a:rPr lang="en-US" sz="1100" b="1" i="0" u="none" strike="noStrike" cap="none">
                <a:solidFill>
                  <a:srgbClr val="2E8B57"/>
                </a:solidFill>
                <a:latin typeface="Calibri"/>
                <a:ea typeface="Calibri"/>
                <a:cs typeface="Calibri"/>
                <a:sym typeface="Calibri"/>
              </a:rPr>
              <a:t>WORKED EXAMPLE 3 — SOLUTION</a:t>
            </a:r>
            <a:endParaRPr sz="1100" b="0" i="0" u="none" strike="noStrike" cap="none">
              <a:solidFill>
                <a:schemeClr val="dk1"/>
              </a:solidFill>
              <a:latin typeface="Calibri"/>
              <a:ea typeface="Calibri"/>
              <a:cs typeface="Calibri"/>
              <a:sym typeface="Calibri"/>
            </a:endParaRPr>
          </a:p>
        </p:txBody>
      </p:sp>
      <p:sp>
        <p:nvSpPr>
          <p:cNvPr id="839" name="Google Shape;839;p48"/>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Script-Based Reasoning — The Restaurant Script</a:t>
            </a:r>
            <a:endParaRPr sz="2300" b="0" i="0" u="none" strike="noStrike" cap="none">
              <a:solidFill>
                <a:schemeClr val="dk1"/>
              </a:solidFill>
              <a:latin typeface="Calibri"/>
              <a:ea typeface="Calibri"/>
              <a:cs typeface="Calibri"/>
              <a:sym typeface="Calibri"/>
            </a:endParaRPr>
          </a:p>
        </p:txBody>
      </p:sp>
      <p:cxnSp>
        <p:nvCxnSpPr>
          <p:cNvPr id="840" name="Google Shape;840;p48"/>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841" name="Google Shape;841;p48"/>
          <p:cNvSpPr/>
          <p:nvPr/>
        </p:nvSpPr>
        <p:spPr>
          <a:xfrm>
            <a:off x="457200" y="1627632"/>
            <a:ext cx="365760" cy="365760"/>
          </a:xfrm>
          <a:prstGeom prst="ellipse">
            <a:avLst/>
          </a:prstGeom>
          <a:solidFill>
            <a:srgbClr val="2E8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48"/>
          <p:cNvSpPr/>
          <p:nvPr/>
        </p:nvSpPr>
        <p:spPr>
          <a:xfrm>
            <a:off x="457200" y="1627632"/>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843" name="Google Shape;843;p48"/>
          <p:cNvSpPr/>
          <p:nvPr/>
        </p:nvSpPr>
        <p:spPr>
          <a:xfrm>
            <a:off x="960120" y="1554480"/>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404040"/>
              </a:buClr>
              <a:buSzPts val="1230"/>
              <a:buFont typeface="Calibri"/>
              <a:buNone/>
            </a:pPr>
            <a:r>
              <a:rPr lang="en-US" sz="1230" b="0" i="0" u="none" strike="noStrike" cap="none">
                <a:solidFill>
                  <a:srgbClr val="404040"/>
                </a:solidFill>
                <a:latin typeface="Calibri"/>
                <a:ea typeface="Calibri"/>
                <a:cs typeface="Calibri"/>
                <a:sym typeface="Calibri"/>
              </a:rPr>
              <a:t>Recognize the situation as matching a known script: the "going to a restaurant" script — enter → get seated → receive a menu → order → food prepared → served → eat → pay (often with a tip) → leave.</a:t>
            </a:r>
            <a:endParaRPr sz="1230" b="0" i="0" u="none" strike="noStrike" cap="none">
              <a:solidFill>
                <a:schemeClr val="dk1"/>
              </a:solidFill>
              <a:latin typeface="Calibri"/>
              <a:ea typeface="Calibri"/>
              <a:cs typeface="Calibri"/>
              <a:sym typeface="Calibri"/>
            </a:endParaRPr>
          </a:p>
        </p:txBody>
      </p:sp>
      <p:sp>
        <p:nvSpPr>
          <p:cNvPr id="844" name="Google Shape;844;p48"/>
          <p:cNvSpPr/>
          <p:nvPr/>
        </p:nvSpPr>
        <p:spPr>
          <a:xfrm>
            <a:off x="457200" y="2295144"/>
            <a:ext cx="365760" cy="365760"/>
          </a:xfrm>
          <a:prstGeom prst="ellipse">
            <a:avLst/>
          </a:prstGeom>
          <a:solidFill>
            <a:srgbClr val="2E8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48"/>
          <p:cNvSpPr/>
          <p:nvPr/>
        </p:nvSpPr>
        <p:spPr>
          <a:xfrm>
            <a:off x="457200" y="2295144"/>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846" name="Google Shape;846;p48"/>
          <p:cNvSpPr/>
          <p:nvPr/>
        </p:nvSpPr>
        <p:spPr>
          <a:xfrm>
            <a:off x="960120" y="2221992"/>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404040"/>
              </a:buClr>
              <a:buSzPts val="1230"/>
              <a:buFont typeface="Calibri"/>
              <a:buNone/>
            </a:pPr>
            <a:r>
              <a:rPr lang="en-US" sz="1230" b="0" i="0" u="none" strike="noStrike" cap="none">
                <a:solidFill>
                  <a:srgbClr val="404040"/>
                </a:solidFill>
                <a:latin typeface="Calibri"/>
                <a:ea typeface="Calibri"/>
                <a:cs typeface="Calibri"/>
                <a:sym typeface="Calibri"/>
              </a:rPr>
              <a:t>Match stated events to slots in the script: "ordered the salmon" fits the "order" slot; "left a big tip" fits near the end of the "pay" slot.</a:t>
            </a:r>
            <a:endParaRPr sz="1230" b="0" i="0" u="none" strike="noStrike" cap="none">
              <a:solidFill>
                <a:schemeClr val="dk1"/>
              </a:solidFill>
              <a:latin typeface="Calibri"/>
              <a:ea typeface="Calibri"/>
              <a:cs typeface="Calibri"/>
              <a:sym typeface="Calibri"/>
            </a:endParaRPr>
          </a:p>
        </p:txBody>
      </p:sp>
      <p:sp>
        <p:nvSpPr>
          <p:cNvPr id="847" name="Google Shape;847;p48"/>
          <p:cNvSpPr/>
          <p:nvPr/>
        </p:nvSpPr>
        <p:spPr>
          <a:xfrm>
            <a:off x="457200" y="2962656"/>
            <a:ext cx="365760" cy="365760"/>
          </a:xfrm>
          <a:prstGeom prst="ellipse">
            <a:avLst/>
          </a:prstGeom>
          <a:solidFill>
            <a:srgbClr val="2E8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48"/>
          <p:cNvSpPr/>
          <p:nvPr/>
        </p:nvSpPr>
        <p:spPr>
          <a:xfrm>
            <a:off x="457200" y="2962656"/>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849" name="Google Shape;849;p48"/>
          <p:cNvSpPr/>
          <p:nvPr/>
        </p:nvSpPr>
        <p:spPr>
          <a:xfrm>
            <a:off x="960120" y="2889504"/>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404040"/>
              </a:buClr>
              <a:buSzPts val="1230"/>
              <a:buFont typeface="Calibri"/>
              <a:buNone/>
            </a:pPr>
            <a:r>
              <a:rPr lang="en-US" sz="1230" b="0" i="0" u="none" strike="noStrike" cap="none">
                <a:solidFill>
                  <a:srgbClr val="404040"/>
                </a:solidFill>
                <a:latin typeface="Calibri"/>
                <a:ea typeface="Calibri"/>
                <a:cs typeface="Calibri"/>
                <a:sym typeface="Calibri"/>
              </a:rPr>
              <a:t>Fill in the unstated slots: the system infers Maria was seated, given a menu, and the salmon was prepared and served — even though none of this was explicitly stated.</a:t>
            </a:r>
            <a:endParaRPr sz="1230" b="0" i="0" u="none" strike="noStrike" cap="none">
              <a:solidFill>
                <a:schemeClr val="dk1"/>
              </a:solidFill>
              <a:latin typeface="Calibri"/>
              <a:ea typeface="Calibri"/>
              <a:cs typeface="Calibri"/>
              <a:sym typeface="Calibri"/>
            </a:endParaRPr>
          </a:p>
        </p:txBody>
      </p:sp>
      <p:sp>
        <p:nvSpPr>
          <p:cNvPr id="850" name="Google Shape;850;p48"/>
          <p:cNvSpPr/>
          <p:nvPr/>
        </p:nvSpPr>
        <p:spPr>
          <a:xfrm>
            <a:off x="457200" y="3630168"/>
            <a:ext cx="365760" cy="365760"/>
          </a:xfrm>
          <a:prstGeom prst="ellipse">
            <a:avLst/>
          </a:prstGeom>
          <a:solidFill>
            <a:srgbClr val="2E8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48"/>
          <p:cNvSpPr/>
          <p:nvPr/>
        </p:nvSpPr>
        <p:spPr>
          <a:xfrm>
            <a:off x="457200" y="3630168"/>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4</a:t>
            </a:r>
            <a:endParaRPr sz="1400" b="0" i="0" u="none" strike="noStrike" cap="none">
              <a:solidFill>
                <a:schemeClr val="dk1"/>
              </a:solidFill>
              <a:latin typeface="Calibri"/>
              <a:ea typeface="Calibri"/>
              <a:cs typeface="Calibri"/>
              <a:sym typeface="Calibri"/>
            </a:endParaRPr>
          </a:p>
        </p:txBody>
      </p:sp>
      <p:sp>
        <p:nvSpPr>
          <p:cNvPr id="852" name="Google Shape;852;p48"/>
          <p:cNvSpPr/>
          <p:nvPr/>
        </p:nvSpPr>
        <p:spPr>
          <a:xfrm>
            <a:off x="960120" y="3557016"/>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404040"/>
              </a:buClr>
              <a:buSzPts val="1230"/>
              <a:buFont typeface="Calibri"/>
              <a:buNone/>
            </a:pPr>
            <a:r>
              <a:rPr lang="en-US" sz="1230" b="0" i="0" u="none" strike="noStrike" cap="none">
                <a:solidFill>
                  <a:srgbClr val="404040"/>
                </a:solidFill>
                <a:latin typeface="Calibri"/>
                <a:ea typeface="Calibri"/>
                <a:cs typeface="Calibri"/>
                <a:sym typeface="Calibri"/>
              </a:rPr>
              <a:t>Infer a secondary, weaker conclusion: a "big tip" is commonly associated with satisfaction, so the system can tentatively guess Maria enjoyed her meal — though this is more tentative than the other inferences.</a:t>
            </a:r>
            <a:endParaRPr sz="1230" b="0" i="0" u="none" strike="noStrike" cap="none">
              <a:solidFill>
                <a:schemeClr val="dk1"/>
              </a:solidFill>
              <a:latin typeface="Calibri"/>
              <a:ea typeface="Calibri"/>
              <a:cs typeface="Calibri"/>
              <a:sym typeface="Calibri"/>
            </a:endParaRPr>
          </a:p>
        </p:txBody>
      </p:sp>
      <p:sp>
        <p:nvSpPr>
          <p:cNvPr id="853" name="Google Shape;853;p48"/>
          <p:cNvSpPr/>
          <p:nvPr/>
        </p:nvSpPr>
        <p:spPr>
          <a:xfrm>
            <a:off x="457200" y="4480560"/>
            <a:ext cx="10607040" cy="1691640"/>
          </a:xfrm>
          <a:prstGeom prst="rect">
            <a:avLst/>
          </a:prstGeom>
          <a:solidFill>
            <a:srgbClr val="FFF6EC"/>
          </a:solidFill>
          <a:ln w="9525" cap="flat" cmpd="sng">
            <a:solidFill>
              <a:srgbClr val="2E8B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48"/>
          <p:cNvSpPr/>
          <p:nvPr/>
        </p:nvSpPr>
        <p:spPr>
          <a:xfrm>
            <a:off x="457200" y="4480560"/>
            <a:ext cx="64008" cy="1691640"/>
          </a:xfrm>
          <a:prstGeom prst="rect">
            <a:avLst/>
          </a:prstGeom>
          <a:solidFill>
            <a:srgbClr val="2E8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48"/>
          <p:cNvSpPr/>
          <p:nvPr/>
        </p:nvSpPr>
        <p:spPr>
          <a:xfrm>
            <a:off x="685800" y="4590288"/>
            <a:ext cx="102412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8B57"/>
              </a:buClr>
              <a:buSzPts val="1050"/>
              <a:buFont typeface="Calibri"/>
              <a:buNone/>
            </a:pPr>
            <a:r>
              <a:rPr lang="en-US" sz="1050" b="1" i="0" u="none" strike="noStrike" cap="none">
                <a:solidFill>
                  <a:srgbClr val="2E8B57"/>
                </a:solidFill>
                <a:latin typeface="Calibri"/>
                <a:ea typeface="Calibri"/>
                <a:cs typeface="Calibri"/>
                <a:sym typeface="Calibri"/>
              </a:rPr>
              <a:t>WHY THIS SOLUTION WORKS</a:t>
            </a:r>
            <a:endParaRPr sz="1050" b="0" i="0" u="none" strike="noStrike" cap="none">
              <a:solidFill>
                <a:schemeClr val="dk1"/>
              </a:solidFill>
              <a:latin typeface="Calibri"/>
              <a:ea typeface="Calibri"/>
              <a:cs typeface="Calibri"/>
              <a:sym typeface="Calibri"/>
            </a:endParaRPr>
          </a:p>
        </p:txBody>
      </p:sp>
      <p:sp>
        <p:nvSpPr>
          <p:cNvPr id="856" name="Google Shape;856;p48"/>
          <p:cNvSpPr/>
          <p:nvPr/>
        </p:nvSpPr>
        <p:spPr>
          <a:xfrm>
            <a:off x="685800" y="4882896"/>
            <a:ext cx="10195560" cy="119786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230"/>
              <a:buFont typeface="Calibri"/>
              <a:buNone/>
            </a:pPr>
            <a:r>
              <a:rPr lang="en-US" sz="1230" b="0" i="0" u="none" strike="noStrike" cap="none">
                <a:solidFill>
                  <a:srgbClr val="404040"/>
                </a:solidFill>
                <a:latin typeface="Calibri"/>
                <a:ea typeface="Calibri"/>
                <a:cs typeface="Calibri"/>
                <a:sym typeface="Calibri"/>
              </a:rPr>
              <a:t>Scripts let an AI fill enormous gaps using a small number of stated facts. Notice the link to Topic 1: "Maria was satisfied" is a default, not a certainty — if the next sentence said she tipped out of pity for the waiter, that conclusion would be instantly retracted. Commonsense and non-monotonic reasoning work hand-in-hand.</a:t>
            </a:r>
            <a:endParaRPr sz="1230" b="0" i="0" u="none" strike="noStrike" cap="none">
              <a:solidFill>
                <a:schemeClr val="dk1"/>
              </a:solidFill>
              <a:latin typeface="Calibri"/>
              <a:ea typeface="Calibri"/>
              <a:cs typeface="Calibri"/>
              <a:sym typeface="Calibri"/>
            </a:endParaRPr>
          </a:p>
        </p:txBody>
      </p:sp>
      <p:sp>
        <p:nvSpPr>
          <p:cNvPr id="857" name="Google Shape;857;p48"/>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15 / 40</a:t>
            </a:r>
            <a:endParaRPr sz="950" b="0" i="0" u="none" strike="noStrike" cap="none">
              <a:solidFill>
                <a:schemeClr val="dk1"/>
              </a:solidFill>
              <a:latin typeface="Calibri"/>
              <a:ea typeface="Calibri"/>
              <a:cs typeface="Calibri"/>
              <a:sym typeface="Calibri"/>
            </a:endParaRPr>
          </a:p>
        </p:txBody>
      </p:sp>
      <p:sp>
        <p:nvSpPr>
          <p:cNvPr id="858" name="Google Shape;858;p48"/>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01"/>
        <p:cNvGrpSpPr/>
        <p:nvPr/>
      </p:nvGrpSpPr>
      <p:grpSpPr>
        <a:xfrm>
          <a:off x="0" y="0"/>
          <a:ext cx="0" cy="0"/>
          <a:chOff x="0" y="0"/>
          <a:chExt cx="0" cy="0"/>
        </a:xfrm>
      </p:grpSpPr>
      <p:sp>
        <p:nvSpPr>
          <p:cNvPr id="1002" name="Google Shape;1002;p58"/>
          <p:cNvSpPr/>
          <p:nvPr/>
        </p:nvSpPr>
        <p:spPr>
          <a:xfrm>
            <a:off x="0" y="0"/>
            <a:ext cx="12191695" cy="3657600"/>
          </a:xfrm>
          <a:prstGeom prst="rect">
            <a:avLst/>
          </a:prstGeom>
          <a:solidFill>
            <a:srgbClr val="6A4C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58"/>
          <p:cNvSpPr/>
          <p:nvPr/>
        </p:nvSpPr>
        <p:spPr>
          <a:xfrm>
            <a:off x="822960" y="1051560"/>
            <a:ext cx="365760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TOPIC 03</a:t>
            </a:r>
            <a:endParaRPr sz="1400" b="0" i="0" u="none" strike="noStrike" cap="none">
              <a:solidFill>
                <a:schemeClr val="dk1"/>
              </a:solidFill>
              <a:latin typeface="Calibri"/>
              <a:ea typeface="Calibri"/>
              <a:cs typeface="Calibri"/>
              <a:sym typeface="Calibri"/>
            </a:endParaRPr>
          </a:p>
        </p:txBody>
      </p:sp>
      <p:sp>
        <p:nvSpPr>
          <p:cNvPr id="1004" name="Google Shape;1004;p58"/>
          <p:cNvSpPr/>
          <p:nvPr/>
        </p:nvSpPr>
        <p:spPr>
          <a:xfrm>
            <a:off x="777240" y="1463040"/>
            <a:ext cx="10607040" cy="137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800"/>
              <a:buFont typeface="Calibri"/>
              <a:buNone/>
            </a:pPr>
            <a:r>
              <a:rPr lang="en-US" sz="3800" b="1" i="0" u="none" strike="noStrike" cap="none">
                <a:solidFill>
                  <a:srgbClr val="FFFFFF"/>
                </a:solidFill>
                <a:latin typeface="Calibri"/>
                <a:ea typeface="Calibri"/>
                <a:cs typeface="Calibri"/>
                <a:sym typeface="Calibri"/>
              </a:rPr>
              <a:t>Temporal Reasoning and Event Representation</a:t>
            </a:r>
            <a:endParaRPr sz="3800" b="0" i="0" u="none" strike="noStrike" cap="none">
              <a:solidFill>
                <a:schemeClr val="dk1"/>
              </a:solidFill>
              <a:latin typeface="Calibri"/>
              <a:ea typeface="Calibri"/>
              <a:cs typeface="Calibri"/>
              <a:sym typeface="Calibri"/>
            </a:endParaRPr>
          </a:p>
        </p:txBody>
      </p:sp>
      <p:sp>
        <p:nvSpPr>
          <p:cNvPr id="1005" name="Google Shape;1005;p58"/>
          <p:cNvSpPr/>
          <p:nvPr/>
        </p:nvSpPr>
        <p:spPr>
          <a:xfrm>
            <a:off x="822960" y="2697480"/>
            <a:ext cx="987552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700"/>
              <a:buFont typeface="Calibri"/>
              <a:buNone/>
            </a:pPr>
            <a:r>
              <a:rPr lang="en-US" sz="1700" b="0" i="1" u="none" strike="noStrike" cap="none">
                <a:solidFill>
                  <a:srgbClr val="FFFFFF"/>
                </a:solidFill>
                <a:latin typeface="Calibri"/>
                <a:ea typeface="Calibri"/>
                <a:cs typeface="Calibri"/>
                <a:sym typeface="Calibri"/>
              </a:rPr>
              <a:t>Teaching AI to understand "before," "after," "while," and "how long."</a:t>
            </a:r>
            <a:endParaRPr sz="1700" b="0" i="0" u="none" strike="noStrike" cap="non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10"/>
        <p:cNvGrpSpPr/>
        <p:nvPr/>
      </p:nvGrpSpPr>
      <p:grpSpPr>
        <a:xfrm>
          <a:off x="0" y="0"/>
          <a:ext cx="0" cy="0"/>
          <a:chOff x="0" y="0"/>
          <a:chExt cx="0" cy="0"/>
        </a:xfrm>
      </p:grpSpPr>
      <p:sp>
        <p:nvSpPr>
          <p:cNvPr id="1011" name="Google Shape;1011;p59"/>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A4C93"/>
              </a:buClr>
              <a:buSzPts val="1100"/>
              <a:buFont typeface="Calibri"/>
              <a:buNone/>
            </a:pPr>
            <a:r>
              <a:rPr lang="en-US" sz="1100" b="1" i="0" u="none" strike="noStrike" cap="none">
                <a:solidFill>
                  <a:srgbClr val="6A4C93"/>
                </a:solidFill>
                <a:latin typeface="Calibri"/>
                <a:ea typeface="Calibri"/>
                <a:cs typeface="Calibri"/>
                <a:sym typeface="Calibri"/>
              </a:rPr>
              <a:t>3.1 THE MOTIVATION</a:t>
            </a:r>
            <a:endParaRPr sz="1100" b="0" i="0" u="none" strike="noStrike" cap="none">
              <a:solidFill>
                <a:schemeClr val="dk1"/>
              </a:solidFill>
              <a:latin typeface="Calibri"/>
              <a:ea typeface="Calibri"/>
              <a:cs typeface="Calibri"/>
              <a:sym typeface="Calibri"/>
            </a:endParaRPr>
          </a:p>
        </p:txBody>
      </p:sp>
      <p:sp>
        <p:nvSpPr>
          <p:cNvPr id="1012" name="Google Shape;1012;p59"/>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Why Do We Need Temporal Reasoning?</a:t>
            </a:r>
            <a:endParaRPr sz="2300" b="0" i="0" u="none" strike="noStrike" cap="none">
              <a:solidFill>
                <a:schemeClr val="dk1"/>
              </a:solidFill>
              <a:latin typeface="Calibri"/>
              <a:ea typeface="Calibri"/>
              <a:cs typeface="Calibri"/>
              <a:sym typeface="Calibri"/>
            </a:endParaRPr>
          </a:p>
        </p:txBody>
      </p:sp>
      <p:cxnSp>
        <p:nvCxnSpPr>
          <p:cNvPr id="1013" name="Google Shape;1013;p59"/>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1014" name="Google Shape;1014;p59"/>
          <p:cNvSpPr/>
          <p:nvPr/>
        </p:nvSpPr>
        <p:spPr>
          <a:xfrm>
            <a:off x="457200" y="1645920"/>
            <a:ext cx="10607040" cy="1463040"/>
          </a:xfrm>
          <a:prstGeom prst="rect">
            <a:avLst/>
          </a:prstGeom>
          <a:noFill/>
          <a:ln>
            <a:noFill/>
          </a:ln>
        </p:spPr>
        <p:txBody>
          <a:bodyPr spcFirstLastPara="1" wrap="square" lIns="0" tIns="0" rIns="0" bIns="0" anchor="ctr" anchorCtr="0">
            <a:noAutofit/>
          </a:bodyPr>
          <a:lstStyle/>
          <a:p>
            <a:pPr marL="0" marR="0" lvl="0" indent="0" algn="l" rtl="0">
              <a:lnSpc>
                <a:spcPct val="128000"/>
              </a:lnSpc>
              <a:spcBef>
                <a:spcPts val="0"/>
              </a:spcBef>
              <a:spcAft>
                <a:spcPts val="0"/>
              </a:spcAft>
              <a:buClr>
                <a:srgbClr val="404040"/>
              </a:buClr>
              <a:buSzPts val="1450"/>
              <a:buFont typeface="Calibri"/>
              <a:buNone/>
            </a:pPr>
            <a:r>
              <a:rPr lang="en-US" sz="1450" b="0" i="0" u="none" strike="noStrike" cap="none">
                <a:solidFill>
                  <a:srgbClr val="404040"/>
                </a:solidFill>
                <a:latin typeface="Calibri"/>
                <a:ea typeface="Calibri"/>
                <a:cs typeface="Calibri"/>
                <a:sym typeface="Calibri"/>
              </a:rPr>
              <a:t>Consider a simple statement: "Ali is in Lahore." Is this always true? No — Ali may be in Lahore today, Islamabad tomorrow, and Dubai next week. The truth of the statement </a:t>
            </a:r>
            <a:r>
              <a:rPr lang="en-US" sz="1450" b="1" i="0" u="none" strike="noStrike" cap="none">
                <a:solidFill>
                  <a:srgbClr val="404040"/>
                </a:solidFill>
                <a:latin typeface="Calibri"/>
                <a:ea typeface="Calibri"/>
                <a:cs typeface="Calibri"/>
                <a:sym typeface="Calibri"/>
              </a:rPr>
              <a:t>changes with time</a:t>
            </a:r>
            <a:r>
              <a:rPr lang="en-US" sz="1450" b="0" i="0" u="none" strike="noStrike" cap="none">
                <a:solidFill>
                  <a:srgbClr val="404040"/>
                </a:solidFill>
                <a:latin typeface="Calibri"/>
                <a:ea typeface="Calibri"/>
                <a:cs typeface="Calibri"/>
                <a:sym typeface="Calibri"/>
              </a:rPr>
              <a:t>. Traditional logic represents facts as static truths, such as InCity(Ali, Lahore) — but this representation quietly ignores one critical question: </a:t>
            </a:r>
            <a:r>
              <a:rPr lang="en-US" sz="1450" b="1" i="1" u="none" strike="noStrike" cap="none">
                <a:solidFill>
                  <a:srgbClr val="404040"/>
                </a:solidFill>
                <a:latin typeface="Calibri"/>
                <a:ea typeface="Calibri"/>
                <a:cs typeface="Calibri"/>
                <a:sym typeface="Calibri"/>
              </a:rPr>
              <a:t>when?</a:t>
            </a:r>
            <a:r>
              <a:rPr lang="en-US" sz="1450" b="0" i="0" u="none" strike="noStrike" cap="none">
                <a:solidFill>
                  <a:srgbClr val="404040"/>
                </a:solidFill>
                <a:latin typeface="Calibri"/>
                <a:ea typeface="Calibri"/>
                <a:cs typeface="Calibri"/>
                <a:sym typeface="Calibri"/>
              </a:rPr>
              <a:t> Without time information, the knowledge is incomplete.</a:t>
            </a:r>
            <a:endParaRPr sz="1450" b="0" i="0" u="none" strike="noStrike" cap="none">
              <a:solidFill>
                <a:schemeClr val="dk1"/>
              </a:solidFill>
              <a:latin typeface="Calibri"/>
              <a:ea typeface="Calibri"/>
              <a:cs typeface="Calibri"/>
              <a:sym typeface="Calibri"/>
            </a:endParaRPr>
          </a:p>
        </p:txBody>
      </p:sp>
      <p:sp>
        <p:nvSpPr>
          <p:cNvPr id="1015" name="Google Shape;1015;p59"/>
          <p:cNvSpPr/>
          <p:nvPr/>
        </p:nvSpPr>
        <p:spPr>
          <a:xfrm>
            <a:off x="457200" y="3291840"/>
            <a:ext cx="10607040" cy="1280160"/>
          </a:xfrm>
          <a:prstGeom prst="rect">
            <a:avLst/>
          </a:prstGeom>
          <a:solidFill>
            <a:srgbClr val="FFF6EC"/>
          </a:solidFill>
          <a:ln w="9525" cap="flat" cmpd="sng">
            <a:solidFill>
              <a:srgbClr val="6A4C9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59"/>
          <p:cNvSpPr/>
          <p:nvPr/>
        </p:nvSpPr>
        <p:spPr>
          <a:xfrm>
            <a:off x="457200" y="3291840"/>
            <a:ext cx="64008" cy="1280160"/>
          </a:xfrm>
          <a:prstGeom prst="rect">
            <a:avLst/>
          </a:prstGeom>
          <a:solidFill>
            <a:srgbClr val="6A4C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59"/>
          <p:cNvSpPr/>
          <p:nvPr/>
        </p:nvSpPr>
        <p:spPr>
          <a:xfrm>
            <a:off x="685800" y="3401568"/>
            <a:ext cx="102412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A4C93"/>
              </a:buClr>
              <a:buSzPts val="1050"/>
              <a:buFont typeface="Calibri"/>
              <a:buNone/>
            </a:pPr>
            <a:r>
              <a:rPr lang="en-US" sz="1050" b="1" i="0" u="none" strike="noStrike" cap="none">
                <a:solidFill>
                  <a:srgbClr val="6A4C93"/>
                </a:solidFill>
                <a:latin typeface="Calibri"/>
                <a:ea typeface="Calibri"/>
                <a:cs typeface="Calibri"/>
                <a:sym typeface="Calibri"/>
              </a:rPr>
              <a:t>REAL-WORLD MOTIVATION: A HOSPITAL AI</a:t>
            </a:r>
            <a:endParaRPr sz="1050" b="0" i="0" u="none" strike="noStrike" cap="none">
              <a:solidFill>
                <a:schemeClr val="dk1"/>
              </a:solidFill>
              <a:latin typeface="Calibri"/>
              <a:ea typeface="Calibri"/>
              <a:cs typeface="Calibri"/>
              <a:sym typeface="Calibri"/>
            </a:endParaRPr>
          </a:p>
        </p:txBody>
      </p:sp>
      <p:sp>
        <p:nvSpPr>
          <p:cNvPr id="1018" name="Google Shape;1018;p59"/>
          <p:cNvSpPr/>
          <p:nvPr/>
        </p:nvSpPr>
        <p:spPr>
          <a:xfrm>
            <a:off x="685800" y="3694176"/>
            <a:ext cx="10195560" cy="78638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350"/>
              <a:buFont typeface="Calibri"/>
              <a:buNone/>
            </a:pPr>
            <a:r>
              <a:rPr lang="en-US" sz="1350" b="0" i="0" u="none" strike="noStrike" cap="none">
                <a:solidFill>
                  <a:srgbClr val="404040"/>
                </a:solidFill>
                <a:latin typeface="Calibri"/>
                <a:ea typeface="Calibri"/>
                <a:cs typeface="Calibri"/>
                <a:sym typeface="Calibri"/>
              </a:rPr>
              <a:t>At 8:00 AM, a patient is Stable. At 10:00 AM, the patient becomes Critical. At 1:00 PM, the patient is Recovering. If the AI ignores time, all three statements appear simultaneously true — a direct contradiction. Therefore, AI must explicitly represent when each fact holds.</a:t>
            </a:r>
            <a:endParaRPr sz="1350" b="0" i="0" u="none" strike="noStrike" cap="none">
              <a:solidFill>
                <a:schemeClr val="dk1"/>
              </a:solidFill>
              <a:latin typeface="Calibri"/>
              <a:ea typeface="Calibri"/>
              <a:cs typeface="Calibri"/>
              <a:sym typeface="Calibri"/>
            </a:endParaRPr>
          </a:p>
        </p:txBody>
      </p:sp>
      <p:sp>
        <p:nvSpPr>
          <p:cNvPr id="1019" name="Google Shape;1019;p59"/>
          <p:cNvSpPr/>
          <p:nvPr/>
        </p:nvSpPr>
        <p:spPr>
          <a:xfrm>
            <a:off x="457200" y="4800600"/>
            <a:ext cx="10607040" cy="54864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6B6B6B"/>
              </a:buClr>
              <a:buSzPts val="1350"/>
              <a:buFont typeface="Calibri"/>
              <a:buNone/>
            </a:pPr>
            <a:r>
              <a:rPr lang="en-US" sz="1350" b="0" i="1" u="none" strike="noStrike" cap="none">
                <a:solidFill>
                  <a:srgbClr val="6B6B6B"/>
                </a:solidFill>
                <a:latin typeface="Calibri"/>
                <a:ea typeface="Calibri"/>
                <a:cs typeface="Calibri"/>
                <a:sym typeface="Calibri"/>
              </a:rPr>
              <a:t>Most real-world AI systems must deal primarily with dynamic knowledge — facts whose truth changes over time, as shown on the next slide.</a:t>
            </a:r>
            <a:endParaRPr sz="1350" b="0" i="0" u="none" strike="noStrike" cap="none">
              <a:solidFill>
                <a:schemeClr val="dk1"/>
              </a:solidFill>
              <a:latin typeface="Calibri"/>
              <a:ea typeface="Calibri"/>
              <a:cs typeface="Calibri"/>
              <a:sym typeface="Calibri"/>
            </a:endParaRPr>
          </a:p>
        </p:txBody>
      </p:sp>
      <p:sp>
        <p:nvSpPr>
          <p:cNvPr id="1020" name="Google Shape;1020;p59"/>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17 / 40</a:t>
            </a:r>
            <a:endParaRPr sz="950" b="0" i="0" u="none" strike="noStrike" cap="none">
              <a:solidFill>
                <a:schemeClr val="dk1"/>
              </a:solidFill>
              <a:latin typeface="Calibri"/>
              <a:ea typeface="Calibri"/>
              <a:cs typeface="Calibri"/>
              <a:sym typeface="Calibri"/>
            </a:endParaRPr>
          </a:p>
        </p:txBody>
      </p:sp>
      <p:sp>
        <p:nvSpPr>
          <p:cNvPr id="1021" name="Google Shape;1021;p59"/>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26"/>
        <p:cNvGrpSpPr/>
        <p:nvPr/>
      </p:nvGrpSpPr>
      <p:grpSpPr>
        <a:xfrm>
          <a:off x="0" y="0"/>
          <a:ext cx="0" cy="0"/>
          <a:chOff x="0" y="0"/>
          <a:chExt cx="0" cy="0"/>
        </a:xfrm>
      </p:grpSpPr>
      <p:sp>
        <p:nvSpPr>
          <p:cNvPr id="1027" name="Google Shape;1027;p60"/>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A4C93"/>
              </a:buClr>
              <a:buSzPts val="1100"/>
              <a:buFont typeface="Calibri"/>
              <a:buNone/>
            </a:pPr>
            <a:r>
              <a:rPr lang="en-US" sz="1100" b="1" i="0" u="none" strike="noStrike" cap="none">
                <a:solidFill>
                  <a:srgbClr val="6A4C93"/>
                </a:solidFill>
                <a:latin typeface="Calibri"/>
                <a:ea typeface="Calibri"/>
                <a:cs typeface="Calibri"/>
                <a:sym typeface="Calibri"/>
              </a:rPr>
              <a:t>3.2 TWO KINDS OF KNOWLEDGE</a:t>
            </a:r>
            <a:endParaRPr sz="1100" b="0" i="0" u="none" strike="noStrike" cap="none">
              <a:solidFill>
                <a:schemeClr val="dk1"/>
              </a:solidFill>
              <a:latin typeface="Calibri"/>
              <a:ea typeface="Calibri"/>
              <a:cs typeface="Calibri"/>
              <a:sym typeface="Calibri"/>
            </a:endParaRPr>
          </a:p>
        </p:txBody>
      </p:sp>
      <p:sp>
        <p:nvSpPr>
          <p:cNvPr id="1028" name="Google Shape;1028;p60"/>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Static vs. Dynamic Knowledge</a:t>
            </a:r>
            <a:endParaRPr sz="2300" b="0" i="0" u="none" strike="noStrike" cap="none">
              <a:solidFill>
                <a:schemeClr val="dk1"/>
              </a:solidFill>
              <a:latin typeface="Calibri"/>
              <a:ea typeface="Calibri"/>
              <a:cs typeface="Calibri"/>
              <a:sym typeface="Calibri"/>
            </a:endParaRPr>
          </a:p>
        </p:txBody>
      </p:sp>
      <p:cxnSp>
        <p:nvCxnSpPr>
          <p:cNvPr id="1029" name="Google Shape;1029;p60"/>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graphicFrame>
        <p:nvGraphicFramePr>
          <p:cNvPr id="1030" name="Google Shape;1030;p60"/>
          <p:cNvGraphicFramePr/>
          <p:nvPr/>
        </p:nvGraphicFramePr>
        <p:xfrm>
          <a:off x="457200" y="1737360"/>
          <a:ext cx="10607050" cy="2743250"/>
        </p:xfrm>
        <a:graphic>
          <a:graphicData uri="http://schemas.openxmlformats.org/drawingml/2006/table">
            <a:tbl>
              <a:tblPr>
                <a:noFill/>
                <a:tableStyleId>{18CE5CEB-0992-447E-8985-1B7A4AD8BB01}</a:tableStyleId>
              </a:tblPr>
              <a:tblGrid>
                <a:gridCol w="5303525">
                  <a:extLst>
                    <a:ext uri="{9D8B030D-6E8A-4147-A177-3AD203B41FA5}">
                      <a16:colId xmlns:a16="http://schemas.microsoft.com/office/drawing/2014/main" val="20000"/>
                    </a:ext>
                  </a:extLst>
                </a:gridCol>
                <a:gridCol w="5303525">
                  <a:extLst>
                    <a:ext uri="{9D8B030D-6E8A-4147-A177-3AD203B41FA5}">
                      <a16:colId xmlns:a16="http://schemas.microsoft.com/office/drawing/2014/main" val="20001"/>
                    </a:ext>
                  </a:extLst>
                </a:gridCol>
              </a:tblGrid>
              <a:tr h="548650">
                <a:tc>
                  <a:txBody>
                    <a:bodyPr/>
                    <a:lstStyle/>
                    <a:p>
                      <a:pPr marL="0" marR="0" lvl="0" indent="0" algn="l" rtl="0">
                        <a:spcBef>
                          <a:spcPts val="0"/>
                        </a:spcBef>
                        <a:spcAft>
                          <a:spcPts val="0"/>
                        </a:spcAft>
                        <a:buClr>
                          <a:srgbClr val="FFFFFF"/>
                        </a:buClr>
                        <a:buSzPts val="1450"/>
                        <a:buFont typeface="Calibri"/>
                        <a:buNone/>
                      </a:pPr>
                      <a:r>
                        <a:rPr lang="en-US" sz="1450" b="1" u="none" strike="noStrike" cap="none">
                          <a:solidFill>
                            <a:srgbClr val="FFFFFF"/>
                          </a:solidFill>
                          <a:latin typeface="Calibri"/>
                          <a:ea typeface="Calibri"/>
                          <a:cs typeface="Calibri"/>
                          <a:sym typeface="Calibri"/>
                        </a:rPr>
                        <a:t>Static Knowledge</a:t>
                      </a:r>
                      <a:endParaRPr sz="14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6A4C93"/>
                    </a:solidFill>
                  </a:tcPr>
                </a:tc>
                <a:tc>
                  <a:txBody>
                    <a:bodyPr/>
                    <a:lstStyle/>
                    <a:p>
                      <a:pPr marL="0" marR="0" lvl="0" indent="0" algn="l" rtl="0">
                        <a:spcBef>
                          <a:spcPts val="0"/>
                        </a:spcBef>
                        <a:spcAft>
                          <a:spcPts val="0"/>
                        </a:spcAft>
                        <a:buClr>
                          <a:srgbClr val="FFFFFF"/>
                        </a:buClr>
                        <a:buSzPts val="1450"/>
                        <a:buFont typeface="Calibri"/>
                        <a:buNone/>
                      </a:pPr>
                      <a:r>
                        <a:rPr lang="en-US" sz="1450" b="1" u="none" strike="noStrike" cap="none">
                          <a:solidFill>
                            <a:srgbClr val="FFFFFF"/>
                          </a:solidFill>
                          <a:latin typeface="Calibri"/>
                          <a:ea typeface="Calibri"/>
                          <a:cs typeface="Calibri"/>
                          <a:sym typeface="Calibri"/>
                        </a:rPr>
                        <a:t>Dynamic Knowledge</a:t>
                      </a:r>
                      <a:endParaRPr sz="14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6A4C93"/>
                    </a:solidFill>
                  </a:tcPr>
                </a:tc>
                <a:extLst>
                  <a:ext uri="{0D108BD9-81ED-4DB2-BD59-A6C34878D82A}">
                    <a16:rowId xmlns:a16="http://schemas.microsoft.com/office/drawing/2014/main" val="10000"/>
                  </a:ext>
                </a:extLst>
              </a:tr>
              <a:tr h="548650">
                <a:tc>
                  <a:txBody>
                    <a:bodyPr/>
                    <a:lstStyle/>
                    <a:p>
                      <a:pPr marL="0" marR="0" lvl="0" indent="0" algn="l" rtl="0">
                        <a:spcBef>
                          <a:spcPts val="0"/>
                        </a:spcBef>
                        <a:spcAft>
                          <a:spcPts val="0"/>
                        </a:spcAft>
                        <a:buClr>
                          <a:srgbClr val="404040"/>
                        </a:buClr>
                        <a:buSzPts val="1400"/>
                        <a:buFont typeface="Calibri"/>
                        <a:buNone/>
                      </a:pPr>
                      <a:r>
                        <a:rPr lang="en-US" sz="1400" u="none" strike="noStrike" cap="none">
                          <a:solidFill>
                            <a:srgbClr val="404040"/>
                          </a:solidFill>
                          <a:latin typeface="Calibri"/>
                          <a:ea typeface="Calibri"/>
                          <a:cs typeface="Calibri"/>
                          <a:sym typeface="Calibri"/>
                        </a:rPr>
                        <a:t>2 + 2 = 4</a:t>
                      </a:r>
                      <a:endParaRPr sz="14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400"/>
                        <a:buFont typeface="Calibri"/>
                        <a:buNone/>
                      </a:pPr>
                      <a:r>
                        <a:rPr lang="en-US" sz="1400" u="none" strike="noStrike" cap="none">
                          <a:solidFill>
                            <a:srgbClr val="404040"/>
                          </a:solidFill>
                          <a:latin typeface="Calibri"/>
                          <a:ea typeface="Calibri"/>
                          <a:cs typeface="Calibri"/>
                          <a:sym typeface="Calibri"/>
                        </a:rPr>
                        <a:t>Ali is in Lahore</a:t>
                      </a:r>
                      <a:endParaRPr sz="14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548650">
                <a:tc>
                  <a:txBody>
                    <a:bodyPr/>
                    <a:lstStyle/>
                    <a:p>
                      <a:pPr marL="0" marR="0" lvl="0" indent="0" algn="l" rtl="0">
                        <a:spcBef>
                          <a:spcPts val="0"/>
                        </a:spcBef>
                        <a:spcAft>
                          <a:spcPts val="0"/>
                        </a:spcAft>
                        <a:buClr>
                          <a:srgbClr val="404040"/>
                        </a:buClr>
                        <a:buSzPts val="1400"/>
                        <a:buFont typeface="Calibri"/>
                        <a:buNone/>
                      </a:pPr>
                      <a:r>
                        <a:rPr lang="en-US" sz="1400" u="none" strike="noStrike" cap="none">
                          <a:solidFill>
                            <a:srgbClr val="404040"/>
                          </a:solidFill>
                          <a:latin typeface="Calibri"/>
                          <a:ea typeface="Calibri"/>
                          <a:cs typeface="Calibri"/>
                          <a:sym typeface="Calibri"/>
                        </a:rPr>
                        <a:t>Water boils at 100°C</a:t>
                      </a:r>
                      <a:endParaRPr sz="14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400"/>
                        <a:buFont typeface="Calibri"/>
                        <a:buNone/>
                      </a:pPr>
                      <a:r>
                        <a:rPr lang="en-US" sz="1400" u="none" strike="noStrike" cap="none">
                          <a:solidFill>
                            <a:srgbClr val="404040"/>
                          </a:solidFill>
                          <a:latin typeface="Calibri"/>
                          <a:ea typeface="Calibri"/>
                          <a:cs typeface="Calibri"/>
                          <a:sym typeface="Calibri"/>
                        </a:rPr>
                        <a:t>Temperature is 35°C</a:t>
                      </a:r>
                      <a:endParaRPr sz="14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extLst>
                  <a:ext uri="{0D108BD9-81ED-4DB2-BD59-A6C34878D82A}">
                    <a16:rowId xmlns:a16="http://schemas.microsoft.com/office/drawing/2014/main" val="10002"/>
                  </a:ext>
                </a:extLst>
              </a:tr>
              <a:tr h="548650">
                <a:tc>
                  <a:txBody>
                    <a:bodyPr/>
                    <a:lstStyle/>
                    <a:p>
                      <a:pPr marL="0" marR="0" lvl="0" indent="0" algn="l" rtl="0">
                        <a:spcBef>
                          <a:spcPts val="0"/>
                        </a:spcBef>
                        <a:spcAft>
                          <a:spcPts val="0"/>
                        </a:spcAft>
                        <a:buClr>
                          <a:srgbClr val="404040"/>
                        </a:buClr>
                        <a:buSzPts val="1400"/>
                        <a:buFont typeface="Calibri"/>
                        <a:buNone/>
                      </a:pPr>
                      <a:r>
                        <a:rPr lang="en-US" sz="1400" u="none" strike="noStrike" cap="none">
                          <a:solidFill>
                            <a:srgbClr val="404040"/>
                          </a:solidFill>
                          <a:latin typeface="Calibri"/>
                          <a:ea typeface="Calibri"/>
                          <a:cs typeface="Calibri"/>
                          <a:sym typeface="Calibri"/>
                        </a:rPr>
                        <a:t>Earth revolves around the Sun</a:t>
                      </a:r>
                      <a:endParaRPr sz="14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400"/>
                        <a:buFont typeface="Calibri"/>
                        <a:buNone/>
                      </a:pPr>
                      <a:r>
                        <a:rPr lang="en-US" sz="1400" u="none" strike="noStrike" cap="none">
                          <a:solidFill>
                            <a:srgbClr val="404040"/>
                          </a:solidFill>
                          <a:latin typeface="Calibri"/>
                          <a:ea typeface="Calibri"/>
                          <a:cs typeface="Calibri"/>
                          <a:sym typeface="Calibri"/>
                        </a:rPr>
                        <a:t>Traffic congestion is high</a:t>
                      </a:r>
                      <a:endParaRPr sz="14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548650">
                <a:tc>
                  <a:txBody>
                    <a:bodyPr/>
                    <a:lstStyle/>
                    <a:p>
                      <a:pPr marL="0" marR="0" lvl="0" indent="0" algn="l" rtl="0">
                        <a:spcBef>
                          <a:spcPts val="0"/>
                        </a:spcBef>
                        <a:spcAft>
                          <a:spcPts val="0"/>
                        </a:spcAft>
                        <a:buClr>
                          <a:srgbClr val="404040"/>
                        </a:buClr>
                        <a:buSzPts val="1400"/>
                        <a:buFont typeface="Calibri"/>
                        <a:buNone/>
                      </a:pPr>
                      <a:r>
                        <a:rPr lang="en-US" sz="1400" u="none" strike="noStrike" cap="none">
                          <a:solidFill>
                            <a:srgbClr val="404040"/>
                          </a:solidFill>
                          <a:latin typeface="Calibri"/>
                          <a:ea typeface="Calibri"/>
                          <a:cs typeface="Calibri"/>
                          <a:sym typeface="Calibri"/>
                        </a:rPr>
                        <a:t>Rarely changes</a:t>
                      </a:r>
                      <a:endParaRPr sz="14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400"/>
                        <a:buFont typeface="Calibri"/>
                        <a:buNone/>
                      </a:pPr>
                      <a:r>
                        <a:rPr lang="en-US" sz="1400" u="none" strike="noStrike" cap="none">
                          <a:solidFill>
                            <a:srgbClr val="404040"/>
                          </a:solidFill>
                          <a:latin typeface="Calibri"/>
                          <a:ea typeface="Calibri"/>
                          <a:cs typeface="Calibri"/>
                          <a:sym typeface="Calibri"/>
                        </a:rPr>
                        <a:t>Continuously changes</a:t>
                      </a:r>
                      <a:endParaRPr sz="14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extLst>
                  <a:ext uri="{0D108BD9-81ED-4DB2-BD59-A6C34878D82A}">
                    <a16:rowId xmlns:a16="http://schemas.microsoft.com/office/drawing/2014/main" val="10004"/>
                  </a:ext>
                </a:extLst>
              </a:tr>
            </a:tbl>
          </a:graphicData>
        </a:graphic>
      </p:graphicFrame>
      <p:sp>
        <p:nvSpPr>
          <p:cNvPr id="1031" name="Google Shape;1031;p60"/>
          <p:cNvSpPr/>
          <p:nvPr/>
        </p:nvSpPr>
        <p:spPr>
          <a:xfrm>
            <a:off x="457200" y="4206240"/>
            <a:ext cx="1060704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1550"/>
              <a:buFont typeface="Calibri"/>
              <a:buNone/>
            </a:pPr>
            <a:r>
              <a:rPr lang="en-US" sz="1550" b="1" i="0" u="none" strike="noStrike" cap="none">
                <a:solidFill>
                  <a:srgbClr val="404040"/>
                </a:solidFill>
                <a:latin typeface="Calibri"/>
                <a:ea typeface="Calibri"/>
                <a:cs typeface="Calibri"/>
                <a:sym typeface="Calibri"/>
              </a:rPr>
              <a:t>Application Areas Where Time Matters Most</a:t>
            </a:r>
            <a:endParaRPr sz="1550" b="0" i="0" u="none" strike="noStrike" cap="none">
              <a:solidFill>
                <a:schemeClr val="dk1"/>
              </a:solidFill>
              <a:latin typeface="Calibri"/>
              <a:ea typeface="Calibri"/>
              <a:cs typeface="Calibri"/>
              <a:sym typeface="Calibri"/>
            </a:endParaRPr>
          </a:p>
        </p:txBody>
      </p:sp>
      <p:graphicFrame>
        <p:nvGraphicFramePr>
          <p:cNvPr id="1032" name="Google Shape;1032;p60"/>
          <p:cNvGraphicFramePr/>
          <p:nvPr/>
        </p:nvGraphicFramePr>
        <p:xfrm>
          <a:off x="457200" y="4617720"/>
          <a:ext cx="10607050" cy="1645875"/>
        </p:xfrm>
        <a:graphic>
          <a:graphicData uri="http://schemas.openxmlformats.org/drawingml/2006/table">
            <a:tbl>
              <a:tblPr>
                <a:noFill/>
                <a:tableStyleId>{18CE5CEB-0992-447E-8985-1B7A4AD8BB01}</a:tableStyleId>
              </a:tblPr>
              <a:tblGrid>
                <a:gridCol w="3200400">
                  <a:extLst>
                    <a:ext uri="{9D8B030D-6E8A-4147-A177-3AD203B41FA5}">
                      <a16:colId xmlns:a16="http://schemas.microsoft.com/office/drawing/2014/main" val="20000"/>
                    </a:ext>
                  </a:extLst>
                </a:gridCol>
                <a:gridCol w="7406650">
                  <a:extLst>
                    <a:ext uri="{9D8B030D-6E8A-4147-A177-3AD203B41FA5}">
                      <a16:colId xmlns:a16="http://schemas.microsoft.com/office/drawing/2014/main" val="20001"/>
                    </a:ext>
                  </a:extLst>
                </a:gridCol>
              </a:tblGrid>
              <a:tr h="329175">
                <a:tc>
                  <a:txBody>
                    <a:bodyPr/>
                    <a:lstStyle/>
                    <a:p>
                      <a:pPr marL="0" marR="0" lvl="0" indent="0" algn="l" rtl="0">
                        <a:spcBef>
                          <a:spcPts val="0"/>
                        </a:spcBef>
                        <a:spcAft>
                          <a:spcPts val="0"/>
                        </a:spcAft>
                        <a:buClr>
                          <a:srgbClr val="FFFFFF"/>
                        </a:buClr>
                        <a:buSzPts val="1250"/>
                        <a:buFont typeface="Calibri"/>
                        <a:buNone/>
                      </a:pPr>
                      <a:r>
                        <a:rPr lang="en-US" sz="1250" b="1" u="none" strike="noStrike" cap="none">
                          <a:solidFill>
                            <a:srgbClr val="FFFFFF"/>
                          </a:solidFill>
                          <a:latin typeface="Calibri"/>
                          <a:ea typeface="Calibri"/>
                          <a:cs typeface="Calibri"/>
                          <a:sym typeface="Calibri"/>
                        </a:rPr>
                        <a:t>Application</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6A4C93"/>
                    </a:solidFill>
                  </a:tcPr>
                </a:tc>
                <a:tc>
                  <a:txBody>
                    <a:bodyPr/>
                    <a:lstStyle/>
                    <a:p>
                      <a:pPr marL="0" marR="0" lvl="0" indent="0" algn="l" rtl="0">
                        <a:spcBef>
                          <a:spcPts val="0"/>
                        </a:spcBef>
                        <a:spcAft>
                          <a:spcPts val="0"/>
                        </a:spcAft>
                        <a:buClr>
                          <a:srgbClr val="FFFFFF"/>
                        </a:buClr>
                        <a:buSzPts val="1250"/>
                        <a:buFont typeface="Calibri"/>
                        <a:buNone/>
                      </a:pPr>
                      <a:r>
                        <a:rPr lang="en-US" sz="1250" b="1" u="none" strike="noStrike" cap="none">
                          <a:solidFill>
                            <a:srgbClr val="FFFFFF"/>
                          </a:solidFill>
                          <a:latin typeface="Calibri"/>
                          <a:ea typeface="Calibri"/>
                          <a:cs typeface="Calibri"/>
                          <a:sym typeface="Calibri"/>
                        </a:rPr>
                        <a:t>Why Time Matters</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6A4C93"/>
                    </a:solidFill>
                  </a:tcPr>
                </a:tc>
                <a:extLst>
                  <a:ext uri="{0D108BD9-81ED-4DB2-BD59-A6C34878D82A}">
                    <a16:rowId xmlns:a16="http://schemas.microsoft.com/office/drawing/2014/main" val="10000"/>
                  </a:ext>
                </a:extLst>
              </a:tr>
              <a:tr h="329175">
                <a:tc>
                  <a:txBody>
                    <a:bodyPr/>
                    <a:lstStyle/>
                    <a:p>
                      <a:pPr marL="0" marR="0" lvl="0" indent="0" algn="l" rtl="0">
                        <a:spcBef>
                          <a:spcPts val="0"/>
                        </a:spcBef>
                        <a:spcAft>
                          <a:spcPts val="0"/>
                        </a:spcAft>
                        <a:buClr>
                          <a:srgbClr val="404040"/>
                        </a:buClr>
                        <a:buSzPts val="1200"/>
                        <a:buFont typeface="Calibri"/>
                        <a:buNone/>
                      </a:pPr>
                      <a:r>
                        <a:rPr lang="en-US" sz="1200" u="none" strike="noStrike" cap="none">
                          <a:solidFill>
                            <a:srgbClr val="404040"/>
                          </a:solidFill>
                          <a:latin typeface="Calibri"/>
                          <a:ea typeface="Calibri"/>
                          <a:cs typeface="Calibri"/>
                          <a:sym typeface="Calibri"/>
                        </a:rPr>
                        <a:t>Robotics</a:t>
                      </a:r>
                      <a:endParaRPr sz="12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200"/>
                        <a:buFont typeface="Calibri"/>
                        <a:buNone/>
                      </a:pPr>
                      <a:r>
                        <a:rPr lang="en-US" sz="1200" u="none" strike="noStrike" cap="none">
                          <a:solidFill>
                            <a:srgbClr val="404040"/>
                          </a:solidFill>
                          <a:latin typeface="Calibri"/>
                          <a:ea typeface="Calibri"/>
                          <a:cs typeface="Calibri"/>
                          <a:sym typeface="Calibri"/>
                        </a:rPr>
                        <a:t>Actions must occur in the correct sequence</a:t>
                      </a:r>
                      <a:endParaRPr sz="12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29175">
                <a:tc>
                  <a:txBody>
                    <a:bodyPr/>
                    <a:lstStyle/>
                    <a:p>
                      <a:pPr marL="0" marR="0" lvl="0" indent="0" algn="l" rtl="0">
                        <a:spcBef>
                          <a:spcPts val="0"/>
                        </a:spcBef>
                        <a:spcAft>
                          <a:spcPts val="0"/>
                        </a:spcAft>
                        <a:buClr>
                          <a:srgbClr val="404040"/>
                        </a:buClr>
                        <a:buSzPts val="1200"/>
                        <a:buFont typeface="Calibri"/>
                        <a:buNone/>
                      </a:pPr>
                      <a:r>
                        <a:rPr lang="en-US" sz="1200" u="none" strike="noStrike" cap="none">
                          <a:solidFill>
                            <a:srgbClr val="404040"/>
                          </a:solidFill>
                          <a:latin typeface="Calibri"/>
                          <a:ea typeface="Calibri"/>
                          <a:cs typeface="Calibri"/>
                          <a:sym typeface="Calibri"/>
                        </a:rPr>
                        <a:t>Healthcare</a:t>
                      </a:r>
                      <a:endParaRPr sz="12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200"/>
                        <a:buFont typeface="Calibri"/>
                        <a:buNone/>
                      </a:pPr>
                      <a:r>
                        <a:rPr lang="en-US" sz="1200" u="none" strike="noStrike" cap="none">
                          <a:solidFill>
                            <a:srgbClr val="404040"/>
                          </a:solidFill>
                          <a:latin typeface="Calibri"/>
                          <a:ea typeface="Calibri"/>
                          <a:cs typeface="Calibri"/>
                          <a:sym typeface="Calibri"/>
                        </a:rPr>
                        <a:t>Symptoms evolve over time</a:t>
                      </a:r>
                      <a:endParaRPr sz="12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extLst>
                  <a:ext uri="{0D108BD9-81ED-4DB2-BD59-A6C34878D82A}">
                    <a16:rowId xmlns:a16="http://schemas.microsoft.com/office/drawing/2014/main" val="10002"/>
                  </a:ext>
                </a:extLst>
              </a:tr>
              <a:tr h="329175">
                <a:tc>
                  <a:txBody>
                    <a:bodyPr/>
                    <a:lstStyle/>
                    <a:p>
                      <a:pPr marL="0" marR="0" lvl="0" indent="0" algn="l" rtl="0">
                        <a:spcBef>
                          <a:spcPts val="0"/>
                        </a:spcBef>
                        <a:spcAft>
                          <a:spcPts val="0"/>
                        </a:spcAft>
                        <a:buClr>
                          <a:srgbClr val="404040"/>
                        </a:buClr>
                        <a:buSzPts val="1200"/>
                        <a:buFont typeface="Calibri"/>
                        <a:buNone/>
                      </a:pPr>
                      <a:r>
                        <a:rPr lang="en-US" sz="1200" u="none" strike="noStrike" cap="none">
                          <a:solidFill>
                            <a:srgbClr val="404040"/>
                          </a:solidFill>
                          <a:latin typeface="Calibri"/>
                          <a:ea typeface="Calibri"/>
                          <a:cs typeface="Calibri"/>
                          <a:sym typeface="Calibri"/>
                        </a:rPr>
                        <a:t>Autonomous Vehicles</a:t>
                      </a:r>
                      <a:endParaRPr sz="12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200"/>
                        <a:buFont typeface="Calibri"/>
                        <a:buNone/>
                      </a:pPr>
                      <a:r>
                        <a:rPr lang="en-US" sz="1200" u="none" strike="noStrike" cap="none">
                          <a:solidFill>
                            <a:srgbClr val="404040"/>
                          </a:solidFill>
                          <a:latin typeface="Calibri"/>
                          <a:ea typeface="Calibri"/>
                          <a:cs typeface="Calibri"/>
                          <a:sym typeface="Calibri"/>
                        </a:rPr>
                        <a:t>Decisions must be made in milliseconds</a:t>
                      </a:r>
                      <a:endParaRPr sz="12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29175">
                <a:tc>
                  <a:txBody>
                    <a:bodyPr/>
                    <a:lstStyle/>
                    <a:p>
                      <a:pPr marL="0" marR="0" lvl="0" indent="0" algn="l" rtl="0">
                        <a:spcBef>
                          <a:spcPts val="0"/>
                        </a:spcBef>
                        <a:spcAft>
                          <a:spcPts val="0"/>
                        </a:spcAft>
                        <a:buClr>
                          <a:srgbClr val="404040"/>
                        </a:buClr>
                        <a:buSzPts val="1200"/>
                        <a:buFont typeface="Calibri"/>
                        <a:buNone/>
                      </a:pPr>
                      <a:r>
                        <a:rPr lang="en-US" sz="1200" u="none" strike="noStrike" cap="none">
                          <a:solidFill>
                            <a:srgbClr val="404040"/>
                          </a:solidFill>
                          <a:latin typeface="Calibri"/>
                          <a:ea typeface="Calibri"/>
                          <a:cs typeface="Calibri"/>
                          <a:sym typeface="Calibri"/>
                        </a:rPr>
                        <a:t>Finance / Security</a:t>
                      </a:r>
                      <a:endParaRPr sz="12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200"/>
                        <a:buFont typeface="Calibri"/>
                        <a:buNone/>
                      </a:pPr>
                      <a:r>
                        <a:rPr lang="en-US" sz="1200" u="none" strike="noStrike" cap="none">
                          <a:solidFill>
                            <a:srgbClr val="404040"/>
                          </a:solidFill>
                          <a:latin typeface="Calibri"/>
                          <a:ea typeface="Calibri"/>
                          <a:cs typeface="Calibri"/>
                          <a:sym typeface="Calibri"/>
                        </a:rPr>
                        <a:t>Markets and event sequences change moment to moment</a:t>
                      </a:r>
                      <a:endParaRPr sz="12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extLst>
                  <a:ext uri="{0D108BD9-81ED-4DB2-BD59-A6C34878D82A}">
                    <a16:rowId xmlns:a16="http://schemas.microsoft.com/office/drawing/2014/main" val="10004"/>
                  </a:ext>
                </a:extLst>
              </a:tr>
            </a:tbl>
          </a:graphicData>
        </a:graphic>
      </p:graphicFrame>
      <p:sp>
        <p:nvSpPr>
          <p:cNvPr id="1033" name="Google Shape;1033;p60"/>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17 / 40</a:t>
            </a:r>
            <a:endParaRPr sz="950" b="0" i="0" u="none" strike="noStrike" cap="none">
              <a:solidFill>
                <a:schemeClr val="dk1"/>
              </a:solidFill>
              <a:latin typeface="Calibri"/>
              <a:ea typeface="Calibri"/>
              <a:cs typeface="Calibri"/>
              <a:sym typeface="Calibri"/>
            </a:endParaRPr>
          </a:p>
        </p:txBody>
      </p:sp>
      <p:sp>
        <p:nvSpPr>
          <p:cNvPr id="1034" name="Google Shape;1034;p60"/>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39"/>
        <p:cNvGrpSpPr/>
        <p:nvPr/>
      </p:nvGrpSpPr>
      <p:grpSpPr>
        <a:xfrm>
          <a:off x="0" y="0"/>
          <a:ext cx="0" cy="0"/>
          <a:chOff x="0" y="0"/>
          <a:chExt cx="0" cy="0"/>
        </a:xfrm>
      </p:grpSpPr>
      <p:sp>
        <p:nvSpPr>
          <p:cNvPr id="1040" name="Google Shape;1040;p61"/>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A4C93"/>
              </a:buClr>
              <a:buSzPts val="1100"/>
              <a:buFont typeface="Calibri"/>
              <a:buNone/>
            </a:pPr>
            <a:r>
              <a:rPr lang="en-US" sz="1100" b="1" i="0" u="none" strike="noStrike" cap="none">
                <a:solidFill>
                  <a:srgbClr val="6A4C93"/>
                </a:solidFill>
                <a:latin typeface="Calibri"/>
                <a:ea typeface="Calibri"/>
                <a:cs typeface="Calibri"/>
                <a:sym typeface="Calibri"/>
              </a:rPr>
              <a:t>3.3 DEFINITION</a:t>
            </a:r>
            <a:endParaRPr sz="1100" b="0" i="0" u="none" strike="noStrike" cap="none">
              <a:solidFill>
                <a:schemeClr val="dk1"/>
              </a:solidFill>
              <a:latin typeface="Calibri"/>
              <a:ea typeface="Calibri"/>
              <a:cs typeface="Calibri"/>
              <a:sym typeface="Calibri"/>
            </a:endParaRPr>
          </a:p>
        </p:txBody>
      </p:sp>
      <p:sp>
        <p:nvSpPr>
          <p:cNvPr id="1041" name="Google Shape;1041;p61"/>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What Is Temporal Reasoning?</a:t>
            </a:r>
            <a:endParaRPr sz="2300" b="0" i="0" u="none" strike="noStrike" cap="none">
              <a:solidFill>
                <a:schemeClr val="dk1"/>
              </a:solidFill>
              <a:latin typeface="Calibri"/>
              <a:ea typeface="Calibri"/>
              <a:cs typeface="Calibri"/>
              <a:sym typeface="Calibri"/>
            </a:endParaRPr>
          </a:p>
        </p:txBody>
      </p:sp>
      <p:cxnSp>
        <p:nvCxnSpPr>
          <p:cNvPr id="1042" name="Google Shape;1042;p61"/>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1043" name="Google Shape;1043;p61"/>
          <p:cNvSpPr/>
          <p:nvPr/>
        </p:nvSpPr>
        <p:spPr>
          <a:xfrm>
            <a:off x="914400" y="1920240"/>
            <a:ext cx="10360152" cy="1828800"/>
          </a:xfrm>
          <a:prstGeom prst="rect">
            <a:avLst/>
          </a:prstGeom>
          <a:solidFill>
            <a:srgbClr val="EFEAF6"/>
          </a:solidFill>
          <a:ln w="9525" cap="flat" cmpd="sng">
            <a:solidFill>
              <a:srgbClr val="6A4C9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61"/>
          <p:cNvSpPr/>
          <p:nvPr/>
        </p:nvSpPr>
        <p:spPr>
          <a:xfrm>
            <a:off x="914400" y="1920240"/>
            <a:ext cx="64008" cy="1828800"/>
          </a:xfrm>
          <a:prstGeom prst="rect">
            <a:avLst/>
          </a:prstGeom>
          <a:solidFill>
            <a:srgbClr val="6A4C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61"/>
          <p:cNvSpPr/>
          <p:nvPr/>
        </p:nvSpPr>
        <p:spPr>
          <a:xfrm>
            <a:off x="1143000" y="2029968"/>
            <a:ext cx="9994392"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A4C93"/>
              </a:buClr>
              <a:buSzPts val="1050"/>
              <a:buFont typeface="Calibri"/>
              <a:buNone/>
            </a:pPr>
            <a:r>
              <a:rPr lang="en-US" sz="1050" b="1" i="0" u="none" strike="noStrike" cap="none">
                <a:solidFill>
                  <a:srgbClr val="6A4C93"/>
                </a:solidFill>
                <a:latin typeface="Calibri"/>
                <a:ea typeface="Calibri"/>
                <a:cs typeface="Calibri"/>
                <a:sym typeface="Calibri"/>
              </a:rPr>
              <a:t>DEFINITION</a:t>
            </a:r>
            <a:endParaRPr sz="1050" b="0" i="0" u="none" strike="noStrike" cap="none">
              <a:solidFill>
                <a:schemeClr val="dk1"/>
              </a:solidFill>
              <a:latin typeface="Calibri"/>
              <a:ea typeface="Calibri"/>
              <a:cs typeface="Calibri"/>
              <a:sym typeface="Calibri"/>
            </a:endParaRPr>
          </a:p>
        </p:txBody>
      </p:sp>
      <p:sp>
        <p:nvSpPr>
          <p:cNvPr id="1046" name="Google Shape;1046;p61"/>
          <p:cNvSpPr/>
          <p:nvPr/>
        </p:nvSpPr>
        <p:spPr>
          <a:xfrm>
            <a:off x="1143000" y="2322576"/>
            <a:ext cx="9948672" cy="133502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600"/>
              <a:buFont typeface="Calibri"/>
              <a:buNone/>
            </a:pPr>
            <a:r>
              <a:rPr lang="en-US" sz="1600" b="0" i="0" u="none" strike="noStrike" cap="none">
                <a:solidFill>
                  <a:srgbClr val="404040"/>
                </a:solidFill>
                <a:latin typeface="Calibri"/>
                <a:ea typeface="Calibri"/>
                <a:cs typeface="Calibri"/>
                <a:sym typeface="Calibri"/>
              </a:rPr>
              <a:t>Temporal reasoning is the ability of an AI system to represent, understand, and reason about time-dependent information — answering questions like "What happened first?", "How long did something last?", "Did two events overlap?", and "What state existed before/after an event?"</a:t>
            </a:r>
            <a:endParaRPr sz="1600" b="0" i="0" u="none" strike="noStrike" cap="none">
              <a:solidFill>
                <a:schemeClr val="dk1"/>
              </a:solidFill>
              <a:latin typeface="Calibri"/>
              <a:ea typeface="Calibri"/>
              <a:cs typeface="Calibri"/>
              <a:sym typeface="Calibri"/>
            </a:endParaRPr>
          </a:p>
        </p:txBody>
      </p:sp>
      <p:sp>
        <p:nvSpPr>
          <p:cNvPr id="1047" name="Google Shape;1047;p61"/>
          <p:cNvSpPr/>
          <p:nvPr/>
        </p:nvSpPr>
        <p:spPr>
          <a:xfrm>
            <a:off x="914400" y="3977640"/>
            <a:ext cx="10360152" cy="128016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404040"/>
              </a:buClr>
              <a:buSzPts val="1450"/>
              <a:buFont typeface="Calibri"/>
              <a:buNone/>
            </a:pPr>
            <a:r>
              <a:rPr lang="en-US" sz="1450" b="0" i="0" u="none" strike="noStrike" cap="none">
                <a:solidFill>
                  <a:srgbClr val="404040"/>
                </a:solidFill>
                <a:latin typeface="Calibri"/>
                <a:ea typeface="Calibri"/>
                <a:cs typeface="Calibri"/>
                <a:sym typeface="Calibri"/>
              </a:rPr>
              <a:t>Humans perform temporal reasoning constantly and effortlessly. Told </a:t>
            </a:r>
            <a:r>
              <a:rPr lang="en-US" sz="1450" b="0" i="1" u="none" strike="noStrike" cap="none">
                <a:solidFill>
                  <a:srgbClr val="404040"/>
                </a:solidFill>
                <a:latin typeface="Calibri"/>
                <a:ea typeface="Calibri"/>
                <a:cs typeface="Calibri"/>
                <a:sym typeface="Calibri"/>
              </a:rPr>
              <a:t>"Ali graduated in 2024"</a:t>
            </a:r>
            <a:r>
              <a:rPr lang="en-US" sz="1450" b="0" i="0" u="none" strike="noStrike" cap="none">
                <a:solidFill>
                  <a:srgbClr val="404040"/>
                </a:solidFill>
                <a:latin typeface="Calibri"/>
                <a:ea typeface="Calibri"/>
                <a:cs typeface="Calibri"/>
                <a:sym typeface="Calibri"/>
              </a:rPr>
              <a:t> and </a:t>
            </a:r>
            <a:r>
              <a:rPr lang="en-US" sz="1450" b="0" i="1" u="none" strike="noStrike" cap="none">
                <a:solidFill>
                  <a:srgbClr val="404040"/>
                </a:solidFill>
                <a:latin typeface="Calibri"/>
                <a:ea typeface="Calibri"/>
                <a:cs typeface="Calibri"/>
                <a:sym typeface="Calibri"/>
              </a:rPr>
              <a:t>"Ali started a job in 2025,"</a:t>
            </a:r>
            <a:r>
              <a:rPr lang="en-US" sz="1450" b="0" i="0" u="none" strike="noStrike" cap="none">
                <a:solidFill>
                  <a:srgbClr val="404040"/>
                </a:solidFill>
                <a:latin typeface="Calibri"/>
                <a:ea typeface="Calibri"/>
                <a:cs typeface="Calibri"/>
                <a:sym typeface="Calibri"/>
              </a:rPr>
              <a:t> we instantly infer graduation happened first — no visible reasoning process is needed. AI, however, must do this </a:t>
            </a:r>
            <a:r>
              <a:rPr lang="en-US" sz="1450" b="1" i="0" u="none" strike="noStrike" cap="none">
                <a:solidFill>
                  <a:srgbClr val="404040"/>
                </a:solidFill>
                <a:latin typeface="Calibri"/>
                <a:ea typeface="Calibri"/>
                <a:cs typeface="Calibri"/>
                <a:sym typeface="Calibri"/>
              </a:rPr>
              <a:t>explicitly</a:t>
            </a:r>
            <a:r>
              <a:rPr lang="en-US" sz="1450" b="0" i="0" u="none" strike="noStrike" cap="none">
                <a:solidFill>
                  <a:srgbClr val="404040"/>
                </a:solidFill>
                <a:latin typeface="Calibri"/>
                <a:ea typeface="Calibri"/>
                <a:cs typeface="Calibri"/>
                <a:sym typeface="Calibri"/>
              </a:rPr>
              <a:t>.</a:t>
            </a:r>
            <a:endParaRPr sz="1450" b="0" i="0" u="none" strike="noStrike" cap="none">
              <a:solidFill>
                <a:schemeClr val="dk1"/>
              </a:solidFill>
              <a:latin typeface="Calibri"/>
              <a:ea typeface="Calibri"/>
              <a:cs typeface="Calibri"/>
              <a:sym typeface="Calibri"/>
            </a:endParaRPr>
          </a:p>
        </p:txBody>
      </p:sp>
      <p:sp>
        <p:nvSpPr>
          <p:cNvPr id="1048" name="Google Shape;1048;p61"/>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17 / 40</a:t>
            </a:r>
            <a:endParaRPr sz="950" b="0" i="0" u="none" strike="noStrike" cap="none">
              <a:solidFill>
                <a:schemeClr val="dk1"/>
              </a:solidFill>
              <a:latin typeface="Calibri"/>
              <a:ea typeface="Calibri"/>
              <a:cs typeface="Calibri"/>
              <a:sym typeface="Calibri"/>
            </a:endParaRPr>
          </a:p>
        </p:txBody>
      </p:sp>
      <p:sp>
        <p:nvSpPr>
          <p:cNvPr id="1049" name="Google Shape;1049;p61"/>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54"/>
        <p:cNvGrpSpPr/>
        <p:nvPr/>
      </p:nvGrpSpPr>
      <p:grpSpPr>
        <a:xfrm>
          <a:off x="0" y="0"/>
          <a:ext cx="0" cy="0"/>
          <a:chOff x="0" y="0"/>
          <a:chExt cx="0" cy="0"/>
        </a:xfrm>
      </p:grpSpPr>
      <p:sp>
        <p:nvSpPr>
          <p:cNvPr id="1055" name="Google Shape;1055;p62"/>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A4C93"/>
              </a:buClr>
              <a:buSzPts val="1100"/>
              <a:buFont typeface="Calibri"/>
              <a:buNone/>
            </a:pPr>
            <a:r>
              <a:rPr lang="en-US" sz="1100" b="1" i="0" u="none" strike="noStrike" cap="none">
                <a:solidFill>
                  <a:srgbClr val="6A4C93"/>
                </a:solidFill>
                <a:latin typeface="Calibri"/>
                <a:ea typeface="Calibri"/>
                <a:cs typeface="Calibri"/>
                <a:sym typeface="Calibri"/>
              </a:rPr>
              <a:t>3.4 REPRESENTING TIME</a:t>
            </a:r>
            <a:endParaRPr sz="1100" b="0" i="0" u="none" strike="noStrike" cap="none">
              <a:solidFill>
                <a:schemeClr val="dk1"/>
              </a:solidFill>
              <a:latin typeface="Calibri"/>
              <a:ea typeface="Calibri"/>
              <a:cs typeface="Calibri"/>
              <a:sym typeface="Calibri"/>
            </a:endParaRPr>
          </a:p>
        </p:txBody>
      </p:sp>
      <p:sp>
        <p:nvSpPr>
          <p:cNvPr id="1056" name="Google Shape;1056;p62"/>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Representing Time: Points vs. Intervals</a:t>
            </a:r>
            <a:endParaRPr sz="2300" b="0" i="0" u="none" strike="noStrike" cap="none">
              <a:solidFill>
                <a:schemeClr val="dk1"/>
              </a:solidFill>
              <a:latin typeface="Calibri"/>
              <a:ea typeface="Calibri"/>
              <a:cs typeface="Calibri"/>
              <a:sym typeface="Calibri"/>
            </a:endParaRPr>
          </a:p>
        </p:txBody>
      </p:sp>
      <p:cxnSp>
        <p:nvCxnSpPr>
          <p:cNvPr id="1057" name="Google Shape;1057;p62"/>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1058" name="Google Shape;1058;p62"/>
          <p:cNvSpPr/>
          <p:nvPr/>
        </p:nvSpPr>
        <p:spPr>
          <a:xfrm>
            <a:off x="457200" y="1737360"/>
            <a:ext cx="5303520" cy="502920"/>
          </a:xfrm>
          <a:prstGeom prst="rect">
            <a:avLst/>
          </a:prstGeom>
          <a:solidFill>
            <a:srgbClr val="1F4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62"/>
          <p:cNvSpPr/>
          <p:nvPr/>
        </p:nvSpPr>
        <p:spPr>
          <a:xfrm>
            <a:off x="457200" y="1737360"/>
            <a:ext cx="530352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Calibri"/>
              <a:buNone/>
            </a:pPr>
            <a:r>
              <a:rPr lang="en-US" sz="1500" b="1" i="0" u="none" strike="noStrike" cap="none">
                <a:solidFill>
                  <a:srgbClr val="FFFFFF"/>
                </a:solidFill>
                <a:latin typeface="Calibri"/>
                <a:ea typeface="Calibri"/>
                <a:cs typeface="Calibri"/>
                <a:sym typeface="Calibri"/>
              </a:rPr>
              <a:t>Point-Based Representation</a:t>
            </a:r>
            <a:endParaRPr sz="1500" b="0" i="0" u="none" strike="noStrike" cap="none">
              <a:solidFill>
                <a:schemeClr val="dk1"/>
              </a:solidFill>
              <a:latin typeface="Calibri"/>
              <a:ea typeface="Calibri"/>
              <a:cs typeface="Calibri"/>
              <a:sym typeface="Calibri"/>
            </a:endParaRPr>
          </a:p>
        </p:txBody>
      </p:sp>
      <p:sp>
        <p:nvSpPr>
          <p:cNvPr id="1060" name="Google Shape;1060;p62"/>
          <p:cNvSpPr/>
          <p:nvPr/>
        </p:nvSpPr>
        <p:spPr>
          <a:xfrm>
            <a:off x="457200" y="2286000"/>
            <a:ext cx="5303520" cy="2194560"/>
          </a:xfrm>
          <a:prstGeom prst="rect">
            <a:avLst/>
          </a:prstGeom>
          <a:solidFill>
            <a:srgbClr val="F7F9FA"/>
          </a:solidFill>
          <a:ln w="9525" cap="flat" cmpd="sng">
            <a:solidFill>
              <a:srgbClr val="DDE3E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62"/>
          <p:cNvSpPr/>
          <p:nvPr/>
        </p:nvSpPr>
        <p:spPr>
          <a:xfrm>
            <a:off x="685800" y="2423160"/>
            <a:ext cx="4846320" cy="192024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404040"/>
              </a:buClr>
              <a:buSzPts val="1300"/>
              <a:buFont typeface="Calibri"/>
              <a:buNone/>
            </a:pPr>
            <a:r>
              <a:rPr lang="en-US" sz="1300" b="0" i="0" u="none" strike="noStrike" cap="none">
                <a:solidFill>
                  <a:srgbClr val="404040"/>
                </a:solidFill>
                <a:latin typeface="Calibri"/>
                <a:ea typeface="Calibri"/>
                <a:cs typeface="Calibri"/>
                <a:sym typeface="Calibri"/>
              </a:rPr>
              <a:t>Treats time as individual instants, like ticks on a clock (8:00 AM, 9:00 AM, 10:00 AM…). Simple and works well for timestamps, but becomes inefficient for long activities — representing "Ali studied from 8 PM to 11 PM" minute-by-minute would be wasteful.</a:t>
            </a:r>
            <a:endParaRPr sz="1300" b="0" i="0" u="none" strike="noStrike" cap="none">
              <a:solidFill>
                <a:schemeClr val="dk1"/>
              </a:solidFill>
              <a:latin typeface="Calibri"/>
              <a:ea typeface="Calibri"/>
              <a:cs typeface="Calibri"/>
              <a:sym typeface="Calibri"/>
            </a:endParaRPr>
          </a:p>
        </p:txBody>
      </p:sp>
      <p:sp>
        <p:nvSpPr>
          <p:cNvPr id="1062" name="Google Shape;1062;p62"/>
          <p:cNvSpPr/>
          <p:nvPr/>
        </p:nvSpPr>
        <p:spPr>
          <a:xfrm>
            <a:off x="5897880" y="1737360"/>
            <a:ext cx="5303520" cy="502920"/>
          </a:xfrm>
          <a:prstGeom prst="rect">
            <a:avLst/>
          </a:prstGeom>
          <a:solidFill>
            <a:srgbClr val="6A4C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62"/>
          <p:cNvSpPr/>
          <p:nvPr/>
        </p:nvSpPr>
        <p:spPr>
          <a:xfrm>
            <a:off x="5897880" y="1737360"/>
            <a:ext cx="530352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Calibri"/>
              <a:buNone/>
            </a:pPr>
            <a:r>
              <a:rPr lang="en-US" sz="1500" b="1" i="0" u="none" strike="noStrike" cap="none">
                <a:solidFill>
                  <a:srgbClr val="FFFFFF"/>
                </a:solidFill>
                <a:latin typeface="Calibri"/>
                <a:ea typeface="Calibri"/>
                <a:cs typeface="Calibri"/>
                <a:sym typeface="Calibri"/>
              </a:rPr>
              <a:t>Interval-Based Representation</a:t>
            </a:r>
            <a:endParaRPr sz="1500" b="0" i="0" u="none" strike="noStrike" cap="none">
              <a:solidFill>
                <a:schemeClr val="dk1"/>
              </a:solidFill>
              <a:latin typeface="Calibri"/>
              <a:ea typeface="Calibri"/>
              <a:cs typeface="Calibri"/>
              <a:sym typeface="Calibri"/>
            </a:endParaRPr>
          </a:p>
        </p:txBody>
      </p:sp>
      <p:sp>
        <p:nvSpPr>
          <p:cNvPr id="1064" name="Google Shape;1064;p62"/>
          <p:cNvSpPr/>
          <p:nvPr/>
        </p:nvSpPr>
        <p:spPr>
          <a:xfrm>
            <a:off x="5897880" y="2286000"/>
            <a:ext cx="5303520" cy="2194560"/>
          </a:xfrm>
          <a:prstGeom prst="rect">
            <a:avLst/>
          </a:prstGeom>
          <a:solidFill>
            <a:srgbClr val="F7F9FA"/>
          </a:solidFill>
          <a:ln w="9525" cap="flat" cmpd="sng">
            <a:solidFill>
              <a:srgbClr val="DDE3E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62"/>
          <p:cNvSpPr/>
          <p:nvPr/>
        </p:nvSpPr>
        <p:spPr>
          <a:xfrm>
            <a:off x="6126480" y="2423160"/>
            <a:ext cx="4846320" cy="192024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404040"/>
              </a:buClr>
              <a:buSzPts val="1300"/>
              <a:buFont typeface="Calibri"/>
              <a:buNone/>
            </a:pPr>
            <a:r>
              <a:rPr lang="en-US" sz="1300" b="0" i="0" u="none" strike="noStrike" cap="none">
                <a:solidFill>
                  <a:srgbClr val="404040"/>
                </a:solidFill>
                <a:latin typeface="Calibri"/>
                <a:ea typeface="Calibri"/>
                <a:cs typeface="Calibri"/>
                <a:sym typeface="Calibri"/>
              </a:rPr>
              <a:t>Treats an entire duration — a meeting, a class, a surgery, an exam — as a single object with a start and an end. Far more natural for real-world activities, which almost always have duration rather than being instantaneous.</a:t>
            </a:r>
            <a:endParaRPr sz="1300" b="0" i="0" u="none" strike="noStrike" cap="none">
              <a:solidFill>
                <a:schemeClr val="dk1"/>
              </a:solidFill>
              <a:latin typeface="Calibri"/>
              <a:ea typeface="Calibri"/>
              <a:cs typeface="Calibri"/>
              <a:sym typeface="Calibri"/>
            </a:endParaRPr>
          </a:p>
        </p:txBody>
      </p:sp>
      <p:graphicFrame>
        <p:nvGraphicFramePr>
          <p:cNvPr id="1066" name="Google Shape;1066;p62"/>
          <p:cNvGraphicFramePr/>
          <p:nvPr/>
        </p:nvGraphicFramePr>
        <p:xfrm>
          <a:off x="457200" y="4754880"/>
          <a:ext cx="10607025" cy="1508775"/>
        </p:xfrm>
        <a:graphic>
          <a:graphicData uri="http://schemas.openxmlformats.org/drawingml/2006/table">
            <a:tbl>
              <a:tblPr>
                <a:noFill/>
                <a:tableStyleId>{18CE5CEB-0992-447E-8985-1B7A4AD8BB01}</a:tableStyleId>
              </a:tblPr>
              <a:tblGrid>
                <a:gridCol w="3017525">
                  <a:extLst>
                    <a:ext uri="{9D8B030D-6E8A-4147-A177-3AD203B41FA5}">
                      <a16:colId xmlns:a16="http://schemas.microsoft.com/office/drawing/2014/main" val="20000"/>
                    </a:ext>
                  </a:extLst>
                </a:gridCol>
                <a:gridCol w="3108950">
                  <a:extLst>
                    <a:ext uri="{9D8B030D-6E8A-4147-A177-3AD203B41FA5}">
                      <a16:colId xmlns:a16="http://schemas.microsoft.com/office/drawing/2014/main" val="20001"/>
                    </a:ext>
                  </a:extLst>
                </a:gridCol>
                <a:gridCol w="4480550">
                  <a:extLst>
                    <a:ext uri="{9D8B030D-6E8A-4147-A177-3AD203B41FA5}">
                      <a16:colId xmlns:a16="http://schemas.microsoft.com/office/drawing/2014/main" val="20002"/>
                    </a:ext>
                  </a:extLst>
                </a:gridCol>
              </a:tblGrid>
              <a:tr h="502925">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Concept</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6A4C93"/>
                    </a:solidFill>
                  </a:tcPr>
                </a:tc>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What It Captures</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6A4C93"/>
                    </a:solidFill>
                  </a:tcPr>
                </a:tc>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Typical Use</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6A4C93"/>
                    </a:solidFill>
                  </a:tcPr>
                </a:tc>
                <a:extLst>
                  <a:ext uri="{0D108BD9-81ED-4DB2-BD59-A6C34878D82A}">
                    <a16:rowId xmlns:a16="http://schemas.microsoft.com/office/drawing/2014/main" val="10000"/>
                  </a:ext>
                </a:extLst>
              </a:tr>
              <a:tr h="502925">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Point-based time</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Instant moments only</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Simple event ordering, timestamps</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502925">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Interval-based time (Allen's Algebra)</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Durations and overlaps</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Scheduling, calendars, narratives</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extLst>
                  <a:ext uri="{0D108BD9-81ED-4DB2-BD59-A6C34878D82A}">
                    <a16:rowId xmlns:a16="http://schemas.microsoft.com/office/drawing/2014/main" val="10002"/>
                  </a:ext>
                </a:extLst>
              </a:tr>
            </a:tbl>
          </a:graphicData>
        </a:graphic>
      </p:graphicFrame>
      <p:sp>
        <p:nvSpPr>
          <p:cNvPr id="1067" name="Google Shape;1067;p62"/>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18 / 40</a:t>
            </a:r>
            <a:endParaRPr sz="950" b="0" i="0" u="none" strike="noStrike" cap="none">
              <a:solidFill>
                <a:schemeClr val="dk1"/>
              </a:solidFill>
              <a:latin typeface="Calibri"/>
              <a:ea typeface="Calibri"/>
              <a:cs typeface="Calibri"/>
              <a:sym typeface="Calibri"/>
            </a:endParaRPr>
          </a:p>
        </p:txBody>
      </p:sp>
      <p:sp>
        <p:nvSpPr>
          <p:cNvPr id="1068" name="Google Shape;1068;p62"/>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73"/>
        <p:cNvGrpSpPr/>
        <p:nvPr/>
      </p:nvGrpSpPr>
      <p:grpSpPr>
        <a:xfrm>
          <a:off x="0" y="0"/>
          <a:ext cx="0" cy="0"/>
          <a:chOff x="0" y="0"/>
          <a:chExt cx="0" cy="0"/>
        </a:xfrm>
      </p:grpSpPr>
      <p:sp>
        <p:nvSpPr>
          <p:cNvPr id="1074" name="Google Shape;1074;p63"/>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A4C93"/>
              </a:buClr>
              <a:buSzPts val="1100"/>
              <a:buFont typeface="Calibri"/>
              <a:buNone/>
            </a:pPr>
            <a:r>
              <a:rPr lang="en-US" sz="1100" b="1" i="0" u="none" strike="noStrike" cap="none">
                <a:solidFill>
                  <a:srgbClr val="6A4C93"/>
                </a:solidFill>
                <a:latin typeface="Calibri"/>
                <a:ea typeface="Calibri"/>
                <a:cs typeface="Calibri"/>
                <a:sym typeface="Calibri"/>
              </a:rPr>
              <a:t>3.5 ALLEN'S INTERVAL ALGEBRA</a:t>
            </a:r>
            <a:endParaRPr sz="1100" b="0" i="0" u="none" strike="noStrike" cap="none">
              <a:solidFill>
                <a:schemeClr val="dk1"/>
              </a:solidFill>
              <a:latin typeface="Calibri"/>
              <a:ea typeface="Calibri"/>
              <a:cs typeface="Calibri"/>
              <a:sym typeface="Calibri"/>
            </a:endParaRPr>
          </a:p>
        </p:txBody>
      </p:sp>
      <p:sp>
        <p:nvSpPr>
          <p:cNvPr id="1075" name="Google Shape;1075;p63"/>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All Thirteen Relations</a:t>
            </a:r>
            <a:endParaRPr sz="2300" b="0" i="0" u="none" strike="noStrike" cap="none">
              <a:solidFill>
                <a:schemeClr val="dk1"/>
              </a:solidFill>
              <a:latin typeface="Calibri"/>
              <a:ea typeface="Calibri"/>
              <a:cs typeface="Calibri"/>
              <a:sym typeface="Calibri"/>
            </a:endParaRPr>
          </a:p>
        </p:txBody>
      </p:sp>
      <p:cxnSp>
        <p:nvCxnSpPr>
          <p:cNvPr id="1076" name="Google Shape;1076;p63"/>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1077" name="Google Shape;1077;p63"/>
          <p:cNvSpPr/>
          <p:nvPr/>
        </p:nvSpPr>
        <p:spPr>
          <a:xfrm>
            <a:off x="457200" y="1600200"/>
            <a:ext cx="10607040" cy="77724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404040"/>
              </a:buClr>
              <a:buSzPts val="1400"/>
              <a:buFont typeface="Calibri"/>
              <a:buNone/>
            </a:pPr>
            <a:r>
              <a:rPr lang="en-US" sz="1400" b="0" i="0" u="none" strike="noStrike" cap="none">
                <a:solidFill>
                  <a:srgbClr val="404040"/>
                </a:solidFill>
                <a:latin typeface="Calibri"/>
                <a:ea typeface="Calibri"/>
                <a:cs typeface="Calibri"/>
                <a:sym typeface="Calibri"/>
              </a:rPr>
              <a:t>Introduced by </a:t>
            </a:r>
            <a:r>
              <a:rPr lang="en-US" sz="1400" b="1" i="0" u="none" strike="noStrike" cap="none">
                <a:solidFill>
                  <a:srgbClr val="404040"/>
                </a:solidFill>
                <a:latin typeface="Calibri"/>
                <a:ea typeface="Calibri"/>
                <a:cs typeface="Calibri"/>
                <a:sym typeface="Calibri"/>
              </a:rPr>
              <a:t>James F. Allen in 1983</a:t>
            </a:r>
            <a:r>
              <a:rPr lang="en-US" sz="1400" b="0" i="0" u="none" strike="noStrike" cap="none">
                <a:solidFill>
                  <a:srgbClr val="404040"/>
                </a:solidFill>
                <a:latin typeface="Calibri"/>
                <a:ea typeface="Calibri"/>
                <a:cs typeface="Calibri"/>
                <a:sym typeface="Calibri"/>
              </a:rPr>
              <a:t>, this is one of the most famous frameworks in temporal reasoning. Given two events (intervals) A and B, Allen showed there are exactly thirteen possible relationships between them — not just "before" and "after."</a:t>
            </a:r>
            <a:endParaRPr sz="1400" b="0" i="0" u="none" strike="noStrike" cap="none">
              <a:solidFill>
                <a:schemeClr val="dk1"/>
              </a:solidFill>
              <a:latin typeface="Calibri"/>
              <a:ea typeface="Calibri"/>
              <a:cs typeface="Calibri"/>
              <a:sym typeface="Calibri"/>
            </a:endParaRPr>
          </a:p>
        </p:txBody>
      </p:sp>
      <p:graphicFrame>
        <p:nvGraphicFramePr>
          <p:cNvPr id="1078" name="Google Shape;1078;p63"/>
          <p:cNvGraphicFramePr/>
          <p:nvPr/>
        </p:nvGraphicFramePr>
        <p:xfrm>
          <a:off x="457200" y="2423160"/>
          <a:ext cx="10607050" cy="3072400"/>
        </p:xfrm>
        <a:graphic>
          <a:graphicData uri="http://schemas.openxmlformats.org/drawingml/2006/table">
            <a:tbl>
              <a:tblPr>
                <a:noFill/>
                <a:tableStyleId>{18CE5CEB-0992-447E-8985-1B7A4AD8BB01}</a:tableStyleId>
              </a:tblPr>
              <a:tblGrid>
                <a:gridCol w="237745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384050">
                <a:tc>
                  <a:txBody>
                    <a:bodyPr/>
                    <a:lstStyle/>
                    <a:p>
                      <a:pPr marL="0" marR="0" lvl="0" indent="0" algn="l" rtl="0">
                        <a:spcBef>
                          <a:spcPts val="0"/>
                        </a:spcBef>
                        <a:spcAft>
                          <a:spcPts val="0"/>
                        </a:spcAft>
                        <a:buClr>
                          <a:srgbClr val="FFFFFF"/>
                        </a:buClr>
                        <a:buSzPts val="1200"/>
                        <a:buFont typeface="Calibri"/>
                        <a:buNone/>
                      </a:pPr>
                      <a:r>
                        <a:rPr lang="en-US" sz="1200" b="1" u="none" strike="noStrike" cap="none">
                          <a:solidFill>
                            <a:srgbClr val="FFFFFF"/>
                          </a:solidFill>
                          <a:latin typeface="Calibri"/>
                          <a:ea typeface="Calibri"/>
                          <a:cs typeface="Calibri"/>
                          <a:sym typeface="Calibri"/>
                        </a:rPr>
                        <a:t>Relation</a:t>
                      </a:r>
                      <a:endParaRPr sz="12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6A4C93"/>
                    </a:solidFill>
                  </a:tcPr>
                </a:tc>
                <a:tc>
                  <a:txBody>
                    <a:bodyPr/>
                    <a:lstStyle/>
                    <a:p>
                      <a:pPr marL="0" marR="0" lvl="0" indent="0" algn="l" rtl="0">
                        <a:spcBef>
                          <a:spcPts val="0"/>
                        </a:spcBef>
                        <a:spcAft>
                          <a:spcPts val="0"/>
                        </a:spcAft>
                        <a:buClr>
                          <a:srgbClr val="FFFFFF"/>
                        </a:buClr>
                        <a:buSzPts val="1200"/>
                        <a:buFont typeface="Calibri"/>
                        <a:buNone/>
                      </a:pPr>
                      <a:r>
                        <a:rPr lang="en-US" sz="1200" b="1" u="none" strike="noStrike" cap="none">
                          <a:solidFill>
                            <a:srgbClr val="FFFFFF"/>
                          </a:solidFill>
                          <a:latin typeface="Calibri"/>
                          <a:ea typeface="Calibri"/>
                          <a:cs typeface="Calibri"/>
                          <a:sym typeface="Calibri"/>
                        </a:rPr>
                        <a:t>Meaning</a:t>
                      </a:r>
                      <a:endParaRPr sz="12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6A4C93"/>
                    </a:solidFill>
                  </a:tcPr>
                </a:tc>
                <a:tc>
                  <a:txBody>
                    <a:bodyPr/>
                    <a:lstStyle/>
                    <a:p>
                      <a:pPr marL="0" marR="0" lvl="0" indent="0" algn="l" rtl="0">
                        <a:spcBef>
                          <a:spcPts val="0"/>
                        </a:spcBef>
                        <a:spcAft>
                          <a:spcPts val="0"/>
                        </a:spcAft>
                        <a:buClr>
                          <a:srgbClr val="FFFFFF"/>
                        </a:buClr>
                        <a:buSzPts val="1200"/>
                        <a:buFont typeface="Calibri"/>
                        <a:buNone/>
                      </a:pPr>
                      <a:r>
                        <a:rPr lang="en-US" sz="1200" b="1" u="none" strike="noStrike" cap="none">
                          <a:solidFill>
                            <a:srgbClr val="FFFFFF"/>
                          </a:solidFill>
                          <a:latin typeface="Calibri"/>
                          <a:ea typeface="Calibri"/>
                          <a:cs typeface="Calibri"/>
                          <a:sym typeface="Calibri"/>
                        </a:rPr>
                        <a:t>Example</a:t>
                      </a:r>
                      <a:endParaRPr sz="12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6A4C93"/>
                    </a:solidFill>
                  </a:tcPr>
                </a:tc>
                <a:extLst>
                  <a:ext uri="{0D108BD9-81ED-4DB2-BD59-A6C34878D82A}">
                    <a16:rowId xmlns:a16="http://schemas.microsoft.com/office/drawing/2014/main" val="10000"/>
                  </a:ext>
                </a:extLst>
              </a:tr>
              <a:tr h="384050">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Before / After</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One interval ends before the other starts</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Lecture before Exam</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84050">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Meets / Met-by</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One ends exactly when the other begins (no gap)</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Lecture ends exactly when Exam begins</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extLst>
                  <a:ext uri="{0D108BD9-81ED-4DB2-BD59-A6C34878D82A}">
                    <a16:rowId xmlns:a16="http://schemas.microsoft.com/office/drawing/2014/main" val="10002"/>
                  </a:ext>
                </a:extLst>
              </a:tr>
              <a:tr h="384050">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Overlaps / Overlapped-by</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They share some time but not all</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Two university classes sharing some time</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84050">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Starts / Started-by</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Same start point, different end points</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Two runners starting a race together</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extLst>
                  <a:ext uri="{0D108BD9-81ED-4DB2-BD59-A6C34878D82A}">
                    <a16:rowId xmlns:a16="http://schemas.microsoft.com/office/drawing/2014/main" val="10004"/>
                  </a:ext>
                </a:extLst>
              </a:tr>
              <a:tr h="384050">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Finishes / Finished-by</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Same end point, different start points</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Two flights landing at the same time</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384050">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During / Contains</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One interval is entirely inside the other</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Midterm Exam during the Semester</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extLst>
                  <a:ext uri="{0D108BD9-81ED-4DB2-BD59-A6C34878D82A}">
                    <a16:rowId xmlns:a16="http://schemas.microsoft.com/office/drawing/2014/main" val="10006"/>
                  </a:ext>
                </a:extLst>
              </a:tr>
              <a:tr h="384050">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Equals</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Both intervals are identical</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Two clocks showing the same meeting time</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bl>
          </a:graphicData>
        </a:graphic>
      </p:graphicFrame>
      <p:sp>
        <p:nvSpPr>
          <p:cNvPr id="1079" name="Google Shape;1079;p63"/>
          <p:cNvSpPr/>
          <p:nvPr/>
        </p:nvSpPr>
        <p:spPr>
          <a:xfrm>
            <a:off x="457200" y="5623560"/>
            <a:ext cx="10607040" cy="45720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6B6B6B"/>
              </a:buClr>
              <a:buSzPts val="1150"/>
              <a:buFont typeface="Calibri"/>
              <a:buNone/>
            </a:pPr>
            <a:r>
              <a:rPr lang="en-US" sz="1150" b="0" i="1" u="none" strike="noStrike" cap="none">
                <a:solidFill>
                  <a:srgbClr val="6B6B6B"/>
                </a:solidFill>
                <a:latin typeface="Calibri"/>
                <a:ea typeface="Calibri"/>
                <a:cs typeface="Calibri"/>
                <a:sym typeface="Calibri"/>
              </a:rPr>
              <a:t>Counting each direction separately (Before/After, Meets/Met-by, etc.) gives exactly 13 relations in total — the complete set Allen identified.</a:t>
            </a:r>
            <a:endParaRPr sz="1150" b="0" i="0" u="none" strike="noStrike" cap="none">
              <a:solidFill>
                <a:schemeClr val="dk1"/>
              </a:solidFill>
              <a:latin typeface="Calibri"/>
              <a:ea typeface="Calibri"/>
              <a:cs typeface="Calibri"/>
              <a:sym typeface="Calibri"/>
            </a:endParaRPr>
          </a:p>
        </p:txBody>
      </p:sp>
      <p:sp>
        <p:nvSpPr>
          <p:cNvPr id="1080" name="Google Shape;1080;p63"/>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18 / 40</a:t>
            </a:r>
            <a:endParaRPr sz="950" b="0" i="0" u="none" strike="noStrike" cap="none">
              <a:solidFill>
                <a:schemeClr val="dk1"/>
              </a:solidFill>
              <a:latin typeface="Calibri"/>
              <a:ea typeface="Calibri"/>
              <a:cs typeface="Calibri"/>
              <a:sym typeface="Calibri"/>
            </a:endParaRPr>
          </a:p>
        </p:txBody>
      </p:sp>
      <p:sp>
        <p:nvSpPr>
          <p:cNvPr id="1081" name="Google Shape;1081;p63"/>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86"/>
        <p:cNvGrpSpPr/>
        <p:nvPr/>
      </p:nvGrpSpPr>
      <p:grpSpPr>
        <a:xfrm>
          <a:off x="0" y="0"/>
          <a:ext cx="0" cy="0"/>
          <a:chOff x="0" y="0"/>
          <a:chExt cx="0" cy="0"/>
        </a:xfrm>
      </p:grpSpPr>
      <p:sp>
        <p:nvSpPr>
          <p:cNvPr id="1087" name="Google Shape;1087;p64"/>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A4C93"/>
              </a:buClr>
              <a:buSzPts val="1100"/>
              <a:buFont typeface="Calibri"/>
              <a:buNone/>
            </a:pPr>
            <a:r>
              <a:rPr lang="en-US" sz="1100" b="1" i="0" u="none" strike="noStrike" cap="none">
                <a:solidFill>
                  <a:srgbClr val="6A4C93"/>
                </a:solidFill>
                <a:latin typeface="Calibri"/>
                <a:ea typeface="Calibri"/>
                <a:cs typeface="Calibri"/>
                <a:sym typeface="Calibri"/>
              </a:rPr>
              <a:t>3.6 VISUALIZING THE RELATIONS</a:t>
            </a:r>
            <a:endParaRPr sz="1100" b="0" i="0" u="none" strike="noStrike" cap="none">
              <a:solidFill>
                <a:schemeClr val="dk1"/>
              </a:solidFill>
              <a:latin typeface="Calibri"/>
              <a:ea typeface="Calibri"/>
              <a:cs typeface="Calibri"/>
              <a:sym typeface="Calibri"/>
            </a:endParaRPr>
          </a:p>
        </p:txBody>
      </p:sp>
      <p:sp>
        <p:nvSpPr>
          <p:cNvPr id="1088" name="Google Shape;1088;p64"/>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Four of Allen's Interval Relations</a:t>
            </a:r>
            <a:endParaRPr sz="2300" b="0" i="0" u="none" strike="noStrike" cap="none">
              <a:solidFill>
                <a:schemeClr val="dk1"/>
              </a:solidFill>
              <a:latin typeface="Calibri"/>
              <a:ea typeface="Calibri"/>
              <a:cs typeface="Calibri"/>
              <a:sym typeface="Calibri"/>
            </a:endParaRPr>
          </a:p>
        </p:txBody>
      </p:sp>
      <p:cxnSp>
        <p:nvCxnSpPr>
          <p:cNvPr id="1089" name="Google Shape;1089;p64"/>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1090" name="Google Shape;1090;p64"/>
          <p:cNvSpPr/>
          <p:nvPr/>
        </p:nvSpPr>
        <p:spPr>
          <a:xfrm>
            <a:off x="457200" y="1554480"/>
            <a:ext cx="1371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1200"/>
              <a:buFont typeface="Calibri"/>
              <a:buNone/>
            </a:pPr>
            <a:r>
              <a:rPr lang="en-US" sz="1200" b="0" i="1" u="none" strike="noStrike" cap="none">
                <a:solidFill>
                  <a:srgbClr val="6B6B6B"/>
                </a:solidFill>
                <a:latin typeface="Calibri"/>
                <a:ea typeface="Calibri"/>
                <a:cs typeface="Calibri"/>
                <a:sym typeface="Calibri"/>
              </a:rPr>
              <a:t>time →</a:t>
            </a:r>
            <a:endParaRPr sz="1200" b="0" i="0" u="none" strike="noStrike" cap="none">
              <a:solidFill>
                <a:schemeClr val="dk1"/>
              </a:solidFill>
              <a:latin typeface="Calibri"/>
              <a:ea typeface="Calibri"/>
              <a:cs typeface="Calibri"/>
              <a:sym typeface="Calibri"/>
            </a:endParaRPr>
          </a:p>
        </p:txBody>
      </p:sp>
      <p:sp>
        <p:nvSpPr>
          <p:cNvPr id="1091" name="Google Shape;1091;p64"/>
          <p:cNvSpPr/>
          <p:nvPr/>
        </p:nvSpPr>
        <p:spPr>
          <a:xfrm>
            <a:off x="457200" y="1874520"/>
            <a:ext cx="1828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A4C93"/>
              </a:buClr>
              <a:buSzPts val="1200"/>
              <a:buFont typeface="Calibri"/>
              <a:buNone/>
            </a:pPr>
            <a:r>
              <a:rPr lang="en-US" sz="1200" b="1" i="0" u="none" strike="noStrike" cap="none">
                <a:solidFill>
                  <a:srgbClr val="6A4C93"/>
                </a:solidFill>
                <a:latin typeface="Calibri"/>
                <a:ea typeface="Calibri"/>
                <a:cs typeface="Calibri"/>
                <a:sym typeface="Calibri"/>
              </a:rPr>
              <a:t>BEFORE</a:t>
            </a:r>
            <a:endParaRPr sz="1200" b="0" i="0" u="none" strike="noStrike" cap="none">
              <a:solidFill>
                <a:schemeClr val="dk1"/>
              </a:solidFill>
              <a:latin typeface="Calibri"/>
              <a:ea typeface="Calibri"/>
              <a:cs typeface="Calibri"/>
              <a:sym typeface="Calibri"/>
            </a:endParaRPr>
          </a:p>
        </p:txBody>
      </p:sp>
      <p:sp>
        <p:nvSpPr>
          <p:cNvPr id="1092" name="Google Shape;1092;p64"/>
          <p:cNvSpPr/>
          <p:nvPr/>
        </p:nvSpPr>
        <p:spPr>
          <a:xfrm>
            <a:off x="2377440" y="1874520"/>
            <a:ext cx="1828800" cy="365760"/>
          </a:xfrm>
          <a:prstGeom prst="rect">
            <a:avLst/>
          </a:prstGeom>
          <a:solidFill>
            <a:srgbClr val="1F4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64"/>
          <p:cNvSpPr/>
          <p:nvPr/>
        </p:nvSpPr>
        <p:spPr>
          <a:xfrm>
            <a:off x="2377440" y="1874520"/>
            <a:ext cx="182880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Calibri"/>
              <a:buNone/>
            </a:pPr>
            <a:r>
              <a:rPr lang="en-US" sz="1050" b="0" i="0" u="none" strike="noStrike" cap="none">
                <a:solidFill>
                  <a:srgbClr val="FFFFFF"/>
                </a:solidFill>
                <a:latin typeface="Calibri"/>
                <a:ea typeface="Calibri"/>
                <a:cs typeface="Calibri"/>
                <a:sym typeface="Calibri"/>
              </a:rPr>
              <a:t>Breakfast</a:t>
            </a:r>
            <a:endParaRPr sz="1050" b="0" i="0" u="none" strike="noStrike" cap="none">
              <a:solidFill>
                <a:schemeClr val="dk1"/>
              </a:solidFill>
              <a:latin typeface="Calibri"/>
              <a:ea typeface="Calibri"/>
              <a:cs typeface="Calibri"/>
              <a:sym typeface="Calibri"/>
            </a:endParaRPr>
          </a:p>
        </p:txBody>
      </p:sp>
      <p:sp>
        <p:nvSpPr>
          <p:cNvPr id="1094" name="Google Shape;1094;p64"/>
          <p:cNvSpPr/>
          <p:nvPr/>
        </p:nvSpPr>
        <p:spPr>
          <a:xfrm>
            <a:off x="4663440" y="1874520"/>
            <a:ext cx="1828800" cy="365760"/>
          </a:xfrm>
          <a:prstGeom prst="rect">
            <a:avLst/>
          </a:prstGeom>
          <a:solidFill>
            <a:srgbClr val="6A4C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64"/>
          <p:cNvSpPr/>
          <p:nvPr/>
        </p:nvSpPr>
        <p:spPr>
          <a:xfrm>
            <a:off x="4663440" y="1874520"/>
            <a:ext cx="182880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Calibri"/>
              <a:buNone/>
            </a:pPr>
            <a:r>
              <a:rPr lang="en-US" sz="1050" b="0" i="0" u="none" strike="noStrike" cap="none">
                <a:solidFill>
                  <a:srgbClr val="FFFFFF"/>
                </a:solidFill>
                <a:latin typeface="Calibri"/>
                <a:ea typeface="Calibri"/>
                <a:cs typeface="Calibri"/>
                <a:sym typeface="Calibri"/>
              </a:rPr>
              <a:t>Lunch</a:t>
            </a:r>
            <a:endParaRPr sz="1050" b="0" i="0" u="none" strike="noStrike" cap="none">
              <a:solidFill>
                <a:schemeClr val="dk1"/>
              </a:solidFill>
              <a:latin typeface="Calibri"/>
              <a:ea typeface="Calibri"/>
              <a:cs typeface="Calibri"/>
              <a:sym typeface="Calibri"/>
            </a:endParaRPr>
          </a:p>
        </p:txBody>
      </p:sp>
      <p:sp>
        <p:nvSpPr>
          <p:cNvPr id="1096" name="Google Shape;1096;p64"/>
          <p:cNvSpPr/>
          <p:nvPr/>
        </p:nvSpPr>
        <p:spPr>
          <a:xfrm>
            <a:off x="457200" y="2514600"/>
            <a:ext cx="1828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A4C93"/>
              </a:buClr>
              <a:buSzPts val="1200"/>
              <a:buFont typeface="Calibri"/>
              <a:buNone/>
            </a:pPr>
            <a:r>
              <a:rPr lang="en-US" sz="1200" b="1" i="0" u="none" strike="noStrike" cap="none">
                <a:solidFill>
                  <a:srgbClr val="6A4C93"/>
                </a:solidFill>
                <a:latin typeface="Calibri"/>
                <a:ea typeface="Calibri"/>
                <a:cs typeface="Calibri"/>
                <a:sym typeface="Calibri"/>
              </a:rPr>
              <a:t>OVERLAPS</a:t>
            </a:r>
            <a:endParaRPr sz="1200" b="0" i="0" u="none" strike="noStrike" cap="none">
              <a:solidFill>
                <a:schemeClr val="dk1"/>
              </a:solidFill>
              <a:latin typeface="Calibri"/>
              <a:ea typeface="Calibri"/>
              <a:cs typeface="Calibri"/>
              <a:sym typeface="Calibri"/>
            </a:endParaRPr>
          </a:p>
        </p:txBody>
      </p:sp>
      <p:sp>
        <p:nvSpPr>
          <p:cNvPr id="1097" name="Google Shape;1097;p64"/>
          <p:cNvSpPr/>
          <p:nvPr/>
        </p:nvSpPr>
        <p:spPr>
          <a:xfrm>
            <a:off x="2377440" y="2514600"/>
            <a:ext cx="2926080" cy="365760"/>
          </a:xfrm>
          <a:prstGeom prst="rect">
            <a:avLst/>
          </a:prstGeom>
          <a:solidFill>
            <a:srgbClr val="1F4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64"/>
          <p:cNvSpPr/>
          <p:nvPr/>
        </p:nvSpPr>
        <p:spPr>
          <a:xfrm>
            <a:off x="2377440" y="2514600"/>
            <a:ext cx="292608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Calibri"/>
              <a:buNone/>
            </a:pPr>
            <a:r>
              <a:rPr lang="en-US" sz="1050" b="0" i="0" u="none" strike="noStrike" cap="none">
                <a:solidFill>
                  <a:srgbClr val="FFFFFF"/>
                </a:solidFill>
                <a:latin typeface="Calibri"/>
                <a:ea typeface="Calibri"/>
                <a:cs typeface="Calibri"/>
                <a:sym typeface="Calibri"/>
              </a:rPr>
              <a:t>Team Meeting</a:t>
            </a:r>
            <a:endParaRPr sz="1050" b="0" i="0" u="none" strike="noStrike" cap="none">
              <a:solidFill>
                <a:schemeClr val="dk1"/>
              </a:solidFill>
              <a:latin typeface="Calibri"/>
              <a:ea typeface="Calibri"/>
              <a:cs typeface="Calibri"/>
              <a:sym typeface="Calibri"/>
            </a:endParaRPr>
          </a:p>
        </p:txBody>
      </p:sp>
      <p:sp>
        <p:nvSpPr>
          <p:cNvPr id="1099" name="Google Shape;1099;p64"/>
          <p:cNvSpPr/>
          <p:nvPr/>
        </p:nvSpPr>
        <p:spPr>
          <a:xfrm>
            <a:off x="4480560" y="2926080"/>
            <a:ext cx="2743200" cy="365760"/>
          </a:xfrm>
          <a:prstGeom prst="rect">
            <a:avLst/>
          </a:prstGeom>
          <a:solidFill>
            <a:srgbClr val="6A4C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64"/>
          <p:cNvSpPr/>
          <p:nvPr/>
        </p:nvSpPr>
        <p:spPr>
          <a:xfrm>
            <a:off x="4480560" y="2926080"/>
            <a:ext cx="274320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Calibri"/>
              <a:buNone/>
            </a:pPr>
            <a:r>
              <a:rPr lang="en-US" sz="1050" b="0" i="0" u="none" strike="noStrike" cap="none">
                <a:solidFill>
                  <a:srgbClr val="FFFFFF"/>
                </a:solidFill>
                <a:latin typeface="Calibri"/>
                <a:ea typeface="Calibri"/>
                <a:cs typeface="Calibri"/>
                <a:sym typeface="Calibri"/>
              </a:rPr>
              <a:t>Phone Call</a:t>
            </a:r>
            <a:endParaRPr sz="1050" b="0" i="0" u="none" strike="noStrike" cap="none">
              <a:solidFill>
                <a:schemeClr val="dk1"/>
              </a:solidFill>
              <a:latin typeface="Calibri"/>
              <a:ea typeface="Calibri"/>
              <a:cs typeface="Calibri"/>
              <a:sym typeface="Calibri"/>
            </a:endParaRPr>
          </a:p>
        </p:txBody>
      </p:sp>
      <p:sp>
        <p:nvSpPr>
          <p:cNvPr id="1101" name="Google Shape;1101;p64"/>
          <p:cNvSpPr/>
          <p:nvPr/>
        </p:nvSpPr>
        <p:spPr>
          <a:xfrm>
            <a:off x="457200" y="3657600"/>
            <a:ext cx="1828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A4C93"/>
              </a:buClr>
              <a:buSzPts val="1200"/>
              <a:buFont typeface="Calibri"/>
              <a:buNone/>
            </a:pPr>
            <a:r>
              <a:rPr lang="en-US" sz="1200" b="1" i="0" u="none" strike="noStrike" cap="none">
                <a:solidFill>
                  <a:srgbClr val="6A4C93"/>
                </a:solidFill>
                <a:latin typeface="Calibri"/>
                <a:ea typeface="Calibri"/>
                <a:cs typeface="Calibri"/>
                <a:sym typeface="Calibri"/>
              </a:rPr>
              <a:t>DURING</a:t>
            </a:r>
            <a:endParaRPr sz="1200" b="0" i="0" u="none" strike="noStrike" cap="none">
              <a:solidFill>
                <a:schemeClr val="dk1"/>
              </a:solidFill>
              <a:latin typeface="Calibri"/>
              <a:ea typeface="Calibri"/>
              <a:cs typeface="Calibri"/>
              <a:sym typeface="Calibri"/>
            </a:endParaRPr>
          </a:p>
        </p:txBody>
      </p:sp>
      <p:sp>
        <p:nvSpPr>
          <p:cNvPr id="1102" name="Google Shape;1102;p64"/>
          <p:cNvSpPr/>
          <p:nvPr/>
        </p:nvSpPr>
        <p:spPr>
          <a:xfrm>
            <a:off x="2377440" y="3657600"/>
            <a:ext cx="5943600" cy="365760"/>
          </a:xfrm>
          <a:prstGeom prst="rect">
            <a:avLst/>
          </a:prstGeom>
          <a:solidFill>
            <a:srgbClr val="1F4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64"/>
          <p:cNvSpPr/>
          <p:nvPr/>
        </p:nvSpPr>
        <p:spPr>
          <a:xfrm>
            <a:off x="2514600" y="3657600"/>
            <a:ext cx="192024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00"/>
              <a:buFont typeface="Calibri"/>
              <a:buNone/>
            </a:pPr>
            <a:r>
              <a:rPr lang="en-US" sz="1000" b="0" i="0" u="none" strike="noStrike" cap="none">
                <a:solidFill>
                  <a:srgbClr val="FFFFFF"/>
                </a:solidFill>
                <a:latin typeface="Calibri"/>
                <a:ea typeface="Calibri"/>
                <a:cs typeface="Calibri"/>
                <a:sym typeface="Calibri"/>
              </a:rPr>
              <a:t>Flight (London to Dubai)</a:t>
            </a:r>
            <a:endParaRPr sz="1000" b="0" i="0" u="none" strike="noStrike" cap="none">
              <a:solidFill>
                <a:schemeClr val="dk1"/>
              </a:solidFill>
              <a:latin typeface="Calibri"/>
              <a:ea typeface="Calibri"/>
              <a:cs typeface="Calibri"/>
              <a:sym typeface="Calibri"/>
            </a:endParaRPr>
          </a:p>
        </p:txBody>
      </p:sp>
      <p:sp>
        <p:nvSpPr>
          <p:cNvPr id="1104" name="Google Shape;1104;p64"/>
          <p:cNvSpPr/>
          <p:nvPr/>
        </p:nvSpPr>
        <p:spPr>
          <a:xfrm>
            <a:off x="4572000" y="3657600"/>
            <a:ext cx="1645920" cy="365760"/>
          </a:xfrm>
          <a:prstGeom prst="rect">
            <a:avLst/>
          </a:prstGeom>
          <a:solidFill>
            <a:srgbClr val="B85C2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64"/>
          <p:cNvSpPr/>
          <p:nvPr/>
        </p:nvSpPr>
        <p:spPr>
          <a:xfrm>
            <a:off x="4572000" y="3657600"/>
            <a:ext cx="164592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Calibri"/>
              <a:buNone/>
            </a:pPr>
            <a:r>
              <a:rPr lang="en-US" sz="1050" b="0" i="0" u="none" strike="noStrike" cap="none">
                <a:solidFill>
                  <a:srgbClr val="FFFFFF"/>
                </a:solidFill>
                <a:latin typeface="Calibri"/>
                <a:ea typeface="Calibri"/>
                <a:cs typeface="Calibri"/>
                <a:sym typeface="Calibri"/>
              </a:rPr>
              <a:t>Nap</a:t>
            </a:r>
            <a:endParaRPr sz="1050" b="0" i="0" u="none" strike="noStrike" cap="none">
              <a:solidFill>
                <a:schemeClr val="dk1"/>
              </a:solidFill>
              <a:latin typeface="Calibri"/>
              <a:ea typeface="Calibri"/>
              <a:cs typeface="Calibri"/>
              <a:sym typeface="Calibri"/>
            </a:endParaRPr>
          </a:p>
        </p:txBody>
      </p:sp>
      <p:sp>
        <p:nvSpPr>
          <p:cNvPr id="1106" name="Google Shape;1106;p64"/>
          <p:cNvSpPr/>
          <p:nvPr/>
        </p:nvSpPr>
        <p:spPr>
          <a:xfrm>
            <a:off x="457200" y="4297680"/>
            <a:ext cx="1828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A4C93"/>
              </a:buClr>
              <a:buSzPts val="1200"/>
              <a:buFont typeface="Calibri"/>
              <a:buNone/>
            </a:pPr>
            <a:r>
              <a:rPr lang="en-US" sz="1200" b="1" i="0" u="none" strike="noStrike" cap="none">
                <a:solidFill>
                  <a:srgbClr val="6A4C93"/>
                </a:solidFill>
                <a:latin typeface="Calibri"/>
                <a:ea typeface="Calibri"/>
                <a:cs typeface="Calibri"/>
                <a:sym typeface="Calibri"/>
              </a:rPr>
              <a:t>MEETS</a:t>
            </a:r>
            <a:endParaRPr sz="1200" b="0" i="0" u="none" strike="noStrike" cap="none">
              <a:solidFill>
                <a:schemeClr val="dk1"/>
              </a:solidFill>
              <a:latin typeface="Calibri"/>
              <a:ea typeface="Calibri"/>
              <a:cs typeface="Calibri"/>
              <a:sym typeface="Calibri"/>
            </a:endParaRPr>
          </a:p>
        </p:txBody>
      </p:sp>
      <p:sp>
        <p:nvSpPr>
          <p:cNvPr id="1107" name="Google Shape;1107;p64"/>
          <p:cNvSpPr/>
          <p:nvPr/>
        </p:nvSpPr>
        <p:spPr>
          <a:xfrm>
            <a:off x="2377440" y="4297680"/>
            <a:ext cx="2560320" cy="365760"/>
          </a:xfrm>
          <a:prstGeom prst="rect">
            <a:avLst/>
          </a:prstGeom>
          <a:solidFill>
            <a:srgbClr val="1F4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64"/>
          <p:cNvSpPr/>
          <p:nvPr/>
        </p:nvSpPr>
        <p:spPr>
          <a:xfrm>
            <a:off x="2377440" y="4297680"/>
            <a:ext cx="256032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0" i="0" u="none" strike="noStrike" cap="none">
                <a:solidFill>
                  <a:srgbClr val="FFFFFF"/>
                </a:solidFill>
                <a:latin typeface="Calibri"/>
                <a:ea typeface="Calibri"/>
                <a:cs typeface="Calibri"/>
                <a:sym typeface="Calibri"/>
              </a:rPr>
              <a:t>Class 1 (9-10am)</a:t>
            </a:r>
            <a:endParaRPr sz="1000" b="0" i="0" u="none" strike="noStrike" cap="none">
              <a:solidFill>
                <a:schemeClr val="dk1"/>
              </a:solidFill>
              <a:latin typeface="Calibri"/>
              <a:ea typeface="Calibri"/>
              <a:cs typeface="Calibri"/>
              <a:sym typeface="Calibri"/>
            </a:endParaRPr>
          </a:p>
        </p:txBody>
      </p:sp>
      <p:sp>
        <p:nvSpPr>
          <p:cNvPr id="1109" name="Google Shape;1109;p64"/>
          <p:cNvSpPr/>
          <p:nvPr/>
        </p:nvSpPr>
        <p:spPr>
          <a:xfrm>
            <a:off x="4937760" y="4297680"/>
            <a:ext cx="2560320" cy="365760"/>
          </a:xfrm>
          <a:prstGeom prst="rect">
            <a:avLst/>
          </a:prstGeom>
          <a:solidFill>
            <a:srgbClr val="6A4C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64"/>
          <p:cNvSpPr/>
          <p:nvPr/>
        </p:nvSpPr>
        <p:spPr>
          <a:xfrm>
            <a:off x="4937760" y="4297680"/>
            <a:ext cx="256032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0" i="0" u="none" strike="noStrike" cap="none">
                <a:solidFill>
                  <a:srgbClr val="FFFFFF"/>
                </a:solidFill>
                <a:latin typeface="Calibri"/>
                <a:ea typeface="Calibri"/>
                <a:cs typeface="Calibri"/>
                <a:sym typeface="Calibri"/>
              </a:rPr>
              <a:t>Class 2 (10-11am)</a:t>
            </a:r>
            <a:endParaRPr sz="1000" b="0" i="0" u="none" strike="noStrike" cap="none">
              <a:solidFill>
                <a:schemeClr val="dk1"/>
              </a:solidFill>
              <a:latin typeface="Calibri"/>
              <a:ea typeface="Calibri"/>
              <a:cs typeface="Calibri"/>
              <a:sym typeface="Calibri"/>
            </a:endParaRPr>
          </a:p>
        </p:txBody>
      </p:sp>
      <p:sp>
        <p:nvSpPr>
          <p:cNvPr id="1111" name="Google Shape;1111;p64"/>
          <p:cNvSpPr/>
          <p:nvPr/>
        </p:nvSpPr>
        <p:spPr>
          <a:xfrm>
            <a:off x="7589520" y="4370832"/>
            <a:ext cx="1828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1" u="none" strike="noStrike" cap="none">
                <a:solidFill>
                  <a:srgbClr val="6B6B6B"/>
                </a:solidFill>
                <a:latin typeface="Calibri"/>
                <a:ea typeface="Calibri"/>
                <a:cs typeface="Calibri"/>
                <a:sym typeface="Calibri"/>
              </a:rPr>
              <a:t>shared boundary</a:t>
            </a:r>
            <a:endParaRPr sz="950" b="0" i="0" u="none" strike="noStrike" cap="none">
              <a:solidFill>
                <a:schemeClr val="dk1"/>
              </a:solidFill>
              <a:latin typeface="Calibri"/>
              <a:ea typeface="Calibri"/>
              <a:cs typeface="Calibri"/>
              <a:sym typeface="Calibri"/>
            </a:endParaRPr>
          </a:p>
        </p:txBody>
      </p:sp>
      <p:sp>
        <p:nvSpPr>
          <p:cNvPr id="1112" name="Google Shape;1112;p64"/>
          <p:cNvSpPr/>
          <p:nvPr/>
        </p:nvSpPr>
        <p:spPr>
          <a:xfrm>
            <a:off x="457200" y="4983480"/>
            <a:ext cx="10607040" cy="3200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6B6B"/>
              </a:buClr>
              <a:buSzPts val="1150"/>
              <a:buFont typeface="Calibri"/>
              <a:buNone/>
            </a:pPr>
            <a:r>
              <a:rPr lang="en-US" sz="1150" b="0" i="1" u="none" strike="noStrike" cap="none">
                <a:solidFill>
                  <a:srgbClr val="6B6B6B"/>
                </a:solidFill>
                <a:latin typeface="Calibri"/>
                <a:ea typeface="Calibri"/>
                <a:cs typeface="Calibri"/>
                <a:sym typeface="Calibri"/>
              </a:rPr>
              <a:t>Figure 3.1 — Four of Allen's interval relations: Before, Overlaps, During, and Meets, shown as time-proportional bars.</a:t>
            </a:r>
            <a:endParaRPr sz="1150" b="0" i="0" u="none" strike="noStrike" cap="none">
              <a:solidFill>
                <a:schemeClr val="dk1"/>
              </a:solidFill>
              <a:latin typeface="Calibri"/>
              <a:ea typeface="Calibri"/>
              <a:cs typeface="Calibri"/>
              <a:sym typeface="Calibri"/>
            </a:endParaRPr>
          </a:p>
        </p:txBody>
      </p:sp>
      <p:sp>
        <p:nvSpPr>
          <p:cNvPr id="1113" name="Google Shape;1113;p64"/>
          <p:cNvSpPr/>
          <p:nvPr/>
        </p:nvSpPr>
        <p:spPr>
          <a:xfrm>
            <a:off x="640080" y="5440680"/>
            <a:ext cx="10241280" cy="1005840"/>
          </a:xfrm>
          <a:prstGeom prst="rect">
            <a:avLst/>
          </a:prstGeom>
          <a:solidFill>
            <a:srgbClr val="FFF6EC"/>
          </a:solidFill>
          <a:ln w="9525" cap="flat" cmpd="sng">
            <a:solidFill>
              <a:srgbClr val="6A4C9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64"/>
          <p:cNvSpPr/>
          <p:nvPr/>
        </p:nvSpPr>
        <p:spPr>
          <a:xfrm>
            <a:off x="640080" y="5440680"/>
            <a:ext cx="64008" cy="1005840"/>
          </a:xfrm>
          <a:prstGeom prst="rect">
            <a:avLst/>
          </a:prstGeom>
          <a:solidFill>
            <a:srgbClr val="6A4C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64"/>
          <p:cNvSpPr/>
          <p:nvPr/>
        </p:nvSpPr>
        <p:spPr>
          <a:xfrm>
            <a:off x="868680" y="5550408"/>
            <a:ext cx="98755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A4C93"/>
              </a:buClr>
              <a:buSzPts val="1050"/>
              <a:buFont typeface="Calibri"/>
              <a:buNone/>
            </a:pPr>
            <a:r>
              <a:rPr lang="en-US" sz="1050" b="1" i="0" u="none" strike="noStrike" cap="none">
                <a:solidFill>
                  <a:srgbClr val="6A4C93"/>
                </a:solidFill>
                <a:latin typeface="Calibri"/>
                <a:ea typeface="Calibri"/>
                <a:cs typeface="Calibri"/>
                <a:sym typeface="Calibri"/>
              </a:rPr>
              <a:t>IMPORTANT PRINCIPLE</a:t>
            </a:r>
            <a:endParaRPr sz="1050" b="0" i="0" u="none" strike="noStrike" cap="none">
              <a:solidFill>
                <a:schemeClr val="dk1"/>
              </a:solidFill>
              <a:latin typeface="Calibri"/>
              <a:ea typeface="Calibri"/>
              <a:cs typeface="Calibri"/>
              <a:sym typeface="Calibri"/>
            </a:endParaRPr>
          </a:p>
        </p:txBody>
      </p:sp>
      <p:sp>
        <p:nvSpPr>
          <p:cNvPr id="1116" name="Google Shape;1116;p64"/>
          <p:cNvSpPr/>
          <p:nvPr/>
        </p:nvSpPr>
        <p:spPr>
          <a:xfrm>
            <a:off x="868680" y="5843016"/>
            <a:ext cx="9829800" cy="51206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300"/>
              <a:buFont typeface="Calibri"/>
              <a:buNone/>
            </a:pPr>
            <a:r>
              <a:rPr lang="en-US" sz="1300" b="0" i="0" u="none" strike="noStrike" cap="none">
                <a:solidFill>
                  <a:srgbClr val="404040"/>
                </a:solidFill>
                <a:latin typeface="Calibri"/>
                <a:ea typeface="Calibri"/>
                <a:cs typeface="Calibri"/>
                <a:sym typeface="Calibri"/>
              </a:rPr>
              <a:t>Order in a story is not order in time. Natural language often describes events out of chronological sequence (flashbacks, explanations, "by the way" remarks). A temporal reasoning system must reconstruct the true timeline.</a:t>
            </a:r>
            <a:endParaRPr sz="1300" b="0" i="0" u="none" strike="noStrike" cap="none">
              <a:solidFill>
                <a:schemeClr val="dk1"/>
              </a:solidFill>
              <a:latin typeface="Calibri"/>
              <a:ea typeface="Calibri"/>
              <a:cs typeface="Calibri"/>
              <a:sym typeface="Calibri"/>
            </a:endParaRPr>
          </a:p>
        </p:txBody>
      </p:sp>
      <p:sp>
        <p:nvSpPr>
          <p:cNvPr id="1117" name="Google Shape;1117;p64"/>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19 / 40</a:t>
            </a:r>
            <a:endParaRPr sz="950" b="0" i="0" u="none" strike="noStrike" cap="none">
              <a:solidFill>
                <a:schemeClr val="dk1"/>
              </a:solidFill>
              <a:latin typeface="Calibri"/>
              <a:ea typeface="Calibri"/>
              <a:cs typeface="Calibri"/>
              <a:sym typeface="Calibri"/>
            </a:endParaRPr>
          </a:p>
        </p:txBody>
      </p:sp>
      <p:sp>
        <p:nvSpPr>
          <p:cNvPr id="1118" name="Google Shape;1118;p64"/>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23"/>
        <p:cNvGrpSpPr/>
        <p:nvPr/>
      </p:nvGrpSpPr>
      <p:grpSpPr>
        <a:xfrm>
          <a:off x="0" y="0"/>
          <a:ext cx="0" cy="0"/>
          <a:chOff x="0" y="0"/>
          <a:chExt cx="0" cy="0"/>
        </a:xfrm>
      </p:grpSpPr>
      <p:sp>
        <p:nvSpPr>
          <p:cNvPr id="1124" name="Google Shape;1124;p65"/>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A4C93"/>
              </a:buClr>
              <a:buSzPts val="1100"/>
              <a:buFont typeface="Calibri"/>
              <a:buNone/>
            </a:pPr>
            <a:r>
              <a:rPr lang="en-US" sz="1100" b="1" i="0" u="none" strike="noStrike" cap="none">
                <a:solidFill>
                  <a:srgbClr val="6A4C93"/>
                </a:solidFill>
                <a:latin typeface="Calibri"/>
                <a:ea typeface="Calibri"/>
                <a:cs typeface="Calibri"/>
                <a:sym typeface="Calibri"/>
              </a:rPr>
              <a:t>3.7 EVENTS</a:t>
            </a:r>
            <a:endParaRPr sz="1100" b="0" i="0" u="none" strike="noStrike" cap="none">
              <a:solidFill>
                <a:schemeClr val="dk1"/>
              </a:solidFill>
              <a:latin typeface="Calibri"/>
              <a:ea typeface="Calibri"/>
              <a:cs typeface="Calibri"/>
              <a:sym typeface="Calibri"/>
            </a:endParaRPr>
          </a:p>
        </p:txBody>
      </p:sp>
      <p:sp>
        <p:nvSpPr>
          <p:cNvPr id="1125" name="Google Shape;1125;p65"/>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Events and Event Representation</a:t>
            </a:r>
            <a:endParaRPr sz="2300" b="0" i="0" u="none" strike="noStrike" cap="none">
              <a:solidFill>
                <a:schemeClr val="dk1"/>
              </a:solidFill>
              <a:latin typeface="Calibri"/>
              <a:ea typeface="Calibri"/>
              <a:cs typeface="Calibri"/>
              <a:sym typeface="Calibri"/>
            </a:endParaRPr>
          </a:p>
        </p:txBody>
      </p:sp>
      <p:cxnSp>
        <p:nvCxnSpPr>
          <p:cNvPr id="1126" name="Google Shape;1126;p65"/>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1127" name="Google Shape;1127;p65"/>
          <p:cNvSpPr/>
          <p:nvPr/>
        </p:nvSpPr>
        <p:spPr>
          <a:xfrm>
            <a:off x="457200" y="1691640"/>
            <a:ext cx="10607040" cy="1005840"/>
          </a:xfrm>
          <a:prstGeom prst="rect">
            <a:avLst/>
          </a:prstGeom>
          <a:solidFill>
            <a:srgbClr val="EAF4F4"/>
          </a:solidFill>
          <a:ln w="9525" cap="flat" cmpd="sng">
            <a:solidFill>
              <a:srgbClr val="6A4C9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65"/>
          <p:cNvSpPr/>
          <p:nvPr/>
        </p:nvSpPr>
        <p:spPr>
          <a:xfrm>
            <a:off x="457200" y="1691640"/>
            <a:ext cx="64008" cy="1005840"/>
          </a:xfrm>
          <a:prstGeom prst="rect">
            <a:avLst/>
          </a:prstGeom>
          <a:solidFill>
            <a:srgbClr val="6A4C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65"/>
          <p:cNvSpPr/>
          <p:nvPr/>
        </p:nvSpPr>
        <p:spPr>
          <a:xfrm>
            <a:off x="685800" y="1801368"/>
            <a:ext cx="102412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A4C93"/>
              </a:buClr>
              <a:buSzPts val="1050"/>
              <a:buFont typeface="Calibri"/>
              <a:buNone/>
            </a:pPr>
            <a:r>
              <a:rPr lang="en-US" sz="1050" b="1" i="0" u="none" strike="noStrike" cap="none">
                <a:solidFill>
                  <a:srgbClr val="6A4C93"/>
                </a:solidFill>
                <a:latin typeface="Calibri"/>
                <a:ea typeface="Calibri"/>
                <a:cs typeface="Calibri"/>
                <a:sym typeface="Calibri"/>
              </a:rPr>
              <a:t>DEFINITION</a:t>
            </a:r>
            <a:endParaRPr sz="1050" b="0" i="0" u="none" strike="noStrike" cap="none">
              <a:solidFill>
                <a:schemeClr val="dk1"/>
              </a:solidFill>
              <a:latin typeface="Calibri"/>
              <a:ea typeface="Calibri"/>
              <a:cs typeface="Calibri"/>
              <a:sym typeface="Calibri"/>
            </a:endParaRPr>
          </a:p>
        </p:txBody>
      </p:sp>
      <p:sp>
        <p:nvSpPr>
          <p:cNvPr id="1130" name="Google Shape;1130;p65"/>
          <p:cNvSpPr/>
          <p:nvPr/>
        </p:nvSpPr>
        <p:spPr>
          <a:xfrm>
            <a:off x="685800" y="2093976"/>
            <a:ext cx="10195560" cy="51206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450"/>
              <a:buFont typeface="Calibri"/>
              <a:buNone/>
            </a:pPr>
            <a:r>
              <a:rPr lang="en-US" sz="1450" b="0" i="0" u="none" strike="noStrike" cap="none">
                <a:solidFill>
                  <a:srgbClr val="404040"/>
                </a:solidFill>
                <a:latin typeface="Calibri"/>
                <a:ea typeface="Calibri"/>
                <a:cs typeface="Calibri"/>
                <a:sym typeface="Calibri"/>
              </a:rPr>
              <a:t>An event is an occurrence that causes a change in the state of a system. Examples: OpenDoor, TurnOnLight, StartEngine, BookTicket, PayBill.</a:t>
            </a:r>
            <a:endParaRPr sz="1450" b="0" i="0" u="none" strike="noStrike" cap="none">
              <a:solidFill>
                <a:schemeClr val="dk1"/>
              </a:solidFill>
              <a:latin typeface="Calibri"/>
              <a:ea typeface="Calibri"/>
              <a:cs typeface="Calibri"/>
              <a:sym typeface="Calibri"/>
            </a:endParaRPr>
          </a:p>
        </p:txBody>
      </p:sp>
      <p:sp>
        <p:nvSpPr>
          <p:cNvPr id="1131" name="Google Shape;1131;p65"/>
          <p:cNvSpPr/>
          <p:nvPr/>
        </p:nvSpPr>
        <p:spPr>
          <a:xfrm>
            <a:off x="457200" y="2926080"/>
            <a:ext cx="10607040" cy="91440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404040"/>
              </a:buClr>
              <a:buSzPts val="1500"/>
              <a:buFont typeface="Calibri"/>
              <a:buNone/>
            </a:pPr>
            <a:r>
              <a:rPr lang="en-US" sz="1500" b="0" i="0" u="none" strike="noStrike" cap="none">
                <a:solidFill>
                  <a:srgbClr val="404040"/>
                </a:solidFill>
                <a:latin typeface="Calibri"/>
                <a:ea typeface="Calibri"/>
                <a:cs typeface="Calibri"/>
                <a:sym typeface="Calibri"/>
              </a:rPr>
              <a:t>Every event typically has four components: </a:t>
            </a:r>
            <a:r>
              <a:rPr lang="en-US" sz="1500" b="1" i="0" u="none" strike="noStrike" cap="none">
                <a:solidFill>
                  <a:srgbClr val="404040"/>
                </a:solidFill>
                <a:latin typeface="Calibri"/>
                <a:ea typeface="Calibri"/>
                <a:cs typeface="Calibri"/>
                <a:sym typeface="Calibri"/>
              </a:rPr>
              <a:t>an event name</a:t>
            </a:r>
            <a:r>
              <a:rPr lang="en-US" sz="1500" b="0" i="0" u="none" strike="noStrike" cap="none">
                <a:solidFill>
                  <a:srgbClr val="404040"/>
                </a:solidFill>
                <a:latin typeface="Calibri"/>
                <a:ea typeface="Calibri"/>
                <a:cs typeface="Calibri"/>
                <a:sym typeface="Calibri"/>
              </a:rPr>
              <a:t> (e.g., OpenDoor), </a:t>
            </a:r>
            <a:r>
              <a:rPr lang="en-US" sz="1500" b="1" i="0" u="none" strike="noStrike" cap="none">
                <a:solidFill>
                  <a:srgbClr val="404040"/>
                </a:solidFill>
                <a:latin typeface="Calibri"/>
                <a:ea typeface="Calibri"/>
                <a:cs typeface="Calibri"/>
                <a:sym typeface="Calibri"/>
              </a:rPr>
              <a:t>a time</a:t>
            </a:r>
            <a:r>
              <a:rPr lang="en-US" sz="1500" b="0" i="0" u="none" strike="noStrike" cap="none">
                <a:solidFill>
                  <a:srgbClr val="404040"/>
                </a:solidFill>
                <a:latin typeface="Calibri"/>
                <a:ea typeface="Calibri"/>
                <a:cs typeface="Calibri"/>
                <a:sym typeface="Calibri"/>
              </a:rPr>
              <a:t> (e.g., 10:00 AM), </a:t>
            </a:r>
            <a:r>
              <a:rPr lang="en-US" sz="1500" b="1" i="0" u="none" strike="noStrike" cap="none">
                <a:solidFill>
                  <a:srgbClr val="404040"/>
                </a:solidFill>
                <a:latin typeface="Calibri"/>
                <a:ea typeface="Calibri"/>
                <a:cs typeface="Calibri"/>
                <a:sym typeface="Calibri"/>
              </a:rPr>
              <a:t>participants</a:t>
            </a:r>
            <a:r>
              <a:rPr lang="en-US" sz="1500" b="0" i="0" u="none" strike="noStrike" cap="none">
                <a:solidFill>
                  <a:srgbClr val="404040"/>
                </a:solidFill>
                <a:latin typeface="Calibri"/>
                <a:ea typeface="Calibri"/>
                <a:cs typeface="Calibri"/>
                <a:sym typeface="Calibri"/>
              </a:rPr>
              <a:t> (e.g., Ali, Door), and </a:t>
            </a:r>
            <a:r>
              <a:rPr lang="en-US" sz="1500" b="1" i="0" u="none" strike="noStrike" cap="none">
                <a:solidFill>
                  <a:srgbClr val="404040"/>
                </a:solidFill>
                <a:latin typeface="Calibri"/>
                <a:ea typeface="Calibri"/>
                <a:cs typeface="Calibri"/>
                <a:sym typeface="Calibri"/>
              </a:rPr>
              <a:t>an effect</a:t>
            </a:r>
            <a:r>
              <a:rPr lang="en-US" sz="1500" b="0" i="0" u="none" strike="noStrike" cap="none">
                <a:solidFill>
                  <a:srgbClr val="404040"/>
                </a:solidFill>
                <a:latin typeface="Calibri"/>
                <a:ea typeface="Calibri"/>
                <a:cs typeface="Calibri"/>
                <a:sym typeface="Calibri"/>
              </a:rPr>
              <a:t> (e.g., door becomes open).</a:t>
            </a:r>
            <a:endParaRPr sz="1500" b="0" i="0" u="none" strike="noStrike" cap="none">
              <a:solidFill>
                <a:schemeClr val="dk1"/>
              </a:solidFill>
              <a:latin typeface="Calibri"/>
              <a:ea typeface="Calibri"/>
              <a:cs typeface="Calibri"/>
              <a:sym typeface="Calibri"/>
            </a:endParaRPr>
          </a:p>
        </p:txBody>
      </p:sp>
      <p:sp>
        <p:nvSpPr>
          <p:cNvPr id="1132" name="Google Shape;1132;p65"/>
          <p:cNvSpPr/>
          <p:nvPr/>
        </p:nvSpPr>
        <p:spPr>
          <a:xfrm>
            <a:off x="457200" y="4114800"/>
            <a:ext cx="2587752" cy="594360"/>
          </a:xfrm>
          <a:prstGeom prst="rect">
            <a:avLst/>
          </a:prstGeom>
          <a:solidFill>
            <a:srgbClr val="6A4C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65"/>
          <p:cNvSpPr/>
          <p:nvPr/>
        </p:nvSpPr>
        <p:spPr>
          <a:xfrm>
            <a:off x="457200" y="4114800"/>
            <a:ext cx="2587752" cy="5943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Event Name</a:t>
            </a:r>
            <a:endParaRPr sz="1400" b="0" i="0" u="none" strike="noStrike" cap="none">
              <a:solidFill>
                <a:schemeClr val="dk1"/>
              </a:solidFill>
              <a:latin typeface="Calibri"/>
              <a:ea typeface="Calibri"/>
              <a:cs typeface="Calibri"/>
              <a:sym typeface="Calibri"/>
            </a:endParaRPr>
          </a:p>
        </p:txBody>
      </p:sp>
      <p:sp>
        <p:nvSpPr>
          <p:cNvPr id="1134" name="Google Shape;1134;p65"/>
          <p:cNvSpPr/>
          <p:nvPr/>
        </p:nvSpPr>
        <p:spPr>
          <a:xfrm>
            <a:off x="3136392" y="4114800"/>
            <a:ext cx="2587752" cy="594360"/>
          </a:xfrm>
          <a:prstGeom prst="rect">
            <a:avLst/>
          </a:prstGeom>
          <a:solidFill>
            <a:srgbClr val="6A4C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65"/>
          <p:cNvSpPr/>
          <p:nvPr/>
        </p:nvSpPr>
        <p:spPr>
          <a:xfrm>
            <a:off x="3136392" y="4114800"/>
            <a:ext cx="2587752" cy="5943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Time</a:t>
            </a:r>
            <a:endParaRPr sz="1400" b="0" i="0" u="none" strike="noStrike" cap="none">
              <a:solidFill>
                <a:schemeClr val="dk1"/>
              </a:solidFill>
              <a:latin typeface="Calibri"/>
              <a:ea typeface="Calibri"/>
              <a:cs typeface="Calibri"/>
              <a:sym typeface="Calibri"/>
            </a:endParaRPr>
          </a:p>
        </p:txBody>
      </p:sp>
      <p:sp>
        <p:nvSpPr>
          <p:cNvPr id="1136" name="Google Shape;1136;p65"/>
          <p:cNvSpPr/>
          <p:nvPr/>
        </p:nvSpPr>
        <p:spPr>
          <a:xfrm>
            <a:off x="5815584" y="4114800"/>
            <a:ext cx="2587752" cy="594360"/>
          </a:xfrm>
          <a:prstGeom prst="rect">
            <a:avLst/>
          </a:prstGeom>
          <a:solidFill>
            <a:srgbClr val="6A4C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65"/>
          <p:cNvSpPr/>
          <p:nvPr/>
        </p:nvSpPr>
        <p:spPr>
          <a:xfrm>
            <a:off x="5815584" y="4114800"/>
            <a:ext cx="2587752" cy="5943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Participants</a:t>
            </a:r>
            <a:endParaRPr sz="1400" b="0" i="0" u="none" strike="noStrike" cap="none">
              <a:solidFill>
                <a:schemeClr val="dk1"/>
              </a:solidFill>
              <a:latin typeface="Calibri"/>
              <a:ea typeface="Calibri"/>
              <a:cs typeface="Calibri"/>
              <a:sym typeface="Calibri"/>
            </a:endParaRPr>
          </a:p>
        </p:txBody>
      </p:sp>
      <p:sp>
        <p:nvSpPr>
          <p:cNvPr id="1138" name="Google Shape;1138;p65"/>
          <p:cNvSpPr/>
          <p:nvPr/>
        </p:nvSpPr>
        <p:spPr>
          <a:xfrm>
            <a:off x="8494776" y="4114800"/>
            <a:ext cx="2587752" cy="594360"/>
          </a:xfrm>
          <a:prstGeom prst="rect">
            <a:avLst/>
          </a:prstGeom>
          <a:solidFill>
            <a:srgbClr val="6A4C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65"/>
          <p:cNvSpPr/>
          <p:nvPr/>
        </p:nvSpPr>
        <p:spPr>
          <a:xfrm>
            <a:off x="8494776" y="4114800"/>
            <a:ext cx="2587752" cy="5943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Effect</a:t>
            </a:r>
            <a:endParaRPr sz="1400" b="0" i="0" u="none" strike="noStrike" cap="none">
              <a:solidFill>
                <a:schemeClr val="dk1"/>
              </a:solidFill>
              <a:latin typeface="Calibri"/>
              <a:ea typeface="Calibri"/>
              <a:cs typeface="Calibri"/>
              <a:sym typeface="Calibri"/>
            </a:endParaRPr>
          </a:p>
        </p:txBody>
      </p:sp>
      <p:sp>
        <p:nvSpPr>
          <p:cNvPr id="1140" name="Google Shape;1140;p65"/>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20 / 40</a:t>
            </a:r>
            <a:endParaRPr sz="950" b="0" i="0" u="none" strike="noStrike" cap="none">
              <a:solidFill>
                <a:schemeClr val="dk1"/>
              </a:solidFill>
              <a:latin typeface="Calibri"/>
              <a:ea typeface="Calibri"/>
              <a:cs typeface="Calibri"/>
              <a:sym typeface="Calibri"/>
            </a:endParaRPr>
          </a:p>
        </p:txBody>
      </p:sp>
      <p:sp>
        <p:nvSpPr>
          <p:cNvPr id="1141" name="Google Shape;1141;p65"/>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46"/>
        <p:cNvGrpSpPr/>
        <p:nvPr/>
      </p:nvGrpSpPr>
      <p:grpSpPr>
        <a:xfrm>
          <a:off x="0" y="0"/>
          <a:ext cx="0" cy="0"/>
          <a:chOff x="0" y="0"/>
          <a:chExt cx="0" cy="0"/>
        </a:xfrm>
      </p:grpSpPr>
      <p:sp>
        <p:nvSpPr>
          <p:cNvPr id="1147" name="Google Shape;1147;p66"/>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A4C93"/>
              </a:buClr>
              <a:buSzPts val="1100"/>
              <a:buFont typeface="Calibri"/>
              <a:buNone/>
            </a:pPr>
            <a:r>
              <a:rPr lang="en-US" sz="1100" b="1" i="0" u="none" strike="noStrike" cap="none">
                <a:solidFill>
                  <a:srgbClr val="6A4C93"/>
                </a:solidFill>
                <a:latin typeface="Calibri"/>
                <a:ea typeface="Calibri"/>
                <a:cs typeface="Calibri"/>
                <a:sym typeface="Calibri"/>
              </a:rPr>
              <a:t>3.8 STATES AND FLUENTS</a:t>
            </a:r>
            <a:endParaRPr sz="1100" b="0" i="0" u="none" strike="noStrike" cap="none">
              <a:solidFill>
                <a:schemeClr val="dk1"/>
              </a:solidFill>
              <a:latin typeface="Calibri"/>
              <a:ea typeface="Calibri"/>
              <a:cs typeface="Calibri"/>
              <a:sym typeface="Calibri"/>
            </a:endParaRPr>
          </a:p>
        </p:txBody>
      </p:sp>
      <p:sp>
        <p:nvSpPr>
          <p:cNvPr id="1148" name="Google Shape;1148;p66"/>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States and Fluents</a:t>
            </a:r>
            <a:endParaRPr sz="2300" b="0" i="0" u="none" strike="noStrike" cap="none">
              <a:solidFill>
                <a:schemeClr val="dk1"/>
              </a:solidFill>
              <a:latin typeface="Calibri"/>
              <a:ea typeface="Calibri"/>
              <a:cs typeface="Calibri"/>
              <a:sym typeface="Calibri"/>
            </a:endParaRPr>
          </a:p>
        </p:txBody>
      </p:sp>
      <p:cxnSp>
        <p:nvCxnSpPr>
          <p:cNvPr id="1149" name="Google Shape;1149;p66"/>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1150" name="Google Shape;1150;p66"/>
          <p:cNvSpPr/>
          <p:nvPr/>
        </p:nvSpPr>
        <p:spPr>
          <a:xfrm>
            <a:off x="457200" y="1645920"/>
            <a:ext cx="10607040" cy="100584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404040"/>
              </a:buClr>
              <a:buSzPts val="1500"/>
              <a:buFont typeface="Calibri"/>
              <a:buNone/>
            </a:pPr>
            <a:r>
              <a:rPr lang="en-US" sz="1500" b="0" i="0" u="none" strike="noStrike" cap="none">
                <a:solidFill>
                  <a:srgbClr val="404040"/>
                </a:solidFill>
                <a:latin typeface="Calibri"/>
                <a:ea typeface="Calibri"/>
                <a:cs typeface="Calibri"/>
                <a:sym typeface="Calibri"/>
              </a:rPr>
              <a:t>A </a:t>
            </a:r>
            <a:r>
              <a:rPr lang="en-US" sz="1500" b="1" i="1" u="none" strike="noStrike" cap="none">
                <a:solidFill>
                  <a:srgbClr val="404040"/>
                </a:solidFill>
                <a:latin typeface="Calibri"/>
                <a:ea typeface="Calibri"/>
                <a:cs typeface="Calibri"/>
                <a:sym typeface="Calibri"/>
              </a:rPr>
              <a:t>state</a:t>
            </a:r>
            <a:r>
              <a:rPr lang="en-US" sz="1500" b="0" i="0" u="none" strike="noStrike" cap="none">
                <a:solidFill>
                  <a:srgbClr val="404040"/>
                </a:solidFill>
                <a:latin typeface="Calibri"/>
                <a:ea typeface="Calibri"/>
                <a:cs typeface="Calibri"/>
                <a:sym typeface="Calibri"/>
              </a:rPr>
              <a:t> describes the condition of the world at a particular time (e.g., "Door Open," "Room Occupied"). A </a:t>
            </a:r>
            <a:r>
              <a:rPr lang="en-US" sz="1500" b="1" i="1" u="none" strike="noStrike" cap="none">
                <a:solidFill>
                  <a:srgbClr val="404040"/>
                </a:solidFill>
                <a:latin typeface="Calibri"/>
                <a:ea typeface="Calibri"/>
                <a:cs typeface="Calibri"/>
                <a:sym typeface="Calibri"/>
              </a:rPr>
              <a:t>fluent</a:t>
            </a:r>
            <a:r>
              <a:rPr lang="en-US" sz="1500" b="0" i="0" u="none" strike="noStrike" cap="none">
                <a:solidFill>
                  <a:srgbClr val="404040"/>
                </a:solidFill>
                <a:latin typeface="Calibri"/>
                <a:ea typeface="Calibri"/>
                <a:cs typeface="Calibri"/>
                <a:sym typeface="Calibri"/>
              </a:rPr>
              <a:t> is a property whose value can change over time — such as DoorOpen, Temperature, Location(Ali), or BatteryLevel.</a:t>
            </a:r>
            <a:endParaRPr sz="1500" b="0" i="0" u="none" strike="noStrike" cap="none">
              <a:solidFill>
                <a:schemeClr val="dk1"/>
              </a:solidFill>
              <a:latin typeface="Calibri"/>
              <a:ea typeface="Calibri"/>
              <a:cs typeface="Calibri"/>
              <a:sym typeface="Calibri"/>
            </a:endParaRPr>
          </a:p>
        </p:txBody>
      </p:sp>
      <p:sp>
        <p:nvSpPr>
          <p:cNvPr id="1151" name="Google Shape;1151;p66"/>
          <p:cNvSpPr/>
          <p:nvPr/>
        </p:nvSpPr>
        <p:spPr>
          <a:xfrm>
            <a:off x="1463040" y="2834640"/>
            <a:ext cx="8046720" cy="1051560"/>
          </a:xfrm>
          <a:prstGeom prst="rect">
            <a:avLst/>
          </a:prstGeom>
          <a:solidFill>
            <a:srgbClr val="F4F8F8"/>
          </a:solidFill>
          <a:ln w="9525" cap="flat" cmpd="sng">
            <a:solidFill>
              <a:srgbClr val="DDE3E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66"/>
          <p:cNvSpPr/>
          <p:nvPr/>
        </p:nvSpPr>
        <p:spPr>
          <a:xfrm>
            <a:off x="1691640" y="2926080"/>
            <a:ext cx="7589520" cy="86868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404040"/>
              </a:buClr>
              <a:buSzPts val="1400"/>
              <a:buFont typeface="Courier New"/>
              <a:buNone/>
            </a:pPr>
            <a:r>
              <a:rPr lang="en-US" sz="1400" b="0" i="0" u="none" strike="noStrike" cap="none">
                <a:solidFill>
                  <a:srgbClr val="404040"/>
                </a:solidFill>
                <a:latin typeface="Courier New"/>
                <a:ea typeface="Courier New"/>
                <a:cs typeface="Courier New"/>
                <a:sym typeface="Courier New"/>
              </a:rPr>
              <a:t>At 8:00 AM:   DoorOpen = False</a:t>
            </a:r>
            <a:endParaRPr sz="1400" b="0" i="0" u="none" strike="noStrike" cap="none">
              <a:solidFill>
                <a:schemeClr val="dk1"/>
              </a:solidFill>
              <a:latin typeface="Calibri"/>
              <a:ea typeface="Calibri"/>
              <a:cs typeface="Calibri"/>
              <a:sym typeface="Calibri"/>
            </a:endParaRPr>
          </a:p>
          <a:p>
            <a:pPr marL="0" marR="0" lvl="0" indent="0" algn="l" rtl="0">
              <a:lnSpc>
                <a:spcPct val="115000"/>
              </a:lnSpc>
              <a:spcBef>
                <a:spcPts val="0"/>
              </a:spcBef>
              <a:spcAft>
                <a:spcPts val="0"/>
              </a:spcAft>
              <a:buClr>
                <a:srgbClr val="404040"/>
              </a:buClr>
              <a:buSzPts val="1400"/>
              <a:buFont typeface="Courier New"/>
              <a:buNone/>
            </a:pPr>
            <a:r>
              <a:rPr lang="en-US" sz="1400" b="0" i="0" u="none" strike="noStrike" cap="none">
                <a:solidFill>
                  <a:srgbClr val="404040"/>
                </a:solidFill>
                <a:latin typeface="Courier New"/>
                <a:ea typeface="Courier New"/>
                <a:cs typeface="Courier New"/>
                <a:sym typeface="Courier New"/>
              </a:rPr>
              <a:t>Event:        OpenDoor</a:t>
            </a:r>
            <a:endParaRPr sz="1400" b="0" i="0" u="none" strike="noStrike" cap="none">
              <a:solidFill>
                <a:schemeClr val="dk1"/>
              </a:solidFill>
              <a:latin typeface="Calibri"/>
              <a:ea typeface="Calibri"/>
              <a:cs typeface="Calibri"/>
              <a:sym typeface="Calibri"/>
            </a:endParaRPr>
          </a:p>
          <a:p>
            <a:pPr marL="0" marR="0" lvl="0" indent="0" algn="l" rtl="0">
              <a:lnSpc>
                <a:spcPct val="115000"/>
              </a:lnSpc>
              <a:spcBef>
                <a:spcPts val="0"/>
              </a:spcBef>
              <a:spcAft>
                <a:spcPts val="0"/>
              </a:spcAft>
              <a:buClr>
                <a:srgbClr val="404040"/>
              </a:buClr>
              <a:buSzPts val="1400"/>
              <a:buFont typeface="Courier New"/>
              <a:buNone/>
            </a:pPr>
            <a:r>
              <a:rPr lang="en-US" sz="1400" b="0" i="0" u="none" strike="noStrike" cap="none">
                <a:solidFill>
                  <a:srgbClr val="404040"/>
                </a:solidFill>
                <a:latin typeface="Courier New"/>
                <a:ea typeface="Courier New"/>
                <a:cs typeface="Courier New"/>
                <a:sym typeface="Courier New"/>
              </a:rPr>
              <a:t>At 8:01 AM:   DoorOpen = True   ← the fluent changed</a:t>
            </a:r>
            <a:endParaRPr sz="1400" b="0" i="0" u="none" strike="noStrike" cap="none">
              <a:solidFill>
                <a:schemeClr val="dk1"/>
              </a:solidFill>
              <a:latin typeface="Calibri"/>
              <a:ea typeface="Calibri"/>
              <a:cs typeface="Calibri"/>
              <a:sym typeface="Calibri"/>
            </a:endParaRPr>
          </a:p>
        </p:txBody>
      </p:sp>
      <p:sp>
        <p:nvSpPr>
          <p:cNvPr id="1153" name="Google Shape;1153;p66"/>
          <p:cNvSpPr/>
          <p:nvPr/>
        </p:nvSpPr>
        <p:spPr>
          <a:xfrm>
            <a:off x="457200" y="4160520"/>
            <a:ext cx="10607040" cy="73152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404040"/>
              </a:buClr>
              <a:buSzPts val="1450"/>
              <a:buFont typeface="Calibri"/>
              <a:buNone/>
            </a:pPr>
            <a:r>
              <a:rPr lang="en-US" sz="1450" b="0" i="0" u="none" strike="noStrike" cap="none">
                <a:solidFill>
                  <a:srgbClr val="404040"/>
                </a:solidFill>
                <a:latin typeface="Calibri"/>
                <a:ea typeface="Calibri"/>
                <a:cs typeface="Calibri"/>
                <a:sym typeface="Calibri"/>
              </a:rPr>
              <a:t>Without fluents, an AI system cannot track changing states — they are fundamental in robotics, smart homes, healthcare monitoring, and autonomous vehicles.</a:t>
            </a:r>
            <a:endParaRPr sz="1450" b="0" i="0" u="none" strike="noStrike" cap="none">
              <a:solidFill>
                <a:schemeClr val="dk1"/>
              </a:solidFill>
              <a:latin typeface="Calibri"/>
              <a:ea typeface="Calibri"/>
              <a:cs typeface="Calibri"/>
              <a:sym typeface="Calibri"/>
            </a:endParaRPr>
          </a:p>
        </p:txBody>
      </p:sp>
      <p:sp>
        <p:nvSpPr>
          <p:cNvPr id="1154" name="Google Shape;1154;p66"/>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20 / 40</a:t>
            </a:r>
            <a:endParaRPr sz="950" b="0" i="0" u="none" strike="noStrike" cap="none">
              <a:solidFill>
                <a:schemeClr val="dk1"/>
              </a:solidFill>
              <a:latin typeface="Calibri"/>
              <a:ea typeface="Calibri"/>
              <a:cs typeface="Calibri"/>
              <a:sym typeface="Calibri"/>
            </a:endParaRPr>
          </a:p>
        </p:txBody>
      </p:sp>
      <p:sp>
        <p:nvSpPr>
          <p:cNvPr id="1155" name="Google Shape;1155;p66"/>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60"/>
        <p:cNvGrpSpPr/>
        <p:nvPr/>
      </p:nvGrpSpPr>
      <p:grpSpPr>
        <a:xfrm>
          <a:off x="0" y="0"/>
          <a:ext cx="0" cy="0"/>
          <a:chOff x="0" y="0"/>
          <a:chExt cx="0" cy="0"/>
        </a:xfrm>
      </p:grpSpPr>
      <p:sp>
        <p:nvSpPr>
          <p:cNvPr id="1161" name="Google Shape;1161;p67"/>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A4C93"/>
              </a:buClr>
              <a:buSzPts val="1100"/>
              <a:buFont typeface="Calibri"/>
              <a:buNone/>
            </a:pPr>
            <a:r>
              <a:rPr lang="en-US" sz="1100" b="1" i="0" u="none" strike="noStrike" cap="none">
                <a:solidFill>
                  <a:srgbClr val="6A4C93"/>
                </a:solidFill>
                <a:latin typeface="Calibri"/>
                <a:ea typeface="Calibri"/>
                <a:cs typeface="Calibri"/>
                <a:sym typeface="Calibri"/>
              </a:rPr>
              <a:t>3.9 EARLY APPROACH</a:t>
            </a:r>
            <a:endParaRPr sz="1100" b="0" i="0" u="none" strike="noStrike" cap="none">
              <a:solidFill>
                <a:schemeClr val="dk1"/>
              </a:solidFill>
              <a:latin typeface="Calibri"/>
              <a:ea typeface="Calibri"/>
              <a:cs typeface="Calibri"/>
              <a:sym typeface="Calibri"/>
            </a:endParaRPr>
          </a:p>
        </p:txBody>
      </p:sp>
      <p:sp>
        <p:nvSpPr>
          <p:cNvPr id="1162" name="Google Shape;1162;p67"/>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Situation Calculus</a:t>
            </a:r>
            <a:endParaRPr sz="2300" b="0" i="0" u="none" strike="noStrike" cap="none">
              <a:solidFill>
                <a:schemeClr val="dk1"/>
              </a:solidFill>
              <a:latin typeface="Calibri"/>
              <a:ea typeface="Calibri"/>
              <a:cs typeface="Calibri"/>
              <a:sym typeface="Calibri"/>
            </a:endParaRPr>
          </a:p>
        </p:txBody>
      </p:sp>
      <p:cxnSp>
        <p:nvCxnSpPr>
          <p:cNvPr id="1163" name="Google Shape;1163;p67"/>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1164" name="Google Shape;1164;p67"/>
          <p:cNvSpPr/>
          <p:nvPr/>
        </p:nvSpPr>
        <p:spPr>
          <a:xfrm>
            <a:off x="457200" y="1645920"/>
            <a:ext cx="10607040" cy="77724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404040"/>
              </a:buClr>
              <a:buSzPts val="1500"/>
              <a:buFont typeface="Calibri"/>
              <a:buNone/>
            </a:pPr>
            <a:r>
              <a:rPr lang="en-US" sz="1500" b="0" i="0" u="none" strike="noStrike" cap="none">
                <a:solidFill>
                  <a:srgbClr val="404040"/>
                </a:solidFill>
                <a:latin typeface="Calibri"/>
                <a:ea typeface="Calibri"/>
                <a:cs typeface="Calibri"/>
                <a:sym typeface="Calibri"/>
              </a:rPr>
              <a:t>One of the earliest AI reasoning systems for representing actions and their effects. The core idea: represent the world as a sequence of </a:t>
            </a:r>
            <a:r>
              <a:rPr lang="en-US" sz="1500" b="1" i="1" u="none" strike="noStrike" cap="none">
                <a:solidFill>
                  <a:srgbClr val="404040"/>
                </a:solidFill>
                <a:latin typeface="Calibri"/>
                <a:ea typeface="Calibri"/>
                <a:cs typeface="Calibri"/>
                <a:sym typeface="Calibri"/>
              </a:rPr>
              <a:t>situations</a:t>
            </a:r>
            <a:r>
              <a:rPr lang="en-US" sz="1500" b="0" i="0" u="none" strike="noStrike" cap="none">
                <a:solidFill>
                  <a:srgbClr val="404040"/>
                </a:solidFill>
                <a:latin typeface="Calibri"/>
                <a:ea typeface="Calibri"/>
                <a:cs typeface="Calibri"/>
                <a:sym typeface="Calibri"/>
              </a:rPr>
              <a:t>, where each action transforms one situation into the next.</a:t>
            </a:r>
            <a:endParaRPr sz="1500" b="0" i="0" u="none" strike="noStrike" cap="none">
              <a:solidFill>
                <a:schemeClr val="dk1"/>
              </a:solidFill>
              <a:latin typeface="Calibri"/>
              <a:ea typeface="Calibri"/>
              <a:cs typeface="Calibri"/>
              <a:sym typeface="Calibri"/>
            </a:endParaRPr>
          </a:p>
        </p:txBody>
      </p:sp>
      <p:sp>
        <p:nvSpPr>
          <p:cNvPr id="1165" name="Google Shape;1165;p67"/>
          <p:cNvSpPr/>
          <p:nvPr/>
        </p:nvSpPr>
        <p:spPr>
          <a:xfrm>
            <a:off x="2377440" y="2606040"/>
            <a:ext cx="6217920" cy="1051560"/>
          </a:xfrm>
          <a:prstGeom prst="rect">
            <a:avLst/>
          </a:prstGeom>
          <a:solidFill>
            <a:srgbClr val="F4F8F8"/>
          </a:solidFill>
          <a:ln w="9525" cap="flat" cmpd="sng">
            <a:solidFill>
              <a:srgbClr val="DDE3E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67"/>
          <p:cNvSpPr/>
          <p:nvPr/>
        </p:nvSpPr>
        <p:spPr>
          <a:xfrm>
            <a:off x="2606040" y="2697480"/>
            <a:ext cx="5760720" cy="86868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ts val="0"/>
              </a:spcBef>
              <a:spcAft>
                <a:spcPts val="0"/>
              </a:spcAft>
              <a:buClr>
                <a:srgbClr val="404040"/>
              </a:buClr>
              <a:buSzPts val="1450"/>
              <a:buFont typeface="Courier New"/>
              <a:buNone/>
            </a:pPr>
            <a:r>
              <a:rPr lang="en-US" sz="1450" b="0" i="0" u="none" strike="noStrike" cap="none">
                <a:solidFill>
                  <a:srgbClr val="404040"/>
                </a:solidFill>
                <a:latin typeface="Courier New"/>
                <a:ea typeface="Courier New"/>
                <a:cs typeface="Courier New"/>
                <a:sym typeface="Courier New"/>
              </a:rPr>
              <a:t>Situation S0:  Door Closed</a:t>
            </a:r>
            <a:endParaRPr sz="1450" b="0" i="0" u="none" strike="noStrike" cap="none">
              <a:solidFill>
                <a:schemeClr val="dk1"/>
              </a:solidFill>
              <a:latin typeface="Calibri"/>
              <a:ea typeface="Calibri"/>
              <a:cs typeface="Calibri"/>
              <a:sym typeface="Calibri"/>
            </a:endParaRPr>
          </a:p>
          <a:p>
            <a:pPr marL="0" marR="0" lvl="0" indent="0" algn="ctr" rtl="0">
              <a:lnSpc>
                <a:spcPct val="115000"/>
              </a:lnSpc>
              <a:spcBef>
                <a:spcPts val="0"/>
              </a:spcBef>
              <a:spcAft>
                <a:spcPts val="0"/>
              </a:spcAft>
              <a:buClr>
                <a:srgbClr val="404040"/>
              </a:buClr>
              <a:buSzPts val="1450"/>
              <a:buFont typeface="Courier New"/>
              <a:buNone/>
            </a:pPr>
            <a:r>
              <a:rPr lang="en-US" sz="1450" b="0" i="0" u="none" strike="noStrike" cap="none">
                <a:solidFill>
                  <a:srgbClr val="404040"/>
                </a:solidFill>
                <a:latin typeface="Courier New"/>
                <a:ea typeface="Courier New"/>
                <a:cs typeface="Courier New"/>
                <a:sym typeface="Courier New"/>
              </a:rPr>
              <a:t>      ↓  Action: OpenDoor</a:t>
            </a:r>
            <a:endParaRPr sz="1450" b="0" i="0" u="none" strike="noStrike" cap="none">
              <a:solidFill>
                <a:schemeClr val="dk1"/>
              </a:solidFill>
              <a:latin typeface="Calibri"/>
              <a:ea typeface="Calibri"/>
              <a:cs typeface="Calibri"/>
              <a:sym typeface="Calibri"/>
            </a:endParaRPr>
          </a:p>
          <a:p>
            <a:pPr marL="0" marR="0" lvl="0" indent="0" algn="ctr" rtl="0">
              <a:lnSpc>
                <a:spcPct val="115000"/>
              </a:lnSpc>
              <a:spcBef>
                <a:spcPts val="0"/>
              </a:spcBef>
              <a:spcAft>
                <a:spcPts val="0"/>
              </a:spcAft>
              <a:buClr>
                <a:srgbClr val="404040"/>
              </a:buClr>
              <a:buSzPts val="1450"/>
              <a:buFont typeface="Courier New"/>
              <a:buNone/>
            </a:pPr>
            <a:r>
              <a:rPr lang="en-US" sz="1450" b="0" i="0" u="none" strike="noStrike" cap="none">
                <a:solidFill>
                  <a:srgbClr val="404040"/>
                </a:solidFill>
                <a:latin typeface="Courier New"/>
                <a:ea typeface="Courier New"/>
                <a:cs typeface="Courier New"/>
                <a:sym typeface="Courier New"/>
              </a:rPr>
              <a:t>Situation S1:  Door Open</a:t>
            </a:r>
            <a:endParaRPr sz="1450" b="0" i="0" u="none" strike="noStrike" cap="none">
              <a:solidFill>
                <a:schemeClr val="dk1"/>
              </a:solidFill>
              <a:latin typeface="Calibri"/>
              <a:ea typeface="Calibri"/>
              <a:cs typeface="Calibri"/>
              <a:sym typeface="Calibri"/>
            </a:endParaRPr>
          </a:p>
        </p:txBody>
      </p:sp>
      <p:sp>
        <p:nvSpPr>
          <p:cNvPr id="1167" name="Google Shape;1167;p67"/>
          <p:cNvSpPr/>
          <p:nvPr/>
        </p:nvSpPr>
        <p:spPr>
          <a:xfrm>
            <a:off x="457200" y="3931920"/>
            <a:ext cx="10607040" cy="1371600"/>
          </a:xfrm>
          <a:prstGeom prst="rect">
            <a:avLst/>
          </a:prstGeom>
          <a:noFill/>
          <a:ln>
            <a:noFill/>
          </a:ln>
        </p:spPr>
        <p:txBody>
          <a:bodyPr spcFirstLastPara="1" wrap="square" lIns="0" tIns="0" rIns="0" bIns="0" anchor="ctr" anchorCtr="0">
            <a:noAutofit/>
          </a:bodyPr>
          <a:lstStyle/>
          <a:p>
            <a:pPr marL="0" marR="0" lvl="0" indent="0" algn="l" rtl="0">
              <a:lnSpc>
                <a:spcPct val="128000"/>
              </a:lnSpc>
              <a:spcBef>
                <a:spcPts val="0"/>
              </a:spcBef>
              <a:spcAft>
                <a:spcPts val="0"/>
              </a:spcAft>
              <a:buClr>
                <a:srgbClr val="404040"/>
              </a:buClr>
              <a:buSzPts val="1450"/>
              <a:buFont typeface="Calibri"/>
              <a:buNone/>
            </a:pPr>
            <a:r>
              <a:rPr lang="en-US" sz="1450" b="1" i="0" u="none" strike="noStrike" cap="none">
                <a:solidFill>
                  <a:srgbClr val="404040"/>
                </a:solidFill>
                <a:latin typeface="Calibri"/>
                <a:ea typeface="Calibri"/>
                <a:cs typeface="Calibri"/>
                <a:sym typeface="Calibri"/>
              </a:rPr>
              <a:t>Example — robot navigation: </a:t>
            </a:r>
            <a:r>
              <a:rPr lang="en-US" sz="1450" b="0" i="0" u="none" strike="noStrike" cap="none">
                <a:solidFill>
                  <a:srgbClr val="404040"/>
                </a:solidFill>
                <a:latin typeface="Calibri"/>
                <a:ea typeface="Calibri"/>
                <a:cs typeface="Calibri"/>
                <a:sym typeface="Calibri"/>
              </a:rPr>
              <a:t>in situation Robot(RoomA), the action Move(RoomB) produces the result Robot(RoomB). Situation Calculus models these transitions cleanly, but has a major limitation: large systems generate huge numbers of situations, becoming computationally expensive to track.</a:t>
            </a:r>
            <a:endParaRPr sz="1450" b="0" i="0" u="none" strike="noStrike" cap="none">
              <a:solidFill>
                <a:schemeClr val="dk1"/>
              </a:solidFill>
              <a:latin typeface="Calibri"/>
              <a:ea typeface="Calibri"/>
              <a:cs typeface="Calibri"/>
              <a:sym typeface="Calibri"/>
            </a:endParaRPr>
          </a:p>
        </p:txBody>
      </p:sp>
      <p:sp>
        <p:nvSpPr>
          <p:cNvPr id="1168" name="Google Shape;1168;p67"/>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20 / 40</a:t>
            </a:r>
            <a:endParaRPr sz="950" b="0" i="0" u="none" strike="noStrike" cap="none">
              <a:solidFill>
                <a:schemeClr val="dk1"/>
              </a:solidFill>
              <a:latin typeface="Calibri"/>
              <a:ea typeface="Calibri"/>
              <a:cs typeface="Calibri"/>
              <a:sym typeface="Calibri"/>
            </a:endParaRPr>
          </a:p>
        </p:txBody>
      </p:sp>
      <p:sp>
        <p:nvSpPr>
          <p:cNvPr id="1169" name="Google Shape;1169;p67"/>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74"/>
        <p:cNvGrpSpPr/>
        <p:nvPr/>
      </p:nvGrpSpPr>
      <p:grpSpPr>
        <a:xfrm>
          <a:off x="0" y="0"/>
          <a:ext cx="0" cy="0"/>
          <a:chOff x="0" y="0"/>
          <a:chExt cx="0" cy="0"/>
        </a:xfrm>
      </p:grpSpPr>
      <p:sp>
        <p:nvSpPr>
          <p:cNvPr id="1175" name="Google Shape;1175;p68"/>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A4C93"/>
              </a:buClr>
              <a:buSzPts val="1100"/>
              <a:buFont typeface="Calibri"/>
              <a:buNone/>
            </a:pPr>
            <a:r>
              <a:rPr lang="en-US" sz="1100" b="1" i="0" u="none" strike="noStrike" cap="none">
                <a:solidFill>
                  <a:srgbClr val="6A4C93"/>
                </a:solidFill>
                <a:latin typeface="Calibri"/>
                <a:ea typeface="Calibri"/>
                <a:cs typeface="Calibri"/>
                <a:sym typeface="Calibri"/>
              </a:rPr>
              <a:t>3.10 THE IMPROVED APPROACH</a:t>
            </a:r>
            <a:endParaRPr sz="1100" b="0" i="0" u="none" strike="noStrike" cap="none">
              <a:solidFill>
                <a:schemeClr val="dk1"/>
              </a:solidFill>
              <a:latin typeface="Calibri"/>
              <a:ea typeface="Calibri"/>
              <a:cs typeface="Calibri"/>
              <a:sym typeface="Calibri"/>
            </a:endParaRPr>
          </a:p>
        </p:txBody>
      </p:sp>
      <p:sp>
        <p:nvSpPr>
          <p:cNvPr id="1176" name="Google Shape;1176;p68"/>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Event Calculus</a:t>
            </a:r>
            <a:endParaRPr sz="2300" b="0" i="0" u="none" strike="noStrike" cap="none">
              <a:solidFill>
                <a:schemeClr val="dk1"/>
              </a:solidFill>
              <a:latin typeface="Calibri"/>
              <a:ea typeface="Calibri"/>
              <a:cs typeface="Calibri"/>
              <a:sym typeface="Calibri"/>
            </a:endParaRPr>
          </a:p>
        </p:txBody>
      </p:sp>
      <p:cxnSp>
        <p:nvCxnSpPr>
          <p:cNvPr id="1177" name="Google Shape;1177;p68"/>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1178" name="Google Shape;1178;p68"/>
          <p:cNvSpPr/>
          <p:nvPr/>
        </p:nvSpPr>
        <p:spPr>
          <a:xfrm>
            <a:off x="457200" y="1645920"/>
            <a:ext cx="10607040" cy="100584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404040"/>
              </a:buClr>
              <a:buSzPts val="1500"/>
              <a:buFont typeface="Calibri"/>
              <a:buNone/>
            </a:pPr>
            <a:r>
              <a:rPr lang="en-US" sz="1500" b="0" i="0" u="none" strike="noStrike" cap="none">
                <a:solidFill>
                  <a:srgbClr val="404040"/>
                </a:solidFill>
                <a:latin typeface="Calibri"/>
                <a:ea typeface="Calibri"/>
                <a:cs typeface="Calibri"/>
                <a:sym typeface="Calibri"/>
              </a:rPr>
              <a:t>Developed as an improvement over Situation Calculus, and now widely used in temporal reasoning. Instead of focusing on situations, it focuses on </a:t>
            </a:r>
            <a:r>
              <a:rPr lang="en-US" sz="1500" b="1" i="0" u="none" strike="noStrike" cap="none">
                <a:solidFill>
                  <a:srgbClr val="404040"/>
                </a:solidFill>
                <a:latin typeface="Calibri"/>
                <a:ea typeface="Calibri"/>
                <a:cs typeface="Calibri"/>
                <a:sym typeface="Calibri"/>
              </a:rPr>
              <a:t>events and their effects on fluents over time</a:t>
            </a:r>
            <a:r>
              <a:rPr lang="en-US" sz="1500" b="0" i="0" u="none" strike="noStrike" cap="none">
                <a:solidFill>
                  <a:srgbClr val="404040"/>
                </a:solidFill>
                <a:latin typeface="Calibri"/>
                <a:ea typeface="Calibri"/>
                <a:cs typeface="Calibri"/>
                <a:sym typeface="Calibri"/>
              </a:rPr>
              <a:t> — combining the event idea from Section 3.7 with the fluent idea from Section 3.8.</a:t>
            </a:r>
            <a:endParaRPr sz="1500" b="0" i="0" u="none" strike="noStrike" cap="none">
              <a:solidFill>
                <a:schemeClr val="dk1"/>
              </a:solidFill>
              <a:latin typeface="Calibri"/>
              <a:ea typeface="Calibri"/>
              <a:cs typeface="Calibri"/>
              <a:sym typeface="Calibri"/>
            </a:endParaRPr>
          </a:p>
        </p:txBody>
      </p:sp>
      <p:sp>
        <p:nvSpPr>
          <p:cNvPr id="1179" name="Google Shape;1179;p68"/>
          <p:cNvSpPr/>
          <p:nvPr/>
        </p:nvSpPr>
        <p:spPr>
          <a:xfrm>
            <a:off x="2103120" y="2834640"/>
            <a:ext cx="6766560" cy="1051560"/>
          </a:xfrm>
          <a:prstGeom prst="rect">
            <a:avLst/>
          </a:prstGeom>
          <a:solidFill>
            <a:srgbClr val="F4F8F8"/>
          </a:solidFill>
          <a:ln w="9525" cap="flat" cmpd="sng">
            <a:solidFill>
              <a:srgbClr val="DDE3E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68"/>
          <p:cNvSpPr/>
          <p:nvPr/>
        </p:nvSpPr>
        <p:spPr>
          <a:xfrm>
            <a:off x="2331720" y="2926080"/>
            <a:ext cx="6309360" cy="86868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404040"/>
              </a:buClr>
              <a:buSzPts val="1450"/>
              <a:buFont typeface="Courier New"/>
              <a:buNone/>
            </a:pPr>
            <a:r>
              <a:rPr lang="en-US" sz="1450" b="0" i="0" u="none" strike="noStrike" cap="none">
                <a:solidFill>
                  <a:srgbClr val="404040"/>
                </a:solidFill>
                <a:latin typeface="Courier New"/>
                <a:ea typeface="Courier New"/>
                <a:cs typeface="Courier New"/>
                <a:sym typeface="Courier New"/>
              </a:rPr>
              <a:t>Initially:        DoorOpen = False</a:t>
            </a:r>
            <a:endParaRPr sz="1450" b="0" i="0" u="none" strike="noStrike" cap="none">
              <a:solidFill>
                <a:schemeClr val="dk1"/>
              </a:solidFill>
              <a:latin typeface="Calibri"/>
              <a:ea typeface="Calibri"/>
              <a:cs typeface="Calibri"/>
              <a:sym typeface="Calibri"/>
            </a:endParaRPr>
          </a:p>
          <a:p>
            <a:pPr marL="0" marR="0" lvl="0" indent="0" algn="l" rtl="0">
              <a:lnSpc>
                <a:spcPct val="115000"/>
              </a:lnSpc>
              <a:spcBef>
                <a:spcPts val="0"/>
              </a:spcBef>
              <a:spcAft>
                <a:spcPts val="0"/>
              </a:spcAft>
              <a:buClr>
                <a:srgbClr val="404040"/>
              </a:buClr>
              <a:buSzPts val="1450"/>
              <a:buFont typeface="Courier New"/>
              <a:buNone/>
            </a:pPr>
            <a:r>
              <a:rPr lang="en-US" sz="1450" b="0" i="0" u="none" strike="noStrike" cap="none">
                <a:solidFill>
                  <a:srgbClr val="404040"/>
                </a:solidFill>
                <a:latin typeface="Courier New"/>
                <a:ea typeface="Courier New"/>
                <a:cs typeface="Courier New"/>
                <a:sym typeface="Courier New"/>
              </a:rPr>
              <a:t>Event at 10 AM:  OpenDoor</a:t>
            </a:r>
            <a:endParaRPr sz="1450" b="0" i="0" u="none" strike="noStrike" cap="none">
              <a:solidFill>
                <a:schemeClr val="dk1"/>
              </a:solidFill>
              <a:latin typeface="Calibri"/>
              <a:ea typeface="Calibri"/>
              <a:cs typeface="Calibri"/>
              <a:sym typeface="Calibri"/>
            </a:endParaRPr>
          </a:p>
          <a:p>
            <a:pPr marL="0" marR="0" lvl="0" indent="0" algn="l" rtl="0">
              <a:lnSpc>
                <a:spcPct val="115000"/>
              </a:lnSpc>
              <a:spcBef>
                <a:spcPts val="0"/>
              </a:spcBef>
              <a:spcAft>
                <a:spcPts val="0"/>
              </a:spcAft>
              <a:buClr>
                <a:srgbClr val="404040"/>
              </a:buClr>
              <a:buSzPts val="1450"/>
              <a:buFont typeface="Courier New"/>
              <a:buNone/>
            </a:pPr>
            <a:r>
              <a:rPr lang="en-US" sz="1450" b="0" i="0" u="none" strike="noStrike" cap="none">
                <a:solidFill>
                  <a:srgbClr val="404040"/>
                </a:solidFill>
                <a:latin typeface="Courier New"/>
                <a:ea typeface="Courier New"/>
                <a:cs typeface="Courier New"/>
                <a:sym typeface="Courier New"/>
              </a:rPr>
              <a:t>After:           DoorOpen = True</a:t>
            </a:r>
            <a:endParaRPr sz="1450" b="0" i="0" u="none" strike="noStrike" cap="none">
              <a:solidFill>
                <a:schemeClr val="dk1"/>
              </a:solidFill>
              <a:latin typeface="Calibri"/>
              <a:ea typeface="Calibri"/>
              <a:cs typeface="Calibri"/>
              <a:sym typeface="Calibri"/>
            </a:endParaRPr>
          </a:p>
        </p:txBody>
      </p:sp>
      <p:sp>
        <p:nvSpPr>
          <p:cNvPr id="1181" name="Google Shape;1181;p68"/>
          <p:cNvSpPr/>
          <p:nvPr/>
        </p:nvSpPr>
        <p:spPr>
          <a:xfrm>
            <a:off x="457200" y="4160520"/>
            <a:ext cx="10607040" cy="77724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404040"/>
              </a:buClr>
              <a:buSzPts val="1450"/>
              <a:buFont typeface="Calibri"/>
              <a:buNone/>
            </a:pPr>
            <a:r>
              <a:rPr lang="en-US" sz="1450" b="0" i="0" u="none" strike="noStrike" cap="none">
                <a:solidFill>
                  <a:srgbClr val="404040"/>
                </a:solidFill>
                <a:latin typeface="Calibri"/>
                <a:ea typeface="Calibri"/>
                <a:cs typeface="Calibri"/>
                <a:sym typeface="Calibri"/>
              </a:rPr>
              <a:t>Event Calculus is widely used in smart buildings, healthcare monitoring, security systems, and robotics — anywhere events naturally occur and accumulate over time.</a:t>
            </a:r>
            <a:endParaRPr sz="1450" b="0" i="0" u="none" strike="noStrike" cap="none">
              <a:solidFill>
                <a:schemeClr val="dk1"/>
              </a:solidFill>
              <a:latin typeface="Calibri"/>
              <a:ea typeface="Calibri"/>
              <a:cs typeface="Calibri"/>
              <a:sym typeface="Calibri"/>
            </a:endParaRPr>
          </a:p>
        </p:txBody>
      </p:sp>
      <p:sp>
        <p:nvSpPr>
          <p:cNvPr id="1182" name="Google Shape;1182;p68"/>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20 / 40</a:t>
            </a:r>
            <a:endParaRPr sz="950" b="0" i="0" u="none" strike="noStrike" cap="none">
              <a:solidFill>
                <a:schemeClr val="dk1"/>
              </a:solidFill>
              <a:latin typeface="Calibri"/>
              <a:ea typeface="Calibri"/>
              <a:cs typeface="Calibri"/>
              <a:sym typeface="Calibri"/>
            </a:endParaRPr>
          </a:p>
        </p:txBody>
      </p:sp>
      <p:sp>
        <p:nvSpPr>
          <p:cNvPr id="1183" name="Google Shape;1183;p68"/>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88"/>
        <p:cNvGrpSpPr/>
        <p:nvPr/>
      </p:nvGrpSpPr>
      <p:grpSpPr>
        <a:xfrm>
          <a:off x="0" y="0"/>
          <a:ext cx="0" cy="0"/>
          <a:chOff x="0" y="0"/>
          <a:chExt cx="0" cy="0"/>
        </a:xfrm>
      </p:grpSpPr>
      <p:sp>
        <p:nvSpPr>
          <p:cNvPr id="1189" name="Google Shape;1189;p69"/>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A4C93"/>
              </a:buClr>
              <a:buSzPts val="1100"/>
              <a:buFont typeface="Calibri"/>
              <a:buNone/>
            </a:pPr>
            <a:r>
              <a:rPr lang="en-US" sz="1100" b="1" i="0" u="none" strike="noStrike" cap="none">
                <a:solidFill>
                  <a:srgbClr val="6A4C93"/>
                </a:solidFill>
                <a:latin typeface="Calibri"/>
                <a:ea typeface="Calibri"/>
                <a:cs typeface="Calibri"/>
                <a:sym typeface="Calibri"/>
              </a:rPr>
              <a:t>3.11–3.13 REAL-WORLD DOMAINS</a:t>
            </a:r>
            <a:endParaRPr sz="1100" b="0" i="0" u="none" strike="noStrike" cap="none">
              <a:solidFill>
                <a:schemeClr val="dk1"/>
              </a:solidFill>
              <a:latin typeface="Calibri"/>
              <a:ea typeface="Calibri"/>
              <a:cs typeface="Calibri"/>
              <a:sym typeface="Calibri"/>
            </a:endParaRPr>
          </a:p>
        </p:txBody>
      </p:sp>
      <p:sp>
        <p:nvSpPr>
          <p:cNvPr id="1190" name="Google Shape;1190;p69"/>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Temporal Reasoning in Robotics, Healthcare &amp; Smart Cities</a:t>
            </a:r>
            <a:endParaRPr sz="2300" b="0" i="0" u="none" strike="noStrike" cap="none">
              <a:solidFill>
                <a:schemeClr val="dk1"/>
              </a:solidFill>
              <a:latin typeface="Calibri"/>
              <a:ea typeface="Calibri"/>
              <a:cs typeface="Calibri"/>
              <a:sym typeface="Calibri"/>
            </a:endParaRPr>
          </a:p>
        </p:txBody>
      </p:sp>
      <p:cxnSp>
        <p:nvCxnSpPr>
          <p:cNvPr id="1191" name="Google Shape;1191;p69"/>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1192" name="Google Shape;1192;p69"/>
          <p:cNvSpPr/>
          <p:nvPr/>
        </p:nvSpPr>
        <p:spPr>
          <a:xfrm>
            <a:off x="457200" y="1600200"/>
            <a:ext cx="1828800" cy="1078992"/>
          </a:xfrm>
          <a:prstGeom prst="rect">
            <a:avLst/>
          </a:prstGeom>
          <a:solidFill>
            <a:srgbClr val="1F4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69"/>
          <p:cNvSpPr/>
          <p:nvPr/>
        </p:nvSpPr>
        <p:spPr>
          <a:xfrm>
            <a:off x="457200" y="1600200"/>
            <a:ext cx="1828800" cy="107899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Calibri"/>
              <a:buNone/>
            </a:pPr>
            <a:r>
              <a:rPr lang="en-US" sz="1500" b="1" i="0" u="none" strike="noStrike" cap="none">
                <a:solidFill>
                  <a:srgbClr val="FFFFFF"/>
                </a:solidFill>
                <a:latin typeface="Calibri"/>
                <a:ea typeface="Calibri"/>
                <a:cs typeface="Calibri"/>
                <a:sym typeface="Calibri"/>
              </a:rPr>
              <a:t>Robotics</a:t>
            </a:r>
            <a:endParaRPr sz="1500" b="0" i="0" u="none" strike="noStrike" cap="none">
              <a:solidFill>
                <a:schemeClr val="dk1"/>
              </a:solidFill>
              <a:latin typeface="Calibri"/>
              <a:ea typeface="Calibri"/>
              <a:cs typeface="Calibri"/>
              <a:sym typeface="Calibri"/>
            </a:endParaRPr>
          </a:p>
        </p:txBody>
      </p:sp>
      <p:sp>
        <p:nvSpPr>
          <p:cNvPr id="1194" name="Google Shape;1194;p69"/>
          <p:cNvSpPr/>
          <p:nvPr/>
        </p:nvSpPr>
        <p:spPr>
          <a:xfrm>
            <a:off x="2468880" y="1600200"/>
            <a:ext cx="8595360" cy="1078992"/>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404040"/>
              </a:buClr>
              <a:buSzPts val="1250"/>
              <a:buFont typeface="Calibri"/>
              <a:buNone/>
            </a:pPr>
            <a:r>
              <a:rPr lang="en-US" sz="1250" b="0" i="0" u="none" strike="noStrike" cap="none">
                <a:solidFill>
                  <a:srgbClr val="404040"/>
                </a:solidFill>
                <a:latin typeface="Calibri"/>
                <a:ea typeface="Calibri"/>
                <a:cs typeface="Calibri"/>
                <a:sym typeface="Calibri"/>
              </a:rPr>
              <a:t>Robots continuously reason about correct order. A warehouse robot with tasks Pick → Move → Deliver cannot deliver before picking up. An autonomous parking robot must Lift, then Move, then Place, in that exact order.</a:t>
            </a:r>
            <a:endParaRPr sz="1250" b="0" i="0" u="none" strike="noStrike" cap="none">
              <a:solidFill>
                <a:schemeClr val="dk1"/>
              </a:solidFill>
              <a:latin typeface="Calibri"/>
              <a:ea typeface="Calibri"/>
              <a:cs typeface="Calibri"/>
              <a:sym typeface="Calibri"/>
            </a:endParaRPr>
          </a:p>
        </p:txBody>
      </p:sp>
      <p:sp>
        <p:nvSpPr>
          <p:cNvPr id="1195" name="Google Shape;1195;p69"/>
          <p:cNvSpPr/>
          <p:nvPr/>
        </p:nvSpPr>
        <p:spPr>
          <a:xfrm>
            <a:off x="457200" y="2788920"/>
            <a:ext cx="1828800" cy="1078992"/>
          </a:xfrm>
          <a:prstGeom prst="rect">
            <a:avLst/>
          </a:prstGeom>
          <a:solidFill>
            <a:srgbClr val="6A4C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69"/>
          <p:cNvSpPr/>
          <p:nvPr/>
        </p:nvSpPr>
        <p:spPr>
          <a:xfrm>
            <a:off x="457200" y="2788920"/>
            <a:ext cx="1828800" cy="107899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Calibri"/>
              <a:buNone/>
            </a:pPr>
            <a:r>
              <a:rPr lang="en-US" sz="1500" b="1" i="0" u="none" strike="noStrike" cap="none">
                <a:solidFill>
                  <a:srgbClr val="FFFFFF"/>
                </a:solidFill>
                <a:latin typeface="Calibri"/>
                <a:ea typeface="Calibri"/>
                <a:cs typeface="Calibri"/>
                <a:sym typeface="Calibri"/>
              </a:rPr>
              <a:t>Healthcare</a:t>
            </a:r>
            <a:endParaRPr sz="1500" b="0" i="0" u="none" strike="noStrike" cap="none">
              <a:solidFill>
                <a:schemeClr val="dk1"/>
              </a:solidFill>
              <a:latin typeface="Calibri"/>
              <a:ea typeface="Calibri"/>
              <a:cs typeface="Calibri"/>
              <a:sym typeface="Calibri"/>
            </a:endParaRPr>
          </a:p>
        </p:txBody>
      </p:sp>
      <p:sp>
        <p:nvSpPr>
          <p:cNvPr id="1197" name="Google Shape;1197;p69"/>
          <p:cNvSpPr/>
          <p:nvPr/>
        </p:nvSpPr>
        <p:spPr>
          <a:xfrm>
            <a:off x="2468880" y="2788920"/>
            <a:ext cx="8595360" cy="1078992"/>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404040"/>
              </a:buClr>
              <a:buSzPts val="1250"/>
              <a:buFont typeface="Calibri"/>
              <a:buNone/>
            </a:pPr>
            <a:r>
              <a:rPr lang="en-US" sz="1250" b="0" i="0" u="none" strike="noStrike" cap="none">
                <a:solidFill>
                  <a:srgbClr val="404040"/>
                </a:solidFill>
                <a:latin typeface="Calibri"/>
                <a:ea typeface="Calibri"/>
                <a:cs typeface="Calibri"/>
                <a:sym typeface="Calibri"/>
              </a:rPr>
              <a:t>Patient timeline: 8:00 AM Fever → 10:00 AM Medication → 12:00 PM Temperature Reduced. The AI infers the medication likely caused the improvement. The sequence Irregular heartbeat → BP drop → Cardiac arrest helps predict emergencies before they fully develop.</a:t>
            </a:r>
            <a:endParaRPr sz="1250" b="0" i="0" u="none" strike="noStrike" cap="none">
              <a:solidFill>
                <a:schemeClr val="dk1"/>
              </a:solidFill>
              <a:latin typeface="Calibri"/>
              <a:ea typeface="Calibri"/>
              <a:cs typeface="Calibri"/>
              <a:sym typeface="Calibri"/>
            </a:endParaRPr>
          </a:p>
        </p:txBody>
      </p:sp>
      <p:sp>
        <p:nvSpPr>
          <p:cNvPr id="1198" name="Google Shape;1198;p69"/>
          <p:cNvSpPr/>
          <p:nvPr/>
        </p:nvSpPr>
        <p:spPr>
          <a:xfrm>
            <a:off x="457200" y="3977640"/>
            <a:ext cx="1828800" cy="1078992"/>
          </a:xfrm>
          <a:prstGeom prst="rect">
            <a:avLst/>
          </a:prstGeom>
          <a:solidFill>
            <a:srgbClr val="B85C2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69"/>
          <p:cNvSpPr/>
          <p:nvPr/>
        </p:nvSpPr>
        <p:spPr>
          <a:xfrm>
            <a:off x="457200" y="3977640"/>
            <a:ext cx="1828800" cy="107899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Calibri"/>
              <a:buNone/>
            </a:pPr>
            <a:r>
              <a:rPr lang="en-US" sz="1500" b="1" i="0" u="none" strike="noStrike" cap="none">
                <a:solidFill>
                  <a:srgbClr val="FFFFFF"/>
                </a:solidFill>
                <a:latin typeface="Calibri"/>
                <a:ea typeface="Calibri"/>
                <a:cs typeface="Calibri"/>
                <a:sym typeface="Calibri"/>
              </a:rPr>
              <a:t>Smart Cities</a:t>
            </a:r>
            <a:endParaRPr sz="1500" b="0" i="0" u="none" strike="noStrike" cap="none">
              <a:solidFill>
                <a:schemeClr val="dk1"/>
              </a:solidFill>
              <a:latin typeface="Calibri"/>
              <a:ea typeface="Calibri"/>
              <a:cs typeface="Calibri"/>
              <a:sym typeface="Calibri"/>
            </a:endParaRPr>
          </a:p>
        </p:txBody>
      </p:sp>
      <p:sp>
        <p:nvSpPr>
          <p:cNvPr id="1200" name="Google Shape;1200;p69"/>
          <p:cNvSpPr/>
          <p:nvPr/>
        </p:nvSpPr>
        <p:spPr>
          <a:xfrm>
            <a:off x="2468880" y="3977640"/>
            <a:ext cx="8595360" cy="1078992"/>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404040"/>
              </a:buClr>
              <a:buSzPts val="1250"/>
              <a:buFont typeface="Calibri"/>
              <a:buNone/>
            </a:pPr>
            <a:r>
              <a:rPr lang="en-US" sz="1250" b="0" i="0" u="none" strike="noStrike" cap="none">
                <a:solidFill>
                  <a:srgbClr val="404040"/>
                </a:solidFill>
                <a:latin typeface="Calibri"/>
                <a:ea typeface="Calibri"/>
                <a:cs typeface="Calibri"/>
                <a:sym typeface="Calibri"/>
              </a:rPr>
              <a:t>Traffic systems track patterns like 8 AM (Heavy) → 10 AM (Moderate) → 1 PM (Low) to predict future conditions and optimize signal timing or rerouting in real time.</a:t>
            </a:r>
            <a:endParaRPr sz="1250" b="0" i="0" u="none" strike="noStrike" cap="none">
              <a:solidFill>
                <a:schemeClr val="dk1"/>
              </a:solidFill>
              <a:latin typeface="Calibri"/>
              <a:ea typeface="Calibri"/>
              <a:cs typeface="Calibri"/>
              <a:sym typeface="Calibri"/>
            </a:endParaRPr>
          </a:p>
        </p:txBody>
      </p:sp>
      <p:sp>
        <p:nvSpPr>
          <p:cNvPr id="1201" name="Google Shape;1201;p69"/>
          <p:cNvSpPr/>
          <p:nvPr/>
        </p:nvSpPr>
        <p:spPr>
          <a:xfrm>
            <a:off x="457200" y="5257800"/>
            <a:ext cx="10607040" cy="868680"/>
          </a:xfrm>
          <a:prstGeom prst="rect">
            <a:avLst/>
          </a:prstGeom>
          <a:solidFill>
            <a:srgbClr val="FFF6EC"/>
          </a:solidFill>
          <a:ln w="9525" cap="flat" cmpd="sng">
            <a:solidFill>
              <a:srgbClr val="6A4C9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69"/>
          <p:cNvSpPr/>
          <p:nvPr/>
        </p:nvSpPr>
        <p:spPr>
          <a:xfrm>
            <a:off x="457200" y="5257800"/>
            <a:ext cx="64008" cy="868680"/>
          </a:xfrm>
          <a:prstGeom prst="rect">
            <a:avLst/>
          </a:prstGeom>
          <a:solidFill>
            <a:srgbClr val="6A4C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69"/>
          <p:cNvSpPr/>
          <p:nvPr/>
        </p:nvSpPr>
        <p:spPr>
          <a:xfrm>
            <a:off x="685800" y="5367528"/>
            <a:ext cx="102412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A4C93"/>
              </a:buClr>
              <a:buSzPts val="1050"/>
              <a:buFont typeface="Calibri"/>
              <a:buNone/>
            </a:pPr>
            <a:r>
              <a:rPr lang="en-US" sz="1050" b="1" i="0" u="none" strike="noStrike" cap="none">
                <a:solidFill>
                  <a:srgbClr val="6A4C93"/>
                </a:solidFill>
                <a:latin typeface="Calibri"/>
                <a:ea typeface="Calibri"/>
                <a:cs typeface="Calibri"/>
                <a:sym typeface="Calibri"/>
              </a:rPr>
              <a:t>IMPORTANT PRINCIPLE</a:t>
            </a:r>
            <a:endParaRPr sz="1050" b="0" i="0" u="none" strike="noStrike" cap="none">
              <a:solidFill>
                <a:schemeClr val="dk1"/>
              </a:solidFill>
              <a:latin typeface="Calibri"/>
              <a:ea typeface="Calibri"/>
              <a:cs typeface="Calibri"/>
              <a:sym typeface="Calibri"/>
            </a:endParaRPr>
          </a:p>
        </p:txBody>
      </p:sp>
      <p:sp>
        <p:nvSpPr>
          <p:cNvPr id="1204" name="Google Shape;1204;p69"/>
          <p:cNvSpPr/>
          <p:nvPr/>
        </p:nvSpPr>
        <p:spPr>
          <a:xfrm>
            <a:off x="685800" y="5660136"/>
            <a:ext cx="10195560" cy="37490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200"/>
              <a:buFont typeface="Calibri"/>
              <a:buNone/>
            </a:pPr>
            <a:r>
              <a:rPr lang="en-US" sz="1200" b="0" i="0" u="none" strike="noStrike" cap="none">
                <a:solidFill>
                  <a:srgbClr val="404040"/>
                </a:solidFill>
                <a:latin typeface="Calibri"/>
                <a:ea typeface="Calibri"/>
                <a:cs typeface="Calibri"/>
                <a:sym typeface="Calibri"/>
              </a:rPr>
              <a:t>Across robotics, healthcare, and smart cities, the same underlying tools apply: events, fluents, and interval relationships. Once a domain is modeled this way, the same reasoning machinery can answer very different real-world questions.</a:t>
            </a:r>
            <a:endParaRPr sz="1200" b="0" i="0" u="none" strike="noStrike" cap="none">
              <a:solidFill>
                <a:schemeClr val="dk1"/>
              </a:solidFill>
              <a:latin typeface="Calibri"/>
              <a:ea typeface="Calibri"/>
              <a:cs typeface="Calibri"/>
              <a:sym typeface="Calibri"/>
            </a:endParaRPr>
          </a:p>
        </p:txBody>
      </p:sp>
      <p:sp>
        <p:nvSpPr>
          <p:cNvPr id="1205" name="Google Shape;1205;p69"/>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21 / 40</a:t>
            </a:r>
            <a:endParaRPr sz="950" b="0" i="0" u="none" strike="noStrike" cap="none">
              <a:solidFill>
                <a:schemeClr val="dk1"/>
              </a:solidFill>
              <a:latin typeface="Calibri"/>
              <a:ea typeface="Calibri"/>
              <a:cs typeface="Calibri"/>
              <a:sym typeface="Calibri"/>
            </a:endParaRPr>
          </a:p>
        </p:txBody>
      </p:sp>
      <p:sp>
        <p:nvSpPr>
          <p:cNvPr id="1206" name="Google Shape;1206;p69"/>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11"/>
        <p:cNvGrpSpPr/>
        <p:nvPr/>
      </p:nvGrpSpPr>
      <p:grpSpPr>
        <a:xfrm>
          <a:off x="0" y="0"/>
          <a:ext cx="0" cy="0"/>
          <a:chOff x="0" y="0"/>
          <a:chExt cx="0" cy="0"/>
        </a:xfrm>
      </p:grpSpPr>
      <p:sp>
        <p:nvSpPr>
          <p:cNvPr id="1212" name="Google Shape;1212;p70"/>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A4C93"/>
              </a:buClr>
              <a:buSzPts val="1100"/>
              <a:buFont typeface="Calibri"/>
              <a:buNone/>
            </a:pPr>
            <a:r>
              <a:rPr lang="en-US" sz="1100" b="1" i="0" u="none" strike="noStrike" cap="none">
                <a:solidFill>
                  <a:srgbClr val="6A4C93"/>
                </a:solidFill>
                <a:latin typeface="Calibri"/>
                <a:ea typeface="Calibri"/>
                <a:cs typeface="Calibri"/>
                <a:sym typeface="Calibri"/>
              </a:rPr>
              <a:t>WORKED EXAMPLE 1 — TRY IT YOURSELF</a:t>
            </a:r>
            <a:endParaRPr sz="1100" b="0" i="0" u="none" strike="noStrike" cap="none">
              <a:solidFill>
                <a:schemeClr val="dk1"/>
              </a:solidFill>
              <a:latin typeface="Calibri"/>
              <a:ea typeface="Calibri"/>
              <a:cs typeface="Calibri"/>
              <a:sym typeface="Calibri"/>
            </a:endParaRPr>
          </a:p>
        </p:txBody>
      </p:sp>
      <p:sp>
        <p:nvSpPr>
          <p:cNvPr id="1213" name="Google Shape;1213;p70"/>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Reconstructing a Timeline from a Story</a:t>
            </a:r>
            <a:endParaRPr sz="2300" b="0" i="0" u="none" strike="noStrike" cap="none">
              <a:solidFill>
                <a:schemeClr val="dk1"/>
              </a:solidFill>
              <a:latin typeface="Calibri"/>
              <a:ea typeface="Calibri"/>
              <a:cs typeface="Calibri"/>
              <a:sym typeface="Calibri"/>
            </a:endParaRPr>
          </a:p>
        </p:txBody>
      </p:sp>
      <p:cxnSp>
        <p:nvCxnSpPr>
          <p:cNvPr id="1214" name="Google Shape;1214;p70"/>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1215" name="Google Shape;1215;p70"/>
          <p:cNvSpPr/>
          <p:nvPr/>
        </p:nvSpPr>
        <p:spPr>
          <a:xfrm>
            <a:off x="640080" y="1691640"/>
            <a:ext cx="10241280" cy="2743200"/>
          </a:xfrm>
          <a:prstGeom prst="rect">
            <a:avLst/>
          </a:prstGeom>
          <a:solidFill>
            <a:srgbClr val="FAF7FF"/>
          </a:solidFill>
          <a:ln w="15875" cap="flat" cmpd="sng">
            <a:solidFill>
              <a:srgbClr val="6A4C9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70"/>
          <p:cNvSpPr/>
          <p:nvPr/>
        </p:nvSpPr>
        <p:spPr>
          <a:xfrm>
            <a:off x="868680" y="1874520"/>
            <a:ext cx="3657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A4C93"/>
              </a:buClr>
              <a:buSzPts val="1200"/>
              <a:buFont typeface="Calibri"/>
              <a:buNone/>
            </a:pPr>
            <a:r>
              <a:rPr lang="en-US" sz="1200" b="1" i="0" u="none" strike="noStrike" cap="none">
                <a:solidFill>
                  <a:srgbClr val="6A4C93"/>
                </a:solidFill>
                <a:latin typeface="Calibri"/>
                <a:ea typeface="Calibri"/>
                <a:cs typeface="Calibri"/>
                <a:sym typeface="Calibri"/>
              </a:rPr>
              <a:t>PROBLEM</a:t>
            </a:r>
            <a:endParaRPr sz="1200" b="0" i="0" u="none" strike="noStrike" cap="none">
              <a:solidFill>
                <a:schemeClr val="dk1"/>
              </a:solidFill>
              <a:latin typeface="Calibri"/>
              <a:ea typeface="Calibri"/>
              <a:cs typeface="Calibri"/>
              <a:sym typeface="Calibri"/>
            </a:endParaRPr>
          </a:p>
        </p:txBody>
      </p:sp>
      <p:sp>
        <p:nvSpPr>
          <p:cNvPr id="1217" name="Google Shape;1217;p70"/>
          <p:cNvSpPr/>
          <p:nvPr/>
        </p:nvSpPr>
        <p:spPr>
          <a:xfrm>
            <a:off x="868680" y="2194560"/>
            <a:ext cx="9784080" cy="1188720"/>
          </a:xfrm>
          <a:prstGeom prst="rect">
            <a:avLst/>
          </a:prstGeom>
          <a:noFill/>
          <a:ln>
            <a:noFill/>
          </a:ln>
        </p:spPr>
        <p:txBody>
          <a:bodyPr spcFirstLastPara="1" wrap="square" lIns="0" tIns="0" rIns="0" bIns="0" anchor="ctr" anchorCtr="0">
            <a:noAutofit/>
          </a:bodyPr>
          <a:lstStyle/>
          <a:p>
            <a:pPr marL="0" marR="0" lvl="0" indent="0" algn="l" rtl="0">
              <a:lnSpc>
                <a:spcPct val="135000"/>
              </a:lnSpc>
              <a:spcBef>
                <a:spcPts val="0"/>
              </a:spcBef>
              <a:spcAft>
                <a:spcPts val="0"/>
              </a:spcAft>
              <a:buClr>
                <a:srgbClr val="404040"/>
              </a:buClr>
              <a:buSzPts val="1500"/>
              <a:buFont typeface="Calibri"/>
              <a:buNone/>
            </a:pPr>
            <a:r>
              <a:rPr lang="en-US" sz="1500" b="0" i="0" u="none" strike="noStrike" cap="none">
                <a:solidFill>
                  <a:srgbClr val="404040"/>
                </a:solidFill>
                <a:latin typeface="Calibri"/>
                <a:ea typeface="Calibri"/>
                <a:cs typeface="Calibri"/>
                <a:sym typeface="Calibri"/>
              </a:rPr>
              <a:t>Read this short passage: "Hamid submitted his thesis on Monday. Before that, his supervisor had reviewed three full drafts. He had started writing the thesis two months earlier."</a:t>
            </a:r>
            <a:endParaRPr sz="1500" b="0" i="0" u="none" strike="noStrike" cap="none">
              <a:solidFill>
                <a:schemeClr val="dk1"/>
              </a:solidFill>
              <a:latin typeface="Calibri"/>
              <a:ea typeface="Calibri"/>
              <a:cs typeface="Calibri"/>
              <a:sym typeface="Calibri"/>
            </a:endParaRPr>
          </a:p>
        </p:txBody>
      </p:sp>
      <p:sp>
        <p:nvSpPr>
          <p:cNvPr id="1218" name="Google Shape;1218;p70"/>
          <p:cNvSpPr/>
          <p:nvPr/>
        </p:nvSpPr>
        <p:spPr>
          <a:xfrm>
            <a:off x="868680" y="3520440"/>
            <a:ext cx="9784080" cy="77724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404040"/>
              </a:buClr>
              <a:buSzPts val="1450"/>
              <a:buFont typeface="Calibri"/>
              <a:buNone/>
            </a:pPr>
            <a:r>
              <a:rPr lang="en-US" sz="1450" b="1" i="1" u="none" strike="noStrike" cap="none">
                <a:solidFill>
                  <a:srgbClr val="404040"/>
                </a:solidFill>
                <a:latin typeface="Calibri"/>
                <a:ea typeface="Calibri"/>
                <a:cs typeface="Calibri"/>
                <a:sym typeface="Calibri"/>
              </a:rPr>
              <a:t>Question:  </a:t>
            </a:r>
            <a:r>
              <a:rPr lang="en-US" sz="1450" b="0" i="1" u="none" strike="noStrike" cap="none">
                <a:solidFill>
                  <a:srgbClr val="404040"/>
                </a:solidFill>
                <a:latin typeface="Calibri"/>
                <a:ea typeface="Calibri"/>
                <a:cs typeface="Calibri"/>
                <a:sym typeface="Calibri"/>
              </a:rPr>
              <a:t>Place these three events in correct chronological order using temporal reasoning, even though the text does not list them in time order.</a:t>
            </a:r>
            <a:endParaRPr sz="1450" b="0" i="0" u="none" strike="noStrike" cap="none">
              <a:solidFill>
                <a:schemeClr val="dk1"/>
              </a:solidFill>
              <a:latin typeface="Calibri"/>
              <a:ea typeface="Calibri"/>
              <a:cs typeface="Calibri"/>
              <a:sym typeface="Calibri"/>
            </a:endParaRPr>
          </a:p>
        </p:txBody>
      </p:sp>
      <p:sp>
        <p:nvSpPr>
          <p:cNvPr id="1219" name="Google Shape;1219;p70"/>
          <p:cNvSpPr/>
          <p:nvPr/>
        </p:nvSpPr>
        <p:spPr>
          <a:xfrm>
            <a:off x="640080" y="4663440"/>
            <a:ext cx="1024128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A4C93"/>
              </a:buClr>
              <a:buSzPts val="1250"/>
              <a:buFont typeface="Calibri"/>
              <a:buNone/>
            </a:pPr>
            <a:r>
              <a:rPr lang="en-US" sz="1250" b="1" i="1" u="none" strike="noStrike" cap="none">
                <a:solidFill>
                  <a:srgbClr val="6A4C93"/>
                </a:solidFill>
                <a:latin typeface="Calibri"/>
                <a:ea typeface="Calibri"/>
                <a:cs typeface="Calibri"/>
                <a:sym typeface="Calibri"/>
              </a:rPr>
              <a:t>PAUSE HERE — work out your answer before the next slide</a:t>
            </a:r>
            <a:endParaRPr sz="1250" b="0" i="0" u="none" strike="noStrike" cap="none">
              <a:solidFill>
                <a:schemeClr val="dk1"/>
              </a:solidFill>
              <a:latin typeface="Calibri"/>
              <a:ea typeface="Calibri"/>
              <a:cs typeface="Calibri"/>
              <a:sym typeface="Calibri"/>
            </a:endParaRPr>
          </a:p>
        </p:txBody>
      </p:sp>
      <p:sp>
        <p:nvSpPr>
          <p:cNvPr id="1220" name="Google Shape;1220;p70"/>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22 / 40</a:t>
            </a:r>
            <a:endParaRPr sz="950" b="0" i="0" u="none" strike="noStrike" cap="none">
              <a:solidFill>
                <a:schemeClr val="dk1"/>
              </a:solidFill>
              <a:latin typeface="Calibri"/>
              <a:ea typeface="Calibri"/>
              <a:cs typeface="Calibri"/>
              <a:sym typeface="Calibri"/>
            </a:endParaRPr>
          </a:p>
        </p:txBody>
      </p:sp>
      <p:sp>
        <p:nvSpPr>
          <p:cNvPr id="1221" name="Google Shape;1221;p70"/>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26"/>
        <p:cNvGrpSpPr/>
        <p:nvPr/>
      </p:nvGrpSpPr>
      <p:grpSpPr>
        <a:xfrm>
          <a:off x="0" y="0"/>
          <a:ext cx="0" cy="0"/>
          <a:chOff x="0" y="0"/>
          <a:chExt cx="0" cy="0"/>
        </a:xfrm>
      </p:grpSpPr>
      <p:sp>
        <p:nvSpPr>
          <p:cNvPr id="1227" name="Google Shape;1227;p71"/>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A4C93"/>
              </a:buClr>
              <a:buSzPts val="1100"/>
              <a:buFont typeface="Calibri"/>
              <a:buNone/>
            </a:pPr>
            <a:r>
              <a:rPr lang="en-US" sz="1100" b="1" i="0" u="none" strike="noStrike" cap="none">
                <a:solidFill>
                  <a:srgbClr val="6A4C93"/>
                </a:solidFill>
                <a:latin typeface="Calibri"/>
                <a:ea typeface="Calibri"/>
                <a:cs typeface="Calibri"/>
                <a:sym typeface="Calibri"/>
              </a:rPr>
              <a:t>WORKED EXAMPLE 1 — SOLUTION</a:t>
            </a:r>
            <a:endParaRPr sz="1100" b="0" i="0" u="none" strike="noStrike" cap="none">
              <a:solidFill>
                <a:schemeClr val="dk1"/>
              </a:solidFill>
              <a:latin typeface="Calibri"/>
              <a:ea typeface="Calibri"/>
              <a:cs typeface="Calibri"/>
              <a:sym typeface="Calibri"/>
            </a:endParaRPr>
          </a:p>
        </p:txBody>
      </p:sp>
      <p:sp>
        <p:nvSpPr>
          <p:cNvPr id="1228" name="Google Shape;1228;p71"/>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Reconstructing a Timeline from a Story</a:t>
            </a:r>
            <a:endParaRPr sz="2300" b="0" i="0" u="none" strike="noStrike" cap="none">
              <a:solidFill>
                <a:schemeClr val="dk1"/>
              </a:solidFill>
              <a:latin typeface="Calibri"/>
              <a:ea typeface="Calibri"/>
              <a:cs typeface="Calibri"/>
              <a:sym typeface="Calibri"/>
            </a:endParaRPr>
          </a:p>
        </p:txBody>
      </p:sp>
      <p:cxnSp>
        <p:nvCxnSpPr>
          <p:cNvPr id="1229" name="Google Shape;1229;p71"/>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1230" name="Google Shape;1230;p71"/>
          <p:cNvSpPr/>
          <p:nvPr/>
        </p:nvSpPr>
        <p:spPr>
          <a:xfrm>
            <a:off x="457200" y="1627632"/>
            <a:ext cx="365760" cy="365760"/>
          </a:xfrm>
          <a:prstGeom prst="ellipse">
            <a:avLst/>
          </a:prstGeom>
          <a:solidFill>
            <a:srgbClr val="6A4C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71"/>
          <p:cNvSpPr/>
          <p:nvPr/>
        </p:nvSpPr>
        <p:spPr>
          <a:xfrm>
            <a:off x="457200" y="1627632"/>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1232" name="Google Shape;1232;p71"/>
          <p:cNvSpPr/>
          <p:nvPr/>
        </p:nvSpPr>
        <p:spPr>
          <a:xfrm>
            <a:off x="960120" y="1554480"/>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404040"/>
              </a:buClr>
              <a:buSzPts val="1260"/>
              <a:buFont typeface="Calibri"/>
              <a:buNone/>
            </a:pPr>
            <a:r>
              <a:rPr lang="en-US" sz="1260" b="0" i="0" u="none" strike="noStrike" cap="none">
                <a:solidFill>
                  <a:srgbClr val="404040"/>
                </a:solidFill>
                <a:latin typeface="Calibri"/>
                <a:ea typeface="Calibri"/>
                <a:cs typeface="Calibri"/>
                <a:sym typeface="Calibri"/>
              </a:rPr>
              <a:t>Extract the three events: (E1) Hamid started writing. (E2) The supervisor reviewed three drafts. (E3) Hamid submitted the thesis on Monday.</a:t>
            </a:r>
            <a:endParaRPr sz="1260" b="0" i="0" u="none" strike="noStrike" cap="none">
              <a:solidFill>
                <a:schemeClr val="dk1"/>
              </a:solidFill>
              <a:latin typeface="Calibri"/>
              <a:ea typeface="Calibri"/>
              <a:cs typeface="Calibri"/>
              <a:sym typeface="Calibri"/>
            </a:endParaRPr>
          </a:p>
        </p:txBody>
      </p:sp>
      <p:sp>
        <p:nvSpPr>
          <p:cNvPr id="1233" name="Google Shape;1233;p71"/>
          <p:cNvSpPr/>
          <p:nvPr/>
        </p:nvSpPr>
        <p:spPr>
          <a:xfrm>
            <a:off x="457200" y="2295144"/>
            <a:ext cx="365760" cy="365760"/>
          </a:xfrm>
          <a:prstGeom prst="ellipse">
            <a:avLst/>
          </a:prstGeom>
          <a:solidFill>
            <a:srgbClr val="6A4C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71"/>
          <p:cNvSpPr/>
          <p:nvPr/>
        </p:nvSpPr>
        <p:spPr>
          <a:xfrm>
            <a:off x="457200" y="2295144"/>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1235" name="Google Shape;1235;p71"/>
          <p:cNvSpPr/>
          <p:nvPr/>
        </p:nvSpPr>
        <p:spPr>
          <a:xfrm>
            <a:off x="960120" y="2221992"/>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404040"/>
              </a:buClr>
              <a:buSzPts val="1260"/>
              <a:buFont typeface="Calibri"/>
              <a:buNone/>
            </a:pPr>
            <a:r>
              <a:rPr lang="en-US" sz="1260" b="0" i="0" u="none" strike="noStrike" cap="none">
                <a:solidFill>
                  <a:srgbClr val="404040"/>
                </a:solidFill>
                <a:latin typeface="Calibri"/>
                <a:ea typeface="Calibri"/>
                <a:cs typeface="Calibri"/>
                <a:sym typeface="Calibri"/>
              </a:rPr>
              <a:t>Extract the explicit temporal clues: "Before that" links E2 before E3. "Two months earlier" links E1 before E2 (drafts must exist before being reviewed).</a:t>
            </a:r>
            <a:endParaRPr sz="1260" b="0" i="0" u="none" strike="noStrike" cap="none">
              <a:solidFill>
                <a:schemeClr val="dk1"/>
              </a:solidFill>
              <a:latin typeface="Calibri"/>
              <a:ea typeface="Calibri"/>
              <a:cs typeface="Calibri"/>
              <a:sym typeface="Calibri"/>
            </a:endParaRPr>
          </a:p>
        </p:txBody>
      </p:sp>
      <p:sp>
        <p:nvSpPr>
          <p:cNvPr id="1236" name="Google Shape;1236;p71"/>
          <p:cNvSpPr/>
          <p:nvPr/>
        </p:nvSpPr>
        <p:spPr>
          <a:xfrm>
            <a:off x="457200" y="2962656"/>
            <a:ext cx="365760" cy="365760"/>
          </a:xfrm>
          <a:prstGeom prst="ellipse">
            <a:avLst/>
          </a:prstGeom>
          <a:solidFill>
            <a:srgbClr val="6A4C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71"/>
          <p:cNvSpPr/>
          <p:nvPr/>
        </p:nvSpPr>
        <p:spPr>
          <a:xfrm>
            <a:off x="457200" y="2962656"/>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1238" name="Google Shape;1238;p71"/>
          <p:cNvSpPr/>
          <p:nvPr/>
        </p:nvSpPr>
        <p:spPr>
          <a:xfrm>
            <a:off x="960120" y="2889504"/>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404040"/>
              </a:buClr>
              <a:buSzPts val="1260"/>
              <a:buFont typeface="Calibri"/>
              <a:buNone/>
            </a:pPr>
            <a:r>
              <a:rPr lang="en-US" sz="1260" b="0" i="0" u="none" strike="noStrike" cap="none">
                <a:solidFill>
                  <a:srgbClr val="404040"/>
                </a:solidFill>
                <a:latin typeface="Calibri"/>
                <a:ea typeface="Calibri"/>
                <a:cs typeface="Calibri"/>
                <a:sym typeface="Calibri"/>
              </a:rPr>
              <a:t>Apply transitivity, a core rule of temporal logic: if E1 is before E2, and E2 is before E3, then E1 must also be before E3 (like A &lt; B and B &lt; C implies A &lt; C).</a:t>
            </a:r>
            <a:endParaRPr sz="1260" b="0" i="0" u="none" strike="noStrike" cap="none">
              <a:solidFill>
                <a:schemeClr val="dk1"/>
              </a:solidFill>
              <a:latin typeface="Calibri"/>
              <a:ea typeface="Calibri"/>
              <a:cs typeface="Calibri"/>
              <a:sym typeface="Calibri"/>
            </a:endParaRPr>
          </a:p>
        </p:txBody>
      </p:sp>
      <p:sp>
        <p:nvSpPr>
          <p:cNvPr id="1239" name="Google Shape;1239;p71"/>
          <p:cNvSpPr/>
          <p:nvPr/>
        </p:nvSpPr>
        <p:spPr>
          <a:xfrm>
            <a:off x="457200" y="3630168"/>
            <a:ext cx="365760" cy="365760"/>
          </a:xfrm>
          <a:prstGeom prst="ellipse">
            <a:avLst/>
          </a:prstGeom>
          <a:solidFill>
            <a:srgbClr val="6A4C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71"/>
          <p:cNvSpPr/>
          <p:nvPr/>
        </p:nvSpPr>
        <p:spPr>
          <a:xfrm>
            <a:off x="457200" y="3630168"/>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4</a:t>
            </a:r>
            <a:endParaRPr sz="1400" b="0" i="0" u="none" strike="noStrike" cap="none">
              <a:solidFill>
                <a:schemeClr val="dk1"/>
              </a:solidFill>
              <a:latin typeface="Calibri"/>
              <a:ea typeface="Calibri"/>
              <a:cs typeface="Calibri"/>
              <a:sym typeface="Calibri"/>
            </a:endParaRPr>
          </a:p>
        </p:txBody>
      </p:sp>
      <p:sp>
        <p:nvSpPr>
          <p:cNvPr id="1241" name="Google Shape;1241;p71"/>
          <p:cNvSpPr/>
          <p:nvPr/>
        </p:nvSpPr>
        <p:spPr>
          <a:xfrm>
            <a:off x="960120" y="3557016"/>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404040"/>
              </a:buClr>
              <a:buSzPts val="1260"/>
              <a:buFont typeface="Calibri"/>
              <a:buNone/>
            </a:pPr>
            <a:r>
              <a:rPr lang="en-US" sz="1260" b="0" i="0" u="none" strike="noStrike" cap="none">
                <a:solidFill>
                  <a:srgbClr val="404040"/>
                </a:solidFill>
                <a:latin typeface="Calibri"/>
                <a:ea typeface="Calibri"/>
                <a:cs typeface="Calibri"/>
                <a:sym typeface="Calibri"/>
              </a:rPr>
              <a:t>Final chronological order: E1 (started writing) → E2 (supervisor reviewed drafts) → E3 (submitted thesis on Monday).</a:t>
            </a:r>
            <a:endParaRPr sz="1260" b="0" i="0" u="none" strike="noStrike" cap="none">
              <a:solidFill>
                <a:schemeClr val="dk1"/>
              </a:solidFill>
              <a:latin typeface="Calibri"/>
              <a:ea typeface="Calibri"/>
              <a:cs typeface="Calibri"/>
              <a:sym typeface="Calibri"/>
            </a:endParaRPr>
          </a:p>
        </p:txBody>
      </p:sp>
      <p:sp>
        <p:nvSpPr>
          <p:cNvPr id="1242" name="Google Shape;1242;p71"/>
          <p:cNvSpPr/>
          <p:nvPr/>
        </p:nvSpPr>
        <p:spPr>
          <a:xfrm>
            <a:off x="457200" y="4480560"/>
            <a:ext cx="10607040" cy="1691640"/>
          </a:xfrm>
          <a:prstGeom prst="rect">
            <a:avLst/>
          </a:prstGeom>
          <a:solidFill>
            <a:srgbClr val="FFF6EC"/>
          </a:solidFill>
          <a:ln w="9525" cap="flat" cmpd="sng">
            <a:solidFill>
              <a:srgbClr val="6A4C9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71"/>
          <p:cNvSpPr/>
          <p:nvPr/>
        </p:nvSpPr>
        <p:spPr>
          <a:xfrm>
            <a:off x="457200" y="4480560"/>
            <a:ext cx="64008" cy="1691640"/>
          </a:xfrm>
          <a:prstGeom prst="rect">
            <a:avLst/>
          </a:prstGeom>
          <a:solidFill>
            <a:srgbClr val="6A4C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71"/>
          <p:cNvSpPr/>
          <p:nvPr/>
        </p:nvSpPr>
        <p:spPr>
          <a:xfrm>
            <a:off x="685800" y="4590288"/>
            <a:ext cx="102412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A4C93"/>
              </a:buClr>
              <a:buSzPts val="1050"/>
              <a:buFont typeface="Calibri"/>
              <a:buNone/>
            </a:pPr>
            <a:r>
              <a:rPr lang="en-US" sz="1050" b="1" i="0" u="none" strike="noStrike" cap="none">
                <a:solidFill>
                  <a:srgbClr val="6A4C93"/>
                </a:solidFill>
                <a:latin typeface="Calibri"/>
                <a:ea typeface="Calibri"/>
                <a:cs typeface="Calibri"/>
                <a:sym typeface="Calibri"/>
              </a:rPr>
              <a:t>WHY THIS SOLUTION WORKS</a:t>
            </a:r>
            <a:endParaRPr sz="1050" b="0" i="0" u="none" strike="noStrike" cap="none">
              <a:solidFill>
                <a:schemeClr val="dk1"/>
              </a:solidFill>
              <a:latin typeface="Calibri"/>
              <a:ea typeface="Calibri"/>
              <a:cs typeface="Calibri"/>
              <a:sym typeface="Calibri"/>
            </a:endParaRPr>
          </a:p>
        </p:txBody>
      </p:sp>
      <p:sp>
        <p:nvSpPr>
          <p:cNvPr id="1245" name="Google Shape;1245;p71"/>
          <p:cNvSpPr/>
          <p:nvPr/>
        </p:nvSpPr>
        <p:spPr>
          <a:xfrm>
            <a:off x="685800" y="4882896"/>
            <a:ext cx="10195560" cy="119786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250"/>
              <a:buFont typeface="Calibri"/>
              <a:buNone/>
            </a:pPr>
            <a:r>
              <a:rPr lang="en-US" sz="1250" b="0" i="0" u="none" strike="noStrike" cap="none">
                <a:solidFill>
                  <a:srgbClr val="404040"/>
                </a:solidFill>
                <a:latin typeface="Calibri"/>
                <a:ea typeface="Calibri"/>
                <a:cs typeface="Calibri"/>
                <a:sym typeface="Calibri"/>
              </a:rPr>
              <a:t>The sentence order in the passage was E3, E2, E1 — the exact reverse of the true timeline. This is extremely common in natural writing. A temporal reasoning system must extract relational clues ("before that," "earlier") rather than relying on sentence position, then apply logical transitivity to merge pairwise relationships into one complete timeline.</a:t>
            </a:r>
            <a:endParaRPr sz="1250" b="0" i="0" u="none" strike="noStrike" cap="none">
              <a:solidFill>
                <a:schemeClr val="dk1"/>
              </a:solidFill>
              <a:latin typeface="Calibri"/>
              <a:ea typeface="Calibri"/>
              <a:cs typeface="Calibri"/>
              <a:sym typeface="Calibri"/>
            </a:endParaRPr>
          </a:p>
        </p:txBody>
      </p:sp>
      <p:sp>
        <p:nvSpPr>
          <p:cNvPr id="1246" name="Google Shape;1246;p71"/>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22 / 40</a:t>
            </a:r>
            <a:endParaRPr sz="950" b="0" i="0" u="none" strike="noStrike" cap="none">
              <a:solidFill>
                <a:schemeClr val="dk1"/>
              </a:solidFill>
              <a:latin typeface="Calibri"/>
              <a:ea typeface="Calibri"/>
              <a:cs typeface="Calibri"/>
              <a:sym typeface="Calibri"/>
            </a:endParaRPr>
          </a:p>
        </p:txBody>
      </p:sp>
      <p:sp>
        <p:nvSpPr>
          <p:cNvPr id="1247" name="Google Shape;1247;p71"/>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52"/>
        <p:cNvGrpSpPr/>
        <p:nvPr/>
      </p:nvGrpSpPr>
      <p:grpSpPr>
        <a:xfrm>
          <a:off x="0" y="0"/>
          <a:ext cx="0" cy="0"/>
          <a:chOff x="0" y="0"/>
          <a:chExt cx="0" cy="0"/>
        </a:xfrm>
      </p:grpSpPr>
      <p:sp>
        <p:nvSpPr>
          <p:cNvPr id="1253" name="Google Shape;1253;p72"/>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A4C93"/>
              </a:buClr>
              <a:buSzPts val="1100"/>
              <a:buFont typeface="Calibri"/>
              <a:buNone/>
            </a:pPr>
            <a:r>
              <a:rPr lang="en-US" sz="1100" b="1" i="0" u="none" strike="noStrike" cap="none">
                <a:solidFill>
                  <a:srgbClr val="6A4C93"/>
                </a:solidFill>
                <a:latin typeface="Calibri"/>
                <a:ea typeface="Calibri"/>
                <a:cs typeface="Calibri"/>
                <a:sym typeface="Calibri"/>
              </a:rPr>
              <a:t>WORKED EXAMPLE 2 — TRY IT YOURSELF</a:t>
            </a:r>
            <a:endParaRPr sz="1100" b="0" i="0" u="none" strike="noStrike" cap="none">
              <a:solidFill>
                <a:schemeClr val="dk1"/>
              </a:solidFill>
              <a:latin typeface="Calibri"/>
              <a:ea typeface="Calibri"/>
              <a:cs typeface="Calibri"/>
              <a:sym typeface="Calibri"/>
            </a:endParaRPr>
          </a:p>
        </p:txBody>
      </p:sp>
      <p:sp>
        <p:nvSpPr>
          <p:cNvPr id="1254" name="Google Shape;1254;p72"/>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Applying Allen's Interval Algebra</a:t>
            </a:r>
            <a:endParaRPr sz="2300" b="0" i="0" u="none" strike="noStrike" cap="none">
              <a:solidFill>
                <a:schemeClr val="dk1"/>
              </a:solidFill>
              <a:latin typeface="Calibri"/>
              <a:ea typeface="Calibri"/>
              <a:cs typeface="Calibri"/>
              <a:sym typeface="Calibri"/>
            </a:endParaRPr>
          </a:p>
        </p:txBody>
      </p:sp>
      <p:cxnSp>
        <p:nvCxnSpPr>
          <p:cNvPr id="1255" name="Google Shape;1255;p72"/>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1256" name="Google Shape;1256;p72"/>
          <p:cNvSpPr/>
          <p:nvPr/>
        </p:nvSpPr>
        <p:spPr>
          <a:xfrm>
            <a:off x="640080" y="1691640"/>
            <a:ext cx="10241280" cy="2743200"/>
          </a:xfrm>
          <a:prstGeom prst="rect">
            <a:avLst/>
          </a:prstGeom>
          <a:solidFill>
            <a:srgbClr val="FAF7FF"/>
          </a:solidFill>
          <a:ln w="15875" cap="flat" cmpd="sng">
            <a:solidFill>
              <a:srgbClr val="6A4C9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72"/>
          <p:cNvSpPr/>
          <p:nvPr/>
        </p:nvSpPr>
        <p:spPr>
          <a:xfrm>
            <a:off x="868680" y="1874520"/>
            <a:ext cx="3657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A4C93"/>
              </a:buClr>
              <a:buSzPts val="1200"/>
              <a:buFont typeface="Calibri"/>
              <a:buNone/>
            </a:pPr>
            <a:r>
              <a:rPr lang="en-US" sz="1200" b="1" i="0" u="none" strike="noStrike" cap="none">
                <a:solidFill>
                  <a:srgbClr val="6A4C93"/>
                </a:solidFill>
                <a:latin typeface="Calibri"/>
                <a:ea typeface="Calibri"/>
                <a:cs typeface="Calibri"/>
                <a:sym typeface="Calibri"/>
              </a:rPr>
              <a:t>PROBLEM</a:t>
            </a:r>
            <a:endParaRPr sz="1200" b="0" i="0" u="none" strike="noStrike" cap="none">
              <a:solidFill>
                <a:schemeClr val="dk1"/>
              </a:solidFill>
              <a:latin typeface="Calibri"/>
              <a:ea typeface="Calibri"/>
              <a:cs typeface="Calibri"/>
              <a:sym typeface="Calibri"/>
            </a:endParaRPr>
          </a:p>
        </p:txBody>
      </p:sp>
      <p:sp>
        <p:nvSpPr>
          <p:cNvPr id="1258" name="Google Shape;1258;p72"/>
          <p:cNvSpPr/>
          <p:nvPr/>
        </p:nvSpPr>
        <p:spPr>
          <a:xfrm>
            <a:off x="868680" y="2194560"/>
            <a:ext cx="9784080" cy="77724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404040"/>
              </a:buClr>
              <a:buSzPts val="1550"/>
              <a:buFont typeface="Calibri"/>
              <a:buNone/>
            </a:pPr>
            <a:r>
              <a:rPr lang="en-US" sz="1550" b="0" i="0" u="none" strike="noStrike" cap="none">
                <a:solidFill>
                  <a:srgbClr val="404040"/>
                </a:solidFill>
                <a:latin typeface="Calibri"/>
                <a:ea typeface="Calibri"/>
                <a:cs typeface="Calibri"/>
                <a:sym typeface="Calibri"/>
              </a:rPr>
              <a:t>A factory's machine maintenance window runs from 2:00 PM to 4:00 PM. A power outage is reported from 3:00 PM to 3:30 PM.</a:t>
            </a:r>
            <a:endParaRPr sz="1550" b="0" i="0" u="none" strike="noStrike" cap="none">
              <a:solidFill>
                <a:schemeClr val="dk1"/>
              </a:solidFill>
              <a:latin typeface="Calibri"/>
              <a:ea typeface="Calibri"/>
              <a:cs typeface="Calibri"/>
              <a:sym typeface="Calibri"/>
            </a:endParaRPr>
          </a:p>
        </p:txBody>
      </p:sp>
      <p:sp>
        <p:nvSpPr>
          <p:cNvPr id="1259" name="Google Shape;1259;p72"/>
          <p:cNvSpPr/>
          <p:nvPr/>
        </p:nvSpPr>
        <p:spPr>
          <a:xfrm>
            <a:off x="868680" y="3108960"/>
            <a:ext cx="9784080" cy="91440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404040"/>
              </a:buClr>
              <a:buSzPts val="1450"/>
              <a:buFont typeface="Calibri"/>
              <a:buNone/>
            </a:pPr>
            <a:r>
              <a:rPr lang="en-US" sz="1450" b="1" i="1" u="none" strike="noStrike" cap="none">
                <a:solidFill>
                  <a:srgbClr val="404040"/>
                </a:solidFill>
                <a:latin typeface="Calibri"/>
                <a:ea typeface="Calibri"/>
                <a:cs typeface="Calibri"/>
                <a:sym typeface="Calibri"/>
              </a:rPr>
              <a:t>Question:  </a:t>
            </a:r>
            <a:r>
              <a:rPr lang="en-US" sz="1450" b="0" i="1" u="none" strike="noStrike" cap="none">
                <a:solidFill>
                  <a:srgbClr val="404040"/>
                </a:solidFill>
                <a:latin typeface="Calibri"/>
                <a:ea typeface="Calibri"/>
                <a:cs typeface="Calibri"/>
                <a:sym typeface="Calibri"/>
              </a:rPr>
              <a:t>Using Allen's Interval Algebra, what is the precise relationship between the maintenance window and the power outage, and what does this tell an automated scheduling system?</a:t>
            </a:r>
            <a:endParaRPr sz="1450" b="0" i="0" u="none" strike="noStrike" cap="none">
              <a:solidFill>
                <a:schemeClr val="dk1"/>
              </a:solidFill>
              <a:latin typeface="Calibri"/>
              <a:ea typeface="Calibri"/>
              <a:cs typeface="Calibri"/>
              <a:sym typeface="Calibri"/>
            </a:endParaRPr>
          </a:p>
        </p:txBody>
      </p:sp>
      <p:sp>
        <p:nvSpPr>
          <p:cNvPr id="1260" name="Google Shape;1260;p72"/>
          <p:cNvSpPr/>
          <p:nvPr/>
        </p:nvSpPr>
        <p:spPr>
          <a:xfrm>
            <a:off x="640080" y="4663440"/>
            <a:ext cx="1024128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A4C93"/>
              </a:buClr>
              <a:buSzPts val="1250"/>
              <a:buFont typeface="Calibri"/>
              <a:buNone/>
            </a:pPr>
            <a:r>
              <a:rPr lang="en-US" sz="1250" b="1" i="1" u="none" strike="noStrike" cap="none">
                <a:solidFill>
                  <a:srgbClr val="6A4C93"/>
                </a:solidFill>
                <a:latin typeface="Calibri"/>
                <a:ea typeface="Calibri"/>
                <a:cs typeface="Calibri"/>
                <a:sym typeface="Calibri"/>
              </a:rPr>
              <a:t>PAUSE HERE — work out your answer before the next slide</a:t>
            </a:r>
            <a:endParaRPr sz="1250" b="0" i="0" u="none" strike="noStrike" cap="none">
              <a:solidFill>
                <a:schemeClr val="dk1"/>
              </a:solidFill>
              <a:latin typeface="Calibri"/>
              <a:ea typeface="Calibri"/>
              <a:cs typeface="Calibri"/>
              <a:sym typeface="Calibri"/>
            </a:endParaRPr>
          </a:p>
        </p:txBody>
      </p:sp>
      <p:sp>
        <p:nvSpPr>
          <p:cNvPr id="1261" name="Google Shape;1261;p72"/>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22 / 40</a:t>
            </a:r>
            <a:endParaRPr sz="950" b="0" i="0" u="none" strike="noStrike" cap="none">
              <a:solidFill>
                <a:schemeClr val="dk1"/>
              </a:solidFill>
              <a:latin typeface="Calibri"/>
              <a:ea typeface="Calibri"/>
              <a:cs typeface="Calibri"/>
              <a:sym typeface="Calibri"/>
            </a:endParaRPr>
          </a:p>
        </p:txBody>
      </p:sp>
      <p:sp>
        <p:nvSpPr>
          <p:cNvPr id="1262" name="Google Shape;1262;p72"/>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67"/>
        <p:cNvGrpSpPr/>
        <p:nvPr/>
      </p:nvGrpSpPr>
      <p:grpSpPr>
        <a:xfrm>
          <a:off x="0" y="0"/>
          <a:ext cx="0" cy="0"/>
          <a:chOff x="0" y="0"/>
          <a:chExt cx="0" cy="0"/>
        </a:xfrm>
      </p:grpSpPr>
      <p:sp>
        <p:nvSpPr>
          <p:cNvPr id="1268" name="Google Shape;1268;p73"/>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A4C93"/>
              </a:buClr>
              <a:buSzPts val="1100"/>
              <a:buFont typeface="Calibri"/>
              <a:buNone/>
            </a:pPr>
            <a:r>
              <a:rPr lang="en-US" sz="1100" b="1" i="0" u="none" strike="noStrike" cap="none">
                <a:solidFill>
                  <a:srgbClr val="6A4C93"/>
                </a:solidFill>
                <a:latin typeface="Calibri"/>
                <a:ea typeface="Calibri"/>
                <a:cs typeface="Calibri"/>
                <a:sym typeface="Calibri"/>
              </a:rPr>
              <a:t>WORKED EXAMPLE 2 — SOLUTION</a:t>
            </a:r>
            <a:endParaRPr sz="1100" b="0" i="0" u="none" strike="noStrike" cap="none">
              <a:solidFill>
                <a:schemeClr val="dk1"/>
              </a:solidFill>
              <a:latin typeface="Calibri"/>
              <a:ea typeface="Calibri"/>
              <a:cs typeface="Calibri"/>
              <a:sym typeface="Calibri"/>
            </a:endParaRPr>
          </a:p>
        </p:txBody>
      </p:sp>
      <p:sp>
        <p:nvSpPr>
          <p:cNvPr id="1269" name="Google Shape;1269;p73"/>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Applying Allen's Interval Algebra</a:t>
            </a:r>
            <a:endParaRPr sz="2300" b="0" i="0" u="none" strike="noStrike" cap="none">
              <a:solidFill>
                <a:schemeClr val="dk1"/>
              </a:solidFill>
              <a:latin typeface="Calibri"/>
              <a:ea typeface="Calibri"/>
              <a:cs typeface="Calibri"/>
              <a:sym typeface="Calibri"/>
            </a:endParaRPr>
          </a:p>
        </p:txBody>
      </p:sp>
      <p:cxnSp>
        <p:nvCxnSpPr>
          <p:cNvPr id="1270" name="Google Shape;1270;p73"/>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1271" name="Google Shape;1271;p73"/>
          <p:cNvSpPr/>
          <p:nvPr/>
        </p:nvSpPr>
        <p:spPr>
          <a:xfrm>
            <a:off x="457200" y="1627632"/>
            <a:ext cx="365760" cy="365760"/>
          </a:xfrm>
          <a:prstGeom prst="ellipse">
            <a:avLst/>
          </a:prstGeom>
          <a:solidFill>
            <a:srgbClr val="6A4C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73"/>
          <p:cNvSpPr/>
          <p:nvPr/>
        </p:nvSpPr>
        <p:spPr>
          <a:xfrm>
            <a:off x="457200" y="1627632"/>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1273" name="Google Shape;1273;p73"/>
          <p:cNvSpPr/>
          <p:nvPr/>
        </p:nvSpPr>
        <p:spPr>
          <a:xfrm>
            <a:off x="960120" y="1554480"/>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404040"/>
              </a:buClr>
              <a:buSzPts val="1250"/>
              <a:buFont typeface="Calibri"/>
              <a:buNone/>
            </a:pPr>
            <a:r>
              <a:rPr lang="en-US" sz="1250" b="0" i="0" u="none" strike="noStrike" cap="none">
                <a:solidFill>
                  <a:srgbClr val="404040"/>
                </a:solidFill>
                <a:latin typeface="Calibri"/>
                <a:ea typeface="Calibri"/>
                <a:cs typeface="Calibri"/>
                <a:sym typeface="Calibri"/>
              </a:rPr>
              <a:t>Represent both events as intervals: Maintenance = [2:00 PM, 4:00 PM]. Outage = [3:00 PM, 3:30 PM].</a:t>
            </a:r>
            <a:endParaRPr sz="1250" b="0" i="0" u="none" strike="noStrike" cap="none">
              <a:solidFill>
                <a:schemeClr val="dk1"/>
              </a:solidFill>
              <a:latin typeface="Calibri"/>
              <a:ea typeface="Calibri"/>
              <a:cs typeface="Calibri"/>
              <a:sym typeface="Calibri"/>
            </a:endParaRPr>
          </a:p>
        </p:txBody>
      </p:sp>
      <p:sp>
        <p:nvSpPr>
          <p:cNvPr id="1274" name="Google Shape;1274;p73"/>
          <p:cNvSpPr/>
          <p:nvPr/>
        </p:nvSpPr>
        <p:spPr>
          <a:xfrm>
            <a:off x="457200" y="2295144"/>
            <a:ext cx="365760" cy="365760"/>
          </a:xfrm>
          <a:prstGeom prst="ellipse">
            <a:avLst/>
          </a:prstGeom>
          <a:solidFill>
            <a:srgbClr val="6A4C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73"/>
          <p:cNvSpPr/>
          <p:nvPr/>
        </p:nvSpPr>
        <p:spPr>
          <a:xfrm>
            <a:off x="457200" y="2295144"/>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1276" name="Google Shape;1276;p73"/>
          <p:cNvSpPr/>
          <p:nvPr/>
        </p:nvSpPr>
        <p:spPr>
          <a:xfrm>
            <a:off x="960120" y="2221992"/>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404040"/>
              </a:buClr>
              <a:buSzPts val="1250"/>
              <a:buFont typeface="Calibri"/>
              <a:buNone/>
            </a:pPr>
            <a:r>
              <a:rPr lang="en-US" sz="1250" b="0" i="0" u="none" strike="noStrike" cap="none">
                <a:solidFill>
                  <a:srgbClr val="404040"/>
                </a:solidFill>
                <a:latin typeface="Calibri"/>
                <a:ea typeface="Calibri"/>
                <a:cs typeface="Calibri"/>
                <a:sym typeface="Calibri"/>
              </a:rPr>
              <a:t>Compare start times: the outage starts (3:00 PM) after maintenance starts (2:00 PM). Compare end times: the outage ends (3:30 PM) before maintenance ends (4:00 PM).</a:t>
            </a:r>
            <a:endParaRPr sz="1250" b="0" i="0" u="none" strike="noStrike" cap="none">
              <a:solidFill>
                <a:schemeClr val="dk1"/>
              </a:solidFill>
              <a:latin typeface="Calibri"/>
              <a:ea typeface="Calibri"/>
              <a:cs typeface="Calibri"/>
              <a:sym typeface="Calibri"/>
            </a:endParaRPr>
          </a:p>
        </p:txBody>
      </p:sp>
      <p:sp>
        <p:nvSpPr>
          <p:cNvPr id="1277" name="Google Shape;1277;p73"/>
          <p:cNvSpPr/>
          <p:nvPr/>
        </p:nvSpPr>
        <p:spPr>
          <a:xfrm>
            <a:off x="457200" y="2962656"/>
            <a:ext cx="365760" cy="365760"/>
          </a:xfrm>
          <a:prstGeom prst="ellipse">
            <a:avLst/>
          </a:prstGeom>
          <a:solidFill>
            <a:srgbClr val="6A4C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73"/>
          <p:cNvSpPr/>
          <p:nvPr/>
        </p:nvSpPr>
        <p:spPr>
          <a:xfrm>
            <a:off x="457200" y="2962656"/>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1279" name="Google Shape;1279;p73"/>
          <p:cNvSpPr/>
          <p:nvPr/>
        </p:nvSpPr>
        <p:spPr>
          <a:xfrm>
            <a:off x="960120" y="2889504"/>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404040"/>
              </a:buClr>
              <a:buSzPts val="1250"/>
              <a:buFont typeface="Calibri"/>
              <a:buNone/>
            </a:pPr>
            <a:r>
              <a:rPr lang="en-US" sz="1250" b="0" i="0" u="none" strike="noStrike" cap="none">
                <a:solidFill>
                  <a:srgbClr val="404040"/>
                </a:solidFill>
                <a:latin typeface="Calibri"/>
                <a:ea typeface="Calibri"/>
                <a:cs typeface="Calibri"/>
                <a:sym typeface="Calibri"/>
              </a:rPr>
              <a:t>Match this pattern to Allen's relation set: when one interval's start and end both fall strictly inside another's, the relation is "During" — the outage occurs during the maintenance window.</a:t>
            </a:r>
            <a:endParaRPr sz="1250" b="0" i="0" u="none" strike="noStrike" cap="none">
              <a:solidFill>
                <a:schemeClr val="dk1"/>
              </a:solidFill>
              <a:latin typeface="Calibri"/>
              <a:ea typeface="Calibri"/>
              <a:cs typeface="Calibri"/>
              <a:sym typeface="Calibri"/>
            </a:endParaRPr>
          </a:p>
        </p:txBody>
      </p:sp>
      <p:sp>
        <p:nvSpPr>
          <p:cNvPr id="1280" name="Google Shape;1280;p73"/>
          <p:cNvSpPr/>
          <p:nvPr/>
        </p:nvSpPr>
        <p:spPr>
          <a:xfrm>
            <a:off x="457200" y="3630168"/>
            <a:ext cx="365760" cy="365760"/>
          </a:xfrm>
          <a:prstGeom prst="ellipse">
            <a:avLst/>
          </a:prstGeom>
          <a:solidFill>
            <a:srgbClr val="6A4C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73"/>
          <p:cNvSpPr/>
          <p:nvPr/>
        </p:nvSpPr>
        <p:spPr>
          <a:xfrm>
            <a:off x="457200" y="3630168"/>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4</a:t>
            </a:r>
            <a:endParaRPr sz="1400" b="0" i="0" u="none" strike="noStrike" cap="none">
              <a:solidFill>
                <a:schemeClr val="dk1"/>
              </a:solidFill>
              <a:latin typeface="Calibri"/>
              <a:ea typeface="Calibri"/>
              <a:cs typeface="Calibri"/>
              <a:sym typeface="Calibri"/>
            </a:endParaRPr>
          </a:p>
        </p:txBody>
      </p:sp>
      <p:sp>
        <p:nvSpPr>
          <p:cNvPr id="1282" name="Google Shape;1282;p73"/>
          <p:cNvSpPr/>
          <p:nvPr/>
        </p:nvSpPr>
        <p:spPr>
          <a:xfrm>
            <a:off x="960120" y="3557016"/>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404040"/>
              </a:buClr>
              <a:buSzPts val="1250"/>
              <a:buFont typeface="Calibri"/>
              <a:buNone/>
            </a:pPr>
            <a:r>
              <a:rPr lang="en-US" sz="1250" b="0" i="0" u="none" strike="noStrike" cap="none">
                <a:solidFill>
                  <a:srgbClr val="404040"/>
                </a:solidFill>
                <a:latin typeface="Calibri"/>
                <a:ea typeface="Calibri"/>
                <a:cs typeface="Calibri"/>
                <a:sym typeface="Calibri"/>
              </a:rPr>
              <a:t>Practical conclusion: no conflict needs flagging for separate rescheduling, because the entire outage is already contained within the planned maintenance downtime.</a:t>
            </a:r>
            <a:endParaRPr sz="1250" b="0" i="0" u="none" strike="noStrike" cap="none">
              <a:solidFill>
                <a:schemeClr val="dk1"/>
              </a:solidFill>
              <a:latin typeface="Calibri"/>
              <a:ea typeface="Calibri"/>
              <a:cs typeface="Calibri"/>
              <a:sym typeface="Calibri"/>
            </a:endParaRPr>
          </a:p>
        </p:txBody>
      </p:sp>
      <p:sp>
        <p:nvSpPr>
          <p:cNvPr id="1283" name="Google Shape;1283;p73"/>
          <p:cNvSpPr/>
          <p:nvPr/>
        </p:nvSpPr>
        <p:spPr>
          <a:xfrm>
            <a:off x="457200" y="4480560"/>
            <a:ext cx="10607040" cy="1691640"/>
          </a:xfrm>
          <a:prstGeom prst="rect">
            <a:avLst/>
          </a:prstGeom>
          <a:solidFill>
            <a:srgbClr val="FFF6EC"/>
          </a:solidFill>
          <a:ln w="9525" cap="flat" cmpd="sng">
            <a:solidFill>
              <a:srgbClr val="6A4C9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73"/>
          <p:cNvSpPr/>
          <p:nvPr/>
        </p:nvSpPr>
        <p:spPr>
          <a:xfrm>
            <a:off x="457200" y="4480560"/>
            <a:ext cx="64008" cy="1691640"/>
          </a:xfrm>
          <a:prstGeom prst="rect">
            <a:avLst/>
          </a:prstGeom>
          <a:solidFill>
            <a:srgbClr val="6A4C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73"/>
          <p:cNvSpPr/>
          <p:nvPr/>
        </p:nvSpPr>
        <p:spPr>
          <a:xfrm>
            <a:off x="685800" y="4590288"/>
            <a:ext cx="102412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A4C93"/>
              </a:buClr>
              <a:buSzPts val="1050"/>
              <a:buFont typeface="Calibri"/>
              <a:buNone/>
            </a:pPr>
            <a:r>
              <a:rPr lang="en-US" sz="1050" b="1" i="0" u="none" strike="noStrike" cap="none">
                <a:solidFill>
                  <a:srgbClr val="6A4C93"/>
                </a:solidFill>
                <a:latin typeface="Calibri"/>
                <a:ea typeface="Calibri"/>
                <a:cs typeface="Calibri"/>
                <a:sym typeface="Calibri"/>
              </a:rPr>
              <a:t>WHY THIS SOLUTION WORKS</a:t>
            </a:r>
            <a:endParaRPr sz="1050" b="0" i="0" u="none" strike="noStrike" cap="none">
              <a:solidFill>
                <a:schemeClr val="dk1"/>
              </a:solidFill>
              <a:latin typeface="Calibri"/>
              <a:ea typeface="Calibri"/>
              <a:cs typeface="Calibri"/>
              <a:sym typeface="Calibri"/>
            </a:endParaRPr>
          </a:p>
        </p:txBody>
      </p:sp>
      <p:sp>
        <p:nvSpPr>
          <p:cNvPr id="1286" name="Google Shape;1286;p73"/>
          <p:cNvSpPr/>
          <p:nvPr/>
        </p:nvSpPr>
        <p:spPr>
          <a:xfrm>
            <a:off x="685800" y="4882896"/>
            <a:ext cx="10195560" cy="119786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230"/>
              <a:buFont typeface="Calibri"/>
              <a:buNone/>
            </a:pPr>
            <a:r>
              <a:rPr lang="en-US" sz="1230" b="0" i="0" u="none" strike="noStrike" cap="none">
                <a:solidFill>
                  <a:srgbClr val="404040"/>
                </a:solidFill>
                <a:latin typeface="Calibri"/>
                <a:ea typeface="Calibri"/>
                <a:cs typeface="Calibri"/>
                <a:sym typeface="Calibri"/>
              </a:rPr>
              <a:t>This demonstrates why interval algebra is more useful than simple before/after reasoning for real systems like factory scheduling or hospital bed bookings. If the system only tracked single points in time, it might incorrectly flag the outage as a new disruption. Recognizing the precise "During" relationship shows the outage was already absorbed by planned downtime.</a:t>
            </a:r>
            <a:endParaRPr sz="1230" b="0" i="0" u="none" strike="noStrike" cap="none">
              <a:solidFill>
                <a:schemeClr val="dk1"/>
              </a:solidFill>
              <a:latin typeface="Calibri"/>
              <a:ea typeface="Calibri"/>
              <a:cs typeface="Calibri"/>
              <a:sym typeface="Calibri"/>
            </a:endParaRPr>
          </a:p>
        </p:txBody>
      </p:sp>
      <p:sp>
        <p:nvSpPr>
          <p:cNvPr id="1287" name="Google Shape;1287;p73"/>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22 / 40</a:t>
            </a:r>
            <a:endParaRPr sz="950" b="0" i="0" u="none" strike="noStrike" cap="none">
              <a:solidFill>
                <a:schemeClr val="dk1"/>
              </a:solidFill>
              <a:latin typeface="Calibri"/>
              <a:ea typeface="Calibri"/>
              <a:cs typeface="Calibri"/>
              <a:sym typeface="Calibri"/>
            </a:endParaRPr>
          </a:p>
        </p:txBody>
      </p:sp>
      <p:sp>
        <p:nvSpPr>
          <p:cNvPr id="1288" name="Google Shape;1288;p73"/>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93"/>
        <p:cNvGrpSpPr/>
        <p:nvPr/>
      </p:nvGrpSpPr>
      <p:grpSpPr>
        <a:xfrm>
          <a:off x="0" y="0"/>
          <a:ext cx="0" cy="0"/>
          <a:chOff x="0" y="0"/>
          <a:chExt cx="0" cy="0"/>
        </a:xfrm>
      </p:grpSpPr>
      <p:sp>
        <p:nvSpPr>
          <p:cNvPr id="1294" name="Google Shape;1294;p74"/>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A4C93"/>
              </a:buClr>
              <a:buSzPts val="1100"/>
              <a:buFont typeface="Calibri"/>
              <a:buNone/>
            </a:pPr>
            <a:r>
              <a:rPr lang="en-US" sz="1100" b="1" i="0" u="none" strike="noStrike" cap="none">
                <a:solidFill>
                  <a:srgbClr val="6A4C93"/>
                </a:solidFill>
                <a:latin typeface="Calibri"/>
                <a:ea typeface="Calibri"/>
                <a:cs typeface="Calibri"/>
                <a:sym typeface="Calibri"/>
              </a:rPr>
              <a:t>WORKED EXAMPLE 3 — TRY IT YOURSELF</a:t>
            </a:r>
            <a:endParaRPr sz="1100" b="0" i="0" u="none" strike="noStrike" cap="none">
              <a:solidFill>
                <a:schemeClr val="dk1"/>
              </a:solidFill>
              <a:latin typeface="Calibri"/>
              <a:ea typeface="Calibri"/>
              <a:cs typeface="Calibri"/>
              <a:sym typeface="Calibri"/>
            </a:endParaRPr>
          </a:p>
        </p:txBody>
      </p:sp>
      <p:sp>
        <p:nvSpPr>
          <p:cNvPr id="1295" name="Google Shape;1295;p74"/>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Event Calculus — Tracking a Changing Fluent</a:t>
            </a:r>
            <a:endParaRPr sz="2300" b="0" i="0" u="none" strike="noStrike" cap="none">
              <a:solidFill>
                <a:schemeClr val="dk1"/>
              </a:solidFill>
              <a:latin typeface="Calibri"/>
              <a:ea typeface="Calibri"/>
              <a:cs typeface="Calibri"/>
              <a:sym typeface="Calibri"/>
            </a:endParaRPr>
          </a:p>
        </p:txBody>
      </p:sp>
      <p:cxnSp>
        <p:nvCxnSpPr>
          <p:cNvPr id="1296" name="Google Shape;1296;p74"/>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1297" name="Google Shape;1297;p74"/>
          <p:cNvSpPr/>
          <p:nvPr/>
        </p:nvSpPr>
        <p:spPr>
          <a:xfrm>
            <a:off x="640080" y="1691640"/>
            <a:ext cx="10241280" cy="2834640"/>
          </a:xfrm>
          <a:prstGeom prst="rect">
            <a:avLst/>
          </a:prstGeom>
          <a:solidFill>
            <a:srgbClr val="FAF7FF"/>
          </a:solidFill>
          <a:ln w="15875" cap="flat" cmpd="sng">
            <a:solidFill>
              <a:srgbClr val="6A4C9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74"/>
          <p:cNvSpPr/>
          <p:nvPr/>
        </p:nvSpPr>
        <p:spPr>
          <a:xfrm>
            <a:off x="868680" y="1874520"/>
            <a:ext cx="3657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A4C93"/>
              </a:buClr>
              <a:buSzPts val="1200"/>
              <a:buFont typeface="Calibri"/>
              <a:buNone/>
            </a:pPr>
            <a:r>
              <a:rPr lang="en-US" sz="1200" b="1" i="0" u="none" strike="noStrike" cap="none">
                <a:solidFill>
                  <a:srgbClr val="6A4C93"/>
                </a:solidFill>
                <a:latin typeface="Calibri"/>
                <a:ea typeface="Calibri"/>
                <a:cs typeface="Calibri"/>
                <a:sym typeface="Calibri"/>
              </a:rPr>
              <a:t>PROBLEM</a:t>
            </a:r>
            <a:endParaRPr sz="1200" b="0" i="0" u="none" strike="noStrike" cap="none">
              <a:solidFill>
                <a:schemeClr val="dk1"/>
              </a:solidFill>
              <a:latin typeface="Calibri"/>
              <a:ea typeface="Calibri"/>
              <a:cs typeface="Calibri"/>
              <a:sym typeface="Calibri"/>
            </a:endParaRPr>
          </a:p>
        </p:txBody>
      </p:sp>
      <p:sp>
        <p:nvSpPr>
          <p:cNvPr id="1299" name="Google Shape;1299;p74"/>
          <p:cNvSpPr/>
          <p:nvPr/>
        </p:nvSpPr>
        <p:spPr>
          <a:xfrm>
            <a:off x="868680" y="2148840"/>
            <a:ext cx="9784080" cy="118872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404040"/>
              </a:buClr>
              <a:buSzPts val="1400"/>
              <a:buFont typeface="Calibri"/>
              <a:buNone/>
            </a:pPr>
            <a:r>
              <a:rPr lang="en-US" sz="1400" b="0" i="0" u="none" strike="noStrike" cap="none">
                <a:solidFill>
                  <a:srgbClr val="404040"/>
                </a:solidFill>
                <a:latin typeface="Calibri"/>
                <a:ea typeface="Calibri"/>
                <a:cs typeface="Calibri"/>
                <a:sym typeface="Calibri"/>
              </a:rPr>
              <a:t>Consider this sequence given to a smart-home AI system:</a:t>
            </a:r>
            <a:endParaRPr sz="1400" b="0" i="0" u="none" strike="noStrike" cap="none">
              <a:solidFill>
                <a:schemeClr val="dk1"/>
              </a:solidFill>
              <a:latin typeface="Calibri"/>
              <a:ea typeface="Calibri"/>
              <a:cs typeface="Calibri"/>
              <a:sym typeface="Calibri"/>
            </a:endParaRPr>
          </a:p>
          <a:p>
            <a:pPr marL="0" marR="0" lvl="0" indent="0" algn="l" rtl="0">
              <a:lnSpc>
                <a:spcPct val="130000"/>
              </a:lnSpc>
              <a:spcBef>
                <a:spcPts val="0"/>
              </a:spcBef>
              <a:spcAft>
                <a:spcPts val="0"/>
              </a:spcAft>
              <a:buClr>
                <a:srgbClr val="404040"/>
              </a:buClr>
              <a:buSzPts val="1400"/>
              <a:buFont typeface="Calibri"/>
              <a:buNone/>
            </a:pPr>
            <a:r>
              <a:rPr lang="en-US" sz="1400" b="0" i="0" u="none" strike="noStrike" cap="none">
                <a:solidFill>
                  <a:srgbClr val="404040"/>
                </a:solidFill>
                <a:latin typeface="Calibri"/>
                <a:ea typeface="Calibri"/>
                <a:cs typeface="Calibri"/>
                <a:sym typeface="Calibri"/>
              </a:rPr>
              <a:t>Event at 6:00 PM: "Ali turns on the heater."</a:t>
            </a:r>
            <a:endParaRPr sz="1400" b="0" i="0" u="none" strike="noStrike" cap="none">
              <a:solidFill>
                <a:schemeClr val="dk1"/>
              </a:solidFill>
              <a:latin typeface="Calibri"/>
              <a:ea typeface="Calibri"/>
              <a:cs typeface="Calibri"/>
              <a:sym typeface="Calibri"/>
            </a:endParaRPr>
          </a:p>
          <a:p>
            <a:pPr marL="0" marR="0" lvl="0" indent="0" algn="l" rtl="0">
              <a:lnSpc>
                <a:spcPct val="130000"/>
              </a:lnSpc>
              <a:spcBef>
                <a:spcPts val="0"/>
              </a:spcBef>
              <a:spcAft>
                <a:spcPts val="0"/>
              </a:spcAft>
              <a:buClr>
                <a:srgbClr val="404040"/>
              </a:buClr>
              <a:buSzPts val="1400"/>
              <a:buFont typeface="Calibri"/>
              <a:buNone/>
            </a:pPr>
            <a:r>
              <a:rPr lang="en-US" sz="1400" b="0" i="0" u="none" strike="noStrike" cap="none">
                <a:solidFill>
                  <a:srgbClr val="404040"/>
                </a:solidFill>
                <a:latin typeface="Calibri"/>
                <a:ea typeface="Calibri"/>
                <a:cs typeface="Calibri"/>
                <a:sym typeface="Calibri"/>
              </a:rPr>
              <a:t>Event at 6:45 PM: "Ali opens the window."</a:t>
            </a:r>
            <a:endParaRPr sz="1400" b="0" i="0" u="none" strike="noStrike" cap="none">
              <a:solidFill>
                <a:schemeClr val="dk1"/>
              </a:solidFill>
              <a:latin typeface="Calibri"/>
              <a:ea typeface="Calibri"/>
              <a:cs typeface="Calibri"/>
              <a:sym typeface="Calibri"/>
            </a:endParaRPr>
          </a:p>
          <a:p>
            <a:pPr marL="0" marR="0" lvl="0" indent="0" algn="l" rtl="0">
              <a:lnSpc>
                <a:spcPct val="130000"/>
              </a:lnSpc>
              <a:spcBef>
                <a:spcPts val="0"/>
              </a:spcBef>
              <a:spcAft>
                <a:spcPts val="0"/>
              </a:spcAft>
              <a:buClr>
                <a:srgbClr val="404040"/>
              </a:buClr>
              <a:buSzPts val="1400"/>
              <a:buFont typeface="Calibri"/>
              <a:buNone/>
            </a:pPr>
            <a:r>
              <a:rPr lang="en-US" sz="1400" b="0" i="0" u="none" strike="noStrike" cap="none">
                <a:solidFill>
                  <a:srgbClr val="404040"/>
                </a:solidFill>
                <a:latin typeface="Calibri"/>
                <a:ea typeface="Calibri"/>
                <a:cs typeface="Calibri"/>
                <a:sym typeface="Calibri"/>
              </a:rPr>
              <a:t>Event at 7:10 PM: "Ali turns off the heater."</a:t>
            </a:r>
            <a:endParaRPr sz="1400" b="0" i="0" u="none" strike="noStrike" cap="none">
              <a:solidFill>
                <a:schemeClr val="dk1"/>
              </a:solidFill>
              <a:latin typeface="Calibri"/>
              <a:ea typeface="Calibri"/>
              <a:cs typeface="Calibri"/>
              <a:sym typeface="Calibri"/>
            </a:endParaRPr>
          </a:p>
        </p:txBody>
      </p:sp>
      <p:sp>
        <p:nvSpPr>
          <p:cNvPr id="1300" name="Google Shape;1300;p74"/>
          <p:cNvSpPr/>
          <p:nvPr/>
        </p:nvSpPr>
        <p:spPr>
          <a:xfrm>
            <a:off x="868680" y="3520440"/>
            <a:ext cx="9784080" cy="77724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404040"/>
              </a:buClr>
              <a:buSzPts val="1400"/>
              <a:buFont typeface="Calibri"/>
              <a:buNone/>
            </a:pPr>
            <a:r>
              <a:rPr lang="en-US" sz="1400" b="1" i="1" u="none" strike="noStrike" cap="none">
                <a:solidFill>
                  <a:srgbClr val="404040"/>
                </a:solidFill>
                <a:latin typeface="Calibri"/>
                <a:ea typeface="Calibri"/>
                <a:cs typeface="Calibri"/>
                <a:sym typeface="Calibri"/>
              </a:rPr>
              <a:t>Question:  </a:t>
            </a:r>
            <a:r>
              <a:rPr lang="en-US" sz="1400" b="0" i="1" u="none" strike="noStrike" cap="none">
                <a:solidFill>
                  <a:srgbClr val="404040"/>
                </a:solidFill>
                <a:latin typeface="Calibri"/>
                <a:ea typeface="Calibri"/>
                <a:cs typeface="Calibri"/>
                <a:sym typeface="Calibri"/>
              </a:rPr>
              <a:t>Using Event Calculus thinking, what is the state of "heater status" at 7:00 PM, and how is this determined?</a:t>
            </a:r>
            <a:endParaRPr sz="1400" b="0" i="0" u="none" strike="noStrike" cap="none">
              <a:solidFill>
                <a:schemeClr val="dk1"/>
              </a:solidFill>
              <a:latin typeface="Calibri"/>
              <a:ea typeface="Calibri"/>
              <a:cs typeface="Calibri"/>
              <a:sym typeface="Calibri"/>
            </a:endParaRPr>
          </a:p>
        </p:txBody>
      </p:sp>
      <p:sp>
        <p:nvSpPr>
          <p:cNvPr id="1301" name="Google Shape;1301;p74"/>
          <p:cNvSpPr/>
          <p:nvPr/>
        </p:nvSpPr>
        <p:spPr>
          <a:xfrm>
            <a:off x="640080" y="4709160"/>
            <a:ext cx="1024128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A4C93"/>
              </a:buClr>
              <a:buSzPts val="1250"/>
              <a:buFont typeface="Calibri"/>
              <a:buNone/>
            </a:pPr>
            <a:r>
              <a:rPr lang="en-US" sz="1250" b="1" i="1" u="none" strike="noStrike" cap="none">
                <a:solidFill>
                  <a:srgbClr val="6A4C93"/>
                </a:solidFill>
                <a:latin typeface="Calibri"/>
                <a:ea typeface="Calibri"/>
                <a:cs typeface="Calibri"/>
                <a:sym typeface="Calibri"/>
              </a:rPr>
              <a:t>PAUSE HERE — work out your answer before the next slide</a:t>
            </a:r>
            <a:endParaRPr sz="1250" b="0" i="0" u="none" strike="noStrike" cap="none">
              <a:solidFill>
                <a:schemeClr val="dk1"/>
              </a:solidFill>
              <a:latin typeface="Calibri"/>
              <a:ea typeface="Calibri"/>
              <a:cs typeface="Calibri"/>
              <a:sym typeface="Calibri"/>
            </a:endParaRPr>
          </a:p>
        </p:txBody>
      </p:sp>
      <p:sp>
        <p:nvSpPr>
          <p:cNvPr id="1302" name="Google Shape;1302;p74"/>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23 / 40</a:t>
            </a:r>
            <a:endParaRPr sz="950" b="0" i="0" u="none" strike="noStrike" cap="none">
              <a:solidFill>
                <a:schemeClr val="dk1"/>
              </a:solidFill>
              <a:latin typeface="Calibri"/>
              <a:ea typeface="Calibri"/>
              <a:cs typeface="Calibri"/>
              <a:sym typeface="Calibri"/>
            </a:endParaRPr>
          </a:p>
        </p:txBody>
      </p:sp>
      <p:sp>
        <p:nvSpPr>
          <p:cNvPr id="1303" name="Google Shape;1303;p74"/>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08"/>
        <p:cNvGrpSpPr/>
        <p:nvPr/>
      </p:nvGrpSpPr>
      <p:grpSpPr>
        <a:xfrm>
          <a:off x="0" y="0"/>
          <a:ext cx="0" cy="0"/>
          <a:chOff x="0" y="0"/>
          <a:chExt cx="0" cy="0"/>
        </a:xfrm>
      </p:grpSpPr>
      <p:sp>
        <p:nvSpPr>
          <p:cNvPr id="1309" name="Google Shape;1309;p75"/>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A4C93"/>
              </a:buClr>
              <a:buSzPts val="1100"/>
              <a:buFont typeface="Calibri"/>
              <a:buNone/>
            </a:pPr>
            <a:r>
              <a:rPr lang="en-US" sz="1100" b="1" i="0" u="none" strike="noStrike" cap="none">
                <a:solidFill>
                  <a:srgbClr val="6A4C93"/>
                </a:solidFill>
                <a:latin typeface="Calibri"/>
                <a:ea typeface="Calibri"/>
                <a:cs typeface="Calibri"/>
                <a:sym typeface="Calibri"/>
              </a:rPr>
              <a:t>WORKED EXAMPLE 3 — SOLUTION</a:t>
            </a:r>
            <a:endParaRPr sz="1100" b="0" i="0" u="none" strike="noStrike" cap="none">
              <a:solidFill>
                <a:schemeClr val="dk1"/>
              </a:solidFill>
              <a:latin typeface="Calibri"/>
              <a:ea typeface="Calibri"/>
              <a:cs typeface="Calibri"/>
              <a:sym typeface="Calibri"/>
            </a:endParaRPr>
          </a:p>
        </p:txBody>
      </p:sp>
      <p:sp>
        <p:nvSpPr>
          <p:cNvPr id="1310" name="Google Shape;1310;p75"/>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Event Calculus — Tracking a Changing Fluent</a:t>
            </a:r>
            <a:endParaRPr sz="2300" b="0" i="0" u="none" strike="noStrike" cap="none">
              <a:solidFill>
                <a:schemeClr val="dk1"/>
              </a:solidFill>
              <a:latin typeface="Calibri"/>
              <a:ea typeface="Calibri"/>
              <a:cs typeface="Calibri"/>
              <a:sym typeface="Calibri"/>
            </a:endParaRPr>
          </a:p>
        </p:txBody>
      </p:sp>
      <p:cxnSp>
        <p:nvCxnSpPr>
          <p:cNvPr id="1311" name="Google Shape;1311;p75"/>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1312" name="Google Shape;1312;p75"/>
          <p:cNvSpPr/>
          <p:nvPr/>
        </p:nvSpPr>
        <p:spPr>
          <a:xfrm>
            <a:off x="457200" y="1627632"/>
            <a:ext cx="365760" cy="365760"/>
          </a:xfrm>
          <a:prstGeom prst="ellipse">
            <a:avLst/>
          </a:prstGeom>
          <a:solidFill>
            <a:srgbClr val="6A4C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75"/>
          <p:cNvSpPr/>
          <p:nvPr/>
        </p:nvSpPr>
        <p:spPr>
          <a:xfrm>
            <a:off x="457200" y="1627632"/>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1314" name="Google Shape;1314;p75"/>
          <p:cNvSpPr/>
          <p:nvPr/>
        </p:nvSpPr>
        <p:spPr>
          <a:xfrm>
            <a:off x="960120" y="1554480"/>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404040"/>
              </a:buClr>
              <a:buSzPts val="1240"/>
              <a:buFont typeface="Calibri"/>
              <a:buNone/>
            </a:pPr>
            <a:r>
              <a:rPr lang="en-US" sz="1240" b="0" i="0" u="none" strike="noStrike" cap="none">
                <a:solidFill>
                  <a:srgbClr val="404040"/>
                </a:solidFill>
                <a:latin typeface="Calibri"/>
                <a:ea typeface="Calibri"/>
                <a:cs typeface="Calibri"/>
                <a:sym typeface="Calibri"/>
              </a:rPr>
              <a:t>Identify the relevant fluent: "heater is on" (true or false).</a:t>
            </a:r>
            <a:endParaRPr sz="1240" b="0" i="0" u="none" strike="noStrike" cap="none">
              <a:solidFill>
                <a:schemeClr val="dk1"/>
              </a:solidFill>
              <a:latin typeface="Calibri"/>
              <a:ea typeface="Calibri"/>
              <a:cs typeface="Calibri"/>
              <a:sym typeface="Calibri"/>
            </a:endParaRPr>
          </a:p>
        </p:txBody>
      </p:sp>
      <p:sp>
        <p:nvSpPr>
          <p:cNvPr id="1315" name="Google Shape;1315;p75"/>
          <p:cNvSpPr/>
          <p:nvPr/>
        </p:nvSpPr>
        <p:spPr>
          <a:xfrm>
            <a:off x="457200" y="2295144"/>
            <a:ext cx="365760" cy="365760"/>
          </a:xfrm>
          <a:prstGeom prst="ellipse">
            <a:avLst/>
          </a:prstGeom>
          <a:solidFill>
            <a:srgbClr val="6A4C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75"/>
          <p:cNvSpPr/>
          <p:nvPr/>
        </p:nvSpPr>
        <p:spPr>
          <a:xfrm>
            <a:off x="457200" y="2295144"/>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1317" name="Google Shape;1317;p75"/>
          <p:cNvSpPr/>
          <p:nvPr/>
        </p:nvSpPr>
        <p:spPr>
          <a:xfrm>
            <a:off x="960120" y="2221992"/>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404040"/>
              </a:buClr>
              <a:buSzPts val="1240"/>
              <a:buFont typeface="Calibri"/>
              <a:buNone/>
            </a:pPr>
            <a:r>
              <a:rPr lang="en-US" sz="1240" b="0" i="0" u="none" strike="noStrike" cap="none">
                <a:solidFill>
                  <a:srgbClr val="404040"/>
                </a:solidFill>
                <a:latin typeface="Calibri"/>
                <a:ea typeface="Calibri"/>
                <a:cs typeface="Calibri"/>
                <a:sym typeface="Calibri"/>
              </a:rPr>
              <a:t>Identify which events initiate or terminate this fluent: "turns on the heater" initiates it; "turns off the heater" terminates it. "Opens the window" does not affect this fluent at all.</a:t>
            </a:r>
            <a:endParaRPr sz="1240" b="0" i="0" u="none" strike="noStrike" cap="none">
              <a:solidFill>
                <a:schemeClr val="dk1"/>
              </a:solidFill>
              <a:latin typeface="Calibri"/>
              <a:ea typeface="Calibri"/>
              <a:cs typeface="Calibri"/>
              <a:sym typeface="Calibri"/>
            </a:endParaRPr>
          </a:p>
        </p:txBody>
      </p:sp>
      <p:sp>
        <p:nvSpPr>
          <p:cNvPr id="1318" name="Google Shape;1318;p75"/>
          <p:cNvSpPr/>
          <p:nvPr/>
        </p:nvSpPr>
        <p:spPr>
          <a:xfrm>
            <a:off x="457200" y="2962656"/>
            <a:ext cx="365760" cy="365760"/>
          </a:xfrm>
          <a:prstGeom prst="ellipse">
            <a:avLst/>
          </a:prstGeom>
          <a:solidFill>
            <a:srgbClr val="6A4C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75"/>
          <p:cNvSpPr/>
          <p:nvPr/>
        </p:nvSpPr>
        <p:spPr>
          <a:xfrm>
            <a:off x="457200" y="2962656"/>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1320" name="Google Shape;1320;p75"/>
          <p:cNvSpPr/>
          <p:nvPr/>
        </p:nvSpPr>
        <p:spPr>
          <a:xfrm>
            <a:off x="960120" y="2889504"/>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404040"/>
              </a:buClr>
              <a:buSzPts val="1240"/>
              <a:buFont typeface="Calibri"/>
              <a:buNone/>
            </a:pPr>
            <a:r>
              <a:rPr lang="en-US" sz="1240" b="0" i="0" u="none" strike="noStrike" cap="none">
                <a:solidFill>
                  <a:srgbClr val="404040"/>
                </a:solidFill>
                <a:latin typeface="Calibri"/>
                <a:ea typeface="Calibri"/>
                <a:cs typeface="Calibri"/>
                <a:sym typeface="Calibri"/>
              </a:rPr>
              <a:t>Build the fluent's timeline: "heater is on" becomes true at 6:00 PM and remains true continuously until 7:10 PM — nothing in between changed it back.</a:t>
            </a:r>
            <a:endParaRPr sz="1240" b="0" i="0" u="none" strike="noStrike" cap="none">
              <a:solidFill>
                <a:schemeClr val="dk1"/>
              </a:solidFill>
              <a:latin typeface="Calibri"/>
              <a:ea typeface="Calibri"/>
              <a:cs typeface="Calibri"/>
              <a:sym typeface="Calibri"/>
            </a:endParaRPr>
          </a:p>
        </p:txBody>
      </p:sp>
      <p:sp>
        <p:nvSpPr>
          <p:cNvPr id="1321" name="Google Shape;1321;p75"/>
          <p:cNvSpPr/>
          <p:nvPr/>
        </p:nvSpPr>
        <p:spPr>
          <a:xfrm>
            <a:off x="457200" y="3630168"/>
            <a:ext cx="365760" cy="365760"/>
          </a:xfrm>
          <a:prstGeom prst="ellipse">
            <a:avLst/>
          </a:prstGeom>
          <a:solidFill>
            <a:srgbClr val="6A4C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75"/>
          <p:cNvSpPr/>
          <p:nvPr/>
        </p:nvSpPr>
        <p:spPr>
          <a:xfrm>
            <a:off x="457200" y="3630168"/>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4</a:t>
            </a:r>
            <a:endParaRPr sz="1400" b="0" i="0" u="none" strike="noStrike" cap="none">
              <a:solidFill>
                <a:schemeClr val="dk1"/>
              </a:solidFill>
              <a:latin typeface="Calibri"/>
              <a:ea typeface="Calibri"/>
              <a:cs typeface="Calibri"/>
              <a:sym typeface="Calibri"/>
            </a:endParaRPr>
          </a:p>
        </p:txBody>
      </p:sp>
      <p:sp>
        <p:nvSpPr>
          <p:cNvPr id="1323" name="Google Shape;1323;p75"/>
          <p:cNvSpPr/>
          <p:nvPr/>
        </p:nvSpPr>
        <p:spPr>
          <a:xfrm>
            <a:off x="960120" y="3557016"/>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404040"/>
              </a:buClr>
              <a:buSzPts val="1240"/>
              <a:buFont typeface="Calibri"/>
              <a:buNone/>
            </a:pPr>
            <a:r>
              <a:rPr lang="en-US" sz="1240" b="0" i="0" u="none" strike="noStrike" cap="none">
                <a:solidFill>
                  <a:srgbClr val="404040"/>
                </a:solidFill>
                <a:latin typeface="Calibri"/>
                <a:ea typeface="Calibri"/>
                <a:cs typeface="Calibri"/>
                <a:sym typeface="Calibri"/>
              </a:rPr>
              <a:t>Check the query time (7:00 PM) against this timeline: it falls between 6:00 PM and 7:10 PM, so the fluent is still true. Conclusion: the heater was on at 7:00 PM.</a:t>
            </a:r>
            <a:endParaRPr sz="1240" b="0" i="0" u="none" strike="noStrike" cap="none">
              <a:solidFill>
                <a:schemeClr val="dk1"/>
              </a:solidFill>
              <a:latin typeface="Calibri"/>
              <a:ea typeface="Calibri"/>
              <a:cs typeface="Calibri"/>
              <a:sym typeface="Calibri"/>
            </a:endParaRPr>
          </a:p>
        </p:txBody>
      </p:sp>
      <p:sp>
        <p:nvSpPr>
          <p:cNvPr id="1324" name="Google Shape;1324;p75"/>
          <p:cNvSpPr/>
          <p:nvPr/>
        </p:nvSpPr>
        <p:spPr>
          <a:xfrm>
            <a:off x="457200" y="4480560"/>
            <a:ext cx="10607040" cy="1691640"/>
          </a:xfrm>
          <a:prstGeom prst="rect">
            <a:avLst/>
          </a:prstGeom>
          <a:solidFill>
            <a:srgbClr val="FFF6EC"/>
          </a:solidFill>
          <a:ln w="9525" cap="flat" cmpd="sng">
            <a:solidFill>
              <a:srgbClr val="6A4C9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75"/>
          <p:cNvSpPr/>
          <p:nvPr/>
        </p:nvSpPr>
        <p:spPr>
          <a:xfrm>
            <a:off x="457200" y="4480560"/>
            <a:ext cx="64008" cy="1691640"/>
          </a:xfrm>
          <a:prstGeom prst="rect">
            <a:avLst/>
          </a:prstGeom>
          <a:solidFill>
            <a:srgbClr val="6A4C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75"/>
          <p:cNvSpPr/>
          <p:nvPr/>
        </p:nvSpPr>
        <p:spPr>
          <a:xfrm>
            <a:off x="685800" y="4590288"/>
            <a:ext cx="102412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A4C93"/>
              </a:buClr>
              <a:buSzPts val="1050"/>
              <a:buFont typeface="Calibri"/>
              <a:buNone/>
            </a:pPr>
            <a:r>
              <a:rPr lang="en-US" sz="1050" b="1" i="0" u="none" strike="noStrike" cap="none">
                <a:solidFill>
                  <a:srgbClr val="6A4C93"/>
                </a:solidFill>
                <a:latin typeface="Calibri"/>
                <a:ea typeface="Calibri"/>
                <a:cs typeface="Calibri"/>
                <a:sym typeface="Calibri"/>
              </a:rPr>
              <a:t>WHY THIS SOLUTION WORKS</a:t>
            </a:r>
            <a:endParaRPr sz="1050" b="0" i="0" u="none" strike="noStrike" cap="none">
              <a:solidFill>
                <a:schemeClr val="dk1"/>
              </a:solidFill>
              <a:latin typeface="Calibri"/>
              <a:ea typeface="Calibri"/>
              <a:cs typeface="Calibri"/>
              <a:sym typeface="Calibri"/>
            </a:endParaRPr>
          </a:p>
        </p:txBody>
      </p:sp>
      <p:sp>
        <p:nvSpPr>
          <p:cNvPr id="1327" name="Google Shape;1327;p75"/>
          <p:cNvSpPr/>
          <p:nvPr/>
        </p:nvSpPr>
        <p:spPr>
          <a:xfrm>
            <a:off x="685800" y="4882896"/>
            <a:ext cx="10195560" cy="119786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230"/>
              <a:buFont typeface="Calibri"/>
              <a:buNone/>
            </a:pPr>
            <a:r>
              <a:rPr lang="en-US" sz="1230" b="0" i="0" u="none" strike="noStrike" cap="none">
                <a:solidFill>
                  <a:srgbClr val="404040"/>
                </a:solidFill>
                <a:latin typeface="Calibri"/>
                <a:ea typeface="Calibri"/>
                <a:cs typeface="Calibri"/>
                <a:sym typeface="Calibri"/>
              </a:rPr>
              <a:t>Event Calculus lets the system answer questions about any moment — including 7:00 PM, never directly mentioned — by reasoning about which events changed which facts, and when. The window-opening event was correctly recognized as irrelevant to the heater fluent. This selective tracking is exactly what lets smart-home systems and robotics controllers maintain an accurate picture of the world from a sparse list of events.</a:t>
            </a:r>
            <a:endParaRPr sz="1230" b="0" i="0" u="none" strike="noStrike" cap="none">
              <a:solidFill>
                <a:schemeClr val="dk1"/>
              </a:solidFill>
              <a:latin typeface="Calibri"/>
              <a:ea typeface="Calibri"/>
              <a:cs typeface="Calibri"/>
              <a:sym typeface="Calibri"/>
            </a:endParaRPr>
          </a:p>
        </p:txBody>
      </p:sp>
      <p:sp>
        <p:nvSpPr>
          <p:cNvPr id="1328" name="Google Shape;1328;p75"/>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23 / 40</a:t>
            </a:r>
            <a:endParaRPr sz="950" b="0" i="0" u="none" strike="noStrike" cap="none">
              <a:solidFill>
                <a:schemeClr val="dk1"/>
              </a:solidFill>
              <a:latin typeface="Calibri"/>
              <a:ea typeface="Calibri"/>
              <a:cs typeface="Calibri"/>
              <a:sym typeface="Calibri"/>
            </a:endParaRPr>
          </a:p>
        </p:txBody>
      </p:sp>
      <p:sp>
        <p:nvSpPr>
          <p:cNvPr id="1329" name="Google Shape;1329;p75"/>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72"/>
        <p:cNvGrpSpPr/>
        <p:nvPr/>
      </p:nvGrpSpPr>
      <p:grpSpPr>
        <a:xfrm>
          <a:off x="0" y="0"/>
          <a:ext cx="0" cy="0"/>
          <a:chOff x="0" y="0"/>
          <a:chExt cx="0" cy="0"/>
        </a:xfrm>
      </p:grpSpPr>
      <p:sp>
        <p:nvSpPr>
          <p:cNvPr id="1473" name="Google Shape;1473;p85"/>
          <p:cNvSpPr/>
          <p:nvPr/>
        </p:nvSpPr>
        <p:spPr>
          <a:xfrm>
            <a:off x="0" y="0"/>
            <a:ext cx="12191695" cy="3657600"/>
          </a:xfrm>
          <a:prstGeom prst="rect">
            <a:avLst/>
          </a:prstGeom>
          <a:solidFill>
            <a:srgbClr val="1F4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85"/>
          <p:cNvSpPr/>
          <p:nvPr/>
        </p:nvSpPr>
        <p:spPr>
          <a:xfrm>
            <a:off x="822960" y="1051560"/>
            <a:ext cx="365760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TOPIC 04</a:t>
            </a:r>
            <a:endParaRPr sz="1400" b="0" i="0" u="none" strike="noStrike" cap="none">
              <a:solidFill>
                <a:schemeClr val="dk1"/>
              </a:solidFill>
              <a:latin typeface="Calibri"/>
              <a:ea typeface="Calibri"/>
              <a:cs typeface="Calibri"/>
              <a:sym typeface="Calibri"/>
            </a:endParaRPr>
          </a:p>
        </p:txBody>
      </p:sp>
      <p:sp>
        <p:nvSpPr>
          <p:cNvPr id="1475" name="Google Shape;1475;p85"/>
          <p:cNvSpPr/>
          <p:nvPr/>
        </p:nvSpPr>
        <p:spPr>
          <a:xfrm>
            <a:off x="777240" y="1463040"/>
            <a:ext cx="10607040" cy="137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800"/>
              <a:buFont typeface="Calibri"/>
              <a:buNone/>
            </a:pPr>
            <a:r>
              <a:rPr lang="en-US" sz="3800" b="1" i="0" u="none" strike="noStrike" cap="none">
                <a:solidFill>
                  <a:srgbClr val="FFFFFF"/>
                </a:solidFill>
                <a:latin typeface="Calibri"/>
                <a:ea typeface="Calibri"/>
                <a:cs typeface="Calibri"/>
                <a:sym typeface="Calibri"/>
              </a:rPr>
              <a:t>Knowledge Graphs and Real-World Applications</a:t>
            </a:r>
            <a:endParaRPr sz="3800" b="0" i="0" u="none" strike="noStrike" cap="none">
              <a:solidFill>
                <a:schemeClr val="dk1"/>
              </a:solidFill>
              <a:latin typeface="Calibri"/>
              <a:ea typeface="Calibri"/>
              <a:cs typeface="Calibri"/>
              <a:sym typeface="Calibri"/>
            </a:endParaRPr>
          </a:p>
        </p:txBody>
      </p:sp>
      <p:sp>
        <p:nvSpPr>
          <p:cNvPr id="1476" name="Google Shape;1476;p85"/>
          <p:cNvSpPr/>
          <p:nvPr/>
        </p:nvSpPr>
        <p:spPr>
          <a:xfrm>
            <a:off x="822960" y="2697480"/>
            <a:ext cx="987552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700"/>
              <a:buFont typeface="Calibri"/>
              <a:buNone/>
            </a:pPr>
            <a:r>
              <a:rPr lang="en-US" sz="1700" b="0" i="1" u="none" strike="noStrike" cap="none">
                <a:solidFill>
                  <a:srgbClr val="FFFFFF"/>
                </a:solidFill>
                <a:latin typeface="Calibri"/>
                <a:ea typeface="Calibri"/>
                <a:cs typeface="Calibri"/>
                <a:sym typeface="Calibri"/>
              </a:rPr>
              <a:t>Connecting facts as networks — the structure behind modern search and AI assistants.</a:t>
            </a:r>
            <a:endParaRPr sz="1700" b="0" i="0" u="none" strike="noStrike" cap="none">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81"/>
        <p:cNvGrpSpPr/>
        <p:nvPr/>
      </p:nvGrpSpPr>
      <p:grpSpPr>
        <a:xfrm>
          <a:off x="0" y="0"/>
          <a:ext cx="0" cy="0"/>
          <a:chOff x="0" y="0"/>
          <a:chExt cx="0" cy="0"/>
        </a:xfrm>
      </p:grpSpPr>
      <p:sp>
        <p:nvSpPr>
          <p:cNvPr id="1482" name="Google Shape;1482;p86"/>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E79"/>
              </a:buClr>
              <a:buSzPts val="1100"/>
              <a:buFont typeface="Calibri"/>
              <a:buNone/>
            </a:pPr>
            <a:r>
              <a:rPr lang="en-US" sz="1100" b="1" i="0" u="none" strike="noStrike" cap="none">
                <a:solidFill>
                  <a:srgbClr val="1F4E79"/>
                </a:solidFill>
                <a:latin typeface="Calibri"/>
                <a:ea typeface="Calibri"/>
                <a:cs typeface="Calibri"/>
                <a:sym typeface="Calibri"/>
              </a:rPr>
              <a:t>4.1 THE MOTIVATING IDEA</a:t>
            </a:r>
            <a:endParaRPr sz="1100" b="0" i="0" u="none" strike="noStrike" cap="none">
              <a:solidFill>
                <a:schemeClr val="dk1"/>
              </a:solidFill>
              <a:latin typeface="Calibri"/>
              <a:ea typeface="Calibri"/>
              <a:cs typeface="Calibri"/>
              <a:sym typeface="Calibri"/>
            </a:endParaRPr>
          </a:p>
        </p:txBody>
      </p:sp>
      <p:sp>
        <p:nvSpPr>
          <p:cNvPr id="1483" name="Google Shape;1483;p86"/>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Why Knowledge Graphs? A Simple Chain of Questions</a:t>
            </a:r>
            <a:endParaRPr sz="2300" b="0" i="0" u="none" strike="noStrike" cap="none">
              <a:solidFill>
                <a:schemeClr val="dk1"/>
              </a:solidFill>
              <a:latin typeface="Calibri"/>
              <a:ea typeface="Calibri"/>
              <a:cs typeface="Calibri"/>
              <a:sym typeface="Calibri"/>
            </a:endParaRPr>
          </a:p>
        </p:txBody>
      </p:sp>
      <p:cxnSp>
        <p:nvCxnSpPr>
          <p:cNvPr id="1484" name="Google Shape;1484;p86"/>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1485" name="Google Shape;1485;p86"/>
          <p:cNvSpPr/>
          <p:nvPr/>
        </p:nvSpPr>
        <p:spPr>
          <a:xfrm>
            <a:off x="457200" y="1645920"/>
            <a:ext cx="10607040" cy="118872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404040"/>
              </a:buClr>
              <a:buSzPts val="1500"/>
              <a:buFont typeface="Calibri"/>
              <a:buNone/>
            </a:pPr>
            <a:r>
              <a:rPr lang="en-US" sz="1500" b="0" i="0" u="none" strike="noStrike" cap="none">
                <a:solidFill>
                  <a:srgbClr val="404040"/>
                </a:solidFill>
                <a:latin typeface="Calibri"/>
                <a:ea typeface="Calibri"/>
                <a:cs typeface="Calibri"/>
                <a:sym typeface="Calibri"/>
              </a:rPr>
              <a:t>Suppose I ask: "Where is UMT located?" You answer: "UMT is in Lahore." I ask: "Where is Lahore located?" You answer: "Lahore is in Pakistan." I ask: "Which continent contains Pakistan?" You answer: "Asia."</a:t>
            </a:r>
            <a:endParaRPr sz="1500" b="0" i="0" u="none" strike="noStrike" cap="none">
              <a:solidFill>
                <a:schemeClr val="dk1"/>
              </a:solidFill>
              <a:latin typeface="Calibri"/>
              <a:ea typeface="Calibri"/>
              <a:cs typeface="Calibri"/>
              <a:sym typeface="Calibri"/>
            </a:endParaRPr>
          </a:p>
        </p:txBody>
      </p:sp>
      <p:sp>
        <p:nvSpPr>
          <p:cNvPr id="1486" name="Google Shape;1486;p86"/>
          <p:cNvSpPr/>
          <p:nvPr/>
        </p:nvSpPr>
        <p:spPr>
          <a:xfrm>
            <a:off x="1463040" y="2926080"/>
            <a:ext cx="8046720" cy="777240"/>
          </a:xfrm>
          <a:prstGeom prst="rect">
            <a:avLst/>
          </a:prstGeom>
          <a:solidFill>
            <a:srgbClr val="F4F8F8"/>
          </a:solidFill>
          <a:ln w="9525" cap="flat" cmpd="sng">
            <a:solidFill>
              <a:srgbClr val="DDE3E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86"/>
          <p:cNvSpPr/>
          <p:nvPr/>
        </p:nvSpPr>
        <p:spPr>
          <a:xfrm>
            <a:off x="1691640" y="3017520"/>
            <a:ext cx="7589520" cy="59436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ts val="0"/>
              </a:spcBef>
              <a:spcAft>
                <a:spcPts val="0"/>
              </a:spcAft>
              <a:buClr>
                <a:srgbClr val="404040"/>
              </a:buClr>
              <a:buSzPts val="1600"/>
              <a:buFont typeface="Courier New"/>
              <a:buNone/>
            </a:pPr>
            <a:r>
              <a:rPr lang="en-US" sz="1600" b="0" i="0" u="none" strike="noStrike" cap="none">
                <a:solidFill>
                  <a:srgbClr val="404040"/>
                </a:solidFill>
                <a:latin typeface="Courier New"/>
                <a:ea typeface="Courier New"/>
                <a:cs typeface="Courier New"/>
                <a:sym typeface="Courier New"/>
              </a:rPr>
              <a:t>UMT → Lahore → Pakistan → Asia,  so UMT is in Asia</a:t>
            </a:r>
            <a:endParaRPr sz="1600" b="0" i="0" u="none" strike="noStrike" cap="none">
              <a:solidFill>
                <a:schemeClr val="dk1"/>
              </a:solidFill>
              <a:latin typeface="Calibri"/>
              <a:ea typeface="Calibri"/>
              <a:cs typeface="Calibri"/>
              <a:sym typeface="Calibri"/>
            </a:endParaRPr>
          </a:p>
        </p:txBody>
      </p:sp>
      <p:sp>
        <p:nvSpPr>
          <p:cNvPr id="1488" name="Google Shape;1488;p86"/>
          <p:cNvSpPr/>
          <p:nvPr/>
        </p:nvSpPr>
        <p:spPr>
          <a:xfrm>
            <a:off x="457200" y="4023360"/>
            <a:ext cx="10607040" cy="91440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404040"/>
              </a:buClr>
              <a:buSzPts val="1500"/>
              <a:buFont typeface="Calibri"/>
              <a:buNone/>
            </a:pPr>
            <a:r>
              <a:rPr lang="en-US" sz="1500" b="0" i="0" u="none" strike="noStrike" cap="none">
                <a:solidFill>
                  <a:srgbClr val="404040"/>
                </a:solidFill>
                <a:latin typeface="Calibri"/>
                <a:ea typeface="Calibri"/>
                <a:cs typeface="Calibri"/>
                <a:sym typeface="Calibri"/>
              </a:rPr>
              <a:t>You can now immediately infer this </a:t>
            </a:r>
            <a:r>
              <a:rPr lang="en-US" sz="1500" b="1" i="0" u="none" strike="noStrike" cap="none">
                <a:solidFill>
                  <a:srgbClr val="404040"/>
                </a:solidFill>
                <a:latin typeface="Calibri"/>
                <a:ea typeface="Calibri"/>
                <a:cs typeface="Calibri"/>
                <a:sym typeface="Calibri"/>
              </a:rPr>
              <a:t>even though nobody ever told you that directly</a:t>
            </a:r>
            <a:r>
              <a:rPr lang="en-US" sz="1500" b="0" i="0" u="none" strike="noStrike" cap="none">
                <a:solidFill>
                  <a:srgbClr val="404040"/>
                </a:solidFill>
                <a:latin typeface="Calibri"/>
                <a:ea typeface="Calibri"/>
                <a:cs typeface="Calibri"/>
                <a:sym typeface="Calibri"/>
              </a:rPr>
              <a:t>. You inferred it by chaining relationships. Knowledge graphs are designed to support exactly this kind of reasoning.</a:t>
            </a:r>
            <a:endParaRPr sz="1500" b="0" i="0" u="none" strike="noStrike" cap="none">
              <a:solidFill>
                <a:schemeClr val="dk1"/>
              </a:solidFill>
              <a:latin typeface="Calibri"/>
              <a:ea typeface="Calibri"/>
              <a:cs typeface="Calibri"/>
              <a:sym typeface="Calibri"/>
            </a:endParaRPr>
          </a:p>
        </p:txBody>
      </p:sp>
      <p:sp>
        <p:nvSpPr>
          <p:cNvPr id="1489" name="Google Shape;1489;p86"/>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25 / 40</a:t>
            </a:r>
            <a:endParaRPr sz="950" b="0" i="0" u="none" strike="noStrike" cap="none">
              <a:solidFill>
                <a:schemeClr val="dk1"/>
              </a:solidFill>
              <a:latin typeface="Calibri"/>
              <a:ea typeface="Calibri"/>
              <a:cs typeface="Calibri"/>
              <a:sym typeface="Calibri"/>
            </a:endParaRPr>
          </a:p>
        </p:txBody>
      </p:sp>
      <p:sp>
        <p:nvSpPr>
          <p:cNvPr id="1490" name="Google Shape;1490;p86"/>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95"/>
        <p:cNvGrpSpPr/>
        <p:nvPr/>
      </p:nvGrpSpPr>
      <p:grpSpPr>
        <a:xfrm>
          <a:off x="0" y="0"/>
          <a:ext cx="0" cy="0"/>
          <a:chOff x="0" y="0"/>
          <a:chExt cx="0" cy="0"/>
        </a:xfrm>
      </p:grpSpPr>
      <p:sp>
        <p:nvSpPr>
          <p:cNvPr id="1496" name="Google Shape;1496;p87"/>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E79"/>
              </a:buClr>
              <a:buSzPts val="1100"/>
              <a:buFont typeface="Calibri"/>
              <a:buNone/>
            </a:pPr>
            <a:r>
              <a:rPr lang="en-US" sz="1100" b="1" i="0" u="none" strike="noStrike" cap="none">
                <a:solidFill>
                  <a:srgbClr val="1F4E79"/>
                </a:solidFill>
                <a:latin typeface="Calibri"/>
                <a:ea typeface="Calibri"/>
                <a:cs typeface="Calibri"/>
                <a:sym typeface="Calibri"/>
              </a:rPr>
              <a:t>4.2 WHY NOT JUST USE A DATABASE?</a:t>
            </a:r>
            <a:endParaRPr sz="1100" b="0" i="0" u="none" strike="noStrike" cap="none">
              <a:solidFill>
                <a:schemeClr val="dk1"/>
              </a:solidFill>
              <a:latin typeface="Calibri"/>
              <a:ea typeface="Calibri"/>
              <a:cs typeface="Calibri"/>
              <a:sym typeface="Calibri"/>
            </a:endParaRPr>
          </a:p>
        </p:txBody>
      </p:sp>
      <p:sp>
        <p:nvSpPr>
          <p:cNvPr id="1497" name="Google Shape;1497;p87"/>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The Problem with Traditional Databases</a:t>
            </a:r>
            <a:endParaRPr sz="2300" b="0" i="0" u="none" strike="noStrike" cap="none">
              <a:solidFill>
                <a:schemeClr val="dk1"/>
              </a:solidFill>
              <a:latin typeface="Calibri"/>
              <a:ea typeface="Calibri"/>
              <a:cs typeface="Calibri"/>
              <a:sym typeface="Calibri"/>
            </a:endParaRPr>
          </a:p>
        </p:txBody>
      </p:sp>
      <p:cxnSp>
        <p:nvCxnSpPr>
          <p:cNvPr id="1498" name="Google Shape;1498;p87"/>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1499" name="Google Shape;1499;p87"/>
          <p:cNvSpPr/>
          <p:nvPr/>
        </p:nvSpPr>
        <p:spPr>
          <a:xfrm>
            <a:off x="457200" y="1645920"/>
            <a:ext cx="10607040" cy="1097280"/>
          </a:xfrm>
          <a:prstGeom prst="rect">
            <a:avLst/>
          </a:prstGeom>
          <a:noFill/>
          <a:ln>
            <a:noFill/>
          </a:ln>
        </p:spPr>
        <p:txBody>
          <a:bodyPr spcFirstLastPara="1" wrap="square" lIns="0" tIns="0" rIns="0" bIns="0" anchor="ctr" anchorCtr="0">
            <a:noAutofit/>
          </a:bodyPr>
          <a:lstStyle/>
          <a:p>
            <a:pPr marL="0" marR="0" lvl="0" indent="0" algn="l" rtl="0">
              <a:lnSpc>
                <a:spcPct val="128000"/>
              </a:lnSpc>
              <a:spcBef>
                <a:spcPts val="0"/>
              </a:spcBef>
              <a:spcAft>
                <a:spcPts val="0"/>
              </a:spcAft>
              <a:buClr>
                <a:srgbClr val="404040"/>
              </a:buClr>
              <a:buSzPts val="1450"/>
              <a:buFont typeface="Calibri"/>
              <a:buNone/>
            </a:pPr>
            <a:r>
              <a:rPr lang="en-US" sz="1450" b="0" i="0" u="none" strike="noStrike" cap="none">
                <a:solidFill>
                  <a:srgbClr val="404040"/>
                </a:solidFill>
                <a:latin typeface="Calibri"/>
                <a:ea typeface="Calibri"/>
                <a:cs typeface="Calibri"/>
                <a:sym typeface="Calibri"/>
              </a:rPr>
              <a:t>The same information could live in three separate tables — Universities, Cities, Countries — with UMT linked to Lahore, Lahore linked to Pakistan, and Pakistan linked to Asia. The information technically exists, but discovering the indirect relationship requires writing a multi-step join query.</a:t>
            </a:r>
            <a:endParaRPr sz="1450" b="0" i="0" u="none" strike="noStrike" cap="none">
              <a:solidFill>
                <a:schemeClr val="dk1"/>
              </a:solidFill>
              <a:latin typeface="Calibri"/>
              <a:ea typeface="Calibri"/>
              <a:cs typeface="Calibri"/>
              <a:sym typeface="Calibri"/>
            </a:endParaRPr>
          </a:p>
        </p:txBody>
      </p:sp>
      <p:sp>
        <p:nvSpPr>
          <p:cNvPr id="1500" name="Google Shape;1500;p87"/>
          <p:cNvSpPr/>
          <p:nvPr/>
        </p:nvSpPr>
        <p:spPr>
          <a:xfrm>
            <a:off x="457200" y="2880360"/>
            <a:ext cx="10607040" cy="822960"/>
          </a:xfrm>
          <a:prstGeom prst="rect">
            <a:avLst/>
          </a:prstGeom>
          <a:solidFill>
            <a:srgbClr val="EAF1F8"/>
          </a:solidFill>
          <a:ln w="9525" cap="flat" cmpd="sng">
            <a:solidFill>
              <a:srgbClr val="1F4E7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87"/>
          <p:cNvSpPr/>
          <p:nvPr/>
        </p:nvSpPr>
        <p:spPr>
          <a:xfrm>
            <a:off x="457200" y="2880360"/>
            <a:ext cx="64008" cy="822960"/>
          </a:xfrm>
          <a:prstGeom prst="rect">
            <a:avLst/>
          </a:prstGeom>
          <a:solidFill>
            <a:srgbClr val="1F4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87"/>
          <p:cNvSpPr/>
          <p:nvPr/>
        </p:nvSpPr>
        <p:spPr>
          <a:xfrm>
            <a:off x="685800" y="2990088"/>
            <a:ext cx="10195560" cy="621792"/>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450"/>
              <a:buFont typeface="Calibri"/>
              <a:buNone/>
            </a:pPr>
            <a:r>
              <a:rPr lang="en-US" sz="1450" b="0" i="0" u="none" strike="noStrike" cap="none">
                <a:solidFill>
                  <a:srgbClr val="404040"/>
                </a:solidFill>
                <a:latin typeface="Calibri"/>
                <a:ea typeface="Calibri"/>
                <a:cs typeface="Calibri"/>
                <a:sym typeface="Calibri"/>
              </a:rPr>
              <a:t>Humans naturally think in relationships; traditional databases store isolated records, while knowledge graphs store connections as first-class objects.</a:t>
            </a:r>
            <a:endParaRPr sz="1450" b="0" i="0" u="none" strike="noStrike" cap="none">
              <a:solidFill>
                <a:schemeClr val="dk1"/>
              </a:solidFill>
              <a:latin typeface="Calibri"/>
              <a:ea typeface="Calibri"/>
              <a:cs typeface="Calibri"/>
              <a:sym typeface="Calibri"/>
            </a:endParaRPr>
          </a:p>
        </p:txBody>
      </p:sp>
      <p:sp>
        <p:nvSpPr>
          <p:cNvPr id="1503" name="Google Shape;1503;p87"/>
          <p:cNvSpPr/>
          <p:nvPr/>
        </p:nvSpPr>
        <p:spPr>
          <a:xfrm>
            <a:off x="457200" y="3931920"/>
            <a:ext cx="1060704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1600"/>
              <a:buFont typeface="Calibri"/>
              <a:buNone/>
            </a:pPr>
            <a:r>
              <a:rPr lang="en-US" sz="1600" b="1" i="0" u="none" strike="noStrike" cap="none">
                <a:solidFill>
                  <a:srgbClr val="404040"/>
                </a:solidFill>
                <a:latin typeface="Calibri"/>
                <a:ea typeface="Calibri"/>
                <a:cs typeface="Calibri"/>
                <a:sym typeface="Calibri"/>
              </a:rPr>
              <a:t>4.3 The Evolution of Knowledge Representation</a:t>
            </a:r>
            <a:endParaRPr sz="1600" b="0" i="0" u="none" strike="noStrike" cap="none">
              <a:solidFill>
                <a:schemeClr val="dk1"/>
              </a:solidFill>
              <a:latin typeface="Calibri"/>
              <a:ea typeface="Calibri"/>
              <a:cs typeface="Calibri"/>
              <a:sym typeface="Calibri"/>
            </a:endParaRPr>
          </a:p>
        </p:txBody>
      </p:sp>
      <p:graphicFrame>
        <p:nvGraphicFramePr>
          <p:cNvPr id="1504" name="Google Shape;1504;p87"/>
          <p:cNvGraphicFramePr/>
          <p:nvPr/>
        </p:nvGraphicFramePr>
        <p:xfrm>
          <a:off x="457200" y="4389120"/>
          <a:ext cx="10607025" cy="1920250"/>
        </p:xfrm>
        <a:graphic>
          <a:graphicData uri="http://schemas.openxmlformats.org/drawingml/2006/table">
            <a:tbl>
              <a:tblPr>
                <a:noFill/>
                <a:tableStyleId>{18CE5CEB-0992-447E-8985-1B7A4AD8BB01}</a:tableStyleId>
              </a:tblPr>
              <a:tblGrid>
                <a:gridCol w="2560325">
                  <a:extLst>
                    <a:ext uri="{9D8B030D-6E8A-4147-A177-3AD203B41FA5}">
                      <a16:colId xmlns:a16="http://schemas.microsoft.com/office/drawing/2014/main" val="20000"/>
                    </a:ext>
                  </a:extLst>
                </a:gridCol>
                <a:gridCol w="4937750">
                  <a:extLst>
                    <a:ext uri="{9D8B030D-6E8A-4147-A177-3AD203B41FA5}">
                      <a16:colId xmlns:a16="http://schemas.microsoft.com/office/drawing/2014/main" val="20001"/>
                    </a:ext>
                  </a:extLst>
                </a:gridCol>
                <a:gridCol w="3108950">
                  <a:extLst>
                    <a:ext uri="{9D8B030D-6E8A-4147-A177-3AD203B41FA5}">
                      <a16:colId xmlns:a16="http://schemas.microsoft.com/office/drawing/2014/main" val="20002"/>
                    </a:ext>
                  </a:extLst>
                </a:gridCol>
              </a:tblGrid>
              <a:tr h="384050">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Stage</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1F4E79"/>
                    </a:solidFill>
                  </a:tcPr>
                </a:tc>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Idea</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1F4E79"/>
                    </a:solidFill>
                  </a:tcPr>
                </a:tc>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Limitation</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1F4E79"/>
                    </a:solidFill>
                  </a:tcPr>
                </a:tc>
                <a:extLst>
                  <a:ext uri="{0D108BD9-81ED-4DB2-BD59-A6C34878D82A}">
                    <a16:rowId xmlns:a16="http://schemas.microsoft.com/office/drawing/2014/main" val="10000"/>
                  </a:ext>
                </a:extLst>
              </a:tr>
              <a:tr h="384050">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1. Rule-Based Systems</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IF Bird(X) THEN Fly(X)</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Difficult to scale</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84050">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2. Semantic Networks</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Nodes connected by simple links (Bird → Animal)</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Limited expressiveness</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extLst>
                  <a:ext uri="{0D108BD9-81ED-4DB2-BD59-A6C34878D82A}">
                    <a16:rowId xmlns:a16="http://schemas.microsoft.com/office/drawing/2014/main" val="10002"/>
                  </a:ext>
                </a:extLst>
              </a:tr>
              <a:tr h="384050">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3. Ontologies</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Formal meanings and rules added on top</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Still mostly manual</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84050">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4. Knowledge Graphs</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Graphs + ontologies + semantics + ML</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Foundation of modern search/AI</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extLst>
                  <a:ext uri="{0D108BD9-81ED-4DB2-BD59-A6C34878D82A}">
                    <a16:rowId xmlns:a16="http://schemas.microsoft.com/office/drawing/2014/main" val="10004"/>
                  </a:ext>
                </a:extLst>
              </a:tr>
            </a:tbl>
          </a:graphicData>
        </a:graphic>
      </p:graphicFrame>
      <p:sp>
        <p:nvSpPr>
          <p:cNvPr id="1505" name="Google Shape;1505;p87"/>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25 / 40</a:t>
            </a:r>
            <a:endParaRPr sz="950" b="0" i="0" u="none" strike="noStrike" cap="none">
              <a:solidFill>
                <a:schemeClr val="dk1"/>
              </a:solidFill>
              <a:latin typeface="Calibri"/>
              <a:ea typeface="Calibri"/>
              <a:cs typeface="Calibri"/>
              <a:sym typeface="Calibri"/>
            </a:endParaRPr>
          </a:p>
        </p:txBody>
      </p:sp>
      <p:sp>
        <p:nvSpPr>
          <p:cNvPr id="1506" name="Google Shape;1506;p87"/>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11"/>
        <p:cNvGrpSpPr/>
        <p:nvPr/>
      </p:nvGrpSpPr>
      <p:grpSpPr>
        <a:xfrm>
          <a:off x="0" y="0"/>
          <a:ext cx="0" cy="0"/>
          <a:chOff x="0" y="0"/>
          <a:chExt cx="0" cy="0"/>
        </a:xfrm>
      </p:grpSpPr>
      <p:sp>
        <p:nvSpPr>
          <p:cNvPr id="1512" name="Google Shape;1512;p88"/>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E79"/>
              </a:buClr>
              <a:buSzPts val="1100"/>
              <a:buFont typeface="Calibri"/>
              <a:buNone/>
            </a:pPr>
            <a:r>
              <a:rPr lang="en-US" sz="1100" b="1" i="0" u="none" strike="noStrike" cap="none">
                <a:solidFill>
                  <a:srgbClr val="1F4E79"/>
                </a:solidFill>
                <a:latin typeface="Calibri"/>
                <a:ea typeface="Calibri"/>
                <a:cs typeface="Calibri"/>
                <a:sym typeface="Calibri"/>
              </a:rPr>
              <a:t>4.4 DEFINITION</a:t>
            </a:r>
            <a:endParaRPr sz="1100" b="0" i="0" u="none" strike="noStrike" cap="none">
              <a:solidFill>
                <a:schemeClr val="dk1"/>
              </a:solidFill>
              <a:latin typeface="Calibri"/>
              <a:ea typeface="Calibri"/>
              <a:cs typeface="Calibri"/>
              <a:sym typeface="Calibri"/>
            </a:endParaRPr>
          </a:p>
        </p:txBody>
      </p:sp>
      <p:sp>
        <p:nvSpPr>
          <p:cNvPr id="1513" name="Google Shape;1513;p88"/>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What Is a Knowledge Graph?</a:t>
            </a:r>
            <a:endParaRPr sz="2300" b="0" i="0" u="none" strike="noStrike" cap="none">
              <a:solidFill>
                <a:schemeClr val="dk1"/>
              </a:solidFill>
              <a:latin typeface="Calibri"/>
              <a:ea typeface="Calibri"/>
              <a:cs typeface="Calibri"/>
              <a:sym typeface="Calibri"/>
            </a:endParaRPr>
          </a:p>
        </p:txBody>
      </p:sp>
      <p:cxnSp>
        <p:nvCxnSpPr>
          <p:cNvPr id="1514" name="Google Shape;1514;p88"/>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1515" name="Google Shape;1515;p88"/>
          <p:cNvSpPr/>
          <p:nvPr/>
        </p:nvSpPr>
        <p:spPr>
          <a:xfrm>
            <a:off x="457200" y="1691640"/>
            <a:ext cx="10607040" cy="1143000"/>
          </a:xfrm>
          <a:prstGeom prst="rect">
            <a:avLst/>
          </a:prstGeom>
          <a:solidFill>
            <a:srgbClr val="EAF4F4"/>
          </a:solidFill>
          <a:ln w="9525" cap="flat" cmpd="sng">
            <a:solidFill>
              <a:srgbClr val="1F4E7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88"/>
          <p:cNvSpPr/>
          <p:nvPr/>
        </p:nvSpPr>
        <p:spPr>
          <a:xfrm>
            <a:off x="457200" y="1691640"/>
            <a:ext cx="64008" cy="1143000"/>
          </a:xfrm>
          <a:prstGeom prst="rect">
            <a:avLst/>
          </a:prstGeom>
          <a:solidFill>
            <a:srgbClr val="1F4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88"/>
          <p:cNvSpPr/>
          <p:nvPr/>
        </p:nvSpPr>
        <p:spPr>
          <a:xfrm>
            <a:off x="685800" y="1801368"/>
            <a:ext cx="102412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E79"/>
              </a:buClr>
              <a:buSzPts val="1050"/>
              <a:buFont typeface="Calibri"/>
              <a:buNone/>
            </a:pPr>
            <a:r>
              <a:rPr lang="en-US" sz="1050" b="1" i="0" u="none" strike="noStrike" cap="none">
                <a:solidFill>
                  <a:srgbClr val="1F4E79"/>
                </a:solidFill>
                <a:latin typeface="Calibri"/>
                <a:ea typeface="Calibri"/>
                <a:cs typeface="Calibri"/>
                <a:sym typeface="Calibri"/>
              </a:rPr>
              <a:t>DEFINITION</a:t>
            </a:r>
            <a:endParaRPr sz="1050" b="0" i="0" u="none" strike="noStrike" cap="none">
              <a:solidFill>
                <a:schemeClr val="dk1"/>
              </a:solidFill>
              <a:latin typeface="Calibri"/>
              <a:ea typeface="Calibri"/>
              <a:cs typeface="Calibri"/>
              <a:sym typeface="Calibri"/>
            </a:endParaRPr>
          </a:p>
        </p:txBody>
      </p:sp>
      <p:sp>
        <p:nvSpPr>
          <p:cNvPr id="1518" name="Google Shape;1518;p88"/>
          <p:cNvSpPr/>
          <p:nvPr/>
        </p:nvSpPr>
        <p:spPr>
          <a:xfrm>
            <a:off x="685800" y="2093976"/>
            <a:ext cx="10195560" cy="64922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450"/>
              <a:buFont typeface="Calibri"/>
              <a:buNone/>
            </a:pPr>
            <a:r>
              <a:rPr lang="en-US" sz="1450" b="0" i="0" u="none" strike="noStrike" cap="none">
                <a:solidFill>
                  <a:srgbClr val="404040"/>
                </a:solidFill>
                <a:latin typeface="Calibri"/>
                <a:ea typeface="Calibri"/>
                <a:cs typeface="Calibri"/>
                <a:sym typeface="Calibri"/>
              </a:rPr>
              <a:t>A knowledge graph is a structured representation of knowledge where entities (objects, people, places, organizations, concepts) are connected through relationships, optionally annotated with attributes (properties describing an entity, such as Name, Age, or CGPA).</a:t>
            </a:r>
            <a:endParaRPr sz="1450" b="0" i="0" u="none" strike="noStrike" cap="none">
              <a:solidFill>
                <a:schemeClr val="dk1"/>
              </a:solidFill>
              <a:latin typeface="Calibri"/>
              <a:ea typeface="Calibri"/>
              <a:cs typeface="Calibri"/>
              <a:sym typeface="Calibri"/>
            </a:endParaRPr>
          </a:p>
        </p:txBody>
      </p:sp>
      <p:sp>
        <p:nvSpPr>
          <p:cNvPr id="1519" name="Google Shape;1519;p88"/>
          <p:cNvSpPr/>
          <p:nvPr/>
        </p:nvSpPr>
        <p:spPr>
          <a:xfrm>
            <a:off x="457200" y="3017520"/>
            <a:ext cx="10607040" cy="1188720"/>
          </a:xfrm>
          <a:prstGeom prst="rect">
            <a:avLst/>
          </a:prstGeom>
          <a:noFill/>
          <a:ln>
            <a:noFill/>
          </a:ln>
        </p:spPr>
        <p:txBody>
          <a:bodyPr spcFirstLastPara="1" wrap="square" lIns="0" tIns="0" rIns="0" bIns="0" anchor="ctr" anchorCtr="0">
            <a:noAutofit/>
          </a:bodyPr>
          <a:lstStyle/>
          <a:p>
            <a:pPr marL="0" marR="0" lvl="0" indent="0" algn="l" rtl="0">
              <a:lnSpc>
                <a:spcPct val="128000"/>
              </a:lnSpc>
              <a:spcBef>
                <a:spcPts val="0"/>
              </a:spcBef>
              <a:spcAft>
                <a:spcPts val="0"/>
              </a:spcAft>
              <a:buClr>
                <a:srgbClr val="404040"/>
              </a:buClr>
              <a:buSzPts val="1450"/>
              <a:buFont typeface="Calibri"/>
              <a:buNone/>
            </a:pPr>
            <a:r>
              <a:rPr lang="en-US" sz="1450" b="0" i="0" u="none" strike="noStrike" cap="none">
                <a:solidFill>
                  <a:srgbClr val="404040"/>
                </a:solidFill>
                <a:latin typeface="Calibri"/>
                <a:ea typeface="Calibri"/>
                <a:cs typeface="Calibri"/>
                <a:sym typeface="Calibri"/>
              </a:rPr>
              <a:t>In graph terms: entities are </a:t>
            </a:r>
            <a:r>
              <a:rPr lang="en-US" sz="1450" b="1" i="0" u="none" strike="noStrike" cap="none">
                <a:solidFill>
                  <a:srgbClr val="404040"/>
                </a:solidFill>
                <a:latin typeface="Calibri"/>
                <a:ea typeface="Calibri"/>
                <a:cs typeface="Calibri"/>
                <a:sym typeface="Calibri"/>
              </a:rPr>
              <a:t>nodes</a:t>
            </a:r>
            <a:r>
              <a:rPr lang="en-US" sz="1450" b="0" i="0" u="none" strike="noStrike" cap="none">
                <a:solidFill>
                  <a:srgbClr val="404040"/>
                </a:solidFill>
                <a:latin typeface="Calibri"/>
                <a:ea typeface="Calibri"/>
                <a:cs typeface="Calibri"/>
                <a:sym typeface="Calibri"/>
              </a:rPr>
              <a:t> and relationships are </a:t>
            </a:r>
            <a:r>
              <a:rPr lang="en-US" sz="1450" b="1" i="0" u="none" strike="noStrike" cap="none">
                <a:solidFill>
                  <a:srgbClr val="404040"/>
                </a:solidFill>
                <a:latin typeface="Calibri"/>
                <a:ea typeface="Calibri"/>
                <a:cs typeface="Calibri"/>
                <a:sym typeface="Calibri"/>
              </a:rPr>
              <a:t>edges</a:t>
            </a:r>
            <a:r>
              <a:rPr lang="en-US" sz="1450" b="0" i="0" u="none" strike="noStrike" cap="none">
                <a:solidFill>
                  <a:srgbClr val="404040"/>
                </a:solidFill>
                <a:latin typeface="Calibri"/>
                <a:ea typeface="Calibri"/>
                <a:cs typeface="Calibri"/>
                <a:sym typeface="Calibri"/>
              </a:rPr>
              <a:t>. A small graph — Ali → StudiesAt → UMT → LocatedIn → Lahore → LocatedIn → Pakistan — lets the system infer "Ali is associated with Pakistan" even though that fact was never explicitly stored.</a:t>
            </a:r>
            <a:endParaRPr sz="1450" b="0" i="0" u="none" strike="noStrike" cap="none">
              <a:solidFill>
                <a:schemeClr val="dk1"/>
              </a:solidFill>
              <a:latin typeface="Calibri"/>
              <a:ea typeface="Calibri"/>
              <a:cs typeface="Calibri"/>
              <a:sym typeface="Calibri"/>
            </a:endParaRPr>
          </a:p>
        </p:txBody>
      </p:sp>
      <p:sp>
        <p:nvSpPr>
          <p:cNvPr id="1520" name="Google Shape;1520;p88"/>
          <p:cNvSpPr/>
          <p:nvPr/>
        </p:nvSpPr>
        <p:spPr>
          <a:xfrm>
            <a:off x="457200" y="4434840"/>
            <a:ext cx="10607040" cy="1005840"/>
          </a:xfrm>
          <a:prstGeom prst="rect">
            <a:avLst/>
          </a:prstGeom>
          <a:solidFill>
            <a:srgbClr val="EAF1F8"/>
          </a:solidFill>
          <a:ln w="9525" cap="flat" cmpd="sng">
            <a:solidFill>
              <a:srgbClr val="1F4E7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88"/>
          <p:cNvSpPr/>
          <p:nvPr/>
        </p:nvSpPr>
        <p:spPr>
          <a:xfrm>
            <a:off x="457200" y="4434840"/>
            <a:ext cx="64008" cy="1005840"/>
          </a:xfrm>
          <a:prstGeom prst="rect">
            <a:avLst/>
          </a:prstGeom>
          <a:solidFill>
            <a:srgbClr val="1F4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88"/>
          <p:cNvSpPr/>
          <p:nvPr/>
        </p:nvSpPr>
        <p:spPr>
          <a:xfrm>
            <a:off x="685800" y="4544568"/>
            <a:ext cx="10195560" cy="804672"/>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350"/>
              <a:buFont typeface="Calibri"/>
              <a:buNone/>
            </a:pPr>
            <a:r>
              <a:rPr lang="en-US" sz="1350" b="0" i="0" u="none" strike="noStrike" cap="none">
                <a:solidFill>
                  <a:srgbClr val="404040"/>
                </a:solidFill>
                <a:latin typeface="Calibri"/>
                <a:ea typeface="Calibri"/>
                <a:cs typeface="Calibri"/>
                <a:sym typeface="Calibri"/>
              </a:rPr>
              <a:t>Many cognitive scientists believe the human brain organizes knowledge similarly — hearing "Lahore" instantly activates related concepts like Pakistan, Punjab, food, history, and universities, much like a knowledge graph's associative structure.</a:t>
            </a:r>
            <a:endParaRPr sz="1350" b="0" i="0" u="none" strike="noStrike" cap="none">
              <a:solidFill>
                <a:schemeClr val="dk1"/>
              </a:solidFill>
              <a:latin typeface="Calibri"/>
              <a:ea typeface="Calibri"/>
              <a:cs typeface="Calibri"/>
              <a:sym typeface="Calibri"/>
            </a:endParaRPr>
          </a:p>
        </p:txBody>
      </p:sp>
      <p:sp>
        <p:nvSpPr>
          <p:cNvPr id="1523" name="Google Shape;1523;p88"/>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25 / 40</a:t>
            </a:r>
            <a:endParaRPr sz="950" b="0" i="0" u="none" strike="noStrike" cap="none">
              <a:solidFill>
                <a:schemeClr val="dk1"/>
              </a:solidFill>
              <a:latin typeface="Calibri"/>
              <a:ea typeface="Calibri"/>
              <a:cs typeface="Calibri"/>
              <a:sym typeface="Calibri"/>
            </a:endParaRPr>
          </a:p>
        </p:txBody>
      </p:sp>
      <p:sp>
        <p:nvSpPr>
          <p:cNvPr id="1524" name="Google Shape;1524;p88"/>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29"/>
        <p:cNvGrpSpPr/>
        <p:nvPr/>
      </p:nvGrpSpPr>
      <p:grpSpPr>
        <a:xfrm>
          <a:off x="0" y="0"/>
          <a:ext cx="0" cy="0"/>
          <a:chOff x="0" y="0"/>
          <a:chExt cx="0" cy="0"/>
        </a:xfrm>
      </p:grpSpPr>
      <p:sp>
        <p:nvSpPr>
          <p:cNvPr id="1530" name="Google Shape;1530;p89"/>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E79"/>
              </a:buClr>
              <a:buSzPts val="1100"/>
              <a:buFont typeface="Calibri"/>
              <a:buNone/>
            </a:pPr>
            <a:r>
              <a:rPr lang="en-US" sz="1100" b="1" i="0" u="none" strike="noStrike" cap="none">
                <a:solidFill>
                  <a:srgbClr val="1F4E79"/>
                </a:solidFill>
                <a:latin typeface="Calibri"/>
                <a:ea typeface="Calibri"/>
                <a:cs typeface="Calibri"/>
                <a:sym typeface="Calibri"/>
              </a:rPr>
              <a:t>4.5 INHERITANCE</a:t>
            </a:r>
            <a:endParaRPr sz="1100" b="0" i="0" u="none" strike="noStrike" cap="none">
              <a:solidFill>
                <a:schemeClr val="dk1"/>
              </a:solidFill>
              <a:latin typeface="Calibri"/>
              <a:ea typeface="Calibri"/>
              <a:cs typeface="Calibri"/>
              <a:sym typeface="Calibri"/>
            </a:endParaRPr>
          </a:p>
        </p:txBody>
      </p:sp>
      <p:sp>
        <p:nvSpPr>
          <p:cNvPr id="1531" name="Google Shape;1531;p89"/>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Semantic Networks and Inheritance</a:t>
            </a:r>
            <a:endParaRPr sz="2300" b="0" i="0" u="none" strike="noStrike" cap="none">
              <a:solidFill>
                <a:schemeClr val="dk1"/>
              </a:solidFill>
              <a:latin typeface="Calibri"/>
              <a:ea typeface="Calibri"/>
              <a:cs typeface="Calibri"/>
              <a:sym typeface="Calibri"/>
            </a:endParaRPr>
          </a:p>
        </p:txBody>
      </p:sp>
      <p:cxnSp>
        <p:nvCxnSpPr>
          <p:cNvPr id="1532" name="Google Shape;1532;p89"/>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1533" name="Google Shape;1533;p89"/>
          <p:cNvSpPr/>
          <p:nvPr/>
        </p:nvSpPr>
        <p:spPr>
          <a:xfrm>
            <a:off x="457200" y="1691640"/>
            <a:ext cx="10607040" cy="77724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404040"/>
              </a:buClr>
              <a:buSzPts val="1500"/>
              <a:buFont typeface="Calibri"/>
              <a:buNone/>
            </a:pPr>
            <a:r>
              <a:rPr lang="en-US" sz="1500" b="0" i="0" u="none" strike="noStrike" cap="none">
                <a:solidFill>
                  <a:srgbClr val="404040"/>
                </a:solidFill>
                <a:latin typeface="Calibri"/>
                <a:ea typeface="Calibri"/>
                <a:cs typeface="Calibri"/>
                <a:sym typeface="Calibri"/>
              </a:rPr>
              <a:t>Knowledge graphs evolved from </a:t>
            </a:r>
            <a:r>
              <a:rPr lang="en-US" sz="1500" b="1" i="1" u="none" strike="noStrike" cap="none">
                <a:solidFill>
                  <a:srgbClr val="404040"/>
                </a:solidFill>
                <a:latin typeface="Calibri"/>
                <a:ea typeface="Calibri"/>
                <a:cs typeface="Calibri"/>
                <a:sym typeface="Calibri"/>
              </a:rPr>
              <a:t>semantic networks</a:t>
            </a:r>
            <a:r>
              <a:rPr lang="en-US" sz="1500" b="0" i="0" u="none" strike="noStrike" cap="none">
                <a:solidFill>
                  <a:srgbClr val="404040"/>
                </a:solidFill>
                <a:latin typeface="Calibri"/>
                <a:ea typeface="Calibri"/>
                <a:cs typeface="Calibri"/>
                <a:sym typeface="Calibri"/>
              </a:rPr>
              <a:t>, which represent concepts and relationships such as Sparrow IS-A Bird and Bird IS-A Animal.</a:t>
            </a:r>
            <a:endParaRPr sz="1500" b="0" i="0" u="none" strike="noStrike" cap="none">
              <a:solidFill>
                <a:schemeClr val="dk1"/>
              </a:solidFill>
              <a:latin typeface="Calibri"/>
              <a:ea typeface="Calibri"/>
              <a:cs typeface="Calibri"/>
              <a:sym typeface="Calibri"/>
            </a:endParaRPr>
          </a:p>
        </p:txBody>
      </p:sp>
      <p:sp>
        <p:nvSpPr>
          <p:cNvPr id="1534" name="Google Shape;1534;p89"/>
          <p:cNvSpPr/>
          <p:nvPr/>
        </p:nvSpPr>
        <p:spPr>
          <a:xfrm>
            <a:off x="2103120" y="2606040"/>
            <a:ext cx="6766560" cy="914400"/>
          </a:xfrm>
          <a:prstGeom prst="rect">
            <a:avLst/>
          </a:prstGeom>
          <a:solidFill>
            <a:srgbClr val="F4F8F8"/>
          </a:solidFill>
          <a:ln w="9525" cap="flat" cmpd="sng">
            <a:solidFill>
              <a:srgbClr val="DDE3E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89"/>
          <p:cNvSpPr/>
          <p:nvPr/>
        </p:nvSpPr>
        <p:spPr>
          <a:xfrm>
            <a:off x="2331720" y="2697480"/>
            <a:ext cx="6309360" cy="73152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ts val="0"/>
              </a:spcBef>
              <a:spcAft>
                <a:spcPts val="0"/>
              </a:spcAft>
              <a:buClr>
                <a:srgbClr val="404040"/>
              </a:buClr>
              <a:buSzPts val="1450"/>
              <a:buFont typeface="Courier New"/>
              <a:buNone/>
            </a:pPr>
            <a:r>
              <a:rPr lang="en-US" sz="1450" b="0" i="0" u="none" strike="noStrike" cap="none">
                <a:solidFill>
                  <a:srgbClr val="404040"/>
                </a:solidFill>
                <a:latin typeface="Courier New"/>
                <a:ea typeface="Courier New"/>
                <a:cs typeface="Courier New"/>
                <a:sym typeface="Courier New"/>
              </a:rPr>
              <a:t>Animal → Can Move</a:t>
            </a:r>
            <a:endParaRPr sz="1450" b="0" i="0" u="none" strike="noStrike" cap="none">
              <a:solidFill>
                <a:schemeClr val="dk1"/>
              </a:solidFill>
              <a:latin typeface="Calibri"/>
              <a:ea typeface="Calibri"/>
              <a:cs typeface="Calibri"/>
              <a:sym typeface="Calibri"/>
            </a:endParaRPr>
          </a:p>
          <a:p>
            <a:pPr marL="0" marR="0" lvl="0" indent="0" algn="ctr" rtl="0">
              <a:lnSpc>
                <a:spcPct val="115000"/>
              </a:lnSpc>
              <a:spcBef>
                <a:spcPts val="0"/>
              </a:spcBef>
              <a:spcAft>
                <a:spcPts val="0"/>
              </a:spcAft>
              <a:buClr>
                <a:srgbClr val="404040"/>
              </a:buClr>
              <a:buSzPts val="1450"/>
              <a:buFont typeface="Courier New"/>
              <a:buNone/>
            </a:pPr>
            <a:r>
              <a:rPr lang="en-US" sz="1450" b="0" i="0" u="none" strike="noStrike" cap="none">
                <a:solidFill>
                  <a:srgbClr val="404040"/>
                </a:solidFill>
                <a:latin typeface="Courier New"/>
                <a:ea typeface="Courier New"/>
                <a:cs typeface="Courier New"/>
                <a:sym typeface="Courier New"/>
              </a:rPr>
              <a:t>Bird → Has Wings</a:t>
            </a:r>
            <a:endParaRPr sz="1450" b="0" i="0" u="none" strike="noStrike" cap="none">
              <a:solidFill>
                <a:schemeClr val="dk1"/>
              </a:solidFill>
              <a:latin typeface="Calibri"/>
              <a:ea typeface="Calibri"/>
              <a:cs typeface="Calibri"/>
              <a:sym typeface="Calibri"/>
            </a:endParaRPr>
          </a:p>
          <a:p>
            <a:pPr marL="0" marR="0" lvl="0" indent="0" algn="ctr" rtl="0">
              <a:lnSpc>
                <a:spcPct val="115000"/>
              </a:lnSpc>
              <a:spcBef>
                <a:spcPts val="0"/>
              </a:spcBef>
              <a:spcAft>
                <a:spcPts val="0"/>
              </a:spcAft>
              <a:buClr>
                <a:srgbClr val="404040"/>
              </a:buClr>
              <a:buSzPts val="1450"/>
              <a:buFont typeface="Courier New"/>
              <a:buNone/>
            </a:pPr>
            <a:r>
              <a:rPr lang="en-US" sz="1450" b="0" i="0" u="none" strike="noStrike" cap="none">
                <a:solidFill>
                  <a:srgbClr val="404040"/>
                </a:solidFill>
                <a:latin typeface="Courier New"/>
                <a:ea typeface="Courier New"/>
                <a:cs typeface="Courier New"/>
                <a:sym typeface="Courier New"/>
              </a:rPr>
              <a:t>Sparrow IS-A Bird IS-A Animal</a:t>
            </a:r>
            <a:endParaRPr sz="1450" b="0" i="0" u="none" strike="noStrike" cap="none">
              <a:solidFill>
                <a:schemeClr val="dk1"/>
              </a:solidFill>
              <a:latin typeface="Calibri"/>
              <a:ea typeface="Calibri"/>
              <a:cs typeface="Calibri"/>
              <a:sym typeface="Calibri"/>
            </a:endParaRPr>
          </a:p>
        </p:txBody>
      </p:sp>
      <p:sp>
        <p:nvSpPr>
          <p:cNvPr id="1536" name="Google Shape;1536;p89"/>
          <p:cNvSpPr/>
          <p:nvPr/>
        </p:nvSpPr>
        <p:spPr>
          <a:xfrm>
            <a:off x="457200" y="3749040"/>
            <a:ext cx="10607040" cy="1005840"/>
          </a:xfrm>
          <a:prstGeom prst="rect">
            <a:avLst/>
          </a:prstGeom>
          <a:noFill/>
          <a:ln>
            <a:noFill/>
          </a:ln>
        </p:spPr>
        <p:txBody>
          <a:bodyPr spcFirstLastPara="1" wrap="square" lIns="0" tIns="0" rIns="0" bIns="0" anchor="ctr" anchorCtr="0">
            <a:noAutofit/>
          </a:bodyPr>
          <a:lstStyle/>
          <a:p>
            <a:pPr marL="0" marR="0" lvl="0" indent="0" algn="l" rtl="0">
              <a:lnSpc>
                <a:spcPct val="128000"/>
              </a:lnSpc>
              <a:spcBef>
                <a:spcPts val="0"/>
              </a:spcBef>
              <a:spcAft>
                <a:spcPts val="0"/>
              </a:spcAft>
              <a:buClr>
                <a:srgbClr val="404040"/>
              </a:buClr>
              <a:buSzPts val="1450"/>
              <a:buFont typeface="Calibri"/>
              <a:buNone/>
            </a:pPr>
            <a:r>
              <a:rPr lang="en-US" sz="1450" b="0" i="0" u="none" strike="noStrike" cap="none">
                <a:solidFill>
                  <a:srgbClr val="404040"/>
                </a:solidFill>
                <a:latin typeface="Calibri"/>
                <a:ea typeface="Calibri"/>
                <a:cs typeface="Calibri"/>
                <a:sym typeface="Calibri"/>
              </a:rPr>
              <a:t>One major advantage is </a:t>
            </a:r>
            <a:r>
              <a:rPr lang="en-US" sz="1450" b="1" i="1" u="none" strike="noStrike" cap="none">
                <a:solidFill>
                  <a:srgbClr val="404040"/>
                </a:solidFill>
                <a:latin typeface="Calibri"/>
                <a:ea typeface="Calibri"/>
                <a:cs typeface="Calibri"/>
                <a:sym typeface="Calibri"/>
              </a:rPr>
              <a:t>inheritance</a:t>
            </a:r>
            <a:r>
              <a:rPr lang="en-US" sz="1450" b="0" i="0" u="none" strike="noStrike" cap="none">
                <a:solidFill>
                  <a:srgbClr val="404040"/>
                </a:solidFill>
                <a:latin typeface="Calibri"/>
                <a:ea typeface="Calibri"/>
                <a:cs typeface="Calibri"/>
                <a:sym typeface="Calibri"/>
              </a:rPr>
              <a:t>: the system automatically infers Sparrow Can Move and Sparrow Has Wings — without ever storing those facts directly for "Sparrow." This dramatically simplifies large knowledge representations.</a:t>
            </a:r>
            <a:endParaRPr sz="1450" b="0" i="0" u="none" strike="noStrike" cap="none">
              <a:solidFill>
                <a:schemeClr val="dk1"/>
              </a:solidFill>
              <a:latin typeface="Calibri"/>
              <a:ea typeface="Calibri"/>
              <a:cs typeface="Calibri"/>
              <a:sym typeface="Calibri"/>
            </a:endParaRPr>
          </a:p>
        </p:txBody>
      </p:sp>
      <p:sp>
        <p:nvSpPr>
          <p:cNvPr id="1537" name="Google Shape;1537;p89"/>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26 / 40</a:t>
            </a:r>
            <a:endParaRPr sz="950" b="0" i="0" u="none" strike="noStrike" cap="none">
              <a:solidFill>
                <a:schemeClr val="dk1"/>
              </a:solidFill>
              <a:latin typeface="Calibri"/>
              <a:ea typeface="Calibri"/>
              <a:cs typeface="Calibri"/>
              <a:sym typeface="Calibri"/>
            </a:endParaRPr>
          </a:p>
        </p:txBody>
      </p:sp>
      <p:sp>
        <p:nvSpPr>
          <p:cNvPr id="1538" name="Google Shape;1538;p89"/>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43"/>
        <p:cNvGrpSpPr/>
        <p:nvPr/>
      </p:nvGrpSpPr>
      <p:grpSpPr>
        <a:xfrm>
          <a:off x="0" y="0"/>
          <a:ext cx="0" cy="0"/>
          <a:chOff x="0" y="0"/>
          <a:chExt cx="0" cy="0"/>
        </a:xfrm>
      </p:grpSpPr>
      <p:sp>
        <p:nvSpPr>
          <p:cNvPr id="1544" name="Google Shape;1544;p90"/>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E79"/>
              </a:buClr>
              <a:buSzPts val="1100"/>
              <a:buFont typeface="Calibri"/>
              <a:buNone/>
            </a:pPr>
            <a:r>
              <a:rPr lang="en-US" sz="1100" b="1" i="0" u="none" strike="noStrike" cap="none">
                <a:solidFill>
                  <a:srgbClr val="1F4E79"/>
                </a:solidFill>
                <a:latin typeface="Calibri"/>
                <a:ea typeface="Calibri"/>
                <a:cs typeface="Calibri"/>
                <a:sym typeface="Calibri"/>
              </a:rPr>
              <a:t>4.6 RDF: THE TRIPLE</a:t>
            </a:r>
            <a:endParaRPr sz="1100" b="0" i="0" u="none" strike="noStrike" cap="none">
              <a:solidFill>
                <a:schemeClr val="dk1"/>
              </a:solidFill>
              <a:latin typeface="Calibri"/>
              <a:ea typeface="Calibri"/>
              <a:cs typeface="Calibri"/>
              <a:sym typeface="Calibri"/>
            </a:endParaRPr>
          </a:p>
        </p:txBody>
      </p:sp>
      <p:sp>
        <p:nvSpPr>
          <p:cNvPr id="1545" name="Google Shape;1545;p90"/>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Every Fact Becomes a Triple</a:t>
            </a:r>
            <a:endParaRPr sz="2300" b="0" i="0" u="none" strike="noStrike" cap="none">
              <a:solidFill>
                <a:schemeClr val="dk1"/>
              </a:solidFill>
              <a:latin typeface="Calibri"/>
              <a:ea typeface="Calibri"/>
              <a:cs typeface="Calibri"/>
              <a:sym typeface="Calibri"/>
            </a:endParaRPr>
          </a:p>
        </p:txBody>
      </p:sp>
      <p:cxnSp>
        <p:nvCxnSpPr>
          <p:cNvPr id="1546" name="Google Shape;1546;p90"/>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1547" name="Google Shape;1547;p90"/>
          <p:cNvSpPr/>
          <p:nvPr/>
        </p:nvSpPr>
        <p:spPr>
          <a:xfrm>
            <a:off x="457200" y="1645920"/>
            <a:ext cx="10607040" cy="54864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404040"/>
              </a:buClr>
              <a:buSzPts val="1450"/>
              <a:buFont typeface="Calibri"/>
              <a:buNone/>
            </a:pPr>
            <a:r>
              <a:rPr lang="en-US" sz="1450" b="0" i="0" u="none" strike="noStrike" cap="none">
                <a:solidFill>
                  <a:srgbClr val="404040"/>
                </a:solidFill>
                <a:latin typeface="Calibri"/>
                <a:ea typeface="Calibri"/>
                <a:cs typeface="Calibri"/>
                <a:sym typeface="Calibri"/>
              </a:rPr>
              <a:t>Every single fact in a knowledge graph is broken into the same simple three-part structure, called the </a:t>
            </a:r>
            <a:r>
              <a:rPr lang="en-US" sz="1450" b="1" i="0" u="none" strike="noStrike" cap="none">
                <a:solidFill>
                  <a:srgbClr val="404040"/>
                </a:solidFill>
                <a:latin typeface="Calibri"/>
                <a:ea typeface="Calibri"/>
                <a:cs typeface="Calibri"/>
                <a:sym typeface="Calibri"/>
              </a:rPr>
              <a:t>Resource Description Framework (RDF) triple</a:t>
            </a:r>
            <a:r>
              <a:rPr lang="en-US" sz="1450" b="0" i="0" u="none" strike="noStrike" cap="none">
                <a:solidFill>
                  <a:srgbClr val="404040"/>
                </a:solidFill>
                <a:latin typeface="Calibri"/>
                <a:ea typeface="Calibri"/>
                <a:cs typeface="Calibri"/>
                <a:sym typeface="Calibri"/>
              </a:rPr>
              <a:t>:</a:t>
            </a:r>
            <a:endParaRPr sz="1450" b="0" i="0" u="none" strike="noStrike" cap="none">
              <a:solidFill>
                <a:schemeClr val="dk1"/>
              </a:solidFill>
              <a:latin typeface="Calibri"/>
              <a:ea typeface="Calibri"/>
              <a:cs typeface="Calibri"/>
              <a:sym typeface="Calibri"/>
            </a:endParaRPr>
          </a:p>
        </p:txBody>
      </p:sp>
      <p:sp>
        <p:nvSpPr>
          <p:cNvPr id="1548" name="Google Shape;1548;p90"/>
          <p:cNvSpPr/>
          <p:nvPr/>
        </p:nvSpPr>
        <p:spPr>
          <a:xfrm>
            <a:off x="1463040" y="2240280"/>
            <a:ext cx="8046720" cy="1051560"/>
          </a:xfrm>
          <a:prstGeom prst="rect">
            <a:avLst/>
          </a:prstGeom>
          <a:solidFill>
            <a:srgbClr val="F4F8F8"/>
          </a:solidFill>
          <a:ln w="9525" cap="flat" cmpd="sng">
            <a:solidFill>
              <a:srgbClr val="DDE3E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90"/>
          <p:cNvSpPr/>
          <p:nvPr/>
        </p:nvSpPr>
        <p:spPr>
          <a:xfrm>
            <a:off x="1691640" y="2331720"/>
            <a:ext cx="7589520" cy="86868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ts val="0"/>
              </a:spcBef>
              <a:spcAft>
                <a:spcPts val="0"/>
              </a:spcAft>
              <a:buClr>
                <a:srgbClr val="404040"/>
              </a:buClr>
              <a:buSzPts val="1400"/>
              <a:buFont typeface="Courier New"/>
              <a:buNone/>
            </a:pPr>
            <a:r>
              <a:rPr lang="en-US" sz="1400" b="0" i="0" u="none" strike="noStrike" cap="none">
                <a:solidFill>
                  <a:srgbClr val="404040"/>
                </a:solidFill>
                <a:latin typeface="Courier New"/>
                <a:ea typeface="Courier New"/>
                <a:cs typeface="Courier New"/>
                <a:sym typeface="Courier New"/>
              </a:rPr>
              <a:t>Subject — Predicate — Object</a:t>
            </a:r>
            <a:endParaRPr sz="1400" b="0" i="0" u="none" strike="noStrike" cap="none">
              <a:solidFill>
                <a:schemeClr val="dk1"/>
              </a:solidFill>
              <a:latin typeface="Calibri"/>
              <a:ea typeface="Calibri"/>
              <a:cs typeface="Calibri"/>
              <a:sym typeface="Calibri"/>
            </a:endParaRPr>
          </a:p>
          <a:p>
            <a:pPr marL="0" marR="0" lvl="0" indent="0" algn="ctr" rtl="0">
              <a:lnSpc>
                <a:spcPct val="115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a:p>
            <a:pPr marL="0" marR="0" lvl="0" indent="0" algn="ctr" rtl="0">
              <a:lnSpc>
                <a:spcPct val="115000"/>
              </a:lnSpc>
              <a:spcBef>
                <a:spcPts val="0"/>
              </a:spcBef>
              <a:spcAft>
                <a:spcPts val="0"/>
              </a:spcAft>
              <a:buClr>
                <a:srgbClr val="404040"/>
              </a:buClr>
              <a:buSzPts val="1400"/>
              <a:buFont typeface="Courier New"/>
              <a:buNone/>
            </a:pPr>
            <a:r>
              <a:rPr lang="en-US" sz="1400" b="0" i="0" u="none" strike="noStrike" cap="none">
                <a:solidFill>
                  <a:srgbClr val="404040"/>
                </a:solidFill>
                <a:latin typeface="Courier New"/>
                <a:ea typeface="Courier New"/>
                <a:cs typeface="Courier New"/>
                <a:sym typeface="Courier New"/>
              </a:rPr>
              <a:t>Ali -- StudiesAt --&gt; UMT      Lahore -- LocatedIn --&gt; Pakistan</a:t>
            </a:r>
            <a:endParaRPr sz="1400" b="0" i="0" u="none" strike="noStrike" cap="none">
              <a:solidFill>
                <a:schemeClr val="dk1"/>
              </a:solidFill>
              <a:latin typeface="Calibri"/>
              <a:ea typeface="Calibri"/>
              <a:cs typeface="Calibri"/>
              <a:sym typeface="Calibri"/>
            </a:endParaRPr>
          </a:p>
        </p:txBody>
      </p:sp>
      <p:graphicFrame>
        <p:nvGraphicFramePr>
          <p:cNvPr id="1550" name="Google Shape;1550;p90"/>
          <p:cNvGraphicFramePr/>
          <p:nvPr/>
        </p:nvGraphicFramePr>
        <p:xfrm>
          <a:off x="457200" y="3520440"/>
          <a:ext cx="10607025" cy="1828800"/>
        </p:xfrm>
        <a:graphic>
          <a:graphicData uri="http://schemas.openxmlformats.org/drawingml/2006/table">
            <a:tbl>
              <a:tblPr>
                <a:noFill/>
                <a:tableStyleId>{18CE5CEB-0992-447E-8985-1B7A4AD8BB01}</a:tableStyleId>
              </a:tblPr>
              <a:tblGrid>
                <a:gridCol w="3566150">
                  <a:extLst>
                    <a:ext uri="{9D8B030D-6E8A-4147-A177-3AD203B41FA5}">
                      <a16:colId xmlns:a16="http://schemas.microsoft.com/office/drawing/2014/main" val="20000"/>
                    </a:ext>
                  </a:extLst>
                </a:gridCol>
                <a:gridCol w="3566150">
                  <a:extLst>
                    <a:ext uri="{9D8B030D-6E8A-4147-A177-3AD203B41FA5}">
                      <a16:colId xmlns:a16="http://schemas.microsoft.com/office/drawing/2014/main" val="20001"/>
                    </a:ext>
                  </a:extLst>
                </a:gridCol>
                <a:gridCol w="3474725">
                  <a:extLst>
                    <a:ext uri="{9D8B030D-6E8A-4147-A177-3AD203B41FA5}">
                      <a16:colId xmlns:a16="http://schemas.microsoft.com/office/drawing/2014/main" val="20002"/>
                    </a:ext>
                  </a:extLst>
                </a:gridCol>
              </a:tblGrid>
              <a:tr h="457200">
                <a:tc>
                  <a:txBody>
                    <a:bodyPr/>
                    <a:lstStyle/>
                    <a:p>
                      <a:pPr marL="0" marR="0" lvl="0" indent="0" algn="l" rtl="0">
                        <a:spcBef>
                          <a:spcPts val="0"/>
                        </a:spcBef>
                        <a:spcAft>
                          <a:spcPts val="0"/>
                        </a:spcAft>
                        <a:buClr>
                          <a:srgbClr val="FFFFFF"/>
                        </a:buClr>
                        <a:buSzPts val="1350"/>
                        <a:buFont typeface="Calibri"/>
                        <a:buNone/>
                      </a:pPr>
                      <a:r>
                        <a:rPr lang="en-US" sz="1350" b="1" u="none" strike="noStrike" cap="none">
                          <a:solidFill>
                            <a:srgbClr val="FFFFFF"/>
                          </a:solidFill>
                          <a:latin typeface="Calibri"/>
                          <a:ea typeface="Calibri"/>
                          <a:cs typeface="Calibri"/>
                          <a:sym typeface="Calibri"/>
                        </a:rPr>
                        <a:t>Subject</a:t>
                      </a:r>
                      <a:endParaRPr sz="13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1F4E79"/>
                    </a:solidFill>
                  </a:tcPr>
                </a:tc>
                <a:tc>
                  <a:txBody>
                    <a:bodyPr/>
                    <a:lstStyle/>
                    <a:p>
                      <a:pPr marL="0" marR="0" lvl="0" indent="0" algn="l" rtl="0">
                        <a:spcBef>
                          <a:spcPts val="0"/>
                        </a:spcBef>
                        <a:spcAft>
                          <a:spcPts val="0"/>
                        </a:spcAft>
                        <a:buClr>
                          <a:srgbClr val="FFFFFF"/>
                        </a:buClr>
                        <a:buSzPts val="1350"/>
                        <a:buFont typeface="Calibri"/>
                        <a:buNone/>
                      </a:pPr>
                      <a:r>
                        <a:rPr lang="en-US" sz="1350" b="1" u="none" strike="noStrike" cap="none">
                          <a:solidFill>
                            <a:srgbClr val="FFFFFF"/>
                          </a:solidFill>
                          <a:latin typeface="Calibri"/>
                          <a:ea typeface="Calibri"/>
                          <a:cs typeface="Calibri"/>
                          <a:sym typeface="Calibri"/>
                        </a:rPr>
                        <a:t>Predicate (Relationship)</a:t>
                      </a:r>
                      <a:endParaRPr sz="13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1F4E79"/>
                    </a:solidFill>
                  </a:tcPr>
                </a:tc>
                <a:tc>
                  <a:txBody>
                    <a:bodyPr/>
                    <a:lstStyle/>
                    <a:p>
                      <a:pPr marL="0" marR="0" lvl="0" indent="0" algn="l" rtl="0">
                        <a:spcBef>
                          <a:spcPts val="0"/>
                        </a:spcBef>
                        <a:spcAft>
                          <a:spcPts val="0"/>
                        </a:spcAft>
                        <a:buClr>
                          <a:srgbClr val="FFFFFF"/>
                        </a:buClr>
                        <a:buSzPts val="1350"/>
                        <a:buFont typeface="Calibri"/>
                        <a:buNone/>
                      </a:pPr>
                      <a:r>
                        <a:rPr lang="en-US" sz="1350" b="1" u="none" strike="noStrike" cap="none">
                          <a:solidFill>
                            <a:srgbClr val="FFFFFF"/>
                          </a:solidFill>
                          <a:latin typeface="Calibri"/>
                          <a:ea typeface="Calibri"/>
                          <a:cs typeface="Calibri"/>
                          <a:sym typeface="Calibri"/>
                        </a:rPr>
                        <a:t>Object</a:t>
                      </a:r>
                      <a:endParaRPr sz="13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1F4E79"/>
                    </a:solidFill>
                  </a:tcPr>
                </a:tc>
                <a:extLst>
                  <a:ext uri="{0D108BD9-81ED-4DB2-BD59-A6C34878D82A}">
                    <a16:rowId xmlns:a16="http://schemas.microsoft.com/office/drawing/2014/main" val="10000"/>
                  </a:ext>
                </a:extLst>
              </a:tr>
              <a:tr h="457200">
                <a:tc>
                  <a:txBody>
                    <a:bodyPr/>
                    <a:lstStyle/>
                    <a:p>
                      <a:pPr marL="0" marR="0" lvl="0" indent="0" algn="l" rtl="0">
                        <a:spcBef>
                          <a:spcPts val="0"/>
                        </a:spcBef>
                        <a:spcAft>
                          <a:spcPts val="0"/>
                        </a:spcAft>
                        <a:buClr>
                          <a:srgbClr val="404040"/>
                        </a:buClr>
                        <a:buSzPts val="1300"/>
                        <a:buFont typeface="Calibri"/>
                        <a:buNone/>
                      </a:pPr>
                      <a:r>
                        <a:rPr lang="en-US" sz="1300" u="none" strike="noStrike" cap="none">
                          <a:solidFill>
                            <a:srgbClr val="404040"/>
                          </a:solidFill>
                          <a:latin typeface="Calibri"/>
                          <a:ea typeface="Calibri"/>
                          <a:cs typeface="Calibri"/>
                          <a:sym typeface="Calibri"/>
                        </a:rPr>
                        <a:t>Marie Curie</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300"/>
                        <a:buFont typeface="Calibri"/>
                        <a:buNone/>
                      </a:pPr>
                      <a:r>
                        <a:rPr lang="en-US" sz="1300" u="none" strike="noStrike" cap="none">
                          <a:solidFill>
                            <a:srgbClr val="404040"/>
                          </a:solidFill>
                          <a:latin typeface="Calibri"/>
                          <a:ea typeface="Calibri"/>
                          <a:cs typeface="Calibri"/>
                          <a:sym typeface="Calibri"/>
                        </a:rPr>
                        <a:t>wonAward</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300"/>
                        <a:buFont typeface="Calibri"/>
                        <a:buNone/>
                      </a:pPr>
                      <a:r>
                        <a:rPr lang="en-US" sz="1300" u="none" strike="noStrike" cap="none">
                          <a:solidFill>
                            <a:srgbClr val="404040"/>
                          </a:solidFill>
                          <a:latin typeface="Calibri"/>
                          <a:ea typeface="Calibri"/>
                          <a:cs typeface="Calibri"/>
                          <a:sym typeface="Calibri"/>
                        </a:rPr>
                        <a:t>Nobel Prize in Physics</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57200">
                <a:tc>
                  <a:txBody>
                    <a:bodyPr/>
                    <a:lstStyle/>
                    <a:p>
                      <a:pPr marL="0" marR="0" lvl="0" indent="0" algn="l" rtl="0">
                        <a:spcBef>
                          <a:spcPts val="0"/>
                        </a:spcBef>
                        <a:spcAft>
                          <a:spcPts val="0"/>
                        </a:spcAft>
                        <a:buClr>
                          <a:srgbClr val="404040"/>
                        </a:buClr>
                        <a:buSzPts val="1300"/>
                        <a:buFont typeface="Calibri"/>
                        <a:buNone/>
                      </a:pPr>
                      <a:r>
                        <a:rPr lang="en-US" sz="1300" u="none" strike="noStrike" cap="none">
                          <a:solidFill>
                            <a:srgbClr val="404040"/>
                          </a:solidFill>
                          <a:latin typeface="Calibri"/>
                          <a:ea typeface="Calibri"/>
                          <a:cs typeface="Calibri"/>
                          <a:sym typeface="Calibri"/>
                        </a:rPr>
                        <a:t>Marie Curie</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300"/>
                        <a:buFont typeface="Calibri"/>
                        <a:buNone/>
                      </a:pPr>
                      <a:r>
                        <a:rPr lang="en-US" sz="1300" u="none" strike="noStrike" cap="none">
                          <a:solidFill>
                            <a:srgbClr val="404040"/>
                          </a:solidFill>
                          <a:latin typeface="Calibri"/>
                          <a:ea typeface="Calibri"/>
                          <a:cs typeface="Calibri"/>
                          <a:sym typeface="Calibri"/>
                        </a:rPr>
                        <a:t>bornIn</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300"/>
                        <a:buFont typeface="Calibri"/>
                        <a:buNone/>
                      </a:pPr>
                      <a:r>
                        <a:rPr lang="en-US" sz="1300" u="none" strike="noStrike" cap="none">
                          <a:solidFill>
                            <a:srgbClr val="404040"/>
                          </a:solidFill>
                          <a:latin typeface="Calibri"/>
                          <a:ea typeface="Calibri"/>
                          <a:cs typeface="Calibri"/>
                          <a:sym typeface="Calibri"/>
                        </a:rPr>
                        <a:t>Warsaw</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extLst>
                  <a:ext uri="{0D108BD9-81ED-4DB2-BD59-A6C34878D82A}">
                    <a16:rowId xmlns:a16="http://schemas.microsoft.com/office/drawing/2014/main" val="10002"/>
                  </a:ext>
                </a:extLst>
              </a:tr>
              <a:tr h="457200">
                <a:tc>
                  <a:txBody>
                    <a:bodyPr/>
                    <a:lstStyle/>
                    <a:p>
                      <a:pPr marL="0" marR="0" lvl="0" indent="0" algn="l" rtl="0">
                        <a:spcBef>
                          <a:spcPts val="0"/>
                        </a:spcBef>
                        <a:spcAft>
                          <a:spcPts val="0"/>
                        </a:spcAft>
                        <a:buClr>
                          <a:srgbClr val="404040"/>
                        </a:buClr>
                        <a:buSzPts val="1300"/>
                        <a:buFont typeface="Calibri"/>
                        <a:buNone/>
                      </a:pPr>
                      <a:r>
                        <a:rPr lang="en-US" sz="1300" u="none" strike="noStrike" cap="none">
                          <a:solidFill>
                            <a:srgbClr val="404040"/>
                          </a:solidFill>
                          <a:latin typeface="Calibri"/>
                          <a:ea typeface="Calibri"/>
                          <a:cs typeface="Calibri"/>
                          <a:sym typeface="Calibri"/>
                        </a:rPr>
                        <a:t>Nobel Prize in Physics</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300"/>
                        <a:buFont typeface="Calibri"/>
                        <a:buNone/>
                      </a:pPr>
                      <a:r>
                        <a:rPr lang="en-US" sz="1300" u="none" strike="noStrike" cap="none">
                          <a:solidFill>
                            <a:srgbClr val="404040"/>
                          </a:solidFill>
                          <a:latin typeface="Calibri"/>
                          <a:ea typeface="Calibri"/>
                          <a:cs typeface="Calibri"/>
                          <a:sym typeface="Calibri"/>
                        </a:rPr>
                        <a:t>awardedIn</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300"/>
                        <a:buFont typeface="Calibri"/>
                        <a:buNone/>
                      </a:pPr>
                      <a:r>
                        <a:rPr lang="en-US" sz="1300" u="none" strike="noStrike" cap="none">
                          <a:solidFill>
                            <a:srgbClr val="404040"/>
                          </a:solidFill>
                          <a:latin typeface="Calibri"/>
                          <a:ea typeface="Calibri"/>
                          <a:cs typeface="Calibri"/>
                          <a:sym typeface="Calibri"/>
                        </a:rPr>
                        <a:t>1903</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bl>
          </a:graphicData>
        </a:graphic>
      </p:graphicFrame>
      <p:sp>
        <p:nvSpPr>
          <p:cNvPr id="1551" name="Google Shape;1551;p90"/>
          <p:cNvSpPr/>
          <p:nvPr/>
        </p:nvSpPr>
        <p:spPr>
          <a:xfrm>
            <a:off x="457200" y="5349240"/>
            <a:ext cx="10607040" cy="64008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6B6B6B"/>
              </a:buClr>
              <a:buSzPts val="1300"/>
              <a:buFont typeface="Calibri"/>
              <a:buNone/>
            </a:pPr>
            <a:r>
              <a:rPr lang="en-US" sz="1300" b="0" i="1" u="none" strike="noStrike" cap="none">
                <a:solidFill>
                  <a:srgbClr val="6B6B6B"/>
                </a:solidFill>
                <a:latin typeface="Calibri"/>
                <a:ea typeface="Calibri"/>
                <a:cs typeface="Calibri"/>
                <a:sym typeface="Calibri"/>
              </a:rPr>
              <a:t>By breaking every fact into this tiny, uniform shape, millions (or billions) of facts from completely different domains can be stored, linked, and queried using exactly the same underlying structure.</a:t>
            </a:r>
            <a:endParaRPr sz="1300" b="0" i="0" u="none" strike="noStrike" cap="none">
              <a:solidFill>
                <a:schemeClr val="dk1"/>
              </a:solidFill>
              <a:latin typeface="Calibri"/>
              <a:ea typeface="Calibri"/>
              <a:cs typeface="Calibri"/>
              <a:sym typeface="Calibri"/>
            </a:endParaRPr>
          </a:p>
        </p:txBody>
      </p:sp>
      <p:sp>
        <p:nvSpPr>
          <p:cNvPr id="1552" name="Google Shape;1552;p90"/>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26 / 40</a:t>
            </a:r>
            <a:endParaRPr sz="950" b="0" i="0" u="none" strike="noStrike" cap="none">
              <a:solidFill>
                <a:schemeClr val="dk1"/>
              </a:solidFill>
              <a:latin typeface="Calibri"/>
              <a:ea typeface="Calibri"/>
              <a:cs typeface="Calibri"/>
              <a:sym typeface="Calibri"/>
            </a:endParaRPr>
          </a:p>
        </p:txBody>
      </p:sp>
      <p:sp>
        <p:nvSpPr>
          <p:cNvPr id="1553" name="Google Shape;1553;p90"/>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58"/>
        <p:cNvGrpSpPr/>
        <p:nvPr/>
      </p:nvGrpSpPr>
      <p:grpSpPr>
        <a:xfrm>
          <a:off x="0" y="0"/>
          <a:ext cx="0" cy="0"/>
          <a:chOff x="0" y="0"/>
          <a:chExt cx="0" cy="0"/>
        </a:xfrm>
      </p:grpSpPr>
      <p:sp>
        <p:nvSpPr>
          <p:cNvPr id="1559" name="Google Shape;1559;p91"/>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E79"/>
              </a:buClr>
              <a:buSzPts val="1100"/>
              <a:buFont typeface="Calibri"/>
              <a:buNone/>
            </a:pPr>
            <a:r>
              <a:rPr lang="en-US" sz="1100" b="1" i="0" u="none" strike="noStrike" cap="none">
                <a:solidFill>
                  <a:srgbClr val="1F4E79"/>
                </a:solidFill>
                <a:latin typeface="Calibri"/>
                <a:ea typeface="Calibri"/>
                <a:cs typeface="Calibri"/>
                <a:sym typeface="Calibri"/>
              </a:rPr>
              <a:t>4.7 THE GRAMMAR OF KNOWLEDGE</a:t>
            </a:r>
            <a:endParaRPr sz="1100" b="0" i="0" u="none" strike="noStrike" cap="none">
              <a:solidFill>
                <a:schemeClr val="dk1"/>
              </a:solidFill>
              <a:latin typeface="Calibri"/>
              <a:ea typeface="Calibri"/>
              <a:cs typeface="Calibri"/>
              <a:sym typeface="Calibri"/>
            </a:endParaRPr>
          </a:p>
        </p:txBody>
      </p:sp>
      <p:sp>
        <p:nvSpPr>
          <p:cNvPr id="1560" name="Google Shape;1560;p91"/>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Ontologies</a:t>
            </a:r>
            <a:endParaRPr sz="2300" b="0" i="0" u="none" strike="noStrike" cap="none">
              <a:solidFill>
                <a:schemeClr val="dk1"/>
              </a:solidFill>
              <a:latin typeface="Calibri"/>
              <a:ea typeface="Calibri"/>
              <a:cs typeface="Calibri"/>
              <a:sym typeface="Calibri"/>
            </a:endParaRPr>
          </a:p>
        </p:txBody>
      </p:sp>
      <p:cxnSp>
        <p:nvCxnSpPr>
          <p:cNvPr id="1561" name="Google Shape;1561;p91"/>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1562" name="Google Shape;1562;p91"/>
          <p:cNvSpPr/>
          <p:nvPr/>
        </p:nvSpPr>
        <p:spPr>
          <a:xfrm>
            <a:off x="457200" y="1645920"/>
            <a:ext cx="10607040" cy="100584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404040"/>
              </a:buClr>
              <a:buSzPts val="1500"/>
              <a:buFont typeface="Calibri"/>
              <a:buNone/>
            </a:pPr>
            <a:r>
              <a:rPr lang="en-US" sz="1500" b="0" i="0" u="none" strike="noStrike" cap="none">
                <a:solidFill>
                  <a:srgbClr val="404040"/>
                </a:solidFill>
                <a:latin typeface="Calibri"/>
                <a:ea typeface="Calibri"/>
                <a:cs typeface="Calibri"/>
                <a:sym typeface="Calibri"/>
              </a:rPr>
              <a:t>Students often confuse ontologies with knowledge graphs. Think of an </a:t>
            </a:r>
            <a:r>
              <a:rPr lang="en-US" sz="1500" b="1" i="1" u="none" strike="noStrike" cap="none">
                <a:solidFill>
                  <a:srgbClr val="404040"/>
                </a:solidFill>
                <a:latin typeface="Calibri"/>
                <a:ea typeface="Calibri"/>
                <a:cs typeface="Calibri"/>
                <a:sym typeface="Calibri"/>
              </a:rPr>
              <a:t>ontology</a:t>
            </a:r>
            <a:r>
              <a:rPr lang="en-US" sz="1500" b="0" i="0" u="none" strike="noStrike" cap="none">
                <a:solidFill>
                  <a:srgbClr val="404040"/>
                </a:solidFill>
                <a:latin typeface="Calibri"/>
                <a:ea typeface="Calibri"/>
                <a:cs typeface="Calibri"/>
                <a:sym typeface="Calibri"/>
              </a:rPr>
              <a:t> as the grammar of knowledge — it defines the vocabulary, classes, and rules — while the knowledge graph itself is the actual knowledge built using that grammar.</a:t>
            </a:r>
            <a:endParaRPr sz="1500" b="0" i="0" u="none" strike="noStrike" cap="none">
              <a:solidFill>
                <a:schemeClr val="dk1"/>
              </a:solidFill>
              <a:latin typeface="Calibri"/>
              <a:ea typeface="Calibri"/>
              <a:cs typeface="Calibri"/>
              <a:sym typeface="Calibri"/>
            </a:endParaRPr>
          </a:p>
        </p:txBody>
      </p:sp>
      <p:sp>
        <p:nvSpPr>
          <p:cNvPr id="1563" name="Google Shape;1563;p91"/>
          <p:cNvSpPr/>
          <p:nvPr/>
        </p:nvSpPr>
        <p:spPr>
          <a:xfrm>
            <a:off x="457200" y="2788920"/>
            <a:ext cx="10607040" cy="1691640"/>
          </a:xfrm>
          <a:prstGeom prst="rect">
            <a:avLst/>
          </a:prstGeom>
          <a:solidFill>
            <a:srgbClr val="FFF6EC"/>
          </a:solidFill>
          <a:ln w="9525" cap="flat" cmpd="sng">
            <a:solidFill>
              <a:srgbClr val="1F4E7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91"/>
          <p:cNvSpPr/>
          <p:nvPr/>
        </p:nvSpPr>
        <p:spPr>
          <a:xfrm>
            <a:off x="457200" y="2788920"/>
            <a:ext cx="64008" cy="1691640"/>
          </a:xfrm>
          <a:prstGeom prst="rect">
            <a:avLst/>
          </a:prstGeom>
          <a:solidFill>
            <a:srgbClr val="1F4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91"/>
          <p:cNvSpPr/>
          <p:nvPr/>
        </p:nvSpPr>
        <p:spPr>
          <a:xfrm>
            <a:off x="685800" y="2898648"/>
            <a:ext cx="102412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E79"/>
              </a:buClr>
              <a:buSzPts val="1050"/>
              <a:buFont typeface="Calibri"/>
              <a:buNone/>
            </a:pPr>
            <a:r>
              <a:rPr lang="en-US" sz="1050" b="1" i="0" u="none" strike="noStrike" cap="none">
                <a:solidFill>
                  <a:srgbClr val="1F4E79"/>
                </a:solidFill>
                <a:latin typeface="Calibri"/>
                <a:ea typeface="Calibri"/>
                <a:cs typeface="Calibri"/>
                <a:sym typeface="Calibri"/>
              </a:rPr>
              <a:t>EXAMPLE: A UNIVERSITY ONTOLOGY</a:t>
            </a:r>
            <a:endParaRPr sz="1050" b="0" i="0" u="none" strike="noStrike" cap="none">
              <a:solidFill>
                <a:schemeClr val="dk1"/>
              </a:solidFill>
              <a:latin typeface="Calibri"/>
              <a:ea typeface="Calibri"/>
              <a:cs typeface="Calibri"/>
              <a:sym typeface="Calibri"/>
            </a:endParaRPr>
          </a:p>
        </p:txBody>
      </p:sp>
      <p:sp>
        <p:nvSpPr>
          <p:cNvPr id="1566" name="Google Shape;1566;p91"/>
          <p:cNvSpPr/>
          <p:nvPr/>
        </p:nvSpPr>
        <p:spPr>
          <a:xfrm>
            <a:off x="685800" y="3191256"/>
            <a:ext cx="10195560" cy="119786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400"/>
              <a:buFont typeface="Calibri"/>
              <a:buNone/>
            </a:pPr>
            <a:r>
              <a:rPr lang="en-US" sz="1400" b="0" i="0" u="none" strike="noStrike" cap="none">
                <a:solidFill>
                  <a:srgbClr val="404040"/>
                </a:solidFill>
                <a:latin typeface="Calibri"/>
                <a:ea typeface="Calibri"/>
                <a:cs typeface="Calibri"/>
                <a:sym typeface="Calibri"/>
              </a:rPr>
              <a:t>Classes: Student, Professor, Course, Department, University.</a:t>
            </a:r>
            <a:endParaRPr sz="1400" b="0" i="0" u="none" strike="noStrike" cap="none">
              <a:solidFill>
                <a:schemeClr val="dk1"/>
              </a:solidFill>
              <a:latin typeface="Calibri"/>
              <a:ea typeface="Calibri"/>
              <a:cs typeface="Calibri"/>
              <a:sym typeface="Calibri"/>
            </a:endParaRPr>
          </a:p>
          <a:p>
            <a:pPr marL="0" marR="0" lvl="0" indent="0" algn="l" rtl="0">
              <a:lnSpc>
                <a:spcPct val="108000"/>
              </a:lnSpc>
              <a:spcBef>
                <a:spcPts val="0"/>
              </a:spcBef>
              <a:spcAft>
                <a:spcPts val="0"/>
              </a:spcAft>
              <a:buClr>
                <a:srgbClr val="404040"/>
              </a:buClr>
              <a:buSzPts val="1400"/>
              <a:buFont typeface="Calibri"/>
              <a:buNone/>
            </a:pPr>
            <a:r>
              <a:rPr lang="en-US" sz="1400" b="0" i="0" u="none" strike="noStrike" cap="none">
                <a:solidFill>
                  <a:srgbClr val="404040"/>
                </a:solidFill>
                <a:latin typeface="Calibri"/>
                <a:ea typeface="Calibri"/>
                <a:cs typeface="Calibri"/>
                <a:sym typeface="Calibri"/>
              </a:rPr>
              <a:t>Relationships: StudiesAt, Teaches, Offers, BelongsTo.</a:t>
            </a:r>
            <a:endParaRPr sz="1400" b="0" i="0" u="none" strike="noStrike" cap="none">
              <a:solidFill>
                <a:schemeClr val="dk1"/>
              </a:solidFill>
              <a:latin typeface="Calibri"/>
              <a:ea typeface="Calibri"/>
              <a:cs typeface="Calibri"/>
              <a:sym typeface="Calibri"/>
            </a:endParaRPr>
          </a:p>
          <a:p>
            <a:pPr marL="0" marR="0" lvl="0" indent="0" algn="l" rtl="0">
              <a:lnSpc>
                <a:spcPct val="108000"/>
              </a:lnSpc>
              <a:spcBef>
                <a:spcPts val="0"/>
              </a:spcBef>
              <a:spcAft>
                <a:spcPts val="0"/>
              </a:spcAft>
              <a:buClr>
                <a:srgbClr val="404040"/>
              </a:buClr>
              <a:buSzPts val="1400"/>
              <a:buFont typeface="Calibri"/>
              <a:buNone/>
            </a:pPr>
            <a:r>
              <a:rPr lang="en-US" sz="1400" b="0" i="0" u="none" strike="noStrike" cap="none">
                <a:solidFill>
                  <a:srgbClr val="404040"/>
                </a:solidFill>
                <a:latin typeface="Calibri"/>
                <a:ea typeface="Calibri"/>
                <a:cs typeface="Calibri"/>
                <a:sym typeface="Calibri"/>
              </a:rPr>
              <a:t>Rules: Every Student studies a Course; every Professor teaches a Course.</a:t>
            </a:r>
            <a:endParaRPr sz="1400" b="0" i="0" u="none" strike="noStrike" cap="none">
              <a:solidFill>
                <a:schemeClr val="dk1"/>
              </a:solidFill>
              <a:latin typeface="Calibri"/>
              <a:ea typeface="Calibri"/>
              <a:cs typeface="Calibri"/>
              <a:sym typeface="Calibri"/>
            </a:endParaRPr>
          </a:p>
        </p:txBody>
      </p:sp>
      <p:sp>
        <p:nvSpPr>
          <p:cNvPr id="1567" name="Google Shape;1567;p91"/>
          <p:cNvSpPr/>
          <p:nvPr/>
        </p:nvSpPr>
        <p:spPr>
          <a:xfrm>
            <a:off x="457200" y="4663440"/>
            <a:ext cx="10607040" cy="91440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404040"/>
              </a:buClr>
              <a:buSzPts val="1350"/>
              <a:buFont typeface="Calibri"/>
              <a:buNone/>
            </a:pPr>
            <a:r>
              <a:rPr lang="en-US" sz="1350" b="0" i="0" u="none" strike="noStrike" cap="none">
                <a:solidFill>
                  <a:srgbClr val="404040"/>
                </a:solidFill>
                <a:latin typeface="Calibri"/>
                <a:ea typeface="Calibri"/>
                <a:cs typeface="Calibri"/>
                <a:sym typeface="Calibri"/>
              </a:rPr>
              <a:t>Without an ontology, "Student," "Learner," and "Pupil" might be treated as unrelated concepts. The ontology provides consistency — the same role medical ontologies play for Disease, Patient, Medicine, and Doctor in healthcare AI systems.</a:t>
            </a:r>
            <a:endParaRPr sz="1350" b="0" i="0" u="none" strike="noStrike" cap="none">
              <a:solidFill>
                <a:schemeClr val="dk1"/>
              </a:solidFill>
              <a:latin typeface="Calibri"/>
              <a:ea typeface="Calibri"/>
              <a:cs typeface="Calibri"/>
              <a:sym typeface="Calibri"/>
            </a:endParaRPr>
          </a:p>
        </p:txBody>
      </p:sp>
      <p:sp>
        <p:nvSpPr>
          <p:cNvPr id="1568" name="Google Shape;1568;p91"/>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26 / 40</a:t>
            </a:r>
            <a:endParaRPr sz="950" b="0" i="0" u="none" strike="noStrike" cap="none">
              <a:solidFill>
                <a:schemeClr val="dk1"/>
              </a:solidFill>
              <a:latin typeface="Calibri"/>
              <a:ea typeface="Calibri"/>
              <a:cs typeface="Calibri"/>
              <a:sym typeface="Calibri"/>
            </a:endParaRPr>
          </a:p>
        </p:txBody>
      </p:sp>
      <p:sp>
        <p:nvSpPr>
          <p:cNvPr id="1569" name="Google Shape;1569;p91"/>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74"/>
        <p:cNvGrpSpPr/>
        <p:nvPr/>
      </p:nvGrpSpPr>
      <p:grpSpPr>
        <a:xfrm>
          <a:off x="0" y="0"/>
          <a:ext cx="0" cy="0"/>
          <a:chOff x="0" y="0"/>
          <a:chExt cx="0" cy="0"/>
        </a:xfrm>
      </p:grpSpPr>
      <p:sp>
        <p:nvSpPr>
          <p:cNvPr id="1575" name="Google Shape;1575;p92"/>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E79"/>
              </a:buClr>
              <a:buSzPts val="1100"/>
              <a:buFont typeface="Calibri"/>
              <a:buNone/>
            </a:pPr>
            <a:r>
              <a:rPr lang="en-US" sz="1100" b="1" i="0" u="none" strike="noStrike" cap="none">
                <a:solidFill>
                  <a:srgbClr val="1F4E79"/>
                </a:solidFill>
                <a:latin typeface="Calibri"/>
                <a:ea typeface="Calibri"/>
                <a:cs typeface="Calibri"/>
                <a:sym typeface="Calibri"/>
              </a:rPr>
              <a:t>4.8 VISUALIZING THE GRAPH</a:t>
            </a:r>
            <a:endParaRPr sz="1100" b="0" i="0" u="none" strike="noStrike" cap="none">
              <a:solidFill>
                <a:schemeClr val="dk1"/>
              </a:solidFill>
              <a:latin typeface="Calibri"/>
              <a:ea typeface="Calibri"/>
              <a:cs typeface="Calibri"/>
              <a:sym typeface="Calibri"/>
            </a:endParaRPr>
          </a:p>
        </p:txBody>
      </p:sp>
      <p:sp>
        <p:nvSpPr>
          <p:cNvPr id="1576" name="Google Shape;1576;p92"/>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A Small Knowledge Graph</a:t>
            </a:r>
            <a:endParaRPr sz="2300" b="0" i="0" u="none" strike="noStrike" cap="none">
              <a:solidFill>
                <a:schemeClr val="dk1"/>
              </a:solidFill>
              <a:latin typeface="Calibri"/>
              <a:ea typeface="Calibri"/>
              <a:cs typeface="Calibri"/>
              <a:sym typeface="Calibri"/>
            </a:endParaRPr>
          </a:p>
        </p:txBody>
      </p:sp>
      <p:cxnSp>
        <p:nvCxnSpPr>
          <p:cNvPr id="1577" name="Google Shape;1577;p92"/>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1578" name="Google Shape;1578;p92"/>
          <p:cNvSpPr/>
          <p:nvPr/>
        </p:nvSpPr>
        <p:spPr>
          <a:xfrm>
            <a:off x="5184648" y="3246120"/>
            <a:ext cx="1828800" cy="822960"/>
          </a:xfrm>
          <a:prstGeom prst="ellipse">
            <a:avLst/>
          </a:prstGeom>
          <a:solidFill>
            <a:srgbClr val="1F4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92"/>
          <p:cNvSpPr/>
          <p:nvPr/>
        </p:nvSpPr>
        <p:spPr>
          <a:xfrm>
            <a:off x="5184648" y="3246120"/>
            <a:ext cx="1828800" cy="8229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Marie Curie</a:t>
            </a:r>
            <a:endParaRPr sz="1300" b="0" i="0" u="none" strike="noStrike" cap="none">
              <a:solidFill>
                <a:schemeClr val="dk1"/>
              </a:solidFill>
              <a:latin typeface="Calibri"/>
              <a:ea typeface="Calibri"/>
              <a:cs typeface="Calibri"/>
              <a:sym typeface="Calibri"/>
            </a:endParaRPr>
          </a:p>
        </p:txBody>
      </p:sp>
      <p:cxnSp>
        <p:nvCxnSpPr>
          <p:cNvPr id="1580" name="Google Shape;1580;p92"/>
          <p:cNvCxnSpPr/>
          <p:nvPr/>
        </p:nvCxnSpPr>
        <p:spPr>
          <a:xfrm rot="10800000">
            <a:off x="1463040" y="1737360"/>
            <a:ext cx="4636008" cy="1920240"/>
          </a:xfrm>
          <a:prstGeom prst="straightConnector1">
            <a:avLst/>
          </a:prstGeom>
          <a:noFill/>
          <a:ln w="15875" cap="flat" cmpd="sng">
            <a:solidFill>
              <a:srgbClr val="6B6B6B"/>
            </a:solidFill>
            <a:prstDash val="solid"/>
            <a:round/>
            <a:headEnd type="none" w="sm" len="sm"/>
            <a:tailEnd type="none" w="sm" len="sm"/>
          </a:ln>
        </p:spPr>
      </p:cxnSp>
      <p:cxnSp>
        <p:nvCxnSpPr>
          <p:cNvPr id="1581" name="Google Shape;1581;p92"/>
          <p:cNvCxnSpPr/>
          <p:nvPr/>
        </p:nvCxnSpPr>
        <p:spPr>
          <a:xfrm rot="10800000">
            <a:off x="6099048" y="1417320"/>
            <a:ext cx="0" cy="2240280"/>
          </a:xfrm>
          <a:prstGeom prst="straightConnector1">
            <a:avLst/>
          </a:prstGeom>
          <a:noFill/>
          <a:ln w="15875" cap="flat" cmpd="sng">
            <a:solidFill>
              <a:srgbClr val="6B6B6B"/>
            </a:solidFill>
            <a:prstDash val="solid"/>
            <a:round/>
            <a:headEnd type="none" w="sm" len="sm"/>
            <a:tailEnd type="none" w="sm" len="sm"/>
          </a:ln>
        </p:spPr>
      </p:cxnSp>
      <p:cxnSp>
        <p:nvCxnSpPr>
          <p:cNvPr id="1582" name="Google Shape;1582;p92"/>
          <p:cNvCxnSpPr/>
          <p:nvPr/>
        </p:nvCxnSpPr>
        <p:spPr>
          <a:xfrm rot="10800000" flipH="1">
            <a:off x="6099048" y="1737360"/>
            <a:ext cx="3959352" cy="1920240"/>
          </a:xfrm>
          <a:prstGeom prst="straightConnector1">
            <a:avLst/>
          </a:prstGeom>
          <a:noFill/>
          <a:ln w="15875" cap="flat" cmpd="sng">
            <a:solidFill>
              <a:srgbClr val="6B6B6B"/>
            </a:solidFill>
            <a:prstDash val="solid"/>
            <a:round/>
            <a:headEnd type="none" w="sm" len="sm"/>
            <a:tailEnd type="none" w="sm" len="sm"/>
          </a:ln>
        </p:spPr>
      </p:cxnSp>
      <p:cxnSp>
        <p:nvCxnSpPr>
          <p:cNvPr id="1583" name="Google Shape;1583;p92"/>
          <p:cNvCxnSpPr/>
          <p:nvPr/>
        </p:nvCxnSpPr>
        <p:spPr>
          <a:xfrm flipH="1">
            <a:off x="1463040" y="3657600"/>
            <a:ext cx="4636008" cy="1828800"/>
          </a:xfrm>
          <a:prstGeom prst="straightConnector1">
            <a:avLst/>
          </a:prstGeom>
          <a:noFill/>
          <a:ln w="15875" cap="flat" cmpd="sng">
            <a:solidFill>
              <a:srgbClr val="6B6B6B"/>
            </a:solidFill>
            <a:prstDash val="solid"/>
            <a:round/>
            <a:headEnd type="none" w="sm" len="sm"/>
            <a:tailEnd type="none" w="sm" len="sm"/>
          </a:ln>
        </p:spPr>
      </p:cxnSp>
      <p:cxnSp>
        <p:nvCxnSpPr>
          <p:cNvPr id="1584" name="Google Shape;1584;p92"/>
          <p:cNvCxnSpPr/>
          <p:nvPr/>
        </p:nvCxnSpPr>
        <p:spPr>
          <a:xfrm>
            <a:off x="6099048" y="3657600"/>
            <a:ext cx="3959352" cy="1828800"/>
          </a:xfrm>
          <a:prstGeom prst="straightConnector1">
            <a:avLst/>
          </a:prstGeom>
          <a:noFill/>
          <a:ln w="15875" cap="flat" cmpd="sng">
            <a:solidFill>
              <a:srgbClr val="6B6B6B"/>
            </a:solidFill>
            <a:prstDash val="solid"/>
            <a:round/>
            <a:headEnd type="none" w="sm" len="sm"/>
            <a:tailEnd type="none" w="sm" len="sm"/>
          </a:ln>
        </p:spPr>
      </p:cxnSp>
      <p:sp>
        <p:nvSpPr>
          <p:cNvPr id="1585" name="Google Shape;1585;p92"/>
          <p:cNvSpPr/>
          <p:nvPr/>
        </p:nvSpPr>
        <p:spPr>
          <a:xfrm>
            <a:off x="594360" y="1394460"/>
            <a:ext cx="1737360" cy="685800"/>
          </a:xfrm>
          <a:prstGeom prst="ellipse">
            <a:avLst/>
          </a:prstGeom>
          <a:solidFill>
            <a:srgbClr val="EAF1F8"/>
          </a:solidFill>
          <a:ln w="15875" cap="flat" cmpd="sng">
            <a:solidFill>
              <a:srgbClr val="1F4E7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92"/>
          <p:cNvSpPr/>
          <p:nvPr/>
        </p:nvSpPr>
        <p:spPr>
          <a:xfrm>
            <a:off x="594360" y="1394460"/>
            <a:ext cx="1737360" cy="685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404040"/>
              </a:buClr>
              <a:buSzPts val="1150"/>
              <a:buFont typeface="Calibri"/>
              <a:buNone/>
            </a:pPr>
            <a:r>
              <a:rPr lang="en-US" sz="1150" b="0" i="0" u="none" strike="noStrike" cap="none">
                <a:solidFill>
                  <a:srgbClr val="404040"/>
                </a:solidFill>
                <a:latin typeface="Calibri"/>
                <a:ea typeface="Calibri"/>
                <a:cs typeface="Calibri"/>
                <a:sym typeface="Calibri"/>
              </a:rPr>
              <a:t>Warsaw</a:t>
            </a:r>
            <a:endParaRPr sz="1150" b="0" i="0" u="none" strike="noStrike" cap="none">
              <a:solidFill>
                <a:schemeClr val="dk1"/>
              </a:solidFill>
              <a:latin typeface="Calibri"/>
              <a:ea typeface="Calibri"/>
              <a:cs typeface="Calibri"/>
              <a:sym typeface="Calibri"/>
            </a:endParaRPr>
          </a:p>
        </p:txBody>
      </p:sp>
      <p:sp>
        <p:nvSpPr>
          <p:cNvPr id="1587" name="Google Shape;1587;p92"/>
          <p:cNvSpPr/>
          <p:nvPr/>
        </p:nvSpPr>
        <p:spPr>
          <a:xfrm>
            <a:off x="3278124" y="2551176"/>
            <a:ext cx="1005840" cy="27432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92"/>
          <p:cNvSpPr/>
          <p:nvPr/>
        </p:nvSpPr>
        <p:spPr>
          <a:xfrm>
            <a:off x="3278124" y="2551176"/>
            <a:ext cx="100584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4E79"/>
              </a:buClr>
              <a:buSzPts val="1000"/>
              <a:buFont typeface="Calibri"/>
              <a:buNone/>
            </a:pPr>
            <a:r>
              <a:rPr lang="en-US" sz="1000" b="0" i="1" u="none" strike="noStrike" cap="none">
                <a:solidFill>
                  <a:srgbClr val="1F4E79"/>
                </a:solidFill>
                <a:latin typeface="Calibri"/>
                <a:ea typeface="Calibri"/>
                <a:cs typeface="Calibri"/>
                <a:sym typeface="Calibri"/>
              </a:rPr>
              <a:t>bornIn</a:t>
            </a:r>
            <a:endParaRPr sz="1000" b="0" i="0" u="none" strike="noStrike" cap="none">
              <a:solidFill>
                <a:schemeClr val="dk1"/>
              </a:solidFill>
              <a:latin typeface="Calibri"/>
              <a:ea typeface="Calibri"/>
              <a:cs typeface="Calibri"/>
              <a:sym typeface="Calibri"/>
            </a:endParaRPr>
          </a:p>
        </p:txBody>
      </p:sp>
      <p:sp>
        <p:nvSpPr>
          <p:cNvPr id="1589" name="Google Shape;1589;p92"/>
          <p:cNvSpPr/>
          <p:nvPr/>
        </p:nvSpPr>
        <p:spPr>
          <a:xfrm>
            <a:off x="5230368" y="1074420"/>
            <a:ext cx="1737360" cy="685800"/>
          </a:xfrm>
          <a:prstGeom prst="ellipse">
            <a:avLst/>
          </a:prstGeom>
          <a:solidFill>
            <a:srgbClr val="EAF1F8"/>
          </a:solidFill>
          <a:ln w="15875" cap="flat" cmpd="sng">
            <a:solidFill>
              <a:srgbClr val="1F4E7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92"/>
          <p:cNvSpPr/>
          <p:nvPr/>
        </p:nvSpPr>
        <p:spPr>
          <a:xfrm>
            <a:off x="5230368" y="1074420"/>
            <a:ext cx="1737360" cy="685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404040"/>
              </a:buClr>
              <a:buSzPts val="1150"/>
              <a:buFont typeface="Calibri"/>
              <a:buNone/>
            </a:pPr>
            <a:r>
              <a:rPr lang="en-US" sz="1150" b="0" i="0" u="none" strike="noStrike" cap="none">
                <a:solidFill>
                  <a:srgbClr val="404040"/>
                </a:solidFill>
                <a:latin typeface="Calibri"/>
                <a:ea typeface="Calibri"/>
                <a:cs typeface="Calibri"/>
                <a:sym typeface="Calibri"/>
              </a:rPr>
              <a:t>Nobel Prize</a:t>
            </a:r>
            <a:endParaRPr sz="115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404040"/>
              </a:buClr>
              <a:buSzPts val="1150"/>
              <a:buFont typeface="Calibri"/>
              <a:buNone/>
            </a:pPr>
            <a:r>
              <a:rPr lang="en-US" sz="1150" b="0" i="0" u="none" strike="noStrike" cap="none">
                <a:solidFill>
                  <a:srgbClr val="404040"/>
                </a:solidFill>
                <a:latin typeface="Calibri"/>
                <a:ea typeface="Calibri"/>
                <a:cs typeface="Calibri"/>
                <a:sym typeface="Calibri"/>
              </a:rPr>
              <a:t>in Physics</a:t>
            </a:r>
            <a:endParaRPr sz="1150" b="0" i="0" u="none" strike="noStrike" cap="none">
              <a:solidFill>
                <a:schemeClr val="dk1"/>
              </a:solidFill>
              <a:latin typeface="Calibri"/>
              <a:ea typeface="Calibri"/>
              <a:cs typeface="Calibri"/>
              <a:sym typeface="Calibri"/>
            </a:endParaRPr>
          </a:p>
        </p:txBody>
      </p:sp>
      <p:sp>
        <p:nvSpPr>
          <p:cNvPr id="1591" name="Google Shape;1591;p92"/>
          <p:cNvSpPr/>
          <p:nvPr/>
        </p:nvSpPr>
        <p:spPr>
          <a:xfrm>
            <a:off x="5596128" y="2391156"/>
            <a:ext cx="1005840" cy="27432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92"/>
          <p:cNvSpPr/>
          <p:nvPr/>
        </p:nvSpPr>
        <p:spPr>
          <a:xfrm>
            <a:off x="5596128" y="2391156"/>
            <a:ext cx="100584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4E79"/>
              </a:buClr>
              <a:buSzPts val="1000"/>
              <a:buFont typeface="Calibri"/>
              <a:buNone/>
            </a:pPr>
            <a:r>
              <a:rPr lang="en-US" sz="1000" b="0" i="1" u="none" strike="noStrike" cap="none">
                <a:solidFill>
                  <a:srgbClr val="1F4E79"/>
                </a:solidFill>
                <a:latin typeface="Calibri"/>
                <a:ea typeface="Calibri"/>
                <a:cs typeface="Calibri"/>
                <a:sym typeface="Calibri"/>
              </a:rPr>
              <a:t>wonAward</a:t>
            </a:r>
            <a:endParaRPr sz="1000" b="0" i="0" u="none" strike="noStrike" cap="none">
              <a:solidFill>
                <a:schemeClr val="dk1"/>
              </a:solidFill>
              <a:latin typeface="Calibri"/>
              <a:ea typeface="Calibri"/>
              <a:cs typeface="Calibri"/>
              <a:sym typeface="Calibri"/>
            </a:endParaRPr>
          </a:p>
        </p:txBody>
      </p:sp>
      <p:sp>
        <p:nvSpPr>
          <p:cNvPr id="1593" name="Google Shape;1593;p92"/>
          <p:cNvSpPr/>
          <p:nvPr/>
        </p:nvSpPr>
        <p:spPr>
          <a:xfrm>
            <a:off x="9189720" y="1394460"/>
            <a:ext cx="1737360" cy="685800"/>
          </a:xfrm>
          <a:prstGeom prst="ellipse">
            <a:avLst/>
          </a:prstGeom>
          <a:solidFill>
            <a:srgbClr val="EAF1F8"/>
          </a:solidFill>
          <a:ln w="15875" cap="flat" cmpd="sng">
            <a:solidFill>
              <a:srgbClr val="1F4E7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92"/>
          <p:cNvSpPr/>
          <p:nvPr/>
        </p:nvSpPr>
        <p:spPr>
          <a:xfrm>
            <a:off x="9189720" y="1394460"/>
            <a:ext cx="1737360" cy="685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404040"/>
              </a:buClr>
              <a:buSzPts val="1150"/>
              <a:buFont typeface="Calibri"/>
              <a:buNone/>
            </a:pPr>
            <a:r>
              <a:rPr lang="en-US" sz="1150" b="0" i="0" u="none" strike="noStrike" cap="none">
                <a:solidFill>
                  <a:srgbClr val="404040"/>
                </a:solidFill>
                <a:latin typeface="Calibri"/>
                <a:ea typeface="Calibri"/>
                <a:cs typeface="Calibri"/>
                <a:sym typeface="Calibri"/>
              </a:rPr>
              <a:t>Nobel Prize</a:t>
            </a:r>
            <a:endParaRPr sz="115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404040"/>
              </a:buClr>
              <a:buSzPts val="1150"/>
              <a:buFont typeface="Calibri"/>
              <a:buNone/>
            </a:pPr>
            <a:r>
              <a:rPr lang="en-US" sz="1150" b="0" i="0" u="none" strike="noStrike" cap="none">
                <a:solidFill>
                  <a:srgbClr val="404040"/>
                </a:solidFill>
                <a:latin typeface="Calibri"/>
                <a:ea typeface="Calibri"/>
                <a:cs typeface="Calibri"/>
                <a:sym typeface="Calibri"/>
              </a:rPr>
              <a:t>in Chemistry</a:t>
            </a:r>
            <a:endParaRPr sz="1150" b="0" i="0" u="none" strike="noStrike" cap="none">
              <a:solidFill>
                <a:schemeClr val="dk1"/>
              </a:solidFill>
              <a:latin typeface="Calibri"/>
              <a:ea typeface="Calibri"/>
              <a:cs typeface="Calibri"/>
              <a:sym typeface="Calibri"/>
            </a:endParaRPr>
          </a:p>
        </p:txBody>
      </p:sp>
      <p:sp>
        <p:nvSpPr>
          <p:cNvPr id="1595" name="Google Shape;1595;p92"/>
          <p:cNvSpPr/>
          <p:nvPr/>
        </p:nvSpPr>
        <p:spPr>
          <a:xfrm>
            <a:off x="7575804" y="2551176"/>
            <a:ext cx="1005840" cy="27432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92"/>
          <p:cNvSpPr/>
          <p:nvPr/>
        </p:nvSpPr>
        <p:spPr>
          <a:xfrm>
            <a:off x="7575804" y="2551176"/>
            <a:ext cx="100584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4E79"/>
              </a:buClr>
              <a:buSzPts val="1000"/>
              <a:buFont typeface="Calibri"/>
              <a:buNone/>
            </a:pPr>
            <a:r>
              <a:rPr lang="en-US" sz="1000" b="0" i="1" u="none" strike="noStrike" cap="none">
                <a:solidFill>
                  <a:srgbClr val="1F4E79"/>
                </a:solidFill>
                <a:latin typeface="Calibri"/>
                <a:ea typeface="Calibri"/>
                <a:cs typeface="Calibri"/>
                <a:sym typeface="Calibri"/>
              </a:rPr>
              <a:t>wonAward</a:t>
            </a:r>
            <a:endParaRPr sz="1000" b="0" i="0" u="none" strike="noStrike" cap="none">
              <a:solidFill>
                <a:schemeClr val="dk1"/>
              </a:solidFill>
              <a:latin typeface="Calibri"/>
              <a:ea typeface="Calibri"/>
              <a:cs typeface="Calibri"/>
              <a:sym typeface="Calibri"/>
            </a:endParaRPr>
          </a:p>
        </p:txBody>
      </p:sp>
      <p:sp>
        <p:nvSpPr>
          <p:cNvPr id="1597" name="Google Shape;1597;p92"/>
          <p:cNvSpPr/>
          <p:nvPr/>
        </p:nvSpPr>
        <p:spPr>
          <a:xfrm>
            <a:off x="594360" y="5143500"/>
            <a:ext cx="1737360" cy="685800"/>
          </a:xfrm>
          <a:prstGeom prst="ellipse">
            <a:avLst/>
          </a:prstGeom>
          <a:solidFill>
            <a:srgbClr val="EAF1F8"/>
          </a:solidFill>
          <a:ln w="15875" cap="flat" cmpd="sng">
            <a:solidFill>
              <a:srgbClr val="1F4E7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92"/>
          <p:cNvSpPr/>
          <p:nvPr/>
        </p:nvSpPr>
        <p:spPr>
          <a:xfrm>
            <a:off x="594360" y="5143500"/>
            <a:ext cx="1737360" cy="685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404040"/>
              </a:buClr>
              <a:buSzPts val="1150"/>
              <a:buFont typeface="Calibri"/>
              <a:buNone/>
            </a:pPr>
            <a:r>
              <a:rPr lang="en-US" sz="1150" b="0" i="0" u="none" strike="noStrike" cap="none">
                <a:solidFill>
                  <a:srgbClr val="404040"/>
                </a:solidFill>
                <a:latin typeface="Calibri"/>
                <a:ea typeface="Calibri"/>
                <a:cs typeface="Calibri"/>
                <a:sym typeface="Calibri"/>
              </a:rPr>
              <a:t>Pierre Curie</a:t>
            </a:r>
            <a:endParaRPr sz="1150" b="0" i="0" u="none" strike="noStrike" cap="none">
              <a:solidFill>
                <a:schemeClr val="dk1"/>
              </a:solidFill>
              <a:latin typeface="Calibri"/>
              <a:ea typeface="Calibri"/>
              <a:cs typeface="Calibri"/>
              <a:sym typeface="Calibri"/>
            </a:endParaRPr>
          </a:p>
        </p:txBody>
      </p:sp>
      <p:sp>
        <p:nvSpPr>
          <p:cNvPr id="1599" name="Google Shape;1599;p92"/>
          <p:cNvSpPr/>
          <p:nvPr/>
        </p:nvSpPr>
        <p:spPr>
          <a:xfrm>
            <a:off x="3278124" y="4425696"/>
            <a:ext cx="1005840" cy="27432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92"/>
          <p:cNvSpPr/>
          <p:nvPr/>
        </p:nvSpPr>
        <p:spPr>
          <a:xfrm>
            <a:off x="3278124" y="4425696"/>
            <a:ext cx="100584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4E79"/>
              </a:buClr>
              <a:buSzPts val="1000"/>
              <a:buFont typeface="Calibri"/>
              <a:buNone/>
            </a:pPr>
            <a:r>
              <a:rPr lang="en-US" sz="1000" b="0" i="1" u="none" strike="noStrike" cap="none">
                <a:solidFill>
                  <a:srgbClr val="1F4E79"/>
                </a:solidFill>
                <a:latin typeface="Calibri"/>
                <a:ea typeface="Calibri"/>
                <a:cs typeface="Calibri"/>
                <a:sym typeface="Calibri"/>
              </a:rPr>
              <a:t>marriedTo</a:t>
            </a:r>
            <a:endParaRPr sz="1000" b="0" i="0" u="none" strike="noStrike" cap="none">
              <a:solidFill>
                <a:schemeClr val="dk1"/>
              </a:solidFill>
              <a:latin typeface="Calibri"/>
              <a:ea typeface="Calibri"/>
              <a:cs typeface="Calibri"/>
              <a:sym typeface="Calibri"/>
            </a:endParaRPr>
          </a:p>
        </p:txBody>
      </p:sp>
      <p:sp>
        <p:nvSpPr>
          <p:cNvPr id="1601" name="Google Shape;1601;p92"/>
          <p:cNvSpPr/>
          <p:nvPr/>
        </p:nvSpPr>
        <p:spPr>
          <a:xfrm>
            <a:off x="9189720" y="5143500"/>
            <a:ext cx="1737360" cy="685800"/>
          </a:xfrm>
          <a:prstGeom prst="ellipse">
            <a:avLst/>
          </a:prstGeom>
          <a:solidFill>
            <a:srgbClr val="EAF1F8"/>
          </a:solidFill>
          <a:ln w="15875" cap="flat" cmpd="sng">
            <a:solidFill>
              <a:srgbClr val="1F4E7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92"/>
          <p:cNvSpPr/>
          <p:nvPr/>
        </p:nvSpPr>
        <p:spPr>
          <a:xfrm>
            <a:off x="9189720" y="5143500"/>
            <a:ext cx="1737360" cy="685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404040"/>
              </a:buClr>
              <a:buSzPts val="1150"/>
              <a:buFont typeface="Calibri"/>
              <a:buNone/>
            </a:pPr>
            <a:r>
              <a:rPr lang="en-US" sz="1150" b="0" i="0" u="none" strike="noStrike" cap="none">
                <a:solidFill>
                  <a:srgbClr val="404040"/>
                </a:solidFill>
                <a:latin typeface="Calibri"/>
                <a:ea typeface="Calibri"/>
                <a:cs typeface="Calibri"/>
                <a:sym typeface="Calibri"/>
              </a:rPr>
              <a:t>Physics</a:t>
            </a:r>
            <a:endParaRPr sz="1150" b="0" i="0" u="none" strike="noStrike" cap="none">
              <a:solidFill>
                <a:schemeClr val="dk1"/>
              </a:solidFill>
              <a:latin typeface="Calibri"/>
              <a:ea typeface="Calibri"/>
              <a:cs typeface="Calibri"/>
              <a:sym typeface="Calibri"/>
            </a:endParaRPr>
          </a:p>
        </p:txBody>
      </p:sp>
      <p:sp>
        <p:nvSpPr>
          <p:cNvPr id="1603" name="Google Shape;1603;p92"/>
          <p:cNvSpPr/>
          <p:nvPr/>
        </p:nvSpPr>
        <p:spPr>
          <a:xfrm>
            <a:off x="7575804" y="4425696"/>
            <a:ext cx="1005840" cy="27432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92"/>
          <p:cNvSpPr/>
          <p:nvPr/>
        </p:nvSpPr>
        <p:spPr>
          <a:xfrm>
            <a:off x="7575804" y="4425696"/>
            <a:ext cx="100584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4E79"/>
              </a:buClr>
              <a:buSzPts val="1000"/>
              <a:buFont typeface="Calibri"/>
              <a:buNone/>
            </a:pPr>
            <a:r>
              <a:rPr lang="en-US" sz="1000" b="0" i="1" u="none" strike="noStrike" cap="none">
                <a:solidFill>
                  <a:srgbClr val="1F4E79"/>
                </a:solidFill>
                <a:latin typeface="Calibri"/>
                <a:ea typeface="Calibri"/>
                <a:cs typeface="Calibri"/>
                <a:sym typeface="Calibri"/>
              </a:rPr>
              <a:t>fieldOf</a:t>
            </a:r>
            <a:endParaRPr sz="1000" b="0" i="0" u="none" strike="noStrike" cap="none">
              <a:solidFill>
                <a:schemeClr val="dk1"/>
              </a:solidFill>
              <a:latin typeface="Calibri"/>
              <a:ea typeface="Calibri"/>
              <a:cs typeface="Calibri"/>
              <a:sym typeface="Calibri"/>
            </a:endParaRPr>
          </a:p>
        </p:txBody>
      </p:sp>
      <p:sp>
        <p:nvSpPr>
          <p:cNvPr id="1605" name="Google Shape;1605;p92"/>
          <p:cNvSpPr/>
          <p:nvPr/>
        </p:nvSpPr>
        <p:spPr>
          <a:xfrm>
            <a:off x="457200" y="6263640"/>
            <a:ext cx="10607040" cy="3200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6B6B"/>
              </a:buClr>
              <a:buSzPts val="1100"/>
              <a:buFont typeface="Calibri"/>
              <a:buNone/>
            </a:pPr>
            <a:r>
              <a:rPr lang="en-US" sz="1100" b="0" i="1" u="none" strike="noStrike" cap="none">
                <a:solidFill>
                  <a:srgbClr val="6B6B6B"/>
                </a:solidFill>
                <a:latin typeface="Calibri"/>
                <a:ea typeface="Calibri"/>
                <a:cs typeface="Calibri"/>
                <a:sym typeface="Calibri"/>
              </a:rPr>
              <a:t>Figure 4.1 — Every line is a triple: (Marie Curie, bornIn, Warsaw), (Marie Curie, wonAward, Nobel Prize in Physics), and so on.</a:t>
            </a:r>
            <a:endParaRPr sz="1100" b="0" i="0" u="none" strike="noStrike" cap="none">
              <a:solidFill>
                <a:schemeClr val="dk1"/>
              </a:solidFill>
              <a:latin typeface="Calibri"/>
              <a:ea typeface="Calibri"/>
              <a:cs typeface="Calibri"/>
              <a:sym typeface="Calibri"/>
            </a:endParaRPr>
          </a:p>
        </p:txBody>
      </p:sp>
      <p:sp>
        <p:nvSpPr>
          <p:cNvPr id="1606" name="Google Shape;1606;p92"/>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27 / 40</a:t>
            </a:r>
            <a:endParaRPr sz="950" b="0" i="0" u="none" strike="noStrike" cap="none">
              <a:solidFill>
                <a:schemeClr val="dk1"/>
              </a:solidFill>
              <a:latin typeface="Calibri"/>
              <a:ea typeface="Calibri"/>
              <a:cs typeface="Calibri"/>
              <a:sym typeface="Calibri"/>
            </a:endParaRPr>
          </a:p>
        </p:txBody>
      </p:sp>
      <p:sp>
        <p:nvSpPr>
          <p:cNvPr id="1607" name="Google Shape;1607;p92"/>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12"/>
        <p:cNvGrpSpPr/>
        <p:nvPr/>
      </p:nvGrpSpPr>
      <p:grpSpPr>
        <a:xfrm>
          <a:off x="0" y="0"/>
          <a:ext cx="0" cy="0"/>
          <a:chOff x="0" y="0"/>
          <a:chExt cx="0" cy="0"/>
        </a:xfrm>
      </p:grpSpPr>
      <p:sp>
        <p:nvSpPr>
          <p:cNvPr id="1613" name="Google Shape;1613;p93"/>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E79"/>
              </a:buClr>
              <a:buSzPts val="1100"/>
              <a:buFont typeface="Calibri"/>
              <a:buNone/>
            </a:pPr>
            <a:r>
              <a:rPr lang="en-US" sz="1100" b="1" i="0" u="none" strike="noStrike" cap="none">
                <a:solidFill>
                  <a:srgbClr val="1F4E79"/>
                </a:solidFill>
                <a:latin typeface="Calibri"/>
                <a:ea typeface="Calibri"/>
                <a:cs typeface="Calibri"/>
                <a:sym typeface="Calibri"/>
              </a:rPr>
              <a:t>4.9 REASONING IN GRAPHS</a:t>
            </a:r>
            <a:endParaRPr sz="1100" b="0" i="0" u="none" strike="noStrike" cap="none">
              <a:solidFill>
                <a:schemeClr val="dk1"/>
              </a:solidFill>
              <a:latin typeface="Calibri"/>
              <a:ea typeface="Calibri"/>
              <a:cs typeface="Calibri"/>
              <a:sym typeface="Calibri"/>
            </a:endParaRPr>
          </a:p>
        </p:txBody>
      </p:sp>
      <p:sp>
        <p:nvSpPr>
          <p:cNvPr id="1614" name="Google Shape;1614;p93"/>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Direct vs. Inferred Knowledge</a:t>
            </a:r>
            <a:endParaRPr sz="2300" b="0" i="0" u="none" strike="noStrike" cap="none">
              <a:solidFill>
                <a:schemeClr val="dk1"/>
              </a:solidFill>
              <a:latin typeface="Calibri"/>
              <a:ea typeface="Calibri"/>
              <a:cs typeface="Calibri"/>
              <a:sym typeface="Calibri"/>
            </a:endParaRPr>
          </a:p>
        </p:txBody>
      </p:sp>
      <p:cxnSp>
        <p:nvCxnSpPr>
          <p:cNvPr id="1615" name="Google Shape;1615;p93"/>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1616" name="Google Shape;1616;p93"/>
          <p:cNvSpPr/>
          <p:nvPr/>
        </p:nvSpPr>
        <p:spPr>
          <a:xfrm>
            <a:off x="457200" y="1691640"/>
            <a:ext cx="10607040" cy="137160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404040"/>
              </a:buClr>
              <a:buSzPts val="1500"/>
              <a:buFont typeface="Calibri"/>
              <a:buNone/>
            </a:pPr>
            <a:r>
              <a:rPr lang="en-US" sz="1500" b="1" i="0" u="none" strike="noStrike" cap="none">
                <a:solidFill>
                  <a:srgbClr val="404040"/>
                </a:solidFill>
                <a:latin typeface="Calibri"/>
                <a:ea typeface="Calibri"/>
                <a:cs typeface="Calibri"/>
                <a:sym typeface="Calibri"/>
              </a:rPr>
              <a:t>Direct knowledge</a:t>
            </a:r>
            <a:r>
              <a:rPr lang="en-US" sz="1500" b="0" i="0" u="none" strike="noStrike" cap="none">
                <a:solidFill>
                  <a:srgbClr val="404040"/>
                </a:solidFill>
                <a:latin typeface="Calibri"/>
                <a:ea typeface="Calibri"/>
                <a:cs typeface="Calibri"/>
                <a:sym typeface="Calibri"/>
              </a:rPr>
              <a:t> is stored explicitly (e.g., "UMT LocatedIn Lahore"). </a:t>
            </a:r>
            <a:r>
              <a:rPr lang="en-US" sz="1500" b="1" i="0" u="none" strike="noStrike" cap="none">
                <a:solidFill>
                  <a:srgbClr val="404040"/>
                </a:solidFill>
                <a:latin typeface="Calibri"/>
                <a:ea typeface="Calibri"/>
                <a:cs typeface="Calibri"/>
                <a:sym typeface="Calibri"/>
              </a:rPr>
              <a:t>Inferred knowledge</a:t>
            </a:r>
            <a:r>
              <a:rPr lang="en-US" sz="1500" b="0" i="0" u="none" strike="noStrike" cap="none">
                <a:solidFill>
                  <a:srgbClr val="404040"/>
                </a:solidFill>
                <a:latin typeface="Calibri"/>
                <a:ea typeface="Calibri"/>
                <a:cs typeface="Calibri"/>
                <a:sym typeface="Calibri"/>
              </a:rPr>
              <a:t> is generated automatically through reasoning — most commonly via </a:t>
            </a:r>
            <a:r>
              <a:rPr lang="en-US" sz="1500" b="1" i="1" u="none" strike="noStrike" cap="none">
                <a:solidFill>
                  <a:srgbClr val="404040"/>
                </a:solidFill>
                <a:latin typeface="Calibri"/>
                <a:ea typeface="Calibri"/>
                <a:cs typeface="Calibri"/>
                <a:sym typeface="Calibri"/>
              </a:rPr>
              <a:t>transitive reasoning</a:t>
            </a:r>
            <a:r>
              <a:rPr lang="en-US" sz="1500" b="0" i="0" u="none" strike="noStrike" cap="none">
                <a:solidFill>
                  <a:srgbClr val="404040"/>
                </a:solidFill>
                <a:latin typeface="Calibri"/>
                <a:ea typeface="Calibri"/>
                <a:cs typeface="Calibri"/>
                <a:sym typeface="Calibri"/>
              </a:rPr>
              <a:t>: if A → B and B → C, then A → C. This is exactly the UMT → Lahore → Pakistan → Asia chain from Section 4.1, now formalized.</a:t>
            </a:r>
            <a:endParaRPr sz="1500" b="0" i="0" u="none" strike="noStrike" cap="none">
              <a:solidFill>
                <a:schemeClr val="dk1"/>
              </a:solidFill>
              <a:latin typeface="Calibri"/>
              <a:ea typeface="Calibri"/>
              <a:cs typeface="Calibri"/>
              <a:sym typeface="Calibri"/>
            </a:endParaRPr>
          </a:p>
        </p:txBody>
      </p:sp>
      <p:sp>
        <p:nvSpPr>
          <p:cNvPr id="1617" name="Google Shape;1617;p93"/>
          <p:cNvSpPr/>
          <p:nvPr/>
        </p:nvSpPr>
        <p:spPr>
          <a:xfrm>
            <a:off x="457200" y="3291840"/>
            <a:ext cx="10607040" cy="1280160"/>
          </a:xfrm>
          <a:prstGeom prst="rect">
            <a:avLst/>
          </a:prstGeom>
          <a:solidFill>
            <a:srgbClr val="FFF6EC"/>
          </a:solidFill>
          <a:ln w="9525" cap="flat" cmpd="sng">
            <a:solidFill>
              <a:srgbClr val="1F4E7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93"/>
          <p:cNvSpPr/>
          <p:nvPr/>
        </p:nvSpPr>
        <p:spPr>
          <a:xfrm>
            <a:off x="457200" y="3291840"/>
            <a:ext cx="64008" cy="1280160"/>
          </a:xfrm>
          <a:prstGeom prst="rect">
            <a:avLst/>
          </a:prstGeom>
          <a:solidFill>
            <a:srgbClr val="1F4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93"/>
          <p:cNvSpPr/>
          <p:nvPr/>
        </p:nvSpPr>
        <p:spPr>
          <a:xfrm>
            <a:off x="685800" y="3401568"/>
            <a:ext cx="102412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E79"/>
              </a:buClr>
              <a:buSzPts val="1050"/>
              <a:buFont typeface="Calibri"/>
              <a:buNone/>
            </a:pPr>
            <a:r>
              <a:rPr lang="en-US" sz="1050" b="1" i="0" u="none" strike="noStrike" cap="none">
                <a:solidFill>
                  <a:srgbClr val="1F4E79"/>
                </a:solidFill>
                <a:latin typeface="Calibri"/>
                <a:ea typeface="Calibri"/>
                <a:cs typeface="Calibri"/>
                <a:sym typeface="Calibri"/>
              </a:rPr>
              <a:t>IMPORTANT PRINCIPLE</a:t>
            </a:r>
            <a:endParaRPr sz="1050" b="0" i="0" u="none" strike="noStrike" cap="none">
              <a:solidFill>
                <a:schemeClr val="dk1"/>
              </a:solidFill>
              <a:latin typeface="Calibri"/>
              <a:ea typeface="Calibri"/>
              <a:cs typeface="Calibri"/>
              <a:sym typeface="Calibri"/>
            </a:endParaRPr>
          </a:p>
        </p:txBody>
      </p:sp>
      <p:sp>
        <p:nvSpPr>
          <p:cNvPr id="1620" name="Google Shape;1620;p93"/>
          <p:cNvSpPr/>
          <p:nvPr/>
        </p:nvSpPr>
        <p:spPr>
          <a:xfrm>
            <a:off x="685800" y="3694176"/>
            <a:ext cx="10195560" cy="78638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450"/>
              <a:buFont typeface="Calibri"/>
              <a:buNone/>
            </a:pPr>
            <a:r>
              <a:rPr lang="en-US" sz="1450" b="0" i="0" u="none" strike="noStrike" cap="none">
                <a:solidFill>
                  <a:srgbClr val="404040"/>
                </a:solidFill>
                <a:latin typeface="Calibri"/>
                <a:ea typeface="Calibri"/>
                <a:cs typeface="Calibri"/>
                <a:sym typeface="Calibri"/>
              </a:rPr>
              <a:t>Answering a question = walking a path. "What field did Marie Curie's first Nobel Prize belong to?" is answered by simply following the edges: Marie Curie → wonAward → Nobel Prize in Physics → fieldOf → Physics. No separate "search logic" is needed.</a:t>
            </a:r>
            <a:endParaRPr sz="1450" b="0" i="0" u="none" strike="noStrike" cap="none">
              <a:solidFill>
                <a:schemeClr val="dk1"/>
              </a:solidFill>
              <a:latin typeface="Calibri"/>
              <a:ea typeface="Calibri"/>
              <a:cs typeface="Calibri"/>
              <a:sym typeface="Calibri"/>
            </a:endParaRPr>
          </a:p>
        </p:txBody>
      </p:sp>
      <p:sp>
        <p:nvSpPr>
          <p:cNvPr id="1621" name="Google Shape;1621;p93"/>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27 / 40</a:t>
            </a:r>
            <a:endParaRPr sz="950" b="0" i="0" u="none" strike="noStrike" cap="none">
              <a:solidFill>
                <a:schemeClr val="dk1"/>
              </a:solidFill>
              <a:latin typeface="Calibri"/>
              <a:ea typeface="Calibri"/>
              <a:cs typeface="Calibri"/>
              <a:sym typeface="Calibri"/>
            </a:endParaRPr>
          </a:p>
        </p:txBody>
      </p:sp>
      <p:sp>
        <p:nvSpPr>
          <p:cNvPr id="1622" name="Google Shape;1622;p93"/>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27"/>
        <p:cNvGrpSpPr/>
        <p:nvPr/>
      </p:nvGrpSpPr>
      <p:grpSpPr>
        <a:xfrm>
          <a:off x="0" y="0"/>
          <a:ext cx="0" cy="0"/>
          <a:chOff x="0" y="0"/>
          <a:chExt cx="0" cy="0"/>
        </a:xfrm>
      </p:grpSpPr>
      <p:sp>
        <p:nvSpPr>
          <p:cNvPr id="1628" name="Google Shape;1628;p94"/>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E79"/>
              </a:buClr>
              <a:buSzPts val="1100"/>
              <a:buFont typeface="Calibri"/>
              <a:buNone/>
            </a:pPr>
            <a:r>
              <a:rPr lang="en-US" sz="1100" b="1" i="0" u="none" strike="noStrike" cap="none">
                <a:solidFill>
                  <a:srgbClr val="1F4E79"/>
                </a:solidFill>
                <a:latin typeface="Calibri"/>
                <a:ea typeface="Calibri"/>
                <a:cs typeface="Calibri"/>
                <a:sym typeface="Calibri"/>
              </a:rPr>
              <a:t>4.10 SEARCH &amp; TRAVERSAL</a:t>
            </a:r>
            <a:endParaRPr sz="1100" b="0" i="0" u="none" strike="noStrike" cap="none">
              <a:solidFill>
                <a:schemeClr val="dk1"/>
              </a:solidFill>
              <a:latin typeface="Calibri"/>
              <a:ea typeface="Calibri"/>
              <a:cs typeface="Calibri"/>
              <a:sym typeface="Calibri"/>
            </a:endParaRPr>
          </a:p>
        </p:txBody>
      </p:sp>
      <p:sp>
        <p:nvSpPr>
          <p:cNvPr id="1629" name="Google Shape;1629;p94"/>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Knowledge Graph Search and Traversal</a:t>
            </a:r>
            <a:endParaRPr sz="2300" b="0" i="0" u="none" strike="noStrike" cap="none">
              <a:solidFill>
                <a:schemeClr val="dk1"/>
              </a:solidFill>
              <a:latin typeface="Calibri"/>
              <a:ea typeface="Calibri"/>
              <a:cs typeface="Calibri"/>
              <a:sym typeface="Calibri"/>
            </a:endParaRPr>
          </a:p>
        </p:txBody>
      </p:sp>
      <p:cxnSp>
        <p:nvCxnSpPr>
          <p:cNvPr id="1630" name="Google Shape;1630;p94"/>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1631" name="Google Shape;1631;p94"/>
          <p:cNvSpPr/>
          <p:nvPr/>
        </p:nvSpPr>
        <p:spPr>
          <a:xfrm>
            <a:off x="457200" y="1645920"/>
            <a:ext cx="10607040" cy="1097280"/>
          </a:xfrm>
          <a:prstGeom prst="rect">
            <a:avLst/>
          </a:prstGeom>
          <a:noFill/>
          <a:ln>
            <a:noFill/>
          </a:ln>
        </p:spPr>
        <p:txBody>
          <a:bodyPr spcFirstLastPara="1" wrap="square" lIns="0" tIns="0" rIns="0" bIns="0" anchor="ctr" anchorCtr="0">
            <a:noAutofit/>
          </a:bodyPr>
          <a:lstStyle/>
          <a:p>
            <a:pPr marL="0" marR="0" lvl="0" indent="0" algn="l" rtl="0">
              <a:lnSpc>
                <a:spcPct val="128000"/>
              </a:lnSpc>
              <a:spcBef>
                <a:spcPts val="0"/>
              </a:spcBef>
              <a:spcAft>
                <a:spcPts val="0"/>
              </a:spcAft>
              <a:buClr>
                <a:srgbClr val="404040"/>
              </a:buClr>
              <a:buSzPts val="1450"/>
              <a:buFont typeface="Calibri"/>
              <a:buNone/>
            </a:pPr>
            <a:r>
              <a:rPr lang="en-US" sz="1450" b="0" i="0" u="none" strike="noStrike" cap="none">
                <a:solidFill>
                  <a:srgbClr val="404040"/>
                </a:solidFill>
                <a:latin typeface="Calibri"/>
                <a:ea typeface="Calibri"/>
                <a:cs typeface="Calibri"/>
                <a:sym typeface="Calibri"/>
              </a:rPr>
              <a:t>Suppose we want: "Find all universities in Pakistan." The graph traverses University → LocatedIn → Pakistan directly. Or: "Find students supervised by Professor X" follows Professor → Supervises → Student. Graph traversal makes this kind of discovery simple and efficient, without scanning unrelated records.</a:t>
            </a:r>
            <a:endParaRPr sz="1450" b="0" i="0" u="none" strike="noStrike" cap="none">
              <a:solidFill>
                <a:schemeClr val="dk1"/>
              </a:solidFill>
              <a:latin typeface="Calibri"/>
              <a:ea typeface="Calibri"/>
              <a:cs typeface="Calibri"/>
              <a:sym typeface="Calibri"/>
            </a:endParaRPr>
          </a:p>
        </p:txBody>
      </p:sp>
      <p:sp>
        <p:nvSpPr>
          <p:cNvPr id="1632" name="Google Shape;1632;p94"/>
          <p:cNvSpPr/>
          <p:nvPr/>
        </p:nvSpPr>
        <p:spPr>
          <a:xfrm>
            <a:off x="457200" y="2880360"/>
            <a:ext cx="1060704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1700"/>
              <a:buFont typeface="Calibri"/>
              <a:buNone/>
            </a:pPr>
            <a:r>
              <a:rPr lang="en-US" sz="1700" b="1" i="0" u="none" strike="noStrike" cap="none">
                <a:solidFill>
                  <a:srgbClr val="404040"/>
                </a:solidFill>
                <a:latin typeface="Calibri"/>
                <a:ea typeface="Calibri"/>
                <a:cs typeface="Calibri"/>
                <a:sym typeface="Calibri"/>
              </a:rPr>
              <a:t>4.11 Knowledge Graph Embeddings</a:t>
            </a:r>
            <a:endParaRPr sz="1700" b="0" i="0" u="none" strike="noStrike" cap="none">
              <a:solidFill>
                <a:schemeClr val="dk1"/>
              </a:solidFill>
              <a:latin typeface="Calibri"/>
              <a:ea typeface="Calibri"/>
              <a:cs typeface="Calibri"/>
              <a:sym typeface="Calibri"/>
            </a:endParaRPr>
          </a:p>
        </p:txBody>
      </p:sp>
      <p:sp>
        <p:nvSpPr>
          <p:cNvPr id="1633" name="Google Shape;1633;p94"/>
          <p:cNvSpPr/>
          <p:nvPr/>
        </p:nvSpPr>
        <p:spPr>
          <a:xfrm>
            <a:off x="457200" y="3337560"/>
            <a:ext cx="10607040" cy="1051560"/>
          </a:xfrm>
          <a:prstGeom prst="rect">
            <a:avLst/>
          </a:prstGeom>
          <a:solidFill>
            <a:srgbClr val="EAF4F4"/>
          </a:solidFill>
          <a:ln w="9525" cap="flat" cmpd="sng">
            <a:solidFill>
              <a:srgbClr val="1F4E7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94"/>
          <p:cNvSpPr/>
          <p:nvPr/>
        </p:nvSpPr>
        <p:spPr>
          <a:xfrm>
            <a:off x="457200" y="3337560"/>
            <a:ext cx="64008" cy="1051560"/>
          </a:xfrm>
          <a:prstGeom prst="rect">
            <a:avLst/>
          </a:prstGeom>
          <a:solidFill>
            <a:srgbClr val="1F4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94"/>
          <p:cNvSpPr/>
          <p:nvPr/>
        </p:nvSpPr>
        <p:spPr>
          <a:xfrm>
            <a:off x="685800" y="3447288"/>
            <a:ext cx="102412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E79"/>
              </a:buClr>
              <a:buSzPts val="1050"/>
              <a:buFont typeface="Calibri"/>
              <a:buNone/>
            </a:pPr>
            <a:r>
              <a:rPr lang="en-US" sz="1050" b="1" i="0" u="none" strike="noStrike" cap="none">
                <a:solidFill>
                  <a:srgbClr val="1F4E79"/>
                </a:solidFill>
                <a:latin typeface="Calibri"/>
                <a:ea typeface="Calibri"/>
                <a:cs typeface="Calibri"/>
                <a:sym typeface="Calibri"/>
              </a:rPr>
              <a:t>DEFINITION</a:t>
            </a:r>
            <a:endParaRPr sz="1050" b="0" i="0" u="none" strike="noStrike" cap="none">
              <a:solidFill>
                <a:schemeClr val="dk1"/>
              </a:solidFill>
              <a:latin typeface="Calibri"/>
              <a:ea typeface="Calibri"/>
              <a:cs typeface="Calibri"/>
              <a:sym typeface="Calibri"/>
            </a:endParaRPr>
          </a:p>
        </p:txBody>
      </p:sp>
      <p:sp>
        <p:nvSpPr>
          <p:cNvPr id="1636" name="Google Shape;1636;p94"/>
          <p:cNvSpPr/>
          <p:nvPr/>
        </p:nvSpPr>
        <p:spPr>
          <a:xfrm>
            <a:off x="685800" y="3739896"/>
            <a:ext cx="10195560" cy="55778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350"/>
              <a:buFont typeface="Calibri"/>
              <a:buNone/>
            </a:pPr>
            <a:r>
              <a:rPr lang="en-US" sz="1350" b="0" i="0" u="none" strike="noStrike" cap="none">
                <a:solidFill>
                  <a:srgbClr val="404040"/>
                </a:solidFill>
                <a:latin typeface="Calibri"/>
                <a:ea typeface="Calibri"/>
                <a:cs typeface="Calibri"/>
                <a:sym typeface="Calibri"/>
              </a:rPr>
              <a:t>A knowledge graph embedding converts each entity and relationship into a numerical vector (e.g., Ali = [0.3, 0.8, 0.2], UMT = [0.4, 0.7, 0.1]), so machine learning algorithms can process the graph for tasks like link prediction, recommendation, classification, and similarity search.</a:t>
            </a:r>
            <a:endParaRPr sz="1350" b="0" i="0" u="none" strike="noStrike" cap="none">
              <a:solidFill>
                <a:schemeClr val="dk1"/>
              </a:solidFill>
              <a:latin typeface="Calibri"/>
              <a:ea typeface="Calibri"/>
              <a:cs typeface="Calibri"/>
              <a:sym typeface="Calibri"/>
            </a:endParaRPr>
          </a:p>
        </p:txBody>
      </p:sp>
      <p:sp>
        <p:nvSpPr>
          <p:cNvPr id="1637" name="Google Shape;1637;p94"/>
          <p:cNvSpPr/>
          <p:nvPr/>
        </p:nvSpPr>
        <p:spPr>
          <a:xfrm>
            <a:off x="457200" y="4617720"/>
            <a:ext cx="10607040" cy="82296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404040"/>
              </a:buClr>
              <a:buSzPts val="1350"/>
              <a:buFont typeface="Calibri"/>
              <a:buNone/>
            </a:pPr>
            <a:r>
              <a:rPr lang="en-US" sz="1350" b="0" i="0" u="none" strike="noStrike" cap="none">
                <a:solidFill>
                  <a:srgbClr val="404040"/>
                </a:solidFill>
                <a:latin typeface="Calibri"/>
                <a:ea typeface="Calibri"/>
                <a:cs typeface="Calibri"/>
                <a:sym typeface="Calibri"/>
              </a:rPr>
              <a:t>For example, if Ali and Ahmed both StudiesAt UMT, an embedding algorithm might learn that their vectors are close together, allowing the system to predict </a:t>
            </a:r>
            <a:r>
              <a:rPr lang="en-US" sz="1350" b="0" i="1" u="none" strike="noStrike" cap="none">
                <a:solidFill>
                  <a:srgbClr val="404040"/>
                </a:solidFill>
                <a:latin typeface="Calibri"/>
                <a:ea typeface="Calibri"/>
                <a:cs typeface="Calibri"/>
                <a:sym typeface="Calibri"/>
              </a:rPr>
              <a:t>"Ali and Ahmed likely share interests"</a:t>
            </a:r>
            <a:r>
              <a:rPr lang="en-US" sz="1350" b="0" i="0" u="none" strike="noStrike" cap="none">
                <a:solidFill>
                  <a:srgbClr val="404040"/>
                </a:solidFill>
                <a:latin typeface="Calibri"/>
                <a:ea typeface="Calibri"/>
                <a:cs typeface="Calibri"/>
                <a:sym typeface="Calibri"/>
              </a:rPr>
              <a:t> — a pattern never explicitly stored as a fact.</a:t>
            </a:r>
            <a:endParaRPr sz="1350" b="0" i="0" u="none" strike="noStrike" cap="none">
              <a:solidFill>
                <a:schemeClr val="dk1"/>
              </a:solidFill>
              <a:latin typeface="Calibri"/>
              <a:ea typeface="Calibri"/>
              <a:cs typeface="Calibri"/>
              <a:sym typeface="Calibri"/>
            </a:endParaRPr>
          </a:p>
        </p:txBody>
      </p:sp>
      <p:sp>
        <p:nvSpPr>
          <p:cNvPr id="1638" name="Google Shape;1638;p94"/>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28 / 40</a:t>
            </a:r>
            <a:endParaRPr sz="950" b="0" i="0" u="none" strike="noStrike" cap="none">
              <a:solidFill>
                <a:schemeClr val="dk1"/>
              </a:solidFill>
              <a:latin typeface="Calibri"/>
              <a:ea typeface="Calibri"/>
              <a:cs typeface="Calibri"/>
              <a:sym typeface="Calibri"/>
            </a:endParaRPr>
          </a:p>
        </p:txBody>
      </p:sp>
      <p:sp>
        <p:nvSpPr>
          <p:cNvPr id="1639" name="Google Shape;1639;p94"/>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44"/>
        <p:cNvGrpSpPr/>
        <p:nvPr/>
      </p:nvGrpSpPr>
      <p:grpSpPr>
        <a:xfrm>
          <a:off x="0" y="0"/>
          <a:ext cx="0" cy="0"/>
          <a:chOff x="0" y="0"/>
          <a:chExt cx="0" cy="0"/>
        </a:xfrm>
      </p:grpSpPr>
      <p:sp>
        <p:nvSpPr>
          <p:cNvPr id="1645" name="Google Shape;1645;p95"/>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E79"/>
              </a:buClr>
              <a:buSzPts val="1100"/>
              <a:buFont typeface="Calibri"/>
              <a:buNone/>
            </a:pPr>
            <a:r>
              <a:rPr lang="en-US" sz="1100" b="1" i="0" u="none" strike="noStrike" cap="none">
                <a:solidFill>
                  <a:srgbClr val="1F4E79"/>
                </a:solidFill>
                <a:latin typeface="Calibri"/>
                <a:ea typeface="Calibri"/>
                <a:cs typeface="Calibri"/>
                <a:sym typeface="Calibri"/>
              </a:rPr>
              <a:t>4.12 BRIDGING TO TOPIC 5</a:t>
            </a:r>
            <a:endParaRPr sz="1100" b="0" i="0" u="none" strike="noStrike" cap="none">
              <a:solidFill>
                <a:schemeClr val="dk1"/>
              </a:solidFill>
              <a:latin typeface="Calibri"/>
              <a:ea typeface="Calibri"/>
              <a:cs typeface="Calibri"/>
              <a:sym typeface="Calibri"/>
            </a:endParaRPr>
          </a:p>
        </p:txBody>
      </p:sp>
      <p:sp>
        <p:nvSpPr>
          <p:cNvPr id="1646" name="Google Shape;1646;p95"/>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Knowledge Graphs and Large Language Models</a:t>
            </a:r>
            <a:endParaRPr sz="2300" b="0" i="0" u="none" strike="noStrike" cap="none">
              <a:solidFill>
                <a:schemeClr val="dk1"/>
              </a:solidFill>
              <a:latin typeface="Calibri"/>
              <a:ea typeface="Calibri"/>
              <a:cs typeface="Calibri"/>
              <a:sym typeface="Calibri"/>
            </a:endParaRPr>
          </a:p>
        </p:txBody>
      </p:sp>
      <p:cxnSp>
        <p:nvCxnSpPr>
          <p:cNvPr id="1647" name="Google Shape;1647;p95"/>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1648" name="Google Shape;1648;p95"/>
          <p:cNvSpPr/>
          <p:nvPr/>
        </p:nvSpPr>
        <p:spPr>
          <a:xfrm>
            <a:off x="457200" y="1691640"/>
            <a:ext cx="10607040" cy="128016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404040"/>
              </a:buClr>
              <a:buSzPts val="1500"/>
              <a:buFont typeface="Calibri"/>
              <a:buNone/>
            </a:pPr>
            <a:r>
              <a:rPr lang="en-US" sz="1500" b="0" i="0" u="none" strike="noStrike" cap="none">
                <a:solidFill>
                  <a:srgbClr val="404040"/>
                </a:solidFill>
                <a:latin typeface="Calibri"/>
                <a:ea typeface="Calibri"/>
                <a:cs typeface="Calibri"/>
                <a:sym typeface="Calibri"/>
              </a:rPr>
              <a:t>LLMs can </a:t>
            </a:r>
            <a:r>
              <a:rPr lang="en-US" sz="1500" b="1" i="1" u="none" strike="noStrike" cap="none">
                <a:solidFill>
                  <a:srgbClr val="404040"/>
                </a:solidFill>
                <a:latin typeface="Calibri"/>
                <a:ea typeface="Calibri"/>
                <a:cs typeface="Calibri"/>
                <a:sym typeface="Calibri"/>
              </a:rPr>
              <a:t>hallucinate</a:t>
            </a:r>
            <a:r>
              <a:rPr lang="en-US" sz="1500" b="0" i="0" u="none" strike="noStrike" cap="none">
                <a:solidFill>
                  <a:srgbClr val="404040"/>
                </a:solidFill>
                <a:latin typeface="Calibri"/>
                <a:ea typeface="Calibri"/>
                <a:cs typeface="Calibri"/>
                <a:sym typeface="Calibri"/>
              </a:rPr>
              <a:t> — forgetting facts or generating outdated or fabricated information — because they predict probable words rather than verifying facts. Knowledge graphs provide verified facts; LLMs provide natural language understanding. Combined, they produce AI that is both accurate and fluent.</a:t>
            </a:r>
            <a:endParaRPr sz="1500" b="0" i="0" u="none" strike="noStrike" cap="none">
              <a:solidFill>
                <a:schemeClr val="dk1"/>
              </a:solidFill>
              <a:latin typeface="Calibri"/>
              <a:ea typeface="Calibri"/>
              <a:cs typeface="Calibri"/>
              <a:sym typeface="Calibri"/>
            </a:endParaRPr>
          </a:p>
        </p:txBody>
      </p:sp>
      <p:sp>
        <p:nvSpPr>
          <p:cNvPr id="1649" name="Google Shape;1649;p95"/>
          <p:cNvSpPr/>
          <p:nvPr/>
        </p:nvSpPr>
        <p:spPr>
          <a:xfrm>
            <a:off x="457200" y="3291840"/>
            <a:ext cx="10607040" cy="1417320"/>
          </a:xfrm>
          <a:prstGeom prst="rect">
            <a:avLst/>
          </a:prstGeom>
          <a:solidFill>
            <a:srgbClr val="FFF6EC"/>
          </a:solidFill>
          <a:ln w="9525" cap="flat" cmpd="sng">
            <a:solidFill>
              <a:srgbClr val="1F4E7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95"/>
          <p:cNvSpPr/>
          <p:nvPr/>
        </p:nvSpPr>
        <p:spPr>
          <a:xfrm>
            <a:off x="457200" y="3291840"/>
            <a:ext cx="64008" cy="1417320"/>
          </a:xfrm>
          <a:prstGeom prst="rect">
            <a:avLst/>
          </a:prstGeom>
          <a:solidFill>
            <a:srgbClr val="1F4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95"/>
          <p:cNvSpPr/>
          <p:nvPr/>
        </p:nvSpPr>
        <p:spPr>
          <a:xfrm>
            <a:off x="685800" y="3401568"/>
            <a:ext cx="102412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E79"/>
              </a:buClr>
              <a:buSzPts val="1050"/>
              <a:buFont typeface="Calibri"/>
              <a:buNone/>
            </a:pPr>
            <a:r>
              <a:rPr lang="en-US" sz="1050" b="1" i="0" u="none" strike="noStrike" cap="none">
                <a:solidFill>
                  <a:srgbClr val="1F4E79"/>
                </a:solidFill>
                <a:latin typeface="Calibri"/>
                <a:ea typeface="Calibri"/>
                <a:cs typeface="Calibri"/>
                <a:sym typeface="Calibri"/>
              </a:rPr>
              <a:t>WHY THIS COMBINATION MATTERS</a:t>
            </a:r>
            <a:endParaRPr sz="1050" b="0" i="0" u="none" strike="noStrike" cap="none">
              <a:solidFill>
                <a:schemeClr val="dk1"/>
              </a:solidFill>
              <a:latin typeface="Calibri"/>
              <a:ea typeface="Calibri"/>
              <a:cs typeface="Calibri"/>
              <a:sym typeface="Calibri"/>
            </a:endParaRPr>
          </a:p>
        </p:txBody>
      </p:sp>
      <p:sp>
        <p:nvSpPr>
          <p:cNvPr id="1652" name="Google Shape;1652;p95"/>
          <p:cNvSpPr/>
          <p:nvPr/>
        </p:nvSpPr>
        <p:spPr>
          <a:xfrm>
            <a:off x="685800" y="3694176"/>
            <a:ext cx="10195560" cy="92354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400"/>
              <a:buFont typeface="Calibri"/>
              <a:buNone/>
            </a:pPr>
            <a:r>
              <a:rPr lang="en-US" sz="1400" b="0" i="0" u="none" strike="noStrike" cap="none">
                <a:solidFill>
                  <a:srgbClr val="404040"/>
                </a:solidFill>
                <a:latin typeface="Calibri"/>
                <a:ea typeface="Calibri"/>
                <a:cs typeface="Calibri"/>
                <a:sym typeface="Calibri"/>
              </a:rPr>
              <a:t>A pure LLM might confidently invent a fake statistic. A knowledge graph alone cannot hold a fluent conversation. Pairing them — LLM for language, knowledge graph for facts — is one of the most actively researched directions in making AI systems more trustworthy.</a:t>
            </a:r>
            <a:endParaRPr sz="1400" b="0" i="0" u="none" strike="noStrike" cap="none">
              <a:solidFill>
                <a:schemeClr val="dk1"/>
              </a:solidFill>
              <a:latin typeface="Calibri"/>
              <a:ea typeface="Calibri"/>
              <a:cs typeface="Calibri"/>
              <a:sym typeface="Calibri"/>
            </a:endParaRPr>
          </a:p>
        </p:txBody>
      </p:sp>
      <p:sp>
        <p:nvSpPr>
          <p:cNvPr id="1653" name="Google Shape;1653;p95"/>
          <p:cNvSpPr/>
          <p:nvPr/>
        </p:nvSpPr>
        <p:spPr>
          <a:xfrm>
            <a:off x="457200" y="5029200"/>
            <a:ext cx="1060704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4E79"/>
              </a:buClr>
              <a:buSzPts val="1400"/>
              <a:buFont typeface="Calibri"/>
              <a:buNone/>
            </a:pPr>
            <a:r>
              <a:rPr lang="en-US" sz="1400" b="1" i="1" u="none" strike="noStrike" cap="none">
                <a:solidFill>
                  <a:srgbClr val="1F4E79"/>
                </a:solidFill>
                <a:latin typeface="Calibri"/>
                <a:ea typeface="Calibri"/>
                <a:cs typeface="Calibri"/>
                <a:sym typeface="Calibri"/>
              </a:rPr>
              <a:t>This idea is the direct bridge into Topic 5: Neuro-Symbolic AI.</a:t>
            </a:r>
            <a:endParaRPr sz="1400" b="0" i="0" u="none" strike="noStrike" cap="none">
              <a:solidFill>
                <a:schemeClr val="dk1"/>
              </a:solidFill>
              <a:latin typeface="Calibri"/>
              <a:ea typeface="Calibri"/>
              <a:cs typeface="Calibri"/>
              <a:sym typeface="Calibri"/>
            </a:endParaRPr>
          </a:p>
        </p:txBody>
      </p:sp>
      <p:sp>
        <p:nvSpPr>
          <p:cNvPr id="1654" name="Google Shape;1654;p95"/>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28 / 40</a:t>
            </a:r>
            <a:endParaRPr sz="950" b="0" i="0" u="none" strike="noStrike" cap="none">
              <a:solidFill>
                <a:schemeClr val="dk1"/>
              </a:solidFill>
              <a:latin typeface="Calibri"/>
              <a:ea typeface="Calibri"/>
              <a:cs typeface="Calibri"/>
              <a:sym typeface="Calibri"/>
            </a:endParaRPr>
          </a:p>
        </p:txBody>
      </p:sp>
      <p:sp>
        <p:nvSpPr>
          <p:cNvPr id="1655" name="Google Shape;1655;p95"/>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60"/>
        <p:cNvGrpSpPr/>
        <p:nvPr/>
      </p:nvGrpSpPr>
      <p:grpSpPr>
        <a:xfrm>
          <a:off x="0" y="0"/>
          <a:ext cx="0" cy="0"/>
          <a:chOff x="0" y="0"/>
          <a:chExt cx="0" cy="0"/>
        </a:xfrm>
      </p:grpSpPr>
      <p:sp>
        <p:nvSpPr>
          <p:cNvPr id="1661" name="Google Shape;1661;p96"/>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E79"/>
              </a:buClr>
              <a:buSzPts val="1100"/>
              <a:buFont typeface="Calibri"/>
              <a:buNone/>
            </a:pPr>
            <a:r>
              <a:rPr lang="en-US" sz="1100" b="1" i="0" u="none" strike="noStrike" cap="none">
                <a:solidFill>
                  <a:srgbClr val="1F4E79"/>
                </a:solidFill>
                <a:latin typeface="Calibri"/>
                <a:ea typeface="Calibri"/>
                <a:cs typeface="Calibri"/>
                <a:sym typeface="Calibri"/>
              </a:rPr>
              <a:t>4.13 REAL-WORLD APPLICATIONS</a:t>
            </a:r>
            <a:endParaRPr sz="1100" b="0" i="0" u="none" strike="noStrike" cap="none">
              <a:solidFill>
                <a:schemeClr val="dk1"/>
              </a:solidFill>
              <a:latin typeface="Calibri"/>
              <a:ea typeface="Calibri"/>
              <a:cs typeface="Calibri"/>
              <a:sym typeface="Calibri"/>
            </a:endParaRPr>
          </a:p>
        </p:txBody>
      </p:sp>
      <p:sp>
        <p:nvSpPr>
          <p:cNvPr id="1662" name="Google Shape;1662;p96"/>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Knowledge Graphs Powering Everyday AI</a:t>
            </a:r>
            <a:endParaRPr sz="2300" b="0" i="0" u="none" strike="noStrike" cap="none">
              <a:solidFill>
                <a:schemeClr val="dk1"/>
              </a:solidFill>
              <a:latin typeface="Calibri"/>
              <a:ea typeface="Calibri"/>
              <a:cs typeface="Calibri"/>
              <a:sym typeface="Calibri"/>
            </a:endParaRPr>
          </a:p>
        </p:txBody>
      </p:sp>
      <p:cxnSp>
        <p:nvCxnSpPr>
          <p:cNvPr id="1663" name="Google Shape;1663;p96"/>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1664" name="Google Shape;1664;p96"/>
          <p:cNvSpPr/>
          <p:nvPr/>
        </p:nvSpPr>
        <p:spPr>
          <a:xfrm>
            <a:off x="457200" y="1554480"/>
            <a:ext cx="10607040" cy="621792"/>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1F4E79"/>
              </a:buClr>
              <a:buSzPts val="1250"/>
              <a:buFont typeface="Calibri"/>
              <a:buNone/>
            </a:pPr>
            <a:r>
              <a:rPr lang="en-US" sz="1250" b="1" i="0" u="none" strike="noStrike" cap="none">
                <a:solidFill>
                  <a:srgbClr val="1F4E79"/>
                </a:solidFill>
                <a:latin typeface="Calibri"/>
                <a:ea typeface="Calibri"/>
                <a:cs typeface="Calibri"/>
                <a:sym typeface="Calibri"/>
              </a:rPr>
              <a:t>(a) Search Engines  </a:t>
            </a:r>
            <a:r>
              <a:rPr lang="en-US" sz="1250" b="0" i="0" u="none" strike="noStrike" cap="none">
                <a:solidFill>
                  <a:srgbClr val="404040"/>
                </a:solidFill>
                <a:latin typeface="Calibri"/>
                <a:ea typeface="Calibri"/>
                <a:cs typeface="Calibri"/>
                <a:sym typeface="Calibri"/>
              </a:rPr>
              <a:t>Searching "Cristiano Ronaldo" instantly shows age, teams, awards, family, statistics — pulled from Google's knowledge graph, which searches relationships rather than individual web pages.</a:t>
            </a:r>
            <a:endParaRPr sz="1250" b="0" i="0" u="none" strike="noStrike" cap="none">
              <a:solidFill>
                <a:schemeClr val="dk1"/>
              </a:solidFill>
              <a:latin typeface="Calibri"/>
              <a:ea typeface="Calibri"/>
              <a:cs typeface="Calibri"/>
              <a:sym typeface="Calibri"/>
            </a:endParaRPr>
          </a:p>
        </p:txBody>
      </p:sp>
      <p:sp>
        <p:nvSpPr>
          <p:cNvPr id="1665" name="Google Shape;1665;p96"/>
          <p:cNvSpPr/>
          <p:nvPr/>
        </p:nvSpPr>
        <p:spPr>
          <a:xfrm>
            <a:off x="457200" y="2212848"/>
            <a:ext cx="10607040" cy="621792"/>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1F4E79"/>
              </a:buClr>
              <a:buSzPts val="1250"/>
              <a:buFont typeface="Calibri"/>
              <a:buNone/>
            </a:pPr>
            <a:r>
              <a:rPr lang="en-US" sz="1250" b="1" i="0" u="none" strike="noStrike" cap="none">
                <a:solidFill>
                  <a:srgbClr val="1F4E79"/>
                </a:solidFill>
                <a:latin typeface="Calibri"/>
                <a:ea typeface="Calibri"/>
                <a:cs typeface="Calibri"/>
                <a:sym typeface="Calibri"/>
              </a:rPr>
              <a:t>(b) Recommendation Systems  </a:t>
            </a:r>
            <a:r>
              <a:rPr lang="en-US" sz="1250" b="0" i="0" u="none" strike="noStrike" cap="none">
                <a:solidFill>
                  <a:srgbClr val="404040"/>
                </a:solidFill>
                <a:latin typeface="Calibri"/>
                <a:ea typeface="Calibri"/>
                <a:cs typeface="Calibri"/>
                <a:sym typeface="Calibri"/>
              </a:rPr>
              <a:t>If User A bought a Laptop, and the graph knows Laptop is associated with Mouse, and Mouse with Keyboard, the system infers: recommend Mouse and Keyboard.</a:t>
            </a:r>
            <a:endParaRPr sz="1250" b="0" i="0" u="none" strike="noStrike" cap="none">
              <a:solidFill>
                <a:schemeClr val="dk1"/>
              </a:solidFill>
              <a:latin typeface="Calibri"/>
              <a:ea typeface="Calibri"/>
              <a:cs typeface="Calibri"/>
              <a:sym typeface="Calibri"/>
            </a:endParaRPr>
          </a:p>
        </p:txBody>
      </p:sp>
      <p:sp>
        <p:nvSpPr>
          <p:cNvPr id="1666" name="Google Shape;1666;p96"/>
          <p:cNvSpPr/>
          <p:nvPr/>
        </p:nvSpPr>
        <p:spPr>
          <a:xfrm>
            <a:off x="457200" y="2871216"/>
            <a:ext cx="10607040" cy="621792"/>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1F4E79"/>
              </a:buClr>
              <a:buSzPts val="1250"/>
              <a:buFont typeface="Calibri"/>
              <a:buNone/>
            </a:pPr>
            <a:r>
              <a:rPr lang="en-US" sz="1250" b="1" i="0" u="none" strike="noStrike" cap="none">
                <a:solidFill>
                  <a:srgbClr val="1F4E79"/>
                </a:solidFill>
                <a:latin typeface="Calibri"/>
                <a:ea typeface="Calibri"/>
                <a:cs typeface="Calibri"/>
                <a:sym typeface="Calibri"/>
              </a:rPr>
              <a:t>(c) Social Networks  </a:t>
            </a:r>
            <a:r>
              <a:rPr lang="en-US" sz="1250" b="0" i="0" u="none" strike="noStrike" cap="none">
                <a:solidFill>
                  <a:srgbClr val="404040"/>
                </a:solidFill>
                <a:latin typeface="Calibri"/>
                <a:ea typeface="Calibri"/>
                <a:cs typeface="Calibri"/>
                <a:sym typeface="Calibri"/>
              </a:rPr>
              <a:t>If Ali knows Ahmed, and Ahmed knows Sara, the graph can infer "Ali may know Sara" — the basis of friend-recommendation features on LinkedIn and Facebook.</a:t>
            </a:r>
            <a:endParaRPr sz="1250" b="0" i="0" u="none" strike="noStrike" cap="none">
              <a:solidFill>
                <a:schemeClr val="dk1"/>
              </a:solidFill>
              <a:latin typeface="Calibri"/>
              <a:ea typeface="Calibri"/>
              <a:cs typeface="Calibri"/>
              <a:sym typeface="Calibri"/>
            </a:endParaRPr>
          </a:p>
        </p:txBody>
      </p:sp>
      <p:sp>
        <p:nvSpPr>
          <p:cNvPr id="1667" name="Google Shape;1667;p96"/>
          <p:cNvSpPr/>
          <p:nvPr/>
        </p:nvSpPr>
        <p:spPr>
          <a:xfrm>
            <a:off x="457200" y="3529584"/>
            <a:ext cx="10607040" cy="621792"/>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1F4E79"/>
              </a:buClr>
              <a:buSzPts val="1250"/>
              <a:buFont typeface="Calibri"/>
              <a:buNone/>
            </a:pPr>
            <a:r>
              <a:rPr lang="en-US" sz="1250" b="1" i="0" u="none" strike="noStrike" cap="none">
                <a:solidFill>
                  <a:srgbClr val="1F4E79"/>
                </a:solidFill>
                <a:latin typeface="Calibri"/>
                <a:ea typeface="Calibri"/>
                <a:cs typeface="Calibri"/>
                <a:sym typeface="Calibri"/>
              </a:rPr>
              <a:t>(d) Healthcare  </a:t>
            </a:r>
            <a:r>
              <a:rPr lang="en-US" sz="1250" b="0" i="0" u="none" strike="noStrike" cap="none">
                <a:solidFill>
                  <a:srgbClr val="404040"/>
                </a:solidFill>
                <a:latin typeface="Calibri"/>
                <a:ea typeface="Calibri"/>
                <a:cs typeface="Calibri"/>
                <a:sym typeface="Calibri"/>
              </a:rPr>
              <a:t>Medical knowledge graphs connect Symptoms, Diseases, Treatments, Medications — e.g., Fever → Infection → Antibiotics — helping AI assist doctors in diagnosis.</a:t>
            </a:r>
            <a:endParaRPr sz="1250" b="0" i="0" u="none" strike="noStrike" cap="none">
              <a:solidFill>
                <a:schemeClr val="dk1"/>
              </a:solidFill>
              <a:latin typeface="Calibri"/>
              <a:ea typeface="Calibri"/>
              <a:cs typeface="Calibri"/>
              <a:sym typeface="Calibri"/>
            </a:endParaRPr>
          </a:p>
        </p:txBody>
      </p:sp>
      <p:graphicFrame>
        <p:nvGraphicFramePr>
          <p:cNvPr id="1668" name="Google Shape;1668;p96"/>
          <p:cNvGraphicFramePr/>
          <p:nvPr/>
        </p:nvGraphicFramePr>
        <p:xfrm>
          <a:off x="457200" y="4233672"/>
          <a:ext cx="10607050" cy="1645875"/>
        </p:xfrm>
        <a:graphic>
          <a:graphicData uri="http://schemas.openxmlformats.org/drawingml/2006/table">
            <a:tbl>
              <a:tblPr>
                <a:noFill/>
                <a:tableStyleId>{18CE5CEB-0992-447E-8985-1B7A4AD8BB01}</a:tableStyleId>
              </a:tblPr>
              <a:tblGrid>
                <a:gridCol w="3200400">
                  <a:extLst>
                    <a:ext uri="{9D8B030D-6E8A-4147-A177-3AD203B41FA5}">
                      <a16:colId xmlns:a16="http://schemas.microsoft.com/office/drawing/2014/main" val="20000"/>
                    </a:ext>
                  </a:extLst>
                </a:gridCol>
                <a:gridCol w="7406650">
                  <a:extLst>
                    <a:ext uri="{9D8B030D-6E8A-4147-A177-3AD203B41FA5}">
                      <a16:colId xmlns:a16="http://schemas.microsoft.com/office/drawing/2014/main" val="20001"/>
                    </a:ext>
                  </a:extLst>
                </a:gridCol>
              </a:tblGrid>
              <a:tr h="329175">
                <a:tc>
                  <a:txBody>
                    <a:bodyPr/>
                    <a:lstStyle/>
                    <a:p>
                      <a:pPr marL="0" marR="0" lvl="0" indent="0" algn="l" rtl="0">
                        <a:spcBef>
                          <a:spcPts val="0"/>
                        </a:spcBef>
                        <a:spcAft>
                          <a:spcPts val="0"/>
                        </a:spcAft>
                        <a:buClr>
                          <a:srgbClr val="FFFFFF"/>
                        </a:buClr>
                        <a:buSzPts val="1250"/>
                        <a:buFont typeface="Calibri"/>
                        <a:buNone/>
                      </a:pPr>
                      <a:r>
                        <a:rPr lang="en-US" sz="1250" b="1" u="none" strike="noStrike" cap="none">
                          <a:solidFill>
                            <a:srgbClr val="FFFFFF"/>
                          </a:solidFill>
                          <a:latin typeface="Calibri"/>
                          <a:ea typeface="Calibri"/>
                          <a:cs typeface="Calibri"/>
                          <a:sym typeface="Calibri"/>
                        </a:rPr>
                        <a:t>Application</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1F4E79"/>
                    </a:solidFill>
                  </a:tcPr>
                </a:tc>
                <a:tc>
                  <a:txBody>
                    <a:bodyPr/>
                    <a:lstStyle/>
                    <a:p>
                      <a:pPr marL="0" marR="0" lvl="0" indent="0" algn="l" rtl="0">
                        <a:spcBef>
                          <a:spcPts val="0"/>
                        </a:spcBef>
                        <a:spcAft>
                          <a:spcPts val="0"/>
                        </a:spcAft>
                        <a:buClr>
                          <a:srgbClr val="FFFFFF"/>
                        </a:buClr>
                        <a:buSzPts val="1250"/>
                        <a:buFont typeface="Calibri"/>
                        <a:buNone/>
                      </a:pPr>
                      <a:r>
                        <a:rPr lang="en-US" sz="1250" b="1" u="none" strike="noStrike" cap="none">
                          <a:solidFill>
                            <a:srgbClr val="FFFFFF"/>
                          </a:solidFill>
                          <a:latin typeface="Calibri"/>
                          <a:ea typeface="Calibri"/>
                          <a:cs typeface="Calibri"/>
                          <a:sym typeface="Calibri"/>
                        </a:rPr>
                        <a:t>Core Relationship Used</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1F4E79"/>
                    </a:solidFill>
                  </a:tcPr>
                </a:tc>
                <a:extLst>
                  <a:ext uri="{0D108BD9-81ED-4DB2-BD59-A6C34878D82A}">
                    <a16:rowId xmlns:a16="http://schemas.microsoft.com/office/drawing/2014/main" val="10000"/>
                  </a:ext>
                </a:extLst>
              </a:tr>
              <a:tr h="329175">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Google Search</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Person → hasAward / hasTeam / hasStat</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29175">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Amazon Recommendations</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Product → associatedWith → Product</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extLst>
                  <a:ext uri="{0D108BD9-81ED-4DB2-BD59-A6C34878D82A}">
                    <a16:rowId xmlns:a16="http://schemas.microsoft.com/office/drawing/2014/main" val="10002"/>
                  </a:ext>
                </a:extLst>
              </a:tr>
              <a:tr h="329175">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LinkedIn / Facebook</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Person → knows → Person</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29175">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Healthcare AI</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150"/>
                        <a:buFont typeface="Calibri"/>
                        <a:buNone/>
                      </a:pPr>
                      <a:r>
                        <a:rPr lang="en-US" sz="1150" u="none" strike="noStrike" cap="none">
                          <a:solidFill>
                            <a:srgbClr val="404040"/>
                          </a:solidFill>
                          <a:latin typeface="Calibri"/>
                          <a:ea typeface="Calibri"/>
                          <a:cs typeface="Calibri"/>
                          <a:sym typeface="Calibri"/>
                        </a:rPr>
                        <a:t>Symptom → indicates → Disease → treatedBy → Medicine</a:t>
                      </a:r>
                      <a:endParaRPr sz="11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extLst>
                  <a:ext uri="{0D108BD9-81ED-4DB2-BD59-A6C34878D82A}">
                    <a16:rowId xmlns:a16="http://schemas.microsoft.com/office/drawing/2014/main" val="10004"/>
                  </a:ext>
                </a:extLst>
              </a:tr>
            </a:tbl>
          </a:graphicData>
        </a:graphic>
      </p:graphicFrame>
      <p:sp>
        <p:nvSpPr>
          <p:cNvPr id="1669" name="Google Shape;1669;p96"/>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29 / 40</a:t>
            </a:r>
            <a:endParaRPr sz="950" b="0" i="0" u="none" strike="noStrike" cap="none">
              <a:solidFill>
                <a:schemeClr val="dk1"/>
              </a:solidFill>
              <a:latin typeface="Calibri"/>
              <a:ea typeface="Calibri"/>
              <a:cs typeface="Calibri"/>
              <a:sym typeface="Calibri"/>
            </a:endParaRPr>
          </a:p>
        </p:txBody>
      </p:sp>
      <p:sp>
        <p:nvSpPr>
          <p:cNvPr id="1670" name="Google Shape;1670;p96"/>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75"/>
        <p:cNvGrpSpPr/>
        <p:nvPr/>
      </p:nvGrpSpPr>
      <p:grpSpPr>
        <a:xfrm>
          <a:off x="0" y="0"/>
          <a:ext cx="0" cy="0"/>
          <a:chOff x="0" y="0"/>
          <a:chExt cx="0" cy="0"/>
        </a:xfrm>
      </p:grpSpPr>
      <p:sp>
        <p:nvSpPr>
          <p:cNvPr id="1676" name="Google Shape;1676;p97"/>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E79"/>
              </a:buClr>
              <a:buSzPts val="1100"/>
              <a:buFont typeface="Calibri"/>
              <a:buNone/>
            </a:pPr>
            <a:r>
              <a:rPr lang="en-US" sz="1100" b="1" i="0" u="none" strike="noStrike" cap="none">
                <a:solidFill>
                  <a:srgbClr val="1F4E79"/>
                </a:solidFill>
                <a:latin typeface="Calibri"/>
                <a:ea typeface="Calibri"/>
                <a:cs typeface="Calibri"/>
                <a:sym typeface="Calibri"/>
              </a:rPr>
              <a:t>WORKED EXAMPLE 1 — TRY IT YOURSELF</a:t>
            </a:r>
            <a:endParaRPr sz="1100" b="0" i="0" u="none" strike="noStrike" cap="none">
              <a:solidFill>
                <a:schemeClr val="dk1"/>
              </a:solidFill>
              <a:latin typeface="Calibri"/>
              <a:ea typeface="Calibri"/>
              <a:cs typeface="Calibri"/>
              <a:sym typeface="Calibri"/>
            </a:endParaRPr>
          </a:p>
        </p:txBody>
      </p:sp>
      <p:sp>
        <p:nvSpPr>
          <p:cNvPr id="1677" name="Google Shape;1677;p97"/>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Building Triples from a Sentence</a:t>
            </a:r>
            <a:endParaRPr sz="2300" b="0" i="0" u="none" strike="noStrike" cap="none">
              <a:solidFill>
                <a:schemeClr val="dk1"/>
              </a:solidFill>
              <a:latin typeface="Calibri"/>
              <a:ea typeface="Calibri"/>
              <a:cs typeface="Calibri"/>
              <a:sym typeface="Calibri"/>
            </a:endParaRPr>
          </a:p>
        </p:txBody>
      </p:sp>
      <p:cxnSp>
        <p:nvCxnSpPr>
          <p:cNvPr id="1678" name="Google Shape;1678;p97"/>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1679" name="Google Shape;1679;p97"/>
          <p:cNvSpPr/>
          <p:nvPr/>
        </p:nvSpPr>
        <p:spPr>
          <a:xfrm>
            <a:off x="640080" y="1691640"/>
            <a:ext cx="10241280" cy="2743200"/>
          </a:xfrm>
          <a:prstGeom prst="rect">
            <a:avLst/>
          </a:prstGeom>
          <a:solidFill>
            <a:srgbClr val="EAF1F8"/>
          </a:solidFill>
          <a:ln w="15875" cap="flat" cmpd="sng">
            <a:solidFill>
              <a:srgbClr val="1F4E7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97"/>
          <p:cNvSpPr/>
          <p:nvPr/>
        </p:nvSpPr>
        <p:spPr>
          <a:xfrm>
            <a:off x="868680" y="1874520"/>
            <a:ext cx="3657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E79"/>
              </a:buClr>
              <a:buSzPts val="1200"/>
              <a:buFont typeface="Calibri"/>
              <a:buNone/>
            </a:pPr>
            <a:r>
              <a:rPr lang="en-US" sz="1200" b="1" i="0" u="none" strike="noStrike" cap="none">
                <a:solidFill>
                  <a:srgbClr val="1F4E79"/>
                </a:solidFill>
                <a:latin typeface="Calibri"/>
                <a:ea typeface="Calibri"/>
                <a:cs typeface="Calibri"/>
                <a:sym typeface="Calibri"/>
              </a:rPr>
              <a:t>PROBLEM</a:t>
            </a:r>
            <a:endParaRPr sz="1200" b="0" i="0" u="none" strike="noStrike" cap="none">
              <a:solidFill>
                <a:schemeClr val="dk1"/>
              </a:solidFill>
              <a:latin typeface="Calibri"/>
              <a:ea typeface="Calibri"/>
              <a:cs typeface="Calibri"/>
              <a:sym typeface="Calibri"/>
            </a:endParaRPr>
          </a:p>
        </p:txBody>
      </p:sp>
      <p:sp>
        <p:nvSpPr>
          <p:cNvPr id="1681" name="Google Shape;1681;p97"/>
          <p:cNvSpPr/>
          <p:nvPr/>
        </p:nvSpPr>
        <p:spPr>
          <a:xfrm>
            <a:off x="868680" y="2194560"/>
            <a:ext cx="9784080" cy="82296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404040"/>
              </a:buClr>
              <a:buSzPts val="1550"/>
              <a:buFont typeface="Calibri"/>
              <a:buNone/>
            </a:pPr>
            <a:r>
              <a:rPr lang="en-US" sz="1550" b="0" i="0" u="none" strike="noStrike" cap="none">
                <a:solidFill>
                  <a:srgbClr val="404040"/>
                </a:solidFill>
                <a:latin typeface="Calibri"/>
                <a:ea typeface="Calibri"/>
                <a:cs typeface="Calibri"/>
                <a:sym typeface="Calibri"/>
              </a:rPr>
              <a:t>Convert this sentence into knowledge-graph triples: "Steve Jobs co-founded Apple in Cupertino in 1976."</a:t>
            </a:r>
            <a:endParaRPr sz="1550" b="0" i="0" u="none" strike="noStrike" cap="none">
              <a:solidFill>
                <a:schemeClr val="dk1"/>
              </a:solidFill>
              <a:latin typeface="Calibri"/>
              <a:ea typeface="Calibri"/>
              <a:cs typeface="Calibri"/>
              <a:sym typeface="Calibri"/>
            </a:endParaRPr>
          </a:p>
        </p:txBody>
      </p:sp>
      <p:sp>
        <p:nvSpPr>
          <p:cNvPr id="1682" name="Google Shape;1682;p97"/>
          <p:cNvSpPr/>
          <p:nvPr/>
        </p:nvSpPr>
        <p:spPr>
          <a:xfrm>
            <a:off x="868680" y="3154680"/>
            <a:ext cx="9784080" cy="77724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404040"/>
              </a:buClr>
              <a:buSzPts val="1500"/>
              <a:buFont typeface="Calibri"/>
              <a:buNone/>
            </a:pPr>
            <a:r>
              <a:rPr lang="en-US" sz="1500" b="1" i="1" u="none" strike="noStrike" cap="none">
                <a:solidFill>
                  <a:srgbClr val="404040"/>
                </a:solidFill>
                <a:latin typeface="Calibri"/>
                <a:ea typeface="Calibri"/>
                <a:cs typeface="Calibri"/>
                <a:sym typeface="Calibri"/>
              </a:rPr>
              <a:t>Question:  </a:t>
            </a:r>
            <a:r>
              <a:rPr lang="en-US" sz="1500" b="0" i="1" u="none" strike="noStrike" cap="none">
                <a:solidFill>
                  <a:srgbClr val="404040"/>
                </a:solidFill>
                <a:latin typeface="Calibri"/>
                <a:ea typeface="Calibri"/>
                <a:cs typeface="Calibri"/>
                <a:sym typeface="Calibri"/>
              </a:rPr>
              <a:t>What set of (subject, predicate, object) triples correctly captures every fact in this sentence?</a:t>
            </a:r>
            <a:endParaRPr sz="1500" b="0" i="0" u="none" strike="noStrike" cap="none">
              <a:solidFill>
                <a:schemeClr val="dk1"/>
              </a:solidFill>
              <a:latin typeface="Calibri"/>
              <a:ea typeface="Calibri"/>
              <a:cs typeface="Calibri"/>
              <a:sym typeface="Calibri"/>
            </a:endParaRPr>
          </a:p>
        </p:txBody>
      </p:sp>
      <p:sp>
        <p:nvSpPr>
          <p:cNvPr id="1683" name="Google Shape;1683;p97"/>
          <p:cNvSpPr/>
          <p:nvPr/>
        </p:nvSpPr>
        <p:spPr>
          <a:xfrm>
            <a:off x="640080" y="4709160"/>
            <a:ext cx="1024128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4E79"/>
              </a:buClr>
              <a:buSzPts val="1250"/>
              <a:buFont typeface="Calibri"/>
              <a:buNone/>
            </a:pPr>
            <a:r>
              <a:rPr lang="en-US" sz="1250" b="1" i="1" u="none" strike="noStrike" cap="none">
                <a:solidFill>
                  <a:srgbClr val="1F4E79"/>
                </a:solidFill>
                <a:latin typeface="Calibri"/>
                <a:ea typeface="Calibri"/>
                <a:cs typeface="Calibri"/>
                <a:sym typeface="Calibri"/>
              </a:rPr>
              <a:t>PAUSE HERE — work out your answer before the next slide</a:t>
            </a:r>
            <a:endParaRPr sz="1250" b="0" i="0" u="none" strike="noStrike" cap="none">
              <a:solidFill>
                <a:schemeClr val="dk1"/>
              </a:solidFill>
              <a:latin typeface="Calibri"/>
              <a:ea typeface="Calibri"/>
              <a:cs typeface="Calibri"/>
              <a:sym typeface="Calibri"/>
            </a:endParaRPr>
          </a:p>
        </p:txBody>
      </p:sp>
      <p:sp>
        <p:nvSpPr>
          <p:cNvPr id="1684" name="Google Shape;1684;p97"/>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30 / 40</a:t>
            </a:r>
            <a:endParaRPr sz="950" b="0" i="0" u="none" strike="noStrike" cap="none">
              <a:solidFill>
                <a:schemeClr val="dk1"/>
              </a:solidFill>
              <a:latin typeface="Calibri"/>
              <a:ea typeface="Calibri"/>
              <a:cs typeface="Calibri"/>
              <a:sym typeface="Calibri"/>
            </a:endParaRPr>
          </a:p>
        </p:txBody>
      </p:sp>
      <p:sp>
        <p:nvSpPr>
          <p:cNvPr id="1685" name="Google Shape;1685;p97"/>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90"/>
        <p:cNvGrpSpPr/>
        <p:nvPr/>
      </p:nvGrpSpPr>
      <p:grpSpPr>
        <a:xfrm>
          <a:off x="0" y="0"/>
          <a:ext cx="0" cy="0"/>
          <a:chOff x="0" y="0"/>
          <a:chExt cx="0" cy="0"/>
        </a:xfrm>
      </p:grpSpPr>
      <p:sp>
        <p:nvSpPr>
          <p:cNvPr id="1691" name="Google Shape;1691;p98"/>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E79"/>
              </a:buClr>
              <a:buSzPts val="1100"/>
              <a:buFont typeface="Calibri"/>
              <a:buNone/>
            </a:pPr>
            <a:r>
              <a:rPr lang="en-US" sz="1100" b="1" i="0" u="none" strike="noStrike" cap="none">
                <a:solidFill>
                  <a:srgbClr val="1F4E79"/>
                </a:solidFill>
                <a:latin typeface="Calibri"/>
                <a:ea typeface="Calibri"/>
                <a:cs typeface="Calibri"/>
                <a:sym typeface="Calibri"/>
              </a:rPr>
              <a:t>WORKED EXAMPLE 1 — SOLUTION</a:t>
            </a:r>
            <a:endParaRPr sz="1100" b="0" i="0" u="none" strike="noStrike" cap="none">
              <a:solidFill>
                <a:schemeClr val="dk1"/>
              </a:solidFill>
              <a:latin typeface="Calibri"/>
              <a:ea typeface="Calibri"/>
              <a:cs typeface="Calibri"/>
              <a:sym typeface="Calibri"/>
            </a:endParaRPr>
          </a:p>
        </p:txBody>
      </p:sp>
      <p:sp>
        <p:nvSpPr>
          <p:cNvPr id="1692" name="Google Shape;1692;p98"/>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Building Triples from a Sentence</a:t>
            </a:r>
            <a:endParaRPr sz="2300" b="0" i="0" u="none" strike="noStrike" cap="none">
              <a:solidFill>
                <a:schemeClr val="dk1"/>
              </a:solidFill>
              <a:latin typeface="Calibri"/>
              <a:ea typeface="Calibri"/>
              <a:cs typeface="Calibri"/>
              <a:sym typeface="Calibri"/>
            </a:endParaRPr>
          </a:p>
        </p:txBody>
      </p:sp>
      <p:cxnSp>
        <p:nvCxnSpPr>
          <p:cNvPr id="1693" name="Google Shape;1693;p98"/>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1694" name="Google Shape;1694;p98"/>
          <p:cNvSpPr/>
          <p:nvPr/>
        </p:nvSpPr>
        <p:spPr>
          <a:xfrm>
            <a:off x="457200" y="1627632"/>
            <a:ext cx="365760" cy="365760"/>
          </a:xfrm>
          <a:prstGeom prst="ellipse">
            <a:avLst/>
          </a:prstGeom>
          <a:solidFill>
            <a:srgbClr val="1F4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98"/>
          <p:cNvSpPr/>
          <p:nvPr/>
        </p:nvSpPr>
        <p:spPr>
          <a:xfrm>
            <a:off x="457200" y="1627632"/>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1696" name="Google Shape;1696;p98"/>
          <p:cNvSpPr/>
          <p:nvPr/>
        </p:nvSpPr>
        <p:spPr>
          <a:xfrm>
            <a:off x="960120" y="1554480"/>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404040"/>
              </a:buClr>
              <a:buSzPts val="1260"/>
              <a:buFont typeface="Calibri"/>
              <a:buNone/>
            </a:pPr>
            <a:r>
              <a:rPr lang="en-US" sz="1260" b="0" i="0" u="none" strike="noStrike" cap="none">
                <a:solidFill>
                  <a:srgbClr val="404040"/>
                </a:solidFill>
                <a:latin typeface="Calibri"/>
                <a:ea typeface="Calibri"/>
                <a:cs typeface="Calibri"/>
                <a:sym typeface="Calibri"/>
              </a:rPr>
              <a:t>Identify all the distinct entities mentioned: "Steve Jobs," "Apple," "Cupertino," and "1976."</a:t>
            </a:r>
            <a:endParaRPr sz="1260" b="0" i="0" u="none" strike="noStrike" cap="none">
              <a:solidFill>
                <a:schemeClr val="dk1"/>
              </a:solidFill>
              <a:latin typeface="Calibri"/>
              <a:ea typeface="Calibri"/>
              <a:cs typeface="Calibri"/>
              <a:sym typeface="Calibri"/>
            </a:endParaRPr>
          </a:p>
        </p:txBody>
      </p:sp>
      <p:sp>
        <p:nvSpPr>
          <p:cNvPr id="1697" name="Google Shape;1697;p98"/>
          <p:cNvSpPr/>
          <p:nvPr/>
        </p:nvSpPr>
        <p:spPr>
          <a:xfrm>
            <a:off x="457200" y="2295144"/>
            <a:ext cx="365760" cy="365760"/>
          </a:xfrm>
          <a:prstGeom prst="ellipse">
            <a:avLst/>
          </a:prstGeom>
          <a:solidFill>
            <a:srgbClr val="1F4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98"/>
          <p:cNvSpPr/>
          <p:nvPr/>
        </p:nvSpPr>
        <p:spPr>
          <a:xfrm>
            <a:off x="457200" y="2295144"/>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1699" name="Google Shape;1699;p98"/>
          <p:cNvSpPr/>
          <p:nvPr/>
        </p:nvSpPr>
        <p:spPr>
          <a:xfrm>
            <a:off x="960120" y="2221992"/>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404040"/>
              </a:buClr>
              <a:buSzPts val="1260"/>
              <a:buFont typeface="Calibri"/>
              <a:buNone/>
            </a:pPr>
            <a:r>
              <a:rPr lang="en-US" sz="1260" b="0" i="0" u="none" strike="noStrike" cap="none">
                <a:solidFill>
                  <a:srgbClr val="404040"/>
                </a:solidFill>
                <a:latin typeface="Calibri"/>
                <a:ea typeface="Calibri"/>
                <a:cs typeface="Calibri"/>
                <a:sym typeface="Calibri"/>
              </a:rPr>
              <a:t>Identify the relationships connecting them: founding, location of founding, and year of founding are three separate relationships, even though they appear in one sentence.</a:t>
            </a:r>
            <a:endParaRPr sz="1260" b="0" i="0" u="none" strike="noStrike" cap="none">
              <a:solidFill>
                <a:schemeClr val="dk1"/>
              </a:solidFill>
              <a:latin typeface="Calibri"/>
              <a:ea typeface="Calibri"/>
              <a:cs typeface="Calibri"/>
              <a:sym typeface="Calibri"/>
            </a:endParaRPr>
          </a:p>
        </p:txBody>
      </p:sp>
      <p:sp>
        <p:nvSpPr>
          <p:cNvPr id="1700" name="Google Shape;1700;p98"/>
          <p:cNvSpPr/>
          <p:nvPr/>
        </p:nvSpPr>
        <p:spPr>
          <a:xfrm>
            <a:off x="457200" y="2962656"/>
            <a:ext cx="365760" cy="365760"/>
          </a:xfrm>
          <a:prstGeom prst="ellipse">
            <a:avLst/>
          </a:prstGeom>
          <a:solidFill>
            <a:srgbClr val="1F4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98"/>
          <p:cNvSpPr/>
          <p:nvPr/>
        </p:nvSpPr>
        <p:spPr>
          <a:xfrm>
            <a:off x="457200" y="2962656"/>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1702" name="Google Shape;1702;p98"/>
          <p:cNvSpPr/>
          <p:nvPr/>
        </p:nvSpPr>
        <p:spPr>
          <a:xfrm>
            <a:off x="960120" y="2889504"/>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404040"/>
              </a:buClr>
              <a:buSzPts val="1260"/>
              <a:buFont typeface="Calibri"/>
              <a:buNone/>
            </a:pPr>
            <a:r>
              <a:rPr lang="en-US" sz="1260" b="0" i="0" u="none" strike="noStrike" cap="none">
                <a:solidFill>
                  <a:srgbClr val="404040"/>
                </a:solidFill>
                <a:latin typeface="Calibri"/>
                <a:ea typeface="Calibri"/>
                <a:cs typeface="Calibri"/>
                <a:sym typeface="Calibri"/>
              </a:rPr>
              <a:t>Write each relationship as its own triple: (Steve Jobs, co-founded, Apple) · (Apple, foundedIn, Cupertino) · (Apple, foundedYear, 1976).</a:t>
            </a:r>
            <a:endParaRPr sz="1260" b="0" i="0" u="none" strike="noStrike" cap="none">
              <a:solidFill>
                <a:schemeClr val="dk1"/>
              </a:solidFill>
              <a:latin typeface="Calibri"/>
              <a:ea typeface="Calibri"/>
              <a:cs typeface="Calibri"/>
              <a:sym typeface="Calibri"/>
            </a:endParaRPr>
          </a:p>
        </p:txBody>
      </p:sp>
      <p:sp>
        <p:nvSpPr>
          <p:cNvPr id="1703" name="Google Shape;1703;p98"/>
          <p:cNvSpPr/>
          <p:nvPr/>
        </p:nvSpPr>
        <p:spPr>
          <a:xfrm>
            <a:off x="457200" y="3630168"/>
            <a:ext cx="365760" cy="365760"/>
          </a:xfrm>
          <a:prstGeom prst="ellipse">
            <a:avLst/>
          </a:prstGeom>
          <a:solidFill>
            <a:srgbClr val="1F4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98"/>
          <p:cNvSpPr/>
          <p:nvPr/>
        </p:nvSpPr>
        <p:spPr>
          <a:xfrm>
            <a:off x="457200" y="3630168"/>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4</a:t>
            </a:r>
            <a:endParaRPr sz="1400" b="0" i="0" u="none" strike="noStrike" cap="none">
              <a:solidFill>
                <a:schemeClr val="dk1"/>
              </a:solidFill>
              <a:latin typeface="Calibri"/>
              <a:ea typeface="Calibri"/>
              <a:cs typeface="Calibri"/>
              <a:sym typeface="Calibri"/>
            </a:endParaRPr>
          </a:p>
        </p:txBody>
      </p:sp>
      <p:sp>
        <p:nvSpPr>
          <p:cNvPr id="1705" name="Google Shape;1705;p98"/>
          <p:cNvSpPr/>
          <p:nvPr/>
        </p:nvSpPr>
        <p:spPr>
          <a:xfrm>
            <a:off x="960120" y="3557016"/>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404040"/>
              </a:buClr>
              <a:buSzPts val="1260"/>
              <a:buFont typeface="Calibri"/>
              <a:buNone/>
            </a:pPr>
            <a:r>
              <a:rPr lang="en-US" sz="1260" b="0" i="0" u="none" strike="noStrike" cap="none">
                <a:solidFill>
                  <a:srgbClr val="404040"/>
                </a:solidFill>
                <a:latin typeface="Calibri"/>
                <a:ea typeface="Calibri"/>
                <a:cs typeface="Calibri"/>
                <a:sym typeface="Calibri"/>
              </a:rPr>
              <a:t>Check completeness: every noun phrase from the original sentence appears in at least one triple, and no information has been lost or duplicated.</a:t>
            </a:r>
            <a:endParaRPr sz="1260" b="0" i="0" u="none" strike="noStrike" cap="none">
              <a:solidFill>
                <a:schemeClr val="dk1"/>
              </a:solidFill>
              <a:latin typeface="Calibri"/>
              <a:ea typeface="Calibri"/>
              <a:cs typeface="Calibri"/>
              <a:sym typeface="Calibri"/>
            </a:endParaRPr>
          </a:p>
        </p:txBody>
      </p:sp>
      <p:sp>
        <p:nvSpPr>
          <p:cNvPr id="1706" name="Google Shape;1706;p98"/>
          <p:cNvSpPr/>
          <p:nvPr/>
        </p:nvSpPr>
        <p:spPr>
          <a:xfrm>
            <a:off x="457200" y="4480560"/>
            <a:ext cx="10607040" cy="1691640"/>
          </a:xfrm>
          <a:prstGeom prst="rect">
            <a:avLst/>
          </a:prstGeom>
          <a:solidFill>
            <a:srgbClr val="FFF6EC"/>
          </a:solidFill>
          <a:ln w="9525" cap="flat" cmpd="sng">
            <a:solidFill>
              <a:srgbClr val="1F4E7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98"/>
          <p:cNvSpPr/>
          <p:nvPr/>
        </p:nvSpPr>
        <p:spPr>
          <a:xfrm>
            <a:off x="457200" y="4480560"/>
            <a:ext cx="64008" cy="1691640"/>
          </a:xfrm>
          <a:prstGeom prst="rect">
            <a:avLst/>
          </a:prstGeom>
          <a:solidFill>
            <a:srgbClr val="1F4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98"/>
          <p:cNvSpPr/>
          <p:nvPr/>
        </p:nvSpPr>
        <p:spPr>
          <a:xfrm>
            <a:off x="685800" y="4590288"/>
            <a:ext cx="102412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E79"/>
              </a:buClr>
              <a:buSzPts val="1050"/>
              <a:buFont typeface="Calibri"/>
              <a:buNone/>
            </a:pPr>
            <a:r>
              <a:rPr lang="en-US" sz="1050" b="1" i="0" u="none" strike="noStrike" cap="none">
                <a:solidFill>
                  <a:srgbClr val="1F4E79"/>
                </a:solidFill>
                <a:latin typeface="Calibri"/>
                <a:ea typeface="Calibri"/>
                <a:cs typeface="Calibri"/>
                <a:sym typeface="Calibri"/>
              </a:rPr>
              <a:t>WHY THIS SOLUTION WORKS</a:t>
            </a:r>
            <a:endParaRPr sz="1050" b="0" i="0" u="none" strike="noStrike" cap="none">
              <a:solidFill>
                <a:schemeClr val="dk1"/>
              </a:solidFill>
              <a:latin typeface="Calibri"/>
              <a:ea typeface="Calibri"/>
              <a:cs typeface="Calibri"/>
              <a:sym typeface="Calibri"/>
            </a:endParaRPr>
          </a:p>
        </p:txBody>
      </p:sp>
      <p:sp>
        <p:nvSpPr>
          <p:cNvPr id="1709" name="Google Shape;1709;p98"/>
          <p:cNvSpPr/>
          <p:nvPr/>
        </p:nvSpPr>
        <p:spPr>
          <a:xfrm>
            <a:off x="685800" y="4882896"/>
            <a:ext cx="10195560" cy="119786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230"/>
              <a:buFont typeface="Calibri"/>
              <a:buNone/>
            </a:pPr>
            <a:r>
              <a:rPr lang="en-US" sz="1230" b="0" i="0" u="none" strike="noStrike" cap="none">
                <a:solidFill>
                  <a:srgbClr val="404040"/>
                </a:solidFill>
                <a:latin typeface="Calibri"/>
                <a:ea typeface="Calibri"/>
                <a:cs typeface="Calibri"/>
                <a:sym typeface="Calibri"/>
              </a:rPr>
              <a:t>A single sentence often bundles several independent facts. Breaking it into separate triples is essential because each fact may need to be queried, updated, or corrected on its own — if a historian later determines Apple was founded in a garage in Los Altos rather than Cupertino, only that one triple needs correcting, leaving the founding year and co-founder fact untouched.</a:t>
            </a:r>
            <a:endParaRPr sz="1230" b="0" i="0" u="none" strike="noStrike" cap="none">
              <a:solidFill>
                <a:schemeClr val="dk1"/>
              </a:solidFill>
              <a:latin typeface="Calibri"/>
              <a:ea typeface="Calibri"/>
              <a:cs typeface="Calibri"/>
              <a:sym typeface="Calibri"/>
            </a:endParaRPr>
          </a:p>
        </p:txBody>
      </p:sp>
      <p:sp>
        <p:nvSpPr>
          <p:cNvPr id="1710" name="Google Shape;1710;p98"/>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30 / 40</a:t>
            </a:r>
            <a:endParaRPr sz="950" b="0" i="0" u="none" strike="noStrike" cap="none">
              <a:solidFill>
                <a:schemeClr val="dk1"/>
              </a:solidFill>
              <a:latin typeface="Calibri"/>
              <a:ea typeface="Calibri"/>
              <a:cs typeface="Calibri"/>
              <a:sym typeface="Calibri"/>
            </a:endParaRPr>
          </a:p>
        </p:txBody>
      </p:sp>
      <p:sp>
        <p:nvSpPr>
          <p:cNvPr id="1711" name="Google Shape;1711;p98"/>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16"/>
        <p:cNvGrpSpPr/>
        <p:nvPr/>
      </p:nvGrpSpPr>
      <p:grpSpPr>
        <a:xfrm>
          <a:off x="0" y="0"/>
          <a:ext cx="0" cy="0"/>
          <a:chOff x="0" y="0"/>
          <a:chExt cx="0" cy="0"/>
        </a:xfrm>
      </p:grpSpPr>
      <p:sp>
        <p:nvSpPr>
          <p:cNvPr id="1717" name="Google Shape;1717;p99"/>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E79"/>
              </a:buClr>
              <a:buSzPts val="1100"/>
              <a:buFont typeface="Calibri"/>
              <a:buNone/>
            </a:pPr>
            <a:r>
              <a:rPr lang="en-US" sz="1100" b="1" i="0" u="none" strike="noStrike" cap="none">
                <a:solidFill>
                  <a:srgbClr val="1F4E79"/>
                </a:solidFill>
                <a:latin typeface="Calibri"/>
                <a:ea typeface="Calibri"/>
                <a:cs typeface="Calibri"/>
                <a:sym typeface="Calibri"/>
              </a:rPr>
              <a:t>WORKED EXAMPLE 2 — TRY IT YOURSELF</a:t>
            </a:r>
            <a:endParaRPr sz="1100" b="0" i="0" u="none" strike="noStrike" cap="none">
              <a:solidFill>
                <a:schemeClr val="dk1"/>
              </a:solidFill>
              <a:latin typeface="Calibri"/>
              <a:ea typeface="Calibri"/>
              <a:cs typeface="Calibri"/>
              <a:sym typeface="Calibri"/>
            </a:endParaRPr>
          </a:p>
        </p:txBody>
      </p:sp>
      <p:sp>
        <p:nvSpPr>
          <p:cNvPr id="1718" name="Google Shape;1718;p99"/>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Multi-Hop Reasoning Across a Graph</a:t>
            </a:r>
            <a:endParaRPr sz="2300" b="0" i="0" u="none" strike="noStrike" cap="none">
              <a:solidFill>
                <a:schemeClr val="dk1"/>
              </a:solidFill>
              <a:latin typeface="Calibri"/>
              <a:ea typeface="Calibri"/>
              <a:cs typeface="Calibri"/>
              <a:sym typeface="Calibri"/>
            </a:endParaRPr>
          </a:p>
        </p:txBody>
      </p:sp>
      <p:cxnSp>
        <p:nvCxnSpPr>
          <p:cNvPr id="1719" name="Google Shape;1719;p99"/>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1720" name="Google Shape;1720;p99"/>
          <p:cNvSpPr/>
          <p:nvPr/>
        </p:nvSpPr>
        <p:spPr>
          <a:xfrm>
            <a:off x="640080" y="1691640"/>
            <a:ext cx="10241280" cy="2743200"/>
          </a:xfrm>
          <a:prstGeom prst="rect">
            <a:avLst/>
          </a:prstGeom>
          <a:solidFill>
            <a:srgbClr val="EAF1F8"/>
          </a:solidFill>
          <a:ln w="15875" cap="flat" cmpd="sng">
            <a:solidFill>
              <a:srgbClr val="1F4E7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99"/>
          <p:cNvSpPr/>
          <p:nvPr/>
        </p:nvSpPr>
        <p:spPr>
          <a:xfrm>
            <a:off x="868680" y="1874520"/>
            <a:ext cx="3657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E79"/>
              </a:buClr>
              <a:buSzPts val="1200"/>
              <a:buFont typeface="Calibri"/>
              <a:buNone/>
            </a:pPr>
            <a:r>
              <a:rPr lang="en-US" sz="1200" b="1" i="0" u="none" strike="noStrike" cap="none">
                <a:solidFill>
                  <a:srgbClr val="1F4E79"/>
                </a:solidFill>
                <a:latin typeface="Calibri"/>
                <a:ea typeface="Calibri"/>
                <a:cs typeface="Calibri"/>
                <a:sym typeface="Calibri"/>
              </a:rPr>
              <a:t>PROBLEM</a:t>
            </a:r>
            <a:endParaRPr sz="1200" b="0" i="0" u="none" strike="noStrike" cap="none">
              <a:solidFill>
                <a:schemeClr val="dk1"/>
              </a:solidFill>
              <a:latin typeface="Calibri"/>
              <a:ea typeface="Calibri"/>
              <a:cs typeface="Calibri"/>
              <a:sym typeface="Calibri"/>
            </a:endParaRPr>
          </a:p>
        </p:txBody>
      </p:sp>
      <p:sp>
        <p:nvSpPr>
          <p:cNvPr id="1722" name="Google Shape;1722;p99"/>
          <p:cNvSpPr/>
          <p:nvPr/>
        </p:nvSpPr>
        <p:spPr>
          <a:xfrm>
            <a:off x="868680" y="2194560"/>
            <a:ext cx="978408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1500"/>
              <a:buFont typeface="Calibri"/>
              <a:buNone/>
            </a:pPr>
            <a:r>
              <a:rPr lang="en-US" sz="1500" b="0" i="0" u="none" strike="noStrike" cap="none">
                <a:solidFill>
                  <a:srgbClr val="404040"/>
                </a:solidFill>
                <a:latin typeface="Calibri"/>
                <a:ea typeface="Calibri"/>
                <a:cs typeface="Calibri"/>
                <a:sym typeface="Calibri"/>
              </a:rPr>
              <a:t>A knowledge graph contains these triples:</a:t>
            </a:r>
            <a:endParaRPr sz="1500" b="0" i="0" u="none" strike="noStrike" cap="none">
              <a:solidFill>
                <a:schemeClr val="dk1"/>
              </a:solidFill>
              <a:latin typeface="Calibri"/>
              <a:ea typeface="Calibri"/>
              <a:cs typeface="Calibri"/>
              <a:sym typeface="Calibri"/>
            </a:endParaRPr>
          </a:p>
        </p:txBody>
      </p:sp>
      <p:sp>
        <p:nvSpPr>
          <p:cNvPr id="1723" name="Google Shape;1723;p99"/>
          <p:cNvSpPr/>
          <p:nvPr/>
        </p:nvSpPr>
        <p:spPr>
          <a:xfrm>
            <a:off x="868680" y="2560320"/>
            <a:ext cx="9784080" cy="594360"/>
          </a:xfrm>
          <a:prstGeom prst="rect">
            <a:avLst/>
          </a:prstGeom>
          <a:solidFill>
            <a:srgbClr val="F4F8F8"/>
          </a:solidFill>
          <a:ln w="9525" cap="flat" cmpd="sng">
            <a:solidFill>
              <a:srgbClr val="DDE3E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99"/>
          <p:cNvSpPr/>
          <p:nvPr/>
        </p:nvSpPr>
        <p:spPr>
          <a:xfrm>
            <a:off x="1097280" y="2651760"/>
            <a:ext cx="9326880" cy="41148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ts val="0"/>
              </a:spcBef>
              <a:spcAft>
                <a:spcPts val="0"/>
              </a:spcAft>
              <a:buClr>
                <a:srgbClr val="404040"/>
              </a:buClr>
              <a:buSzPts val="1250"/>
              <a:buFont typeface="Courier New"/>
              <a:buNone/>
            </a:pPr>
            <a:r>
              <a:rPr lang="en-US" sz="1250" b="0" i="0" u="none" strike="noStrike" cap="none">
                <a:solidFill>
                  <a:srgbClr val="404040"/>
                </a:solidFill>
                <a:latin typeface="Courier New"/>
                <a:ea typeface="Courier New"/>
                <a:cs typeface="Courier New"/>
                <a:sym typeface="Courier New"/>
              </a:rPr>
              <a:t>(Ahmed, worksAt, TechCorp) · (TechCorp, locatedIn, Lahore) · (Lahore, locatedIn, Pakistan)</a:t>
            </a:r>
            <a:endParaRPr sz="1250" b="0" i="0" u="none" strike="noStrike" cap="none">
              <a:solidFill>
                <a:schemeClr val="dk1"/>
              </a:solidFill>
              <a:latin typeface="Calibri"/>
              <a:ea typeface="Calibri"/>
              <a:cs typeface="Calibri"/>
              <a:sym typeface="Calibri"/>
            </a:endParaRPr>
          </a:p>
        </p:txBody>
      </p:sp>
      <p:sp>
        <p:nvSpPr>
          <p:cNvPr id="1725" name="Google Shape;1725;p99"/>
          <p:cNvSpPr/>
          <p:nvPr/>
        </p:nvSpPr>
        <p:spPr>
          <a:xfrm>
            <a:off x="868680" y="3337560"/>
            <a:ext cx="9784080" cy="77724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404040"/>
              </a:buClr>
              <a:buSzPts val="1500"/>
              <a:buFont typeface="Calibri"/>
              <a:buNone/>
            </a:pPr>
            <a:r>
              <a:rPr lang="en-US" sz="1500" b="1" i="1" u="none" strike="noStrike" cap="none">
                <a:solidFill>
                  <a:srgbClr val="404040"/>
                </a:solidFill>
                <a:latin typeface="Calibri"/>
                <a:ea typeface="Calibri"/>
                <a:cs typeface="Calibri"/>
                <a:sym typeface="Calibri"/>
              </a:rPr>
              <a:t>Question:  </a:t>
            </a:r>
            <a:r>
              <a:rPr lang="en-US" sz="1500" b="0" i="1" u="none" strike="noStrike" cap="none">
                <a:solidFill>
                  <a:srgbClr val="404040"/>
                </a:solidFill>
                <a:latin typeface="Calibri"/>
                <a:ea typeface="Calibri"/>
                <a:cs typeface="Calibri"/>
                <a:sym typeface="Calibri"/>
              </a:rPr>
              <a:t>Using only these triples, what country does Ahmed work in? Show the multi-hop reasoning path.</a:t>
            </a:r>
            <a:endParaRPr sz="1500" b="0" i="0" u="none" strike="noStrike" cap="none">
              <a:solidFill>
                <a:schemeClr val="dk1"/>
              </a:solidFill>
              <a:latin typeface="Calibri"/>
              <a:ea typeface="Calibri"/>
              <a:cs typeface="Calibri"/>
              <a:sym typeface="Calibri"/>
            </a:endParaRPr>
          </a:p>
        </p:txBody>
      </p:sp>
      <p:sp>
        <p:nvSpPr>
          <p:cNvPr id="1726" name="Google Shape;1726;p99"/>
          <p:cNvSpPr/>
          <p:nvPr/>
        </p:nvSpPr>
        <p:spPr>
          <a:xfrm>
            <a:off x="640080" y="4709160"/>
            <a:ext cx="1024128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4E79"/>
              </a:buClr>
              <a:buSzPts val="1250"/>
              <a:buFont typeface="Calibri"/>
              <a:buNone/>
            </a:pPr>
            <a:r>
              <a:rPr lang="en-US" sz="1250" b="1" i="1" u="none" strike="noStrike" cap="none">
                <a:solidFill>
                  <a:srgbClr val="1F4E79"/>
                </a:solidFill>
                <a:latin typeface="Calibri"/>
                <a:ea typeface="Calibri"/>
                <a:cs typeface="Calibri"/>
                <a:sym typeface="Calibri"/>
              </a:rPr>
              <a:t>PAUSE HERE — work out your answer before the next slide</a:t>
            </a:r>
            <a:endParaRPr sz="1250" b="0" i="0" u="none" strike="noStrike" cap="none">
              <a:solidFill>
                <a:schemeClr val="dk1"/>
              </a:solidFill>
              <a:latin typeface="Calibri"/>
              <a:ea typeface="Calibri"/>
              <a:cs typeface="Calibri"/>
              <a:sym typeface="Calibri"/>
            </a:endParaRPr>
          </a:p>
        </p:txBody>
      </p:sp>
      <p:sp>
        <p:nvSpPr>
          <p:cNvPr id="1727" name="Google Shape;1727;p99"/>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30 / 40</a:t>
            </a:r>
            <a:endParaRPr sz="950" b="0" i="0" u="none" strike="noStrike" cap="none">
              <a:solidFill>
                <a:schemeClr val="dk1"/>
              </a:solidFill>
              <a:latin typeface="Calibri"/>
              <a:ea typeface="Calibri"/>
              <a:cs typeface="Calibri"/>
              <a:sym typeface="Calibri"/>
            </a:endParaRPr>
          </a:p>
        </p:txBody>
      </p:sp>
      <p:sp>
        <p:nvSpPr>
          <p:cNvPr id="1728" name="Google Shape;1728;p99"/>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33"/>
        <p:cNvGrpSpPr/>
        <p:nvPr/>
      </p:nvGrpSpPr>
      <p:grpSpPr>
        <a:xfrm>
          <a:off x="0" y="0"/>
          <a:ext cx="0" cy="0"/>
          <a:chOff x="0" y="0"/>
          <a:chExt cx="0" cy="0"/>
        </a:xfrm>
      </p:grpSpPr>
      <p:sp>
        <p:nvSpPr>
          <p:cNvPr id="1734" name="Google Shape;1734;p100"/>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E79"/>
              </a:buClr>
              <a:buSzPts val="1100"/>
              <a:buFont typeface="Calibri"/>
              <a:buNone/>
            </a:pPr>
            <a:r>
              <a:rPr lang="en-US" sz="1100" b="1" i="0" u="none" strike="noStrike" cap="none">
                <a:solidFill>
                  <a:srgbClr val="1F4E79"/>
                </a:solidFill>
                <a:latin typeface="Calibri"/>
                <a:ea typeface="Calibri"/>
                <a:cs typeface="Calibri"/>
                <a:sym typeface="Calibri"/>
              </a:rPr>
              <a:t>WORKED EXAMPLE 2 — SOLUTION</a:t>
            </a:r>
            <a:endParaRPr sz="1100" b="0" i="0" u="none" strike="noStrike" cap="none">
              <a:solidFill>
                <a:schemeClr val="dk1"/>
              </a:solidFill>
              <a:latin typeface="Calibri"/>
              <a:ea typeface="Calibri"/>
              <a:cs typeface="Calibri"/>
              <a:sym typeface="Calibri"/>
            </a:endParaRPr>
          </a:p>
        </p:txBody>
      </p:sp>
      <p:sp>
        <p:nvSpPr>
          <p:cNvPr id="1735" name="Google Shape;1735;p100"/>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Multi-Hop Reasoning Across a Graph</a:t>
            </a:r>
            <a:endParaRPr sz="2300" b="0" i="0" u="none" strike="noStrike" cap="none">
              <a:solidFill>
                <a:schemeClr val="dk1"/>
              </a:solidFill>
              <a:latin typeface="Calibri"/>
              <a:ea typeface="Calibri"/>
              <a:cs typeface="Calibri"/>
              <a:sym typeface="Calibri"/>
            </a:endParaRPr>
          </a:p>
        </p:txBody>
      </p:sp>
      <p:cxnSp>
        <p:nvCxnSpPr>
          <p:cNvPr id="1736" name="Google Shape;1736;p100"/>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1737" name="Google Shape;1737;p100"/>
          <p:cNvSpPr/>
          <p:nvPr/>
        </p:nvSpPr>
        <p:spPr>
          <a:xfrm>
            <a:off x="457200" y="1627632"/>
            <a:ext cx="365760" cy="365760"/>
          </a:xfrm>
          <a:prstGeom prst="ellipse">
            <a:avLst/>
          </a:prstGeom>
          <a:solidFill>
            <a:srgbClr val="1F4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100"/>
          <p:cNvSpPr/>
          <p:nvPr/>
        </p:nvSpPr>
        <p:spPr>
          <a:xfrm>
            <a:off x="457200" y="1627632"/>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1739" name="Google Shape;1739;p100"/>
          <p:cNvSpPr/>
          <p:nvPr/>
        </p:nvSpPr>
        <p:spPr>
          <a:xfrm>
            <a:off x="960120" y="1554480"/>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404040"/>
              </a:buClr>
              <a:buSzPts val="1260"/>
              <a:buFont typeface="Calibri"/>
              <a:buNone/>
            </a:pPr>
            <a:r>
              <a:rPr lang="en-US" sz="1260" b="0" i="0" u="none" strike="noStrike" cap="none">
                <a:solidFill>
                  <a:srgbClr val="404040"/>
                </a:solidFill>
                <a:latin typeface="Calibri"/>
                <a:ea typeface="Calibri"/>
                <a:cs typeface="Calibri"/>
                <a:sym typeface="Calibri"/>
              </a:rPr>
              <a:t>Notice that no triple directly states "Ahmed worksIn Pakistan." The answer must be derived, not looked up directly — this is called multi-hop reasoning.</a:t>
            </a:r>
            <a:endParaRPr sz="1260" b="0" i="0" u="none" strike="noStrike" cap="none">
              <a:solidFill>
                <a:schemeClr val="dk1"/>
              </a:solidFill>
              <a:latin typeface="Calibri"/>
              <a:ea typeface="Calibri"/>
              <a:cs typeface="Calibri"/>
              <a:sym typeface="Calibri"/>
            </a:endParaRPr>
          </a:p>
        </p:txBody>
      </p:sp>
      <p:sp>
        <p:nvSpPr>
          <p:cNvPr id="1740" name="Google Shape;1740;p100"/>
          <p:cNvSpPr/>
          <p:nvPr/>
        </p:nvSpPr>
        <p:spPr>
          <a:xfrm>
            <a:off x="457200" y="2295144"/>
            <a:ext cx="365760" cy="365760"/>
          </a:xfrm>
          <a:prstGeom prst="ellipse">
            <a:avLst/>
          </a:prstGeom>
          <a:solidFill>
            <a:srgbClr val="1F4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100"/>
          <p:cNvSpPr/>
          <p:nvPr/>
        </p:nvSpPr>
        <p:spPr>
          <a:xfrm>
            <a:off x="457200" y="2295144"/>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1742" name="Google Shape;1742;p100"/>
          <p:cNvSpPr/>
          <p:nvPr/>
        </p:nvSpPr>
        <p:spPr>
          <a:xfrm>
            <a:off x="960120" y="2221992"/>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404040"/>
              </a:buClr>
              <a:buSzPts val="1260"/>
              <a:buFont typeface="Calibri"/>
              <a:buNone/>
            </a:pPr>
            <a:r>
              <a:rPr lang="en-US" sz="1260" b="0" i="0" u="none" strike="noStrike" cap="none">
                <a:solidFill>
                  <a:srgbClr val="404040"/>
                </a:solidFill>
                <a:latin typeface="Calibri"/>
                <a:ea typeface="Calibri"/>
                <a:cs typeface="Calibri"/>
                <a:sym typeface="Calibri"/>
              </a:rPr>
              <a:t>First hop: start at "Ahmed," follow the worksAt edge → arrive at "TechCorp."</a:t>
            </a:r>
            <a:endParaRPr sz="1260" b="0" i="0" u="none" strike="noStrike" cap="none">
              <a:solidFill>
                <a:schemeClr val="dk1"/>
              </a:solidFill>
              <a:latin typeface="Calibri"/>
              <a:ea typeface="Calibri"/>
              <a:cs typeface="Calibri"/>
              <a:sym typeface="Calibri"/>
            </a:endParaRPr>
          </a:p>
        </p:txBody>
      </p:sp>
      <p:sp>
        <p:nvSpPr>
          <p:cNvPr id="1743" name="Google Shape;1743;p100"/>
          <p:cNvSpPr/>
          <p:nvPr/>
        </p:nvSpPr>
        <p:spPr>
          <a:xfrm>
            <a:off x="457200" y="2962656"/>
            <a:ext cx="365760" cy="365760"/>
          </a:xfrm>
          <a:prstGeom prst="ellipse">
            <a:avLst/>
          </a:prstGeom>
          <a:solidFill>
            <a:srgbClr val="1F4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100"/>
          <p:cNvSpPr/>
          <p:nvPr/>
        </p:nvSpPr>
        <p:spPr>
          <a:xfrm>
            <a:off x="457200" y="2962656"/>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1745" name="Google Shape;1745;p100"/>
          <p:cNvSpPr/>
          <p:nvPr/>
        </p:nvSpPr>
        <p:spPr>
          <a:xfrm>
            <a:off x="960120" y="2889504"/>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404040"/>
              </a:buClr>
              <a:buSzPts val="1260"/>
              <a:buFont typeface="Calibri"/>
              <a:buNone/>
            </a:pPr>
            <a:r>
              <a:rPr lang="en-US" sz="1260" b="0" i="0" u="none" strike="noStrike" cap="none">
                <a:solidFill>
                  <a:srgbClr val="404040"/>
                </a:solidFill>
                <a:latin typeface="Calibri"/>
                <a:ea typeface="Calibri"/>
                <a:cs typeface="Calibri"/>
                <a:sym typeface="Calibri"/>
              </a:rPr>
              <a:t>Second hop: from "TechCorp," follow the locatedIn edge → arrive at "Lahore."</a:t>
            </a:r>
            <a:endParaRPr sz="1260" b="0" i="0" u="none" strike="noStrike" cap="none">
              <a:solidFill>
                <a:schemeClr val="dk1"/>
              </a:solidFill>
              <a:latin typeface="Calibri"/>
              <a:ea typeface="Calibri"/>
              <a:cs typeface="Calibri"/>
              <a:sym typeface="Calibri"/>
            </a:endParaRPr>
          </a:p>
        </p:txBody>
      </p:sp>
      <p:sp>
        <p:nvSpPr>
          <p:cNvPr id="1746" name="Google Shape;1746;p100"/>
          <p:cNvSpPr/>
          <p:nvPr/>
        </p:nvSpPr>
        <p:spPr>
          <a:xfrm>
            <a:off x="457200" y="3630168"/>
            <a:ext cx="365760" cy="365760"/>
          </a:xfrm>
          <a:prstGeom prst="ellipse">
            <a:avLst/>
          </a:prstGeom>
          <a:solidFill>
            <a:srgbClr val="1F4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100"/>
          <p:cNvSpPr/>
          <p:nvPr/>
        </p:nvSpPr>
        <p:spPr>
          <a:xfrm>
            <a:off x="457200" y="3630168"/>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4</a:t>
            </a:r>
            <a:endParaRPr sz="1400" b="0" i="0" u="none" strike="noStrike" cap="none">
              <a:solidFill>
                <a:schemeClr val="dk1"/>
              </a:solidFill>
              <a:latin typeface="Calibri"/>
              <a:ea typeface="Calibri"/>
              <a:cs typeface="Calibri"/>
              <a:sym typeface="Calibri"/>
            </a:endParaRPr>
          </a:p>
        </p:txBody>
      </p:sp>
      <p:sp>
        <p:nvSpPr>
          <p:cNvPr id="1748" name="Google Shape;1748;p100"/>
          <p:cNvSpPr/>
          <p:nvPr/>
        </p:nvSpPr>
        <p:spPr>
          <a:xfrm>
            <a:off x="960120" y="3557016"/>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404040"/>
              </a:buClr>
              <a:buSzPts val="1260"/>
              <a:buFont typeface="Calibri"/>
              <a:buNone/>
            </a:pPr>
            <a:r>
              <a:rPr lang="en-US" sz="1260" b="0" i="0" u="none" strike="noStrike" cap="none">
                <a:solidFill>
                  <a:srgbClr val="404040"/>
                </a:solidFill>
                <a:latin typeface="Calibri"/>
                <a:ea typeface="Calibri"/>
                <a:cs typeface="Calibri"/>
                <a:sym typeface="Calibri"/>
              </a:rPr>
              <a:t>Third hop: from "Lahore," follow another locatedIn edge → arrive at "Pakistan." Conclusion: Ahmed works in Pakistan, reached via a three-hop path.</a:t>
            </a:r>
            <a:endParaRPr sz="1260" b="0" i="0" u="none" strike="noStrike" cap="none">
              <a:solidFill>
                <a:schemeClr val="dk1"/>
              </a:solidFill>
              <a:latin typeface="Calibri"/>
              <a:ea typeface="Calibri"/>
              <a:cs typeface="Calibri"/>
              <a:sym typeface="Calibri"/>
            </a:endParaRPr>
          </a:p>
        </p:txBody>
      </p:sp>
      <p:sp>
        <p:nvSpPr>
          <p:cNvPr id="1749" name="Google Shape;1749;p100"/>
          <p:cNvSpPr/>
          <p:nvPr/>
        </p:nvSpPr>
        <p:spPr>
          <a:xfrm>
            <a:off x="457200" y="4480560"/>
            <a:ext cx="10607040" cy="1691640"/>
          </a:xfrm>
          <a:prstGeom prst="rect">
            <a:avLst/>
          </a:prstGeom>
          <a:solidFill>
            <a:srgbClr val="FFF6EC"/>
          </a:solidFill>
          <a:ln w="9525" cap="flat" cmpd="sng">
            <a:solidFill>
              <a:srgbClr val="1F4E7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100"/>
          <p:cNvSpPr/>
          <p:nvPr/>
        </p:nvSpPr>
        <p:spPr>
          <a:xfrm>
            <a:off x="457200" y="4480560"/>
            <a:ext cx="64008" cy="1691640"/>
          </a:xfrm>
          <a:prstGeom prst="rect">
            <a:avLst/>
          </a:prstGeom>
          <a:solidFill>
            <a:srgbClr val="1F4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100"/>
          <p:cNvSpPr/>
          <p:nvPr/>
        </p:nvSpPr>
        <p:spPr>
          <a:xfrm>
            <a:off x="685800" y="4590288"/>
            <a:ext cx="102412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E79"/>
              </a:buClr>
              <a:buSzPts val="1050"/>
              <a:buFont typeface="Calibri"/>
              <a:buNone/>
            </a:pPr>
            <a:r>
              <a:rPr lang="en-US" sz="1050" b="1" i="0" u="none" strike="noStrike" cap="none">
                <a:solidFill>
                  <a:srgbClr val="1F4E79"/>
                </a:solidFill>
                <a:latin typeface="Calibri"/>
                <a:ea typeface="Calibri"/>
                <a:cs typeface="Calibri"/>
                <a:sym typeface="Calibri"/>
              </a:rPr>
              <a:t>WHY THIS SOLUTION WORKS</a:t>
            </a:r>
            <a:endParaRPr sz="1050" b="0" i="0" u="none" strike="noStrike" cap="none">
              <a:solidFill>
                <a:schemeClr val="dk1"/>
              </a:solidFill>
              <a:latin typeface="Calibri"/>
              <a:ea typeface="Calibri"/>
              <a:cs typeface="Calibri"/>
              <a:sym typeface="Calibri"/>
            </a:endParaRPr>
          </a:p>
        </p:txBody>
      </p:sp>
      <p:sp>
        <p:nvSpPr>
          <p:cNvPr id="1752" name="Google Shape;1752;p100"/>
          <p:cNvSpPr/>
          <p:nvPr/>
        </p:nvSpPr>
        <p:spPr>
          <a:xfrm>
            <a:off x="685800" y="4882896"/>
            <a:ext cx="10195560" cy="119786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230"/>
              <a:buFont typeface="Calibri"/>
              <a:buNone/>
            </a:pPr>
            <a:r>
              <a:rPr lang="en-US" sz="1230" b="0" i="0" u="none" strike="noStrike" cap="none">
                <a:solidFill>
                  <a:srgbClr val="404040"/>
                </a:solidFill>
                <a:latin typeface="Calibri"/>
                <a:ea typeface="Calibri"/>
                <a:cs typeface="Calibri"/>
                <a:sym typeface="Calibri"/>
              </a:rPr>
              <a:t>This is exactly how modern search engines and virtual assistants answer questions never explicitly written down anywhere. The number of hops matters in practice: more hops generally mean a less certain answer, which is why many real-world systems report a confidence score that decreases slightly with each additional hop.</a:t>
            </a:r>
            <a:endParaRPr sz="1230" b="0" i="0" u="none" strike="noStrike" cap="none">
              <a:solidFill>
                <a:schemeClr val="dk1"/>
              </a:solidFill>
              <a:latin typeface="Calibri"/>
              <a:ea typeface="Calibri"/>
              <a:cs typeface="Calibri"/>
              <a:sym typeface="Calibri"/>
            </a:endParaRPr>
          </a:p>
        </p:txBody>
      </p:sp>
      <p:sp>
        <p:nvSpPr>
          <p:cNvPr id="1753" name="Google Shape;1753;p100"/>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30 / 40</a:t>
            </a:r>
            <a:endParaRPr sz="950" b="0" i="0" u="none" strike="noStrike" cap="none">
              <a:solidFill>
                <a:schemeClr val="dk1"/>
              </a:solidFill>
              <a:latin typeface="Calibri"/>
              <a:ea typeface="Calibri"/>
              <a:cs typeface="Calibri"/>
              <a:sym typeface="Calibri"/>
            </a:endParaRPr>
          </a:p>
        </p:txBody>
      </p:sp>
      <p:sp>
        <p:nvSpPr>
          <p:cNvPr id="1754" name="Google Shape;1754;p100"/>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59"/>
        <p:cNvGrpSpPr/>
        <p:nvPr/>
      </p:nvGrpSpPr>
      <p:grpSpPr>
        <a:xfrm>
          <a:off x="0" y="0"/>
          <a:ext cx="0" cy="0"/>
          <a:chOff x="0" y="0"/>
          <a:chExt cx="0" cy="0"/>
        </a:xfrm>
      </p:grpSpPr>
      <p:sp>
        <p:nvSpPr>
          <p:cNvPr id="1760" name="Google Shape;1760;p101"/>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E79"/>
              </a:buClr>
              <a:buSzPts val="1100"/>
              <a:buFont typeface="Calibri"/>
              <a:buNone/>
            </a:pPr>
            <a:r>
              <a:rPr lang="en-US" sz="1100" b="1" i="0" u="none" strike="noStrike" cap="none">
                <a:solidFill>
                  <a:srgbClr val="1F4E79"/>
                </a:solidFill>
                <a:latin typeface="Calibri"/>
                <a:ea typeface="Calibri"/>
                <a:cs typeface="Calibri"/>
                <a:sym typeface="Calibri"/>
              </a:rPr>
              <a:t>WORKED EXAMPLE 3 — TRY IT YOURSELF</a:t>
            </a:r>
            <a:endParaRPr sz="1100" b="0" i="0" u="none" strike="noStrike" cap="none">
              <a:solidFill>
                <a:schemeClr val="dk1"/>
              </a:solidFill>
              <a:latin typeface="Calibri"/>
              <a:ea typeface="Calibri"/>
              <a:cs typeface="Calibri"/>
              <a:sym typeface="Calibri"/>
            </a:endParaRPr>
          </a:p>
        </p:txBody>
      </p:sp>
      <p:sp>
        <p:nvSpPr>
          <p:cNvPr id="1761" name="Google Shape;1761;p101"/>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Using an Ontology to Catch a Contradiction</a:t>
            </a:r>
            <a:endParaRPr sz="2300" b="0" i="0" u="none" strike="noStrike" cap="none">
              <a:solidFill>
                <a:schemeClr val="dk1"/>
              </a:solidFill>
              <a:latin typeface="Calibri"/>
              <a:ea typeface="Calibri"/>
              <a:cs typeface="Calibri"/>
              <a:sym typeface="Calibri"/>
            </a:endParaRPr>
          </a:p>
        </p:txBody>
      </p:sp>
      <p:cxnSp>
        <p:nvCxnSpPr>
          <p:cNvPr id="1762" name="Google Shape;1762;p101"/>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1763" name="Google Shape;1763;p101"/>
          <p:cNvSpPr/>
          <p:nvPr/>
        </p:nvSpPr>
        <p:spPr>
          <a:xfrm>
            <a:off x="640080" y="1691640"/>
            <a:ext cx="10241280" cy="2834640"/>
          </a:xfrm>
          <a:prstGeom prst="rect">
            <a:avLst/>
          </a:prstGeom>
          <a:solidFill>
            <a:srgbClr val="EAF1F8"/>
          </a:solidFill>
          <a:ln w="15875" cap="flat" cmpd="sng">
            <a:solidFill>
              <a:srgbClr val="1F4E7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101"/>
          <p:cNvSpPr/>
          <p:nvPr/>
        </p:nvSpPr>
        <p:spPr>
          <a:xfrm>
            <a:off x="868680" y="1874520"/>
            <a:ext cx="3657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E79"/>
              </a:buClr>
              <a:buSzPts val="1200"/>
              <a:buFont typeface="Calibri"/>
              <a:buNone/>
            </a:pPr>
            <a:r>
              <a:rPr lang="en-US" sz="1200" b="1" i="0" u="none" strike="noStrike" cap="none">
                <a:solidFill>
                  <a:srgbClr val="1F4E79"/>
                </a:solidFill>
                <a:latin typeface="Calibri"/>
                <a:ea typeface="Calibri"/>
                <a:cs typeface="Calibri"/>
                <a:sym typeface="Calibri"/>
              </a:rPr>
              <a:t>PROBLEM</a:t>
            </a:r>
            <a:endParaRPr sz="1200" b="0" i="0" u="none" strike="noStrike" cap="none">
              <a:solidFill>
                <a:schemeClr val="dk1"/>
              </a:solidFill>
              <a:latin typeface="Calibri"/>
              <a:ea typeface="Calibri"/>
              <a:cs typeface="Calibri"/>
              <a:sym typeface="Calibri"/>
            </a:endParaRPr>
          </a:p>
        </p:txBody>
      </p:sp>
      <p:sp>
        <p:nvSpPr>
          <p:cNvPr id="1765" name="Google Shape;1765;p101"/>
          <p:cNvSpPr/>
          <p:nvPr/>
        </p:nvSpPr>
        <p:spPr>
          <a:xfrm>
            <a:off x="868680" y="2194560"/>
            <a:ext cx="9784080" cy="128016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404040"/>
              </a:buClr>
              <a:buSzPts val="1450"/>
              <a:buFont typeface="Calibri"/>
              <a:buNone/>
            </a:pPr>
            <a:r>
              <a:rPr lang="en-US" sz="1450" b="0" i="0" u="none" strike="noStrike" cap="none">
                <a:solidFill>
                  <a:srgbClr val="404040"/>
                </a:solidFill>
                <a:latin typeface="Calibri"/>
                <a:ea typeface="Calibri"/>
                <a:cs typeface="Calibri"/>
                <a:sym typeface="Calibri"/>
              </a:rPr>
              <a:t>An ontology defines the rule: "Only entities of class Person can have the relationship marriedTo. A City cannot be marriedTo anything." A data-entry error accidentally adds the triple: </a:t>
            </a:r>
            <a:endParaRPr sz="1450" b="0" i="0" u="none" strike="noStrike" cap="none">
              <a:solidFill>
                <a:schemeClr val="dk1"/>
              </a:solidFill>
              <a:latin typeface="Calibri"/>
              <a:ea typeface="Calibri"/>
              <a:cs typeface="Calibri"/>
              <a:sym typeface="Calibri"/>
            </a:endParaRPr>
          </a:p>
          <a:p>
            <a:pPr marL="0" marR="0" lvl="0" indent="0" algn="l" rtl="0">
              <a:lnSpc>
                <a:spcPct val="130000"/>
              </a:lnSpc>
              <a:spcBef>
                <a:spcPts val="0"/>
              </a:spcBef>
              <a:spcAft>
                <a:spcPts val="0"/>
              </a:spcAft>
              <a:buClr>
                <a:srgbClr val="404040"/>
              </a:buClr>
              <a:buSzPts val="1450"/>
              <a:buFont typeface="Calibri"/>
              <a:buNone/>
            </a:pPr>
            <a:r>
              <a:rPr lang="en-US" sz="1450" b="1" i="0" u="none" strike="noStrike" cap="none">
                <a:solidFill>
                  <a:srgbClr val="404040"/>
                </a:solidFill>
                <a:latin typeface="Calibri"/>
                <a:ea typeface="Calibri"/>
                <a:cs typeface="Calibri"/>
                <a:sym typeface="Calibri"/>
              </a:rPr>
              <a:t>(Lahore, marriedTo, Karachi).</a:t>
            </a:r>
            <a:endParaRPr sz="1450" b="0" i="0" u="none" strike="noStrike" cap="none">
              <a:solidFill>
                <a:schemeClr val="dk1"/>
              </a:solidFill>
              <a:latin typeface="Calibri"/>
              <a:ea typeface="Calibri"/>
              <a:cs typeface="Calibri"/>
              <a:sym typeface="Calibri"/>
            </a:endParaRPr>
          </a:p>
        </p:txBody>
      </p:sp>
      <p:sp>
        <p:nvSpPr>
          <p:cNvPr id="1766" name="Google Shape;1766;p101"/>
          <p:cNvSpPr/>
          <p:nvPr/>
        </p:nvSpPr>
        <p:spPr>
          <a:xfrm>
            <a:off x="868680" y="3566160"/>
            <a:ext cx="9784080" cy="77724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404040"/>
              </a:buClr>
              <a:buSzPts val="1400"/>
              <a:buFont typeface="Calibri"/>
              <a:buNone/>
            </a:pPr>
            <a:r>
              <a:rPr lang="en-US" sz="1400" b="1" i="1" u="none" strike="noStrike" cap="none">
                <a:solidFill>
                  <a:srgbClr val="404040"/>
                </a:solidFill>
                <a:latin typeface="Calibri"/>
                <a:ea typeface="Calibri"/>
                <a:cs typeface="Calibri"/>
                <a:sym typeface="Calibri"/>
              </a:rPr>
              <a:t>Question:  </a:t>
            </a:r>
            <a:r>
              <a:rPr lang="en-US" sz="1400" b="0" i="1" u="none" strike="noStrike" cap="none">
                <a:solidFill>
                  <a:srgbClr val="404040"/>
                </a:solidFill>
                <a:latin typeface="Calibri"/>
                <a:ea typeface="Calibri"/>
                <a:cs typeface="Calibri"/>
                <a:sym typeface="Calibri"/>
              </a:rPr>
              <a:t>How does the ontology allow the system to detect this as an error automatically, without a human reviewing every triple by hand?</a:t>
            </a:r>
            <a:endParaRPr sz="1400" b="0" i="0" u="none" strike="noStrike" cap="none">
              <a:solidFill>
                <a:schemeClr val="dk1"/>
              </a:solidFill>
              <a:latin typeface="Calibri"/>
              <a:ea typeface="Calibri"/>
              <a:cs typeface="Calibri"/>
              <a:sym typeface="Calibri"/>
            </a:endParaRPr>
          </a:p>
        </p:txBody>
      </p:sp>
      <p:sp>
        <p:nvSpPr>
          <p:cNvPr id="1767" name="Google Shape;1767;p101"/>
          <p:cNvSpPr/>
          <p:nvPr/>
        </p:nvSpPr>
        <p:spPr>
          <a:xfrm>
            <a:off x="640080" y="4754880"/>
            <a:ext cx="1024128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4E79"/>
              </a:buClr>
              <a:buSzPts val="1250"/>
              <a:buFont typeface="Calibri"/>
              <a:buNone/>
            </a:pPr>
            <a:r>
              <a:rPr lang="en-US" sz="1250" b="1" i="1" u="none" strike="noStrike" cap="none">
                <a:solidFill>
                  <a:srgbClr val="1F4E79"/>
                </a:solidFill>
                <a:latin typeface="Calibri"/>
                <a:ea typeface="Calibri"/>
                <a:cs typeface="Calibri"/>
                <a:sym typeface="Calibri"/>
              </a:rPr>
              <a:t>PAUSE HERE — work out your answer before the next slide</a:t>
            </a:r>
            <a:endParaRPr sz="1250" b="0" i="0" u="none" strike="noStrike" cap="none">
              <a:solidFill>
                <a:schemeClr val="dk1"/>
              </a:solidFill>
              <a:latin typeface="Calibri"/>
              <a:ea typeface="Calibri"/>
              <a:cs typeface="Calibri"/>
              <a:sym typeface="Calibri"/>
            </a:endParaRPr>
          </a:p>
        </p:txBody>
      </p:sp>
      <p:sp>
        <p:nvSpPr>
          <p:cNvPr id="1768" name="Google Shape;1768;p101"/>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31 / 40</a:t>
            </a:r>
            <a:endParaRPr sz="950" b="0" i="0" u="none" strike="noStrike" cap="none">
              <a:solidFill>
                <a:schemeClr val="dk1"/>
              </a:solidFill>
              <a:latin typeface="Calibri"/>
              <a:ea typeface="Calibri"/>
              <a:cs typeface="Calibri"/>
              <a:sym typeface="Calibri"/>
            </a:endParaRPr>
          </a:p>
        </p:txBody>
      </p:sp>
      <p:sp>
        <p:nvSpPr>
          <p:cNvPr id="1769" name="Google Shape;1769;p101"/>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74"/>
        <p:cNvGrpSpPr/>
        <p:nvPr/>
      </p:nvGrpSpPr>
      <p:grpSpPr>
        <a:xfrm>
          <a:off x="0" y="0"/>
          <a:ext cx="0" cy="0"/>
          <a:chOff x="0" y="0"/>
          <a:chExt cx="0" cy="0"/>
        </a:xfrm>
      </p:grpSpPr>
      <p:sp>
        <p:nvSpPr>
          <p:cNvPr id="1775" name="Google Shape;1775;p102"/>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E79"/>
              </a:buClr>
              <a:buSzPts val="1100"/>
              <a:buFont typeface="Calibri"/>
              <a:buNone/>
            </a:pPr>
            <a:r>
              <a:rPr lang="en-US" sz="1100" b="1" i="0" u="none" strike="noStrike" cap="none">
                <a:solidFill>
                  <a:srgbClr val="1F4E79"/>
                </a:solidFill>
                <a:latin typeface="Calibri"/>
                <a:ea typeface="Calibri"/>
                <a:cs typeface="Calibri"/>
                <a:sym typeface="Calibri"/>
              </a:rPr>
              <a:t>WORKED EXAMPLE 3 — SOLUTION</a:t>
            </a:r>
            <a:endParaRPr sz="1100" b="0" i="0" u="none" strike="noStrike" cap="none">
              <a:solidFill>
                <a:schemeClr val="dk1"/>
              </a:solidFill>
              <a:latin typeface="Calibri"/>
              <a:ea typeface="Calibri"/>
              <a:cs typeface="Calibri"/>
              <a:sym typeface="Calibri"/>
            </a:endParaRPr>
          </a:p>
        </p:txBody>
      </p:sp>
      <p:sp>
        <p:nvSpPr>
          <p:cNvPr id="1776" name="Google Shape;1776;p102"/>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Using an Ontology to Catch a Contradiction</a:t>
            </a:r>
            <a:endParaRPr sz="2300" b="0" i="0" u="none" strike="noStrike" cap="none">
              <a:solidFill>
                <a:schemeClr val="dk1"/>
              </a:solidFill>
              <a:latin typeface="Calibri"/>
              <a:ea typeface="Calibri"/>
              <a:cs typeface="Calibri"/>
              <a:sym typeface="Calibri"/>
            </a:endParaRPr>
          </a:p>
        </p:txBody>
      </p:sp>
      <p:cxnSp>
        <p:nvCxnSpPr>
          <p:cNvPr id="1777" name="Google Shape;1777;p102"/>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1778" name="Google Shape;1778;p102"/>
          <p:cNvSpPr/>
          <p:nvPr/>
        </p:nvSpPr>
        <p:spPr>
          <a:xfrm>
            <a:off x="457200" y="1627632"/>
            <a:ext cx="365760" cy="365760"/>
          </a:xfrm>
          <a:prstGeom prst="ellipse">
            <a:avLst/>
          </a:prstGeom>
          <a:solidFill>
            <a:srgbClr val="1F4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102"/>
          <p:cNvSpPr/>
          <p:nvPr/>
        </p:nvSpPr>
        <p:spPr>
          <a:xfrm>
            <a:off x="457200" y="1627632"/>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1780" name="Google Shape;1780;p102"/>
          <p:cNvSpPr/>
          <p:nvPr/>
        </p:nvSpPr>
        <p:spPr>
          <a:xfrm>
            <a:off x="960120" y="1554480"/>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404040"/>
              </a:buClr>
              <a:buSzPts val="1240"/>
              <a:buFont typeface="Calibri"/>
              <a:buNone/>
            </a:pPr>
            <a:r>
              <a:rPr lang="en-US" sz="1240" b="0" i="0" u="none" strike="noStrike" cap="none">
                <a:solidFill>
                  <a:srgbClr val="404040"/>
                </a:solidFill>
                <a:latin typeface="Calibri"/>
                <a:ea typeface="Calibri"/>
                <a:cs typeface="Calibri"/>
                <a:sym typeface="Calibri"/>
              </a:rPr>
              <a:t>Look up the classes of the entities involved: "Lahore" and "Karachi" are both classified under the ontology as instances of the class City.</a:t>
            </a:r>
            <a:endParaRPr sz="1240" b="0" i="0" u="none" strike="noStrike" cap="none">
              <a:solidFill>
                <a:schemeClr val="dk1"/>
              </a:solidFill>
              <a:latin typeface="Calibri"/>
              <a:ea typeface="Calibri"/>
              <a:cs typeface="Calibri"/>
              <a:sym typeface="Calibri"/>
            </a:endParaRPr>
          </a:p>
        </p:txBody>
      </p:sp>
      <p:sp>
        <p:nvSpPr>
          <p:cNvPr id="1781" name="Google Shape;1781;p102"/>
          <p:cNvSpPr/>
          <p:nvPr/>
        </p:nvSpPr>
        <p:spPr>
          <a:xfrm>
            <a:off x="457200" y="2295144"/>
            <a:ext cx="365760" cy="365760"/>
          </a:xfrm>
          <a:prstGeom prst="ellipse">
            <a:avLst/>
          </a:prstGeom>
          <a:solidFill>
            <a:srgbClr val="1F4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102"/>
          <p:cNvSpPr/>
          <p:nvPr/>
        </p:nvSpPr>
        <p:spPr>
          <a:xfrm>
            <a:off x="457200" y="2295144"/>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1783" name="Google Shape;1783;p102"/>
          <p:cNvSpPr/>
          <p:nvPr/>
        </p:nvSpPr>
        <p:spPr>
          <a:xfrm>
            <a:off x="960120" y="2221992"/>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404040"/>
              </a:buClr>
              <a:buSzPts val="1240"/>
              <a:buFont typeface="Calibri"/>
              <a:buNone/>
            </a:pPr>
            <a:r>
              <a:rPr lang="en-US" sz="1240" b="0" i="0" u="none" strike="noStrike" cap="none">
                <a:solidFill>
                  <a:srgbClr val="404040"/>
                </a:solidFill>
                <a:latin typeface="Calibri"/>
                <a:ea typeface="Calibri"/>
                <a:cs typeface="Calibri"/>
                <a:sym typeface="Calibri"/>
              </a:rPr>
              <a:t>Look up the ontology's domain/range constraint for marriedTo: it specifies that both the subject and object must belong to the class Person.</a:t>
            </a:r>
            <a:endParaRPr sz="1240" b="0" i="0" u="none" strike="noStrike" cap="none">
              <a:solidFill>
                <a:schemeClr val="dk1"/>
              </a:solidFill>
              <a:latin typeface="Calibri"/>
              <a:ea typeface="Calibri"/>
              <a:cs typeface="Calibri"/>
              <a:sym typeface="Calibri"/>
            </a:endParaRPr>
          </a:p>
        </p:txBody>
      </p:sp>
      <p:sp>
        <p:nvSpPr>
          <p:cNvPr id="1784" name="Google Shape;1784;p102"/>
          <p:cNvSpPr/>
          <p:nvPr/>
        </p:nvSpPr>
        <p:spPr>
          <a:xfrm>
            <a:off x="457200" y="2962656"/>
            <a:ext cx="365760" cy="365760"/>
          </a:xfrm>
          <a:prstGeom prst="ellipse">
            <a:avLst/>
          </a:prstGeom>
          <a:solidFill>
            <a:srgbClr val="1F4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102"/>
          <p:cNvSpPr/>
          <p:nvPr/>
        </p:nvSpPr>
        <p:spPr>
          <a:xfrm>
            <a:off x="457200" y="2962656"/>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1786" name="Google Shape;1786;p102"/>
          <p:cNvSpPr/>
          <p:nvPr/>
        </p:nvSpPr>
        <p:spPr>
          <a:xfrm>
            <a:off x="960120" y="2889504"/>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404040"/>
              </a:buClr>
              <a:buSzPts val="1240"/>
              <a:buFont typeface="Calibri"/>
              <a:buNone/>
            </a:pPr>
            <a:r>
              <a:rPr lang="en-US" sz="1240" b="0" i="0" u="none" strike="noStrike" cap="none">
                <a:solidFill>
                  <a:srgbClr val="404040"/>
                </a:solidFill>
                <a:latin typeface="Calibri"/>
                <a:ea typeface="Calibri"/>
                <a:cs typeface="Calibri"/>
                <a:sym typeface="Calibri"/>
              </a:rPr>
              <a:t>Compare the actual triple against the rule: the triple uses class City on both sides, but the rule requires class Person — a direct mismatch.</a:t>
            </a:r>
            <a:endParaRPr sz="1240" b="0" i="0" u="none" strike="noStrike" cap="none">
              <a:solidFill>
                <a:schemeClr val="dk1"/>
              </a:solidFill>
              <a:latin typeface="Calibri"/>
              <a:ea typeface="Calibri"/>
              <a:cs typeface="Calibri"/>
              <a:sym typeface="Calibri"/>
            </a:endParaRPr>
          </a:p>
        </p:txBody>
      </p:sp>
      <p:sp>
        <p:nvSpPr>
          <p:cNvPr id="1787" name="Google Shape;1787;p102"/>
          <p:cNvSpPr/>
          <p:nvPr/>
        </p:nvSpPr>
        <p:spPr>
          <a:xfrm>
            <a:off x="457200" y="3630168"/>
            <a:ext cx="365760" cy="365760"/>
          </a:xfrm>
          <a:prstGeom prst="ellipse">
            <a:avLst/>
          </a:prstGeom>
          <a:solidFill>
            <a:srgbClr val="1F4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102"/>
          <p:cNvSpPr/>
          <p:nvPr/>
        </p:nvSpPr>
        <p:spPr>
          <a:xfrm>
            <a:off x="457200" y="3630168"/>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4</a:t>
            </a:r>
            <a:endParaRPr sz="1400" b="0" i="0" u="none" strike="noStrike" cap="none">
              <a:solidFill>
                <a:schemeClr val="dk1"/>
              </a:solidFill>
              <a:latin typeface="Calibri"/>
              <a:ea typeface="Calibri"/>
              <a:cs typeface="Calibri"/>
              <a:sym typeface="Calibri"/>
            </a:endParaRPr>
          </a:p>
        </p:txBody>
      </p:sp>
      <p:sp>
        <p:nvSpPr>
          <p:cNvPr id="1789" name="Google Shape;1789;p102"/>
          <p:cNvSpPr/>
          <p:nvPr/>
        </p:nvSpPr>
        <p:spPr>
          <a:xfrm>
            <a:off x="960120" y="3557016"/>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404040"/>
              </a:buClr>
              <a:buSzPts val="1240"/>
              <a:buFont typeface="Calibri"/>
              <a:buNone/>
            </a:pPr>
            <a:r>
              <a:rPr lang="en-US" sz="1240" b="0" i="0" u="none" strike="noStrike" cap="none">
                <a:solidFill>
                  <a:srgbClr val="404040"/>
                </a:solidFill>
                <a:latin typeface="Calibri"/>
                <a:ea typeface="Calibri"/>
                <a:cs typeface="Calibri"/>
                <a:sym typeface="Calibri"/>
              </a:rPr>
              <a:t>The system automatically flags the triple as an ontology violation and either rejects it or sends it for human review — without manually inspecting millions of other triples.</a:t>
            </a:r>
            <a:endParaRPr sz="1240" b="0" i="0" u="none" strike="noStrike" cap="none">
              <a:solidFill>
                <a:schemeClr val="dk1"/>
              </a:solidFill>
              <a:latin typeface="Calibri"/>
              <a:ea typeface="Calibri"/>
              <a:cs typeface="Calibri"/>
              <a:sym typeface="Calibri"/>
            </a:endParaRPr>
          </a:p>
        </p:txBody>
      </p:sp>
      <p:sp>
        <p:nvSpPr>
          <p:cNvPr id="1790" name="Google Shape;1790;p102"/>
          <p:cNvSpPr/>
          <p:nvPr/>
        </p:nvSpPr>
        <p:spPr>
          <a:xfrm>
            <a:off x="457200" y="4480560"/>
            <a:ext cx="10607040" cy="1691640"/>
          </a:xfrm>
          <a:prstGeom prst="rect">
            <a:avLst/>
          </a:prstGeom>
          <a:solidFill>
            <a:srgbClr val="FFF6EC"/>
          </a:solidFill>
          <a:ln w="9525" cap="flat" cmpd="sng">
            <a:solidFill>
              <a:srgbClr val="1F4E7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102"/>
          <p:cNvSpPr/>
          <p:nvPr/>
        </p:nvSpPr>
        <p:spPr>
          <a:xfrm>
            <a:off x="457200" y="4480560"/>
            <a:ext cx="64008" cy="1691640"/>
          </a:xfrm>
          <a:prstGeom prst="rect">
            <a:avLst/>
          </a:prstGeom>
          <a:solidFill>
            <a:srgbClr val="1F4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102"/>
          <p:cNvSpPr/>
          <p:nvPr/>
        </p:nvSpPr>
        <p:spPr>
          <a:xfrm>
            <a:off x="685800" y="4590288"/>
            <a:ext cx="102412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E79"/>
              </a:buClr>
              <a:buSzPts val="1050"/>
              <a:buFont typeface="Calibri"/>
              <a:buNone/>
            </a:pPr>
            <a:r>
              <a:rPr lang="en-US" sz="1050" b="1" i="0" u="none" strike="noStrike" cap="none">
                <a:solidFill>
                  <a:srgbClr val="1F4E79"/>
                </a:solidFill>
                <a:latin typeface="Calibri"/>
                <a:ea typeface="Calibri"/>
                <a:cs typeface="Calibri"/>
                <a:sym typeface="Calibri"/>
              </a:rPr>
              <a:t>WHY THIS SOLUTION WORKS</a:t>
            </a:r>
            <a:endParaRPr sz="1050" b="0" i="0" u="none" strike="noStrike" cap="none">
              <a:solidFill>
                <a:schemeClr val="dk1"/>
              </a:solidFill>
              <a:latin typeface="Calibri"/>
              <a:ea typeface="Calibri"/>
              <a:cs typeface="Calibri"/>
              <a:sym typeface="Calibri"/>
            </a:endParaRPr>
          </a:p>
        </p:txBody>
      </p:sp>
      <p:sp>
        <p:nvSpPr>
          <p:cNvPr id="1793" name="Google Shape;1793;p102"/>
          <p:cNvSpPr/>
          <p:nvPr/>
        </p:nvSpPr>
        <p:spPr>
          <a:xfrm>
            <a:off x="685800" y="4882896"/>
            <a:ext cx="10195560" cy="119786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230"/>
              <a:buFont typeface="Calibri"/>
              <a:buNone/>
            </a:pPr>
            <a:r>
              <a:rPr lang="en-US" sz="1230" b="0" i="0" u="none" strike="noStrike" cap="none">
                <a:solidFill>
                  <a:srgbClr val="404040"/>
                </a:solidFill>
                <a:latin typeface="Calibri"/>
                <a:ea typeface="Calibri"/>
                <a:cs typeface="Calibri"/>
                <a:sym typeface="Calibri"/>
              </a:rPr>
              <a:t>This transforms data validation from a manual, human task into an automatic, logical check that scales to billions of facts. Without the ontology, a knowledge graph is just a pile of triples with no way to tell a correct fact from an absurd one — closely related to the commonsense reasoning of Topic 2, but applied to the graph's own data.</a:t>
            </a:r>
            <a:endParaRPr sz="1230" b="0" i="0" u="none" strike="noStrike" cap="none">
              <a:solidFill>
                <a:schemeClr val="dk1"/>
              </a:solidFill>
              <a:latin typeface="Calibri"/>
              <a:ea typeface="Calibri"/>
              <a:cs typeface="Calibri"/>
              <a:sym typeface="Calibri"/>
            </a:endParaRPr>
          </a:p>
        </p:txBody>
      </p:sp>
      <p:sp>
        <p:nvSpPr>
          <p:cNvPr id="1794" name="Google Shape;1794;p102"/>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31 / 40</a:t>
            </a:r>
            <a:endParaRPr sz="950" b="0" i="0" u="none" strike="noStrike" cap="none">
              <a:solidFill>
                <a:schemeClr val="dk1"/>
              </a:solidFill>
              <a:latin typeface="Calibri"/>
              <a:ea typeface="Calibri"/>
              <a:cs typeface="Calibri"/>
              <a:sym typeface="Calibri"/>
            </a:endParaRPr>
          </a:p>
        </p:txBody>
      </p:sp>
      <p:sp>
        <p:nvSpPr>
          <p:cNvPr id="1795" name="Google Shape;1795;p102"/>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38"/>
        <p:cNvGrpSpPr/>
        <p:nvPr/>
      </p:nvGrpSpPr>
      <p:grpSpPr>
        <a:xfrm>
          <a:off x="0" y="0"/>
          <a:ext cx="0" cy="0"/>
          <a:chOff x="0" y="0"/>
          <a:chExt cx="0" cy="0"/>
        </a:xfrm>
      </p:grpSpPr>
      <p:sp>
        <p:nvSpPr>
          <p:cNvPr id="1939" name="Google Shape;1939;p112"/>
          <p:cNvSpPr/>
          <p:nvPr/>
        </p:nvSpPr>
        <p:spPr>
          <a:xfrm>
            <a:off x="0" y="0"/>
            <a:ext cx="12191695" cy="3657600"/>
          </a:xfrm>
          <a:prstGeom prst="rect">
            <a:avLst/>
          </a:prstGeom>
          <a:solidFill>
            <a:srgbClr val="B33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112"/>
          <p:cNvSpPr/>
          <p:nvPr/>
        </p:nvSpPr>
        <p:spPr>
          <a:xfrm>
            <a:off x="822960" y="1051560"/>
            <a:ext cx="365760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TOPIC 05</a:t>
            </a:r>
            <a:endParaRPr sz="1400" b="0" i="0" u="none" strike="noStrike" cap="none">
              <a:solidFill>
                <a:schemeClr val="dk1"/>
              </a:solidFill>
              <a:latin typeface="Calibri"/>
              <a:ea typeface="Calibri"/>
              <a:cs typeface="Calibri"/>
              <a:sym typeface="Calibri"/>
            </a:endParaRPr>
          </a:p>
        </p:txBody>
      </p:sp>
      <p:sp>
        <p:nvSpPr>
          <p:cNvPr id="1941" name="Google Shape;1941;p112"/>
          <p:cNvSpPr/>
          <p:nvPr/>
        </p:nvSpPr>
        <p:spPr>
          <a:xfrm>
            <a:off x="777240" y="1463040"/>
            <a:ext cx="10607040" cy="137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800"/>
              <a:buFont typeface="Calibri"/>
              <a:buNone/>
            </a:pPr>
            <a:r>
              <a:rPr lang="en-US" sz="3800" b="1" i="0" u="none" strike="noStrike" cap="none">
                <a:solidFill>
                  <a:srgbClr val="FFFFFF"/>
                </a:solidFill>
                <a:latin typeface="Calibri"/>
                <a:ea typeface="Calibri"/>
                <a:cs typeface="Calibri"/>
                <a:sym typeface="Calibri"/>
              </a:rPr>
              <a:t>Neuro-Symbolic AI</a:t>
            </a:r>
            <a:endParaRPr sz="3800" b="0" i="0" u="none" strike="noStrike" cap="none">
              <a:solidFill>
                <a:schemeClr val="dk1"/>
              </a:solidFill>
              <a:latin typeface="Calibri"/>
              <a:ea typeface="Calibri"/>
              <a:cs typeface="Calibri"/>
              <a:sym typeface="Calibri"/>
            </a:endParaRPr>
          </a:p>
        </p:txBody>
      </p:sp>
      <p:sp>
        <p:nvSpPr>
          <p:cNvPr id="1942" name="Google Shape;1942;p112"/>
          <p:cNvSpPr/>
          <p:nvPr/>
        </p:nvSpPr>
        <p:spPr>
          <a:xfrm>
            <a:off x="822960" y="2697480"/>
            <a:ext cx="987552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700"/>
              <a:buFont typeface="Calibri"/>
              <a:buNone/>
            </a:pPr>
            <a:r>
              <a:rPr lang="en-US" sz="1700" b="0" i="1" u="none" strike="noStrike" cap="none">
                <a:solidFill>
                  <a:srgbClr val="FFFFFF"/>
                </a:solidFill>
                <a:latin typeface="Calibri"/>
                <a:ea typeface="Calibri"/>
                <a:cs typeface="Calibri"/>
                <a:sym typeface="Calibri"/>
              </a:rPr>
              <a:t>Combining Neural Networks and Symbolic Reasoning — the best of pattern-recognition and logic.</a:t>
            </a:r>
            <a:endParaRPr sz="1700" b="0" i="0" u="none" strike="noStrike" cap="none">
              <a:solidFill>
                <a:schemeClr val="dk1"/>
              </a:solidFill>
              <a:latin typeface="Calibri"/>
              <a:ea typeface="Calibri"/>
              <a:cs typeface="Calibri"/>
              <a:sym typeface="Calibri"/>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47"/>
        <p:cNvGrpSpPr/>
        <p:nvPr/>
      </p:nvGrpSpPr>
      <p:grpSpPr>
        <a:xfrm>
          <a:off x="0" y="0"/>
          <a:ext cx="0" cy="0"/>
          <a:chOff x="0" y="0"/>
          <a:chExt cx="0" cy="0"/>
        </a:xfrm>
      </p:grpSpPr>
      <p:sp>
        <p:nvSpPr>
          <p:cNvPr id="1948" name="Google Shape;1948;p113"/>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33A3A"/>
              </a:buClr>
              <a:buSzPts val="1100"/>
              <a:buFont typeface="Calibri"/>
              <a:buNone/>
            </a:pPr>
            <a:r>
              <a:rPr lang="en-US" sz="1100" b="1" i="0" u="none" strike="noStrike" cap="none">
                <a:solidFill>
                  <a:srgbClr val="B33A3A"/>
                </a:solidFill>
                <a:latin typeface="Calibri"/>
                <a:ea typeface="Calibri"/>
                <a:cs typeface="Calibri"/>
                <a:sym typeface="Calibri"/>
              </a:rPr>
              <a:t>5.1 HISTORICAL CONTEXT</a:t>
            </a:r>
            <a:endParaRPr sz="1100" b="0" i="0" u="none" strike="noStrike" cap="none">
              <a:solidFill>
                <a:schemeClr val="dk1"/>
              </a:solidFill>
              <a:latin typeface="Calibri"/>
              <a:ea typeface="Calibri"/>
              <a:cs typeface="Calibri"/>
              <a:sym typeface="Calibri"/>
            </a:endParaRPr>
          </a:p>
        </p:txBody>
      </p:sp>
      <p:sp>
        <p:nvSpPr>
          <p:cNvPr id="1949" name="Google Shape;1949;p113"/>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The AI Dream and Its Historical Evolution</a:t>
            </a:r>
            <a:endParaRPr sz="2300" b="0" i="0" u="none" strike="noStrike" cap="none">
              <a:solidFill>
                <a:schemeClr val="dk1"/>
              </a:solidFill>
              <a:latin typeface="Calibri"/>
              <a:ea typeface="Calibri"/>
              <a:cs typeface="Calibri"/>
              <a:sym typeface="Calibri"/>
            </a:endParaRPr>
          </a:p>
        </p:txBody>
      </p:sp>
      <p:cxnSp>
        <p:nvCxnSpPr>
          <p:cNvPr id="1950" name="Google Shape;1950;p113"/>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1951" name="Google Shape;1951;p113"/>
          <p:cNvSpPr/>
          <p:nvPr/>
        </p:nvSpPr>
        <p:spPr>
          <a:xfrm>
            <a:off x="457200" y="1554480"/>
            <a:ext cx="10607040" cy="123444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404040"/>
              </a:buClr>
              <a:buSzPts val="1350"/>
              <a:buFont typeface="Calibri"/>
              <a:buNone/>
            </a:pPr>
            <a:r>
              <a:rPr lang="en-US" sz="1350" b="0" i="0" u="none" strike="noStrike" cap="none">
                <a:solidFill>
                  <a:srgbClr val="404040"/>
                </a:solidFill>
                <a:latin typeface="Calibri"/>
                <a:ea typeface="Calibri"/>
                <a:cs typeface="Calibri"/>
                <a:sym typeface="Calibri"/>
              </a:rPr>
              <a:t>Since the 1950s, AI researchers have asked: how can we build machines that think like humans? Researchers first believed intelligence could be created simply by encoding logical rules — giving rise to Symbolic AI. Later, researchers realized humans learn from experience rather than memorized rules, leading to Machine Learning and eventually Deep Learning. Today: symbolic AI can reason but struggles to learn; neural networks can learn but struggle to reason.</a:t>
            </a:r>
            <a:endParaRPr sz="1350" b="0" i="0" u="none" strike="noStrike" cap="none">
              <a:solidFill>
                <a:schemeClr val="dk1"/>
              </a:solidFill>
              <a:latin typeface="Calibri"/>
              <a:ea typeface="Calibri"/>
              <a:cs typeface="Calibri"/>
              <a:sym typeface="Calibri"/>
            </a:endParaRPr>
          </a:p>
        </p:txBody>
      </p:sp>
      <p:graphicFrame>
        <p:nvGraphicFramePr>
          <p:cNvPr id="1952" name="Google Shape;1952;p113"/>
          <p:cNvGraphicFramePr/>
          <p:nvPr/>
        </p:nvGraphicFramePr>
        <p:xfrm>
          <a:off x="457200" y="2926080"/>
          <a:ext cx="10607025" cy="1828800"/>
        </p:xfrm>
        <a:graphic>
          <a:graphicData uri="http://schemas.openxmlformats.org/drawingml/2006/table">
            <a:tbl>
              <a:tblPr>
                <a:noFill/>
                <a:tableStyleId>{18CE5CEB-0992-447E-8985-1B7A4AD8BB01}</a:tableStyleId>
              </a:tblPr>
              <a:tblGrid>
                <a:gridCol w="2743200">
                  <a:extLst>
                    <a:ext uri="{9D8B030D-6E8A-4147-A177-3AD203B41FA5}">
                      <a16:colId xmlns:a16="http://schemas.microsoft.com/office/drawing/2014/main" val="20000"/>
                    </a:ext>
                  </a:extLst>
                </a:gridCol>
                <a:gridCol w="2011675">
                  <a:extLst>
                    <a:ext uri="{9D8B030D-6E8A-4147-A177-3AD203B41FA5}">
                      <a16:colId xmlns:a16="http://schemas.microsoft.com/office/drawing/2014/main" val="20001"/>
                    </a:ext>
                  </a:extLst>
                </a:gridCol>
                <a:gridCol w="5852150">
                  <a:extLst>
                    <a:ext uri="{9D8B030D-6E8A-4147-A177-3AD203B41FA5}">
                      <a16:colId xmlns:a16="http://schemas.microsoft.com/office/drawing/2014/main" val="20002"/>
                    </a:ext>
                  </a:extLst>
                </a:gridCol>
              </a:tblGrid>
              <a:tr h="457200">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Phase</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B33A3A"/>
                    </a:solidFill>
                  </a:tcPr>
                </a:tc>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Era</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B33A3A"/>
                    </a:solidFill>
                  </a:tcPr>
                </a:tc>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Core Idea</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B33A3A"/>
                    </a:solidFill>
                  </a:tcPr>
                </a:tc>
                <a:extLst>
                  <a:ext uri="{0D108BD9-81ED-4DB2-BD59-A6C34878D82A}">
                    <a16:rowId xmlns:a16="http://schemas.microsoft.com/office/drawing/2014/main" val="10000"/>
                  </a:ext>
                </a:extLst>
              </a:tr>
              <a:tr h="457200">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1. Symbolic AI</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1950–1985</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Encode intelligence as logic and rules (Expert Systems)</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57200">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2. Machine Learning</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1980–2010</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Teach machines to learn patterns from data</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extLst>
                  <a:ext uri="{0D108BD9-81ED-4DB2-BD59-A6C34878D82A}">
                    <a16:rowId xmlns:a16="http://schemas.microsoft.com/office/drawing/2014/main" val="10002"/>
                  </a:ext>
                </a:extLst>
              </a:tr>
              <a:tr h="457200">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3. Deep Learning Revolution</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2012–Present</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250"/>
                        <a:buFont typeface="Calibri"/>
                        <a:buNone/>
                      </a:pPr>
                      <a:r>
                        <a:rPr lang="en-US" sz="1250" u="none" strike="noStrike" cap="none">
                          <a:solidFill>
                            <a:srgbClr val="404040"/>
                          </a:solidFill>
                          <a:latin typeface="Calibri"/>
                          <a:ea typeface="Calibri"/>
                          <a:cs typeface="Calibri"/>
                          <a:sym typeface="Calibri"/>
                        </a:rPr>
                        <a:t>Deep neural networks outperform humans on perception tasks</a:t>
                      </a:r>
                      <a:endParaRPr sz="12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bl>
          </a:graphicData>
        </a:graphic>
      </p:graphicFrame>
      <p:sp>
        <p:nvSpPr>
          <p:cNvPr id="1953" name="Google Shape;1953;p113"/>
          <p:cNvSpPr/>
          <p:nvPr/>
        </p:nvSpPr>
        <p:spPr>
          <a:xfrm>
            <a:off x="457200" y="4983480"/>
            <a:ext cx="10607040" cy="1051560"/>
          </a:xfrm>
          <a:prstGeom prst="rect">
            <a:avLst/>
          </a:prstGeom>
          <a:solidFill>
            <a:srgbClr val="FFF6EC"/>
          </a:solidFill>
          <a:ln w="9525" cap="flat" cmpd="sng">
            <a:solidFill>
              <a:srgbClr val="B33A3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113"/>
          <p:cNvSpPr/>
          <p:nvPr/>
        </p:nvSpPr>
        <p:spPr>
          <a:xfrm>
            <a:off x="457200" y="4983480"/>
            <a:ext cx="64008" cy="1051560"/>
          </a:xfrm>
          <a:prstGeom prst="rect">
            <a:avLst/>
          </a:prstGeom>
          <a:solidFill>
            <a:srgbClr val="B33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113"/>
          <p:cNvSpPr/>
          <p:nvPr/>
        </p:nvSpPr>
        <p:spPr>
          <a:xfrm>
            <a:off x="685800" y="5093208"/>
            <a:ext cx="102412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33A3A"/>
              </a:buClr>
              <a:buSzPts val="1050"/>
              <a:buFont typeface="Calibri"/>
              <a:buNone/>
            </a:pPr>
            <a:r>
              <a:rPr lang="en-US" sz="1050" b="1" i="0" u="none" strike="noStrike" cap="none">
                <a:solidFill>
                  <a:srgbClr val="B33A3A"/>
                </a:solidFill>
                <a:latin typeface="Calibri"/>
                <a:ea typeface="Calibri"/>
                <a:cs typeface="Calibri"/>
                <a:sym typeface="Calibri"/>
              </a:rPr>
              <a:t>THE MODERN PUZZLE</a:t>
            </a:r>
            <a:endParaRPr sz="1050" b="0" i="0" u="none" strike="noStrike" cap="none">
              <a:solidFill>
                <a:schemeClr val="dk1"/>
              </a:solidFill>
              <a:latin typeface="Calibri"/>
              <a:ea typeface="Calibri"/>
              <a:cs typeface="Calibri"/>
              <a:sym typeface="Calibri"/>
            </a:endParaRPr>
          </a:p>
        </p:txBody>
      </p:sp>
      <p:sp>
        <p:nvSpPr>
          <p:cNvPr id="1956" name="Google Shape;1956;p113"/>
          <p:cNvSpPr/>
          <p:nvPr/>
        </p:nvSpPr>
        <p:spPr>
          <a:xfrm>
            <a:off x="685800" y="5385816"/>
            <a:ext cx="10195560" cy="55778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300"/>
              <a:buFont typeface="Calibri"/>
              <a:buNone/>
            </a:pPr>
            <a:r>
              <a:rPr lang="en-US" sz="1300" b="0" i="0" u="none" strike="noStrike" cap="none">
                <a:solidFill>
                  <a:srgbClr val="404040"/>
                </a:solidFill>
                <a:latin typeface="Calibri"/>
                <a:ea typeface="Calibri"/>
                <a:cs typeface="Calibri"/>
                <a:sym typeface="Calibri"/>
              </a:rPr>
              <a:t>"Ali is older than Ahmed. Ahmed is older than Bilal. Who is oldest?" Humans solve this instantly. Neural networks often need many training examples before reliably learning such reasoning patterns — because they learn statistical patterns rather than explicit logic.</a:t>
            </a:r>
            <a:endParaRPr sz="1300" b="0" i="0" u="none" strike="noStrike" cap="none">
              <a:solidFill>
                <a:schemeClr val="dk1"/>
              </a:solidFill>
              <a:latin typeface="Calibri"/>
              <a:ea typeface="Calibri"/>
              <a:cs typeface="Calibri"/>
              <a:sym typeface="Calibri"/>
            </a:endParaRPr>
          </a:p>
        </p:txBody>
      </p:sp>
      <p:sp>
        <p:nvSpPr>
          <p:cNvPr id="1957" name="Google Shape;1957;p113"/>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33 / 40</a:t>
            </a:r>
            <a:endParaRPr sz="950" b="0" i="0" u="none" strike="noStrike" cap="none">
              <a:solidFill>
                <a:schemeClr val="dk1"/>
              </a:solidFill>
              <a:latin typeface="Calibri"/>
              <a:ea typeface="Calibri"/>
              <a:cs typeface="Calibri"/>
              <a:sym typeface="Calibri"/>
            </a:endParaRPr>
          </a:p>
        </p:txBody>
      </p:sp>
      <p:sp>
        <p:nvSpPr>
          <p:cNvPr id="1958" name="Google Shape;1958;p113"/>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63"/>
        <p:cNvGrpSpPr/>
        <p:nvPr/>
      </p:nvGrpSpPr>
      <p:grpSpPr>
        <a:xfrm>
          <a:off x="0" y="0"/>
          <a:ext cx="0" cy="0"/>
          <a:chOff x="0" y="0"/>
          <a:chExt cx="0" cy="0"/>
        </a:xfrm>
      </p:grpSpPr>
      <p:sp>
        <p:nvSpPr>
          <p:cNvPr id="1964" name="Google Shape;1964;p114"/>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33A3A"/>
              </a:buClr>
              <a:buSzPts val="1100"/>
              <a:buFont typeface="Calibri"/>
              <a:buNone/>
            </a:pPr>
            <a:r>
              <a:rPr lang="en-US" sz="1100" b="1" i="0" u="none" strike="noStrike" cap="none">
                <a:solidFill>
                  <a:srgbClr val="B33A3A"/>
                </a:solidFill>
                <a:latin typeface="Calibri"/>
                <a:ea typeface="Calibri"/>
                <a:cs typeface="Calibri"/>
                <a:sym typeface="Calibri"/>
              </a:rPr>
              <a:t>5.2 A CAUTIONARY EXAMPLE</a:t>
            </a:r>
            <a:endParaRPr sz="1100" b="0" i="0" u="none" strike="noStrike" cap="none">
              <a:solidFill>
                <a:schemeClr val="dk1"/>
              </a:solidFill>
              <a:latin typeface="Calibri"/>
              <a:ea typeface="Calibri"/>
              <a:cs typeface="Calibri"/>
              <a:sym typeface="Calibri"/>
            </a:endParaRPr>
          </a:p>
        </p:txBody>
      </p:sp>
      <p:sp>
        <p:nvSpPr>
          <p:cNvPr id="1965" name="Google Shape;1965;p114"/>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MYCIN and the Knowledge Acquisition Bottleneck</a:t>
            </a:r>
            <a:endParaRPr sz="2300" b="0" i="0" u="none" strike="noStrike" cap="none">
              <a:solidFill>
                <a:schemeClr val="dk1"/>
              </a:solidFill>
              <a:latin typeface="Calibri"/>
              <a:ea typeface="Calibri"/>
              <a:cs typeface="Calibri"/>
              <a:sym typeface="Calibri"/>
            </a:endParaRPr>
          </a:p>
        </p:txBody>
      </p:sp>
      <p:cxnSp>
        <p:nvCxnSpPr>
          <p:cNvPr id="1966" name="Google Shape;1966;p114"/>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1967" name="Google Shape;1967;p114"/>
          <p:cNvSpPr/>
          <p:nvPr/>
        </p:nvSpPr>
        <p:spPr>
          <a:xfrm>
            <a:off x="457200" y="1645920"/>
            <a:ext cx="10607040" cy="91440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404040"/>
              </a:buClr>
              <a:buSzPts val="1500"/>
              <a:buFont typeface="Calibri"/>
              <a:buNone/>
            </a:pPr>
            <a:r>
              <a:rPr lang="en-US" sz="1500" b="0" i="0" u="none" strike="noStrike" cap="none">
                <a:solidFill>
                  <a:srgbClr val="404040"/>
                </a:solidFill>
                <a:latin typeface="Calibri"/>
                <a:ea typeface="Calibri"/>
                <a:cs typeface="Calibri"/>
                <a:sym typeface="Calibri"/>
              </a:rPr>
              <a:t>A famous example from Phase 1 is </a:t>
            </a:r>
            <a:r>
              <a:rPr lang="en-US" sz="1500" b="1" i="0" u="none" strike="noStrike" cap="none">
                <a:solidFill>
                  <a:srgbClr val="404040"/>
                </a:solidFill>
                <a:latin typeface="Calibri"/>
                <a:ea typeface="Calibri"/>
                <a:cs typeface="Calibri"/>
                <a:sym typeface="Calibri"/>
              </a:rPr>
              <a:t>MYCIN</a:t>
            </a:r>
            <a:r>
              <a:rPr lang="en-US" sz="1500" b="0" i="0" u="none" strike="noStrike" cap="none">
                <a:solidFill>
                  <a:srgbClr val="404040"/>
                </a:solidFill>
                <a:latin typeface="Calibri"/>
                <a:ea typeface="Calibri"/>
                <a:cs typeface="Calibri"/>
                <a:sym typeface="Calibri"/>
              </a:rPr>
              <a:t>, developed in the 1970s to diagnose bacterial infections using manually-encoded rules such as: "IF patient has fever AND blood culture positive THEN recommend antibiotic."</a:t>
            </a:r>
            <a:endParaRPr sz="1500" b="0" i="0" u="none" strike="noStrike" cap="none">
              <a:solidFill>
                <a:schemeClr val="dk1"/>
              </a:solidFill>
              <a:latin typeface="Calibri"/>
              <a:ea typeface="Calibri"/>
              <a:cs typeface="Calibri"/>
              <a:sym typeface="Calibri"/>
            </a:endParaRPr>
          </a:p>
        </p:txBody>
      </p:sp>
      <p:sp>
        <p:nvSpPr>
          <p:cNvPr id="1968" name="Google Shape;1968;p114"/>
          <p:cNvSpPr/>
          <p:nvPr/>
        </p:nvSpPr>
        <p:spPr>
          <a:xfrm>
            <a:off x="457200" y="2743200"/>
            <a:ext cx="10607040" cy="155448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404040"/>
              </a:buClr>
              <a:buSzPts val="1450"/>
              <a:buFont typeface="Calibri"/>
              <a:buNone/>
            </a:pPr>
            <a:r>
              <a:rPr lang="en-US" sz="1450" b="0" i="0" u="none" strike="noStrike" cap="none">
                <a:solidFill>
                  <a:srgbClr val="404040"/>
                </a:solidFill>
                <a:latin typeface="Calibri"/>
                <a:ea typeface="Calibri"/>
                <a:cs typeface="Calibri"/>
                <a:sym typeface="Calibri"/>
              </a:rPr>
              <a:t>MYCIN was remarkably successful, but revealed a serious problem: to build large intelligent systems, experts had to manually write thousands of rules (Bird → Fly, Penguin → Not Fly, Injured Bird → Not Fly, Baby Bird → May Not Fly…), and the number of exceptions became enormous. This </a:t>
            </a:r>
            <a:r>
              <a:rPr lang="en-US" sz="1450" b="1" i="1" u="none" strike="noStrike" cap="none">
                <a:solidFill>
                  <a:srgbClr val="404040"/>
                </a:solidFill>
                <a:latin typeface="Calibri"/>
                <a:ea typeface="Calibri"/>
                <a:cs typeface="Calibri"/>
                <a:sym typeface="Calibri"/>
              </a:rPr>
              <a:t>Knowledge Acquisition Bottleneck</a:t>
            </a:r>
            <a:r>
              <a:rPr lang="en-US" sz="1450" b="0" i="0" u="none" strike="noStrike" cap="none">
                <a:solidFill>
                  <a:srgbClr val="404040"/>
                </a:solidFill>
                <a:latin typeface="Calibri"/>
                <a:ea typeface="Calibri"/>
                <a:cs typeface="Calibri"/>
                <a:sym typeface="Calibri"/>
              </a:rPr>
              <a:t> made building large symbolic knowledge bases impractical — the same bottleneck discussed for commonsense knowledge in Topic 2.</a:t>
            </a:r>
            <a:endParaRPr sz="1450" b="0" i="0" u="none" strike="noStrike" cap="none">
              <a:solidFill>
                <a:schemeClr val="dk1"/>
              </a:solidFill>
              <a:latin typeface="Calibri"/>
              <a:ea typeface="Calibri"/>
              <a:cs typeface="Calibri"/>
              <a:sym typeface="Calibri"/>
            </a:endParaRPr>
          </a:p>
        </p:txBody>
      </p:sp>
      <p:sp>
        <p:nvSpPr>
          <p:cNvPr id="1969" name="Google Shape;1969;p114"/>
          <p:cNvSpPr/>
          <p:nvPr/>
        </p:nvSpPr>
        <p:spPr>
          <a:xfrm>
            <a:off x="457200" y="4572000"/>
            <a:ext cx="10607040" cy="1280160"/>
          </a:xfrm>
          <a:prstGeom prst="rect">
            <a:avLst/>
          </a:prstGeom>
          <a:solidFill>
            <a:srgbClr val="FBEAEA"/>
          </a:solidFill>
          <a:ln w="9525" cap="flat" cmpd="sng">
            <a:solidFill>
              <a:srgbClr val="B33A3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114"/>
          <p:cNvSpPr/>
          <p:nvPr/>
        </p:nvSpPr>
        <p:spPr>
          <a:xfrm>
            <a:off x="457200" y="4572000"/>
            <a:ext cx="64008" cy="1280160"/>
          </a:xfrm>
          <a:prstGeom prst="rect">
            <a:avLst/>
          </a:prstGeom>
          <a:solidFill>
            <a:srgbClr val="B33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114"/>
          <p:cNvSpPr/>
          <p:nvPr/>
        </p:nvSpPr>
        <p:spPr>
          <a:xfrm>
            <a:off x="685800" y="4681728"/>
            <a:ext cx="10195560" cy="1078992"/>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350"/>
              <a:buFont typeface="Calibri"/>
              <a:buNone/>
            </a:pPr>
            <a:r>
              <a:rPr lang="en-US" sz="1350" b="0" i="0" u="none" strike="noStrike" cap="none">
                <a:solidFill>
                  <a:srgbClr val="404040"/>
                </a:solidFill>
                <a:latin typeface="Calibri"/>
                <a:ea typeface="Calibri"/>
                <a:cs typeface="Calibri"/>
                <a:sym typeface="Calibri"/>
              </a:rPr>
              <a:t>This impracticality is precisely what motivated the shift away from purely hand-written rules and toward systems that could learn patterns directly from data — setting the stage for the neural-network era.</a:t>
            </a:r>
            <a:endParaRPr sz="1350" b="0" i="0" u="none" strike="noStrike" cap="none">
              <a:solidFill>
                <a:schemeClr val="dk1"/>
              </a:solidFill>
              <a:latin typeface="Calibri"/>
              <a:ea typeface="Calibri"/>
              <a:cs typeface="Calibri"/>
              <a:sym typeface="Calibri"/>
            </a:endParaRPr>
          </a:p>
        </p:txBody>
      </p:sp>
      <p:sp>
        <p:nvSpPr>
          <p:cNvPr id="1972" name="Google Shape;1972;p114"/>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33 / 40</a:t>
            </a:r>
            <a:endParaRPr sz="950" b="0" i="0" u="none" strike="noStrike" cap="none">
              <a:solidFill>
                <a:schemeClr val="dk1"/>
              </a:solidFill>
              <a:latin typeface="Calibri"/>
              <a:ea typeface="Calibri"/>
              <a:cs typeface="Calibri"/>
              <a:sym typeface="Calibri"/>
            </a:endParaRPr>
          </a:p>
        </p:txBody>
      </p:sp>
      <p:sp>
        <p:nvSpPr>
          <p:cNvPr id="1973" name="Google Shape;1973;p114"/>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78"/>
        <p:cNvGrpSpPr/>
        <p:nvPr/>
      </p:nvGrpSpPr>
      <p:grpSpPr>
        <a:xfrm>
          <a:off x="0" y="0"/>
          <a:ext cx="0" cy="0"/>
          <a:chOff x="0" y="0"/>
          <a:chExt cx="0" cy="0"/>
        </a:xfrm>
      </p:grpSpPr>
      <p:sp>
        <p:nvSpPr>
          <p:cNvPr id="1979" name="Google Shape;1979;p115"/>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33A3A"/>
              </a:buClr>
              <a:buSzPts val="1100"/>
              <a:buFont typeface="Calibri"/>
              <a:buNone/>
            </a:pPr>
            <a:r>
              <a:rPr lang="en-US" sz="1100" b="1" i="0" u="none" strike="noStrike" cap="none">
                <a:solidFill>
                  <a:srgbClr val="B33A3A"/>
                </a:solidFill>
                <a:latin typeface="Calibri"/>
                <a:ea typeface="Calibri"/>
                <a:cs typeface="Calibri"/>
                <a:sym typeface="Calibri"/>
              </a:rPr>
              <a:t>5.3 ONE HALF OF THE STORY</a:t>
            </a:r>
            <a:endParaRPr sz="1100" b="0" i="0" u="none" strike="noStrike" cap="none">
              <a:solidFill>
                <a:schemeClr val="dk1"/>
              </a:solidFill>
              <a:latin typeface="Calibri"/>
              <a:ea typeface="Calibri"/>
              <a:cs typeface="Calibri"/>
              <a:sym typeface="Calibri"/>
            </a:endParaRPr>
          </a:p>
        </p:txBody>
      </p:sp>
      <p:sp>
        <p:nvSpPr>
          <p:cNvPr id="1980" name="Google Shape;1980;p115"/>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Symbolic AI in Depth</a:t>
            </a:r>
            <a:endParaRPr sz="2300" b="0" i="0" u="none" strike="noStrike" cap="none">
              <a:solidFill>
                <a:schemeClr val="dk1"/>
              </a:solidFill>
              <a:latin typeface="Calibri"/>
              <a:ea typeface="Calibri"/>
              <a:cs typeface="Calibri"/>
              <a:sym typeface="Calibri"/>
            </a:endParaRPr>
          </a:p>
        </p:txBody>
      </p:sp>
      <p:cxnSp>
        <p:nvCxnSpPr>
          <p:cNvPr id="1981" name="Google Shape;1981;p115"/>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1982" name="Google Shape;1982;p115"/>
          <p:cNvSpPr/>
          <p:nvPr/>
        </p:nvSpPr>
        <p:spPr>
          <a:xfrm>
            <a:off x="457200" y="1645920"/>
            <a:ext cx="10607040" cy="77724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404040"/>
              </a:buClr>
              <a:buSzPts val="1400"/>
              <a:buFont typeface="Calibri"/>
              <a:buNone/>
            </a:pPr>
            <a:r>
              <a:rPr lang="en-US" sz="1400" b="0" i="0" u="none" strike="noStrike" cap="none">
                <a:solidFill>
                  <a:srgbClr val="404040"/>
                </a:solidFill>
                <a:latin typeface="Calibri"/>
                <a:ea typeface="Calibri"/>
                <a:cs typeface="Calibri"/>
                <a:sym typeface="Calibri"/>
              </a:rPr>
              <a:t>Symbolic AI represents knowledge using symbols and logical rules, resembling mathematics: Human(Socrates), Human(X) → Mortal(X) → infer Mortal(Socrates). Every step is explicit.</a:t>
            </a:r>
            <a:endParaRPr sz="1400" b="0" i="0" u="none" strike="noStrike" cap="none">
              <a:solidFill>
                <a:schemeClr val="dk1"/>
              </a:solidFill>
              <a:latin typeface="Calibri"/>
              <a:ea typeface="Calibri"/>
              <a:cs typeface="Calibri"/>
              <a:sym typeface="Calibri"/>
            </a:endParaRPr>
          </a:p>
        </p:txBody>
      </p:sp>
      <p:graphicFrame>
        <p:nvGraphicFramePr>
          <p:cNvPr id="1983" name="Google Shape;1983;p115"/>
          <p:cNvGraphicFramePr/>
          <p:nvPr/>
        </p:nvGraphicFramePr>
        <p:xfrm>
          <a:off x="457200" y="2606040"/>
          <a:ext cx="10607050" cy="2971750"/>
        </p:xfrm>
        <a:graphic>
          <a:graphicData uri="http://schemas.openxmlformats.org/drawingml/2006/table">
            <a:tbl>
              <a:tblPr>
                <a:noFill/>
                <a:tableStyleId>{18CE5CEB-0992-447E-8985-1B7A4AD8BB01}</a:tableStyleId>
              </a:tblPr>
              <a:tblGrid>
                <a:gridCol w="5303525">
                  <a:extLst>
                    <a:ext uri="{9D8B030D-6E8A-4147-A177-3AD203B41FA5}">
                      <a16:colId xmlns:a16="http://schemas.microsoft.com/office/drawing/2014/main" val="20000"/>
                    </a:ext>
                  </a:extLst>
                </a:gridCol>
                <a:gridCol w="5303525">
                  <a:extLst>
                    <a:ext uri="{9D8B030D-6E8A-4147-A177-3AD203B41FA5}">
                      <a16:colId xmlns:a16="http://schemas.microsoft.com/office/drawing/2014/main" val="20001"/>
                    </a:ext>
                  </a:extLst>
                </a:gridCol>
              </a:tblGrid>
              <a:tr h="594350">
                <a:tc>
                  <a:txBody>
                    <a:bodyPr/>
                    <a:lstStyle/>
                    <a:p>
                      <a:pPr marL="0" marR="0" lvl="0" indent="0" algn="l" rtl="0">
                        <a:spcBef>
                          <a:spcPts val="0"/>
                        </a:spcBef>
                        <a:spcAft>
                          <a:spcPts val="0"/>
                        </a:spcAft>
                        <a:buClr>
                          <a:srgbClr val="FFFFFF"/>
                        </a:buClr>
                        <a:buSzPts val="1350"/>
                        <a:buFont typeface="Calibri"/>
                        <a:buNone/>
                      </a:pPr>
                      <a:r>
                        <a:rPr lang="en-US" sz="1350" b="1" u="none" strike="noStrike" cap="none">
                          <a:solidFill>
                            <a:srgbClr val="FFFFFF"/>
                          </a:solidFill>
                          <a:latin typeface="Calibri"/>
                          <a:ea typeface="Calibri"/>
                          <a:cs typeface="Calibri"/>
                          <a:sym typeface="Calibri"/>
                        </a:rPr>
                        <a:t>Advantages</a:t>
                      </a:r>
                      <a:endParaRPr sz="13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B33A3A"/>
                    </a:solidFill>
                  </a:tcPr>
                </a:tc>
                <a:tc>
                  <a:txBody>
                    <a:bodyPr/>
                    <a:lstStyle/>
                    <a:p>
                      <a:pPr marL="0" marR="0" lvl="0" indent="0" algn="l" rtl="0">
                        <a:spcBef>
                          <a:spcPts val="0"/>
                        </a:spcBef>
                        <a:spcAft>
                          <a:spcPts val="0"/>
                        </a:spcAft>
                        <a:buClr>
                          <a:srgbClr val="FFFFFF"/>
                        </a:buClr>
                        <a:buSzPts val="1350"/>
                        <a:buFont typeface="Calibri"/>
                        <a:buNone/>
                      </a:pPr>
                      <a:r>
                        <a:rPr lang="en-US" sz="1350" b="1" u="none" strike="noStrike" cap="none">
                          <a:solidFill>
                            <a:srgbClr val="FFFFFF"/>
                          </a:solidFill>
                          <a:latin typeface="Calibri"/>
                          <a:ea typeface="Calibri"/>
                          <a:cs typeface="Calibri"/>
                          <a:sym typeface="Calibri"/>
                        </a:rPr>
                        <a:t>Limitations</a:t>
                      </a:r>
                      <a:endParaRPr sz="13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B33A3A"/>
                    </a:solidFill>
                  </a:tcPr>
                </a:tc>
                <a:extLst>
                  <a:ext uri="{0D108BD9-81ED-4DB2-BD59-A6C34878D82A}">
                    <a16:rowId xmlns:a16="http://schemas.microsoft.com/office/drawing/2014/main" val="10000"/>
                  </a:ext>
                </a:extLst>
              </a:tr>
              <a:tr h="594350">
                <a:tc>
                  <a:txBody>
                    <a:bodyPr/>
                    <a:lstStyle/>
                    <a:p>
                      <a:pPr marL="0" marR="0" lvl="0" indent="0" algn="l" rtl="0">
                        <a:spcBef>
                          <a:spcPts val="0"/>
                        </a:spcBef>
                        <a:spcAft>
                          <a:spcPts val="0"/>
                        </a:spcAft>
                        <a:buClr>
                          <a:srgbClr val="404040"/>
                        </a:buClr>
                        <a:buSzPts val="1300"/>
                        <a:buFont typeface="Calibri"/>
                        <a:buNone/>
                      </a:pPr>
                      <a:r>
                        <a:rPr lang="en-US" sz="1300" u="none" strike="noStrike" cap="none">
                          <a:solidFill>
                            <a:srgbClr val="404040"/>
                          </a:solidFill>
                          <a:latin typeface="Calibri"/>
                          <a:ea typeface="Calibri"/>
                          <a:cs typeface="Calibri"/>
                          <a:sym typeface="Calibri"/>
                        </a:rPr>
                        <a:t>Fully explainable — every conclusion traceable</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300"/>
                        <a:buFont typeface="Calibri"/>
                        <a:buNone/>
                      </a:pPr>
                      <a:r>
                        <a:rPr lang="en-US" sz="1300" u="none" strike="noStrike" cap="none">
                          <a:solidFill>
                            <a:srgbClr val="404040"/>
                          </a:solidFill>
                          <a:latin typeface="Calibri"/>
                          <a:ea typeface="Calibri"/>
                          <a:cs typeface="Calibri"/>
                          <a:sym typeface="Calibri"/>
                        </a:rPr>
                        <a:t>Cannot learn automatically; every rule added manually</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594350">
                <a:tc>
                  <a:txBody>
                    <a:bodyPr/>
                    <a:lstStyle/>
                    <a:p>
                      <a:pPr marL="0" marR="0" lvl="0" indent="0" algn="l" rtl="0">
                        <a:spcBef>
                          <a:spcPts val="0"/>
                        </a:spcBef>
                        <a:spcAft>
                          <a:spcPts val="0"/>
                        </a:spcAft>
                        <a:buClr>
                          <a:srgbClr val="404040"/>
                        </a:buClr>
                        <a:buSzPts val="1300"/>
                        <a:buFont typeface="Calibri"/>
                        <a:buNone/>
                      </a:pPr>
                      <a:r>
                        <a:rPr lang="en-US" sz="1300" u="none" strike="noStrike" cap="none">
                          <a:solidFill>
                            <a:srgbClr val="404040"/>
                          </a:solidFill>
                          <a:latin typeface="Calibri"/>
                          <a:ea typeface="Calibri"/>
                          <a:cs typeface="Calibri"/>
                          <a:sym typeface="Calibri"/>
                        </a:rPr>
                        <a:t>Logically consistent and predictable</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300"/>
                        <a:buFont typeface="Calibri"/>
                        <a:buNone/>
                      </a:pPr>
                      <a:r>
                        <a:rPr lang="en-US" sz="1300" u="none" strike="noStrike" cap="none">
                          <a:solidFill>
                            <a:srgbClr val="404040"/>
                          </a:solidFill>
                          <a:latin typeface="Calibri"/>
                          <a:ea typeface="Calibri"/>
                          <a:cs typeface="Calibri"/>
                          <a:sym typeface="Calibri"/>
                        </a:rPr>
                        <a:t>Difficult to scale to millions of real-world rules</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extLst>
                  <a:ext uri="{0D108BD9-81ED-4DB2-BD59-A6C34878D82A}">
                    <a16:rowId xmlns:a16="http://schemas.microsoft.com/office/drawing/2014/main" val="10002"/>
                  </a:ext>
                </a:extLst>
              </a:tr>
              <a:tr h="594350">
                <a:tc>
                  <a:txBody>
                    <a:bodyPr/>
                    <a:lstStyle/>
                    <a:p>
                      <a:pPr marL="0" marR="0" lvl="0" indent="0" algn="l" rtl="0">
                        <a:spcBef>
                          <a:spcPts val="0"/>
                        </a:spcBef>
                        <a:spcAft>
                          <a:spcPts val="0"/>
                        </a:spcAft>
                        <a:buClr>
                          <a:srgbClr val="404040"/>
                        </a:buClr>
                        <a:buSzPts val="1300"/>
                        <a:buFont typeface="Calibri"/>
                        <a:buNone/>
                      </a:pPr>
                      <a:r>
                        <a:rPr lang="en-US" sz="1300" u="none" strike="noStrike" cap="none">
                          <a:solidFill>
                            <a:srgbClr val="404040"/>
                          </a:solidFill>
                          <a:latin typeface="Calibri"/>
                          <a:ea typeface="Calibri"/>
                          <a:cs typeface="Calibri"/>
                          <a:sym typeface="Calibri"/>
                        </a:rPr>
                        <a:t>Works well even with small data</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300"/>
                        <a:buFont typeface="Calibri"/>
                        <a:buNone/>
                      </a:pPr>
                      <a:r>
                        <a:rPr lang="en-US" sz="1300" u="none" strike="noStrike" cap="none">
                          <a:solidFill>
                            <a:srgbClr val="404040"/>
                          </a:solidFill>
                          <a:latin typeface="Calibri"/>
                          <a:ea typeface="Calibri"/>
                          <a:cs typeface="Calibri"/>
                          <a:sym typeface="Calibri"/>
                        </a:rPr>
                        <a:t>Poor at perception (images, video, speech)</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594350">
                <a:tc>
                  <a:txBody>
                    <a:bodyPr/>
                    <a:lstStyle/>
                    <a:p>
                      <a:pPr marL="0" marR="0" lvl="0" indent="0" algn="l" rtl="0">
                        <a:spcBef>
                          <a:spcPts val="0"/>
                        </a:spcBef>
                        <a:spcAft>
                          <a:spcPts val="0"/>
                        </a:spcAft>
                        <a:buClr>
                          <a:srgbClr val="404040"/>
                        </a:buClr>
                        <a:buSzPts val="1300"/>
                        <a:buFont typeface="Calibri"/>
                        <a:buNone/>
                      </a:pPr>
                      <a:r>
                        <a:rPr lang="en-US" sz="1300" u="none" strike="noStrike" cap="none">
                          <a:solidFill>
                            <a:srgbClr val="404040"/>
                          </a:solidFill>
                          <a:latin typeface="Calibri"/>
                          <a:ea typeface="Calibri"/>
                          <a:cs typeface="Calibri"/>
                          <a:sym typeface="Calibri"/>
                        </a:rPr>
                        <a:t>Strong at deduction, planning, constraint solving</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300"/>
                        <a:buFont typeface="Calibri"/>
                        <a:buNone/>
                      </a:pPr>
                      <a:r>
                        <a:rPr lang="en-US" sz="1300" u="none" strike="noStrike" cap="none">
                          <a:solidFill>
                            <a:srgbClr val="404040"/>
                          </a:solidFill>
                          <a:latin typeface="Calibri"/>
                          <a:ea typeface="Calibri"/>
                          <a:cs typeface="Calibri"/>
                          <a:sym typeface="Calibri"/>
                        </a:rPr>
                        <a:t>Brittle — unexpected situations often cause failure</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extLst>
                  <a:ext uri="{0D108BD9-81ED-4DB2-BD59-A6C34878D82A}">
                    <a16:rowId xmlns:a16="http://schemas.microsoft.com/office/drawing/2014/main" val="10004"/>
                  </a:ext>
                </a:extLst>
              </a:tr>
            </a:tbl>
          </a:graphicData>
        </a:graphic>
      </p:graphicFrame>
      <p:sp>
        <p:nvSpPr>
          <p:cNvPr id="1984" name="Google Shape;1984;p115"/>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34 / 40</a:t>
            </a:r>
            <a:endParaRPr sz="950" b="0" i="0" u="none" strike="noStrike" cap="none">
              <a:solidFill>
                <a:schemeClr val="dk1"/>
              </a:solidFill>
              <a:latin typeface="Calibri"/>
              <a:ea typeface="Calibri"/>
              <a:cs typeface="Calibri"/>
              <a:sym typeface="Calibri"/>
            </a:endParaRPr>
          </a:p>
        </p:txBody>
      </p:sp>
      <p:sp>
        <p:nvSpPr>
          <p:cNvPr id="1985" name="Google Shape;1985;p115"/>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90"/>
        <p:cNvGrpSpPr/>
        <p:nvPr/>
      </p:nvGrpSpPr>
      <p:grpSpPr>
        <a:xfrm>
          <a:off x="0" y="0"/>
          <a:ext cx="0" cy="0"/>
          <a:chOff x="0" y="0"/>
          <a:chExt cx="0" cy="0"/>
        </a:xfrm>
      </p:grpSpPr>
      <p:sp>
        <p:nvSpPr>
          <p:cNvPr id="1991" name="Google Shape;1991;p116"/>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33A3A"/>
              </a:buClr>
              <a:buSzPts val="1100"/>
              <a:buFont typeface="Calibri"/>
              <a:buNone/>
            </a:pPr>
            <a:r>
              <a:rPr lang="en-US" sz="1100" b="1" i="0" u="none" strike="noStrike" cap="none">
                <a:solidFill>
                  <a:srgbClr val="B33A3A"/>
                </a:solidFill>
                <a:latin typeface="Calibri"/>
                <a:ea typeface="Calibri"/>
                <a:cs typeface="Calibri"/>
                <a:sym typeface="Calibri"/>
              </a:rPr>
              <a:t>5.4 THE OTHER HALF OF THE STORY</a:t>
            </a:r>
            <a:endParaRPr sz="1100" b="0" i="0" u="none" strike="noStrike" cap="none">
              <a:solidFill>
                <a:schemeClr val="dk1"/>
              </a:solidFill>
              <a:latin typeface="Calibri"/>
              <a:ea typeface="Calibri"/>
              <a:cs typeface="Calibri"/>
              <a:sym typeface="Calibri"/>
            </a:endParaRPr>
          </a:p>
        </p:txBody>
      </p:sp>
      <p:sp>
        <p:nvSpPr>
          <p:cNvPr id="1992" name="Google Shape;1992;p116"/>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Neural Networks in Depth</a:t>
            </a:r>
            <a:endParaRPr sz="2300" b="0" i="0" u="none" strike="noStrike" cap="none">
              <a:solidFill>
                <a:schemeClr val="dk1"/>
              </a:solidFill>
              <a:latin typeface="Calibri"/>
              <a:ea typeface="Calibri"/>
              <a:cs typeface="Calibri"/>
              <a:sym typeface="Calibri"/>
            </a:endParaRPr>
          </a:p>
        </p:txBody>
      </p:sp>
      <p:cxnSp>
        <p:nvCxnSpPr>
          <p:cNvPr id="1993" name="Google Shape;1993;p116"/>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1994" name="Google Shape;1994;p116"/>
          <p:cNvSpPr/>
          <p:nvPr/>
        </p:nvSpPr>
        <p:spPr>
          <a:xfrm>
            <a:off x="457200" y="1645920"/>
            <a:ext cx="10607040" cy="86868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404040"/>
              </a:buClr>
              <a:buSzPts val="1400"/>
              <a:buFont typeface="Calibri"/>
              <a:buNone/>
            </a:pPr>
            <a:r>
              <a:rPr lang="en-US" sz="1400" b="0" i="0" u="none" strike="noStrike" cap="none">
                <a:solidFill>
                  <a:srgbClr val="404040"/>
                </a:solidFill>
                <a:latin typeface="Calibri"/>
                <a:ea typeface="Calibri"/>
                <a:cs typeface="Calibri"/>
                <a:sym typeface="Calibri"/>
              </a:rPr>
              <a:t>A neural network, loosely inspired by biological neurons, learns patterns directly from data rather than from explicit rules — shown thousands of cat images, it learns to detect "cat" without anyone writing a rule for whiskers or fur.</a:t>
            </a:r>
            <a:endParaRPr sz="1400" b="0" i="0" u="none" strike="noStrike" cap="none">
              <a:solidFill>
                <a:schemeClr val="dk1"/>
              </a:solidFill>
              <a:latin typeface="Calibri"/>
              <a:ea typeface="Calibri"/>
              <a:cs typeface="Calibri"/>
              <a:sym typeface="Calibri"/>
            </a:endParaRPr>
          </a:p>
        </p:txBody>
      </p:sp>
      <p:graphicFrame>
        <p:nvGraphicFramePr>
          <p:cNvPr id="1995" name="Google Shape;1995;p116"/>
          <p:cNvGraphicFramePr/>
          <p:nvPr/>
        </p:nvGraphicFramePr>
        <p:xfrm>
          <a:off x="457200" y="2697480"/>
          <a:ext cx="10607050" cy="2971750"/>
        </p:xfrm>
        <a:graphic>
          <a:graphicData uri="http://schemas.openxmlformats.org/drawingml/2006/table">
            <a:tbl>
              <a:tblPr>
                <a:noFill/>
                <a:tableStyleId>{18CE5CEB-0992-447E-8985-1B7A4AD8BB01}</a:tableStyleId>
              </a:tblPr>
              <a:tblGrid>
                <a:gridCol w="5303525">
                  <a:extLst>
                    <a:ext uri="{9D8B030D-6E8A-4147-A177-3AD203B41FA5}">
                      <a16:colId xmlns:a16="http://schemas.microsoft.com/office/drawing/2014/main" val="20000"/>
                    </a:ext>
                  </a:extLst>
                </a:gridCol>
                <a:gridCol w="5303525">
                  <a:extLst>
                    <a:ext uri="{9D8B030D-6E8A-4147-A177-3AD203B41FA5}">
                      <a16:colId xmlns:a16="http://schemas.microsoft.com/office/drawing/2014/main" val="20001"/>
                    </a:ext>
                  </a:extLst>
                </a:gridCol>
              </a:tblGrid>
              <a:tr h="594350">
                <a:tc>
                  <a:txBody>
                    <a:bodyPr/>
                    <a:lstStyle/>
                    <a:p>
                      <a:pPr marL="0" marR="0" lvl="0" indent="0" algn="l" rtl="0">
                        <a:spcBef>
                          <a:spcPts val="0"/>
                        </a:spcBef>
                        <a:spcAft>
                          <a:spcPts val="0"/>
                        </a:spcAft>
                        <a:buClr>
                          <a:srgbClr val="FFFFFF"/>
                        </a:buClr>
                        <a:buSzPts val="1350"/>
                        <a:buFont typeface="Calibri"/>
                        <a:buNone/>
                      </a:pPr>
                      <a:r>
                        <a:rPr lang="en-US" sz="1350" b="1" u="none" strike="noStrike" cap="none">
                          <a:solidFill>
                            <a:srgbClr val="FFFFFF"/>
                          </a:solidFill>
                          <a:latin typeface="Calibri"/>
                          <a:ea typeface="Calibri"/>
                          <a:cs typeface="Calibri"/>
                          <a:sym typeface="Calibri"/>
                        </a:rPr>
                        <a:t>Advantages</a:t>
                      </a:r>
                      <a:endParaRPr sz="13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B33A3A"/>
                    </a:solidFill>
                  </a:tcPr>
                </a:tc>
                <a:tc>
                  <a:txBody>
                    <a:bodyPr/>
                    <a:lstStyle/>
                    <a:p>
                      <a:pPr marL="0" marR="0" lvl="0" indent="0" algn="l" rtl="0">
                        <a:spcBef>
                          <a:spcPts val="0"/>
                        </a:spcBef>
                        <a:spcAft>
                          <a:spcPts val="0"/>
                        </a:spcAft>
                        <a:buClr>
                          <a:srgbClr val="FFFFFF"/>
                        </a:buClr>
                        <a:buSzPts val="1350"/>
                        <a:buFont typeface="Calibri"/>
                        <a:buNone/>
                      </a:pPr>
                      <a:r>
                        <a:rPr lang="en-US" sz="1350" b="1" u="none" strike="noStrike" cap="none">
                          <a:solidFill>
                            <a:srgbClr val="FFFFFF"/>
                          </a:solidFill>
                          <a:latin typeface="Calibri"/>
                          <a:ea typeface="Calibri"/>
                          <a:cs typeface="Calibri"/>
                          <a:sym typeface="Calibri"/>
                        </a:rPr>
                        <a:t>Limitations</a:t>
                      </a:r>
                      <a:endParaRPr sz="13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B33A3A"/>
                    </a:solidFill>
                  </a:tcPr>
                </a:tc>
                <a:extLst>
                  <a:ext uri="{0D108BD9-81ED-4DB2-BD59-A6C34878D82A}">
                    <a16:rowId xmlns:a16="http://schemas.microsoft.com/office/drawing/2014/main" val="10000"/>
                  </a:ext>
                </a:extLst>
              </a:tr>
              <a:tr h="594350">
                <a:tc>
                  <a:txBody>
                    <a:bodyPr/>
                    <a:lstStyle/>
                    <a:p>
                      <a:pPr marL="0" marR="0" lvl="0" indent="0" algn="l" rtl="0">
                        <a:spcBef>
                          <a:spcPts val="0"/>
                        </a:spcBef>
                        <a:spcAft>
                          <a:spcPts val="0"/>
                        </a:spcAft>
                        <a:buClr>
                          <a:srgbClr val="404040"/>
                        </a:buClr>
                        <a:buSzPts val="1300"/>
                        <a:buFont typeface="Calibri"/>
                        <a:buNone/>
                      </a:pPr>
                      <a:r>
                        <a:rPr lang="en-US" sz="1300" u="none" strike="noStrike" cap="none">
                          <a:solidFill>
                            <a:srgbClr val="404040"/>
                          </a:solidFill>
                          <a:latin typeface="Calibri"/>
                          <a:ea typeface="Calibri"/>
                          <a:cs typeface="Calibri"/>
                          <a:sym typeface="Calibri"/>
                        </a:rPr>
                        <a:t>Learns automatically; no manual rule-writing</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300"/>
                        <a:buFont typeface="Calibri"/>
                        <a:buNone/>
                      </a:pPr>
                      <a:r>
                        <a:rPr lang="en-US" sz="1300" u="none" strike="noStrike" cap="none">
                          <a:solidFill>
                            <a:srgbClr val="404040"/>
                          </a:solidFill>
                          <a:latin typeface="Calibri"/>
                          <a:ea typeface="Calibri"/>
                          <a:cs typeface="Calibri"/>
                          <a:sym typeface="Calibri"/>
                        </a:rPr>
                        <a:t>"Black box" — decisions often unclear even to designers</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594350">
                <a:tc>
                  <a:txBody>
                    <a:bodyPr/>
                    <a:lstStyle/>
                    <a:p>
                      <a:pPr marL="0" marR="0" lvl="0" indent="0" algn="l" rtl="0">
                        <a:spcBef>
                          <a:spcPts val="0"/>
                        </a:spcBef>
                        <a:spcAft>
                          <a:spcPts val="0"/>
                        </a:spcAft>
                        <a:buClr>
                          <a:srgbClr val="404040"/>
                        </a:buClr>
                        <a:buSzPts val="1300"/>
                        <a:buFont typeface="Calibri"/>
                        <a:buNone/>
                      </a:pPr>
                      <a:r>
                        <a:rPr lang="en-US" sz="1300" u="none" strike="noStrike" cap="none">
                          <a:solidFill>
                            <a:srgbClr val="404040"/>
                          </a:solidFill>
                          <a:latin typeface="Calibri"/>
                          <a:ea typeface="Calibri"/>
                          <a:cs typeface="Calibri"/>
                          <a:sym typeface="Calibri"/>
                        </a:rPr>
                        <a:t>Excellent for images, speech, video, language</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300"/>
                        <a:buFont typeface="Calibri"/>
                        <a:buNone/>
                      </a:pPr>
                      <a:r>
                        <a:rPr lang="en-US" sz="1300" u="none" strike="noStrike" cap="none">
                          <a:solidFill>
                            <a:srgbClr val="404040"/>
                          </a:solidFill>
                          <a:latin typeface="Calibri"/>
                          <a:ea typeface="Calibri"/>
                          <a:cs typeface="Calibri"/>
                          <a:sym typeface="Calibri"/>
                        </a:rPr>
                        <a:t>Weak explainability</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extLst>
                  <a:ext uri="{0D108BD9-81ED-4DB2-BD59-A6C34878D82A}">
                    <a16:rowId xmlns:a16="http://schemas.microsoft.com/office/drawing/2014/main" val="10002"/>
                  </a:ext>
                </a:extLst>
              </a:tr>
              <a:tr h="594350">
                <a:tc>
                  <a:txBody>
                    <a:bodyPr/>
                    <a:lstStyle/>
                    <a:p>
                      <a:pPr marL="0" marR="0" lvl="0" indent="0" algn="l" rtl="0">
                        <a:spcBef>
                          <a:spcPts val="0"/>
                        </a:spcBef>
                        <a:spcAft>
                          <a:spcPts val="0"/>
                        </a:spcAft>
                        <a:buClr>
                          <a:srgbClr val="404040"/>
                        </a:buClr>
                        <a:buSzPts val="1300"/>
                        <a:buFont typeface="Calibri"/>
                        <a:buNone/>
                      </a:pPr>
                      <a:r>
                        <a:rPr lang="en-US" sz="1300" u="none" strike="noStrike" cap="none">
                          <a:solidFill>
                            <a:srgbClr val="404040"/>
                          </a:solidFill>
                          <a:latin typeface="Calibri"/>
                          <a:ea typeface="Calibri"/>
                          <a:cs typeface="Calibri"/>
                          <a:sym typeface="Calibri"/>
                        </a:rPr>
                        <a:t>Handles noisy, imperfect data well</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300"/>
                        <a:buFont typeface="Calibri"/>
                        <a:buNone/>
                      </a:pPr>
                      <a:r>
                        <a:rPr lang="en-US" sz="1300" u="none" strike="noStrike" cap="none">
                          <a:solidFill>
                            <a:srgbClr val="404040"/>
                          </a:solidFill>
                          <a:latin typeface="Calibri"/>
                          <a:ea typeface="Calibri"/>
                          <a:cs typeface="Calibri"/>
                          <a:sym typeface="Calibri"/>
                        </a:rPr>
                        <a:t>Weak strict logical reasoning</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594350">
                <a:tc>
                  <a:txBody>
                    <a:bodyPr/>
                    <a:lstStyle/>
                    <a:p>
                      <a:pPr marL="0" marR="0" lvl="0" indent="0" algn="l" rtl="0">
                        <a:spcBef>
                          <a:spcPts val="0"/>
                        </a:spcBef>
                        <a:spcAft>
                          <a:spcPts val="0"/>
                        </a:spcAft>
                        <a:buClr>
                          <a:srgbClr val="404040"/>
                        </a:buClr>
                        <a:buSzPts val="1300"/>
                        <a:buFont typeface="Calibri"/>
                        <a:buNone/>
                      </a:pPr>
                      <a:r>
                        <a:rPr lang="en-US" sz="1300" u="none" strike="noStrike" cap="none">
                          <a:solidFill>
                            <a:srgbClr val="404040"/>
                          </a:solidFill>
                          <a:latin typeface="Calibri"/>
                          <a:ea typeface="Calibri"/>
                          <a:cs typeface="Calibri"/>
                          <a:sym typeface="Calibri"/>
                        </a:rPr>
                        <a:t>Scales well with very large datasets</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300"/>
                        <a:buFont typeface="Calibri"/>
                        <a:buNone/>
                      </a:pPr>
                      <a:r>
                        <a:rPr lang="en-US" sz="1300" u="none" strike="noStrike" cap="none">
                          <a:solidFill>
                            <a:srgbClr val="404040"/>
                          </a:solidFill>
                          <a:latin typeface="Calibri"/>
                          <a:ea typeface="Calibri"/>
                          <a:cs typeface="Calibri"/>
                          <a:sym typeface="Calibri"/>
                        </a:rPr>
                        <a:t>Extremely data-hungry</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extLst>
                  <a:ext uri="{0D108BD9-81ED-4DB2-BD59-A6C34878D82A}">
                    <a16:rowId xmlns:a16="http://schemas.microsoft.com/office/drawing/2014/main" val="10004"/>
                  </a:ext>
                </a:extLst>
              </a:tr>
            </a:tbl>
          </a:graphicData>
        </a:graphic>
      </p:graphicFrame>
      <p:sp>
        <p:nvSpPr>
          <p:cNvPr id="1996" name="Google Shape;1996;p116"/>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34 / 40</a:t>
            </a:r>
            <a:endParaRPr sz="950" b="0" i="0" u="none" strike="noStrike" cap="none">
              <a:solidFill>
                <a:schemeClr val="dk1"/>
              </a:solidFill>
              <a:latin typeface="Calibri"/>
              <a:ea typeface="Calibri"/>
              <a:cs typeface="Calibri"/>
              <a:sym typeface="Calibri"/>
            </a:endParaRPr>
          </a:p>
        </p:txBody>
      </p:sp>
      <p:sp>
        <p:nvSpPr>
          <p:cNvPr id="1997" name="Google Shape;1997;p116"/>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02"/>
        <p:cNvGrpSpPr/>
        <p:nvPr/>
      </p:nvGrpSpPr>
      <p:grpSpPr>
        <a:xfrm>
          <a:off x="0" y="0"/>
          <a:ext cx="0" cy="0"/>
          <a:chOff x="0" y="0"/>
          <a:chExt cx="0" cy="0"/>
        </a:xfrm>
      </p:grpSpPr>
      <p:sp>
        <p:nvSpPr>
          <p:cNvPr id="2003" name="Google Shape;2003;p117"/>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33A3A"/>
              </a:buClr>
              <a:buSzPts val="1100"/>
              <a:buFont typeface="Calibri"/>
              <a:buNone/>
            </a:pPr>
            <a:r>
              <a:rPr lang="en-US" sz="1100" b="1" i="0" u="none" strike="noStrike" cap="none">
                <a:solidFill>
                  <a:srgbClr val="B33A3A"/>
                </a:solidFill>
                <a:latin typeface="Calibri"/>
                <a:ea typeface="Calibri"/>
                <a:cs typeface="Calibri"/>
                <a:sym typeface="Calibri"/>
              </a:rPr>
              <a:t>5.5 HEAD-TO-HEAD</a:t>
            </a:r>
            <a:endParaRPr sz="1100" b="0" i="0" u="none" strike="noStrike" cap="none">
              <a:solidFill>
                <a:schemeClr val="dk1"/>
              </a:solidFill>
              <a:latin typeface="Calibri"/>
              <a:ea typeface="Calibri"/>
              <a:cs typeface="Calibri"/>
              <a:sym typeface="Calibri"/>
            </a:endParaRPr>
          </a:p>
        </p:txBody>
      </p:sp>
      <p:sp>
        <p:nvSpPr>
          <p:cNvPr id="2004" name="Google Shape;2004;p117"/>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Side-by-Side Comparison</a:t>
            </a:r>
            <a:endParaRPr sz="2300" b="0" i="0" u="none" strike="noStrike" cap="none">
              <a:solidFill>
                <a:schemeClr val="dk1"/>
              </a:solidFill>
              <a:latin typeface="Calibri"/>
              <a:ea typeface="Calibri"/>
              <a:cs typeface="Calibri"/>
              <a:sym typeface="Calibri"/>
            </a:endParaRPr>
          </a:p>
        </p:txBody>
      </p:sp>
      <p:cxnSp>
        <p:nvCxnSpPr>
          <p:cNvPr id="2005" name="Google Shape;2005;p117"/>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graphicFrame>
        <p:nvGraphicFramePr>
          <p:cNvPr id="2006" name="Google Shape;2006;p117"/>
          <p:cNvGraphicFramePr/>
          <p:nvPr/>
        </p:nvGraphicFramePr>
        <p:xfrm>
          <a:off x="457200" y="1737360"/>
          <a:ext cx="10607050" cy="3072300"/>
        </p:xfrm>
        <a:graphic>
          <a:graphicData uri="http://schemas.openxmlformats.org/drawingml/2006/table">
            <a:tbl>
              <a:tblPr>
                <a:noFill/>
                <a:tableStyleId>{18CE5CEB-0992-447E-8985-1B7A4AD8BB01}</a:tableStyleId>
              </a:tblPr>
              <a:tblGrid>
                <a:gridCol w="3657600">
                  <a:extLst>
                    <a:ext uri="{9D8B030D-6E8A-4147-A177-3AD203B41FA5}">
                      <a16:colId xmlns:a16="http://schemas.microsoft.com/office/drawing/2014/main" val="20000"/>
                    </a:ext>
                  </a:extLst>
                </a:gridCol>
                <a:gridCol w="3474725">
                  <a:extLst>
                    <a:ext uri="{9D8B030D-6E8A-4147-A177-3AD203B41FA5}">
                      <a16:colId xmlns:a16="http://schemas.microsoft.com/office/drawing/2014/main" val="20001"/>
                    </a:ext>
                  </a:extLst>
                </a:gridCol>
                <a:gridCol w="3474725">
                  <a:extLst>
                    <a:ext uri="{9D8B030D-6E8A-4147-A177-3AD203B41FA5}">
                      <a16:colId xmlns:a16="http://schemas.microsoft.com/office/drawing/2014/main" val="20002"/>
                    </a:ext>
                  </a:extLst>
                </a:gridCol>
              </a:tblGrid>
              <a:tr h="438900">
                <a:tc>
                  <a:txBody>
                    <a:bodyPr/>
                    <a:lstStyle/>
                    <a:p>
                      <a:pPr marL="0" marR="0" lvl="0" indent="0" algn="l" rtl="0">
                        <a:spcBef>
                          <a:spcPts val="0"/>
                        </a:spcBef>
                        <a:spcAft>
                          <a:spcPts val="0"/>
                        </a:spcAft>
                        <a:buClr>
                          <a:srgbClr val="FFFFFF"/>
                        </a:buClr>
                        <a:buSzPts val="1400"/>
                        <a:buFont typeface="Calibri"/>
                        <a:buNone/>
                      </a:pPr>
                      <a:r>
                        <a:rPr lang="en-US" sz="1400" b="1" u="none" strike="noStrike" cap="none">
                          <a:solidFill>
                            <a:srgbClr val="FFFFFF"/>
                          </a:solidFill>
                          <a:latin typeface="Calibri"/>
                          <a:ea typeface="Calibri"/>
                          <a:cs typeface="Calibri"/>
                          <a:sym typeface="Calibri"/>
                        </a:rPr>
                        <a:t>Feature</a:t>
                      </a:r>
                      <a:endParaRPr sz="14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B33A3A"/>
                    </a:solidFill>
                  </a:tcPr>
                </a:tc>
                <a:tc>
                  <a:txBody>
                    <a:bodyPr/>
                    <a:lstStyle/>
                    <a:p>
                      <a:pPr marL="0" marR="0" lvl="0" indent="0" algn="l" rtl="0">
                        <a:spcBef>
                          <a:spcPts val="0"/>
                        </a:spcBef>
                        <a:spcAft>
                          <a:spcPts val="0"/>
                        </a:spcAft>
                        <a:buClr>
                          <a:srgbClr val="FFFFFF"/>
                        </a:buClr>
                        <a:buSzPts val="1400"/>
                        <a:buFont typeface="Calibri"/>
                        <a:buNone/>
                      </a:pPr>
                      <a:r>
                        <a:rPr lang="en-US" sz="1400" b="1" u="none" strike="noStrike" cap="none">
                          <a:solidFill>
                            <a:srgbClr val="FFFFFF"/>
                          </a:solidFill>
                          <a:latin typeface="Calibri"/>
                          <a:ea typeface="Calibri"/>
                          <a:cs typeface="Calibri"/>
                          <a:sym typeface="Calibri"/>
                        </a:rPr>
                        <a:t>Symbolic AI</a:t>
                      </a:r>
                      <a:endParaRPr sz="14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B33A3A"/>
                    </a:solidFill>
                  </a:tcPr>
                </a:tc>
                <a:tc>
                  <a:txBody>
                    <a:bodyPr/>
                    <a:lstStyle/>
                    <a:p>
                      <a:pPr marL="0" marR="0" lvl="0" indent="0" algn="l" rtl="0">
                        <a:spcBef>
                          <a:spcPts val="0"/>
                        </a:spcBef>
                        <a:spcAft>
                          <a:spcPts val="0"/>
                        </a:spcAft>
                        <a:buClr>
                          <a:srgbClr val="FFFFFF"/>
                        </a:buClr>
                        <a:buSzPts val="1400"/>
                        <a:buFont typeface="Calibri"/>
                        <a:buNone/>
                      </a:pPr>
                      <a:r>
                        <a:rPr lang="en-US" sz="1400" b="1" u="none" strike="noStrike" cap="none">
                          <a:solidFill>
                            <a:srgbClr val="FFFFFF"/>
                          </a:solidFill>
                          <a:latin typeface="Calibri"/>
                          <a:ea typeface="Calibri"/>
                          <a:cs typeface="Calibri"/>
                          <a:sym typeface="Calibri"/>
                        </a:rPr>
                        <a:t>Neural Networks</a:t>
                      </a:r>
                      <a:endParaRPr sz="14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B33A3A"/>
                    </a:solidFill>
                  </a:tcPr>
                </a:tc>
                <a:extLst>
                  <a:ext uri="{0D108BD9-81ED-4DB2-BD59-A6C34878D82A}">
                    <a16:rowId xmlns:a16="http://schemas.microsoft.com/office/drawing/2014/main" val="10000"/>
                  </a:ext>
                </a:extLst>
              </a:tr>
              <a:tr h="438900">
                <a:tc>
                  <a:txBody>
                    <a:bodyPr/>
                    <a:lstStyle/>
                    <a:p>
                      <a:pPr marL="0" marR="0" lvl="0" indent="0" algn="l" rtl="0">
                        <a:spcBef>
                          <a:spcPts val="0"/>
                        </a:spcBef>
                        <a:spcAft>
                          <a:spcPts val="0"/>
                        </a:spcAft>
                        <a:buClr>
                          <a:srgbClr val="404040"/>
                        </a:buClr>
                        <a:buSzPts val="1350"/>
                        <a:buFont typeface="Calibri"/>
                        <a:buNone/>
                      </a:pPr>
                      <a:r>
                        <a:rPr lang="en-US" sz="1350" u="none" strike="noStrike" cap="none">
                          <a:solidFill>
                            <a:srgbClr val="404040"/>
                          </a:solidFill>
                          <a:latin typeface="Calibri"/>
                          <a:ea typeface="Calibri"/>
                          <a:cs typeface="Calibri"/>
                          <a:sym typeface="Calibri"/>
                        </a:rPr>
                        <a:t>Learns from data</a:t>
                      </a:r>
                      <a:endParaRPr sz="13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350"/>
                        <a:buFont typeface="Calibri"/>
                        <a:buNone/>
                      </a:pPr>
                      <a:r>
                        <a:rPr lang="en-US" sz="1350" u="none" strike="noStrike" cap="none">
                          <a:solidFill>
                            <a:srgbClr val="404040"/>
                          </a:solidFill>
                          <a:latin typeface="Calibri"/>
                          <a:ea typeface="Calibri"/>
                          <a:cs typeface="Calibri"/>
                          <a:sym typeface="Calibri"/>
                        </a:rPr>
                        <a:t>No</a:t>
                      </a:r>
                      <a:endParaRPr sz="13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350"/>
                        <a:buFont typeface="Calibri"/>
                        <a:buNone/>
                      </a:pPr>
                      <a:r>
                        <a:rPr lang="en-US" sz="1350" u="none" strike="noStrike" cap="none">
                          <a:solidFill>
                            <a:srgbClr val="404040"/>
                          </a:solidFill>
                          <a:latin typeface="Calibri"/>
                          <a:ea typeface="Calibri"/>
                          <a:cs typeface="Calibri"/>
                          <a:sym typeface="Calibri"/>
                        </a:rPr>
                        <a:t>Yes</a:t>
                      </a:r>
                      <a:endParaRPr sz="13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38900">
                <a:tc>
                  <a:txBody>
                    <a:bodyPr/>
                    <a:lstStyle/>
                    <a:p>
                      <a:pPr marL="0" marR="0" lvl="0" indent="0" algn="l" rtl="0">
                        <a:spcBef>
                          <a:spcPts val="0"/>
                        </a:spcBef>
                        <a:spcAft>
                          <a:spcPts val="0"/>
                        </a:spcAft>
                        <a:buClr>
                          <a:srgbClr val="404040"/>
                        </a:buClr>
                        <a:buSzPts val="1350"/>
                        <a:buFont typeface="Calibri"/>
                        <a:buNone/>
                      </a:pPr>
                      <a:r>
                        <a:rPr lang="en-US" sz="1350" u="none" strike="noStrike" cap="none">
                          <a:solidFill>
                            <a:srgbClr val="404040"/>
                          </a:solidFill>
                          <a:latin typeface="Calibri"/>
                          <a:ea typeface="Calibri"/>
                          <a:cs typeface="Calibri"/>
                          <a:sym typeface="Calibri"/>
                        </a:rPr>
                        <a:t>Logical reasoning</a:t>
                      </a:r>
                      <a:endParaRPr sz="13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350"/>
                        <a:buFont typeface="Calibri"/>
                        <a:buNone/>
                      </a:pPr>
                      <a:r>
                        <a:rPr lang="en-US" sz="1350" u="none" strike="noStrike" cap="none">
                          <a:solidFill>
                            <a:srgbClr val="404040"/>
                          </a:solidFill>
                          <a:latin typeface="Calibri"/>
                          <a:ea typeface="Calibri"/>
                          <a:cs typeface="Calibri"/>
                          <a:sym typeface="Calibri"/>
                        </a:rPr>
                        <a:t>Strong</a:t>
                      </a:r>
                      <a:endParaRPr sz="13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350"/>
                        <a:buFont typeface="Calibri"/>
                        <a:buNone/>
                      </a:pPr>
                      <a:r>
                        <a:rPr lang="en-US" sz="1350" u="none" strike="noStrike" cap="none">
                          <a:solidFill>
                            <a:srgbClr val="404040"/>
                          </a:solidFill>
                          <a:latin typeface="Calibri"/>
                          <a:ea typeface="Calibri"/>
                          <a:cs typeface="Calibri"/>
                          <a:sym typeface="Calibri"/>
                        </a:rPr>
                        <a:t>Limited</a:t>
                      </a:r>
                      <a:endParaRPr sz="13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extLst>
                  <a:ext uri="{0D108BD9-81ED-4DB2-BD59-A6C34878D82A}">
                    <a16:rowId xmlns:a16="http://schemas.microsoft.com/office/drawing/2014/main" val="10002"/>
                  </a:ext>
                </a:extLst>
              </a:tr>
              <a:tr h="438900">
                <a:tc>
                  <a:txBody>
                    <a:bodyPr/>
                    <a:lstStyle/>
                    <a:p>
                      <a:pPr marL="0" marR="0" lvl="0" indent="0" algn="l" rtl="0">
                        <a:spcBef>
                          <a:spcPts val="0"/>
                        </a:spcBef>
                        <a:spcAft>
                          <a:spcPts val="0"/>
                        </a:spcAft>
                        <a:buClr>
                          <a:srgbClr val="404040"/>
                        </a:buClr>
                        <a:buSzPts val="1350"/>
                        <a:buFont typeface="Calibri"/>
                        <a:buNone/>
                      </a:pPr>
                      <a:r>
                        <a:rPr lang="en-US" sz="1350" u="none" strike="noStrike" cap="none">
                          <a:solidFill>
                            <a:srgbClr val="404040"/>
                          </a:solidFill>
                          <a:latin typeface="Calibri"/>
                          <a:ea typeface="Calibri"/>
                          <a:cs typeface="Calibri"/>
                          <a:sym typeface="Calibri"/>
                        </a:rPr>
                        <a:t>Explainable</a:t>
                      </a:r>
                      <a:endParaRPr sz="13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350"/>
                        <a:buFont typeface="Calibri"/>
                        <a:buNone/>
                      </a:pPr>
                      <a:r>
                        <a:rPr lang="en-US" sz="1350" u="none" strike="noStrike" cap="none">
                          <a:solidFill>
                            <a:srgbClr val="404040"/>
                          </a:solidFill>
                          <a:latin typeface="Calibri"/>
                          <a:ea typeface="Calibri"/>
                          <a:cs typeface="Calibri"/>
                          <a:sym typeface="Calibri"/>
                        </a:rPr>
                        <a:t>Strong</a:t>
                      </a:r>
                      <a:endParaRPr sz="13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350"/>
                        <a:buFont typeface="Calibri"/>
                        <a:buNone/>
                      </a:pPr>
                      <a:r>
                        <a:rPr lang="en-US" sz="1350" u="none" strike="noStrike" cap="none">
                          <a:solidFill>
                            <a:srgbClr val="404040"/>
                          </a:solidFill>
                          <a:latin typeface="Calibri"/>
                          <a:ea typeface="Calibri"/>
                          <a:cs typeface="Calibri"/>
                          <a:sym typeface="Calibri"/>
                        </a:rPr>
                        <a:t>Limited</a:t>
                      </a:r>
                      <a:endParaRPr sz="13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438900">
                <a:tc>
                  <a:txBody>
                    <a:bodyPr/>
                    <a:lstStyle/>
                    <a:p>
                      <a:pPr marL="0" marR="0" lvl="0" indent="0" algn="l" rtl="0">
                        <a:spcBef>
                          <a:spcPts val="0"/>
                        </a:spcBef>
                        <a:spcAft>
                          <a:spcPts val="0"/>
                        </a:spcAft>
                        <a:buClr>
                          <a:srgbClr val="404040"/>
                        </a:buClr>
                        <a:buSzPts val="1350"/>
                        <a:buFont typeface="Calibri"/>
                        <a:buNone/>
                      </a:pPr>
                      <a:r>
                        <a:rPr lang="en-US" sz="1350" u="none" strike="noStrike" cap="none">
                          <a:solidFill>
                            <a:srgbClr val="404040"/>
                          </a:solidFill>
                          <a:latin typeface="Calibri"/>
                          <a:ea typeface="Calibri"/>
                          <a:cs typeface="Calibri"/>
                          <a:sym typeface="Calibri"/>
                        </a:rPr>
                        <a:t>Image recognition</a:t>
                      </a:r>
                      <a:endParaRPr sz="13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350"/>
                        <a:buFont typeface="Calibri"/>
                        <a:buNone/>
                      </a:pPr>
                      <a:r>
                        <a:rPr lang="en-US" sz="1350" u="none" strike="noStrike" cap="none">
                          <a:solidFill>
                            <a:srgbClr val="404040"/>
                          </a:solidFill>
                          <a:latin typeface="Calibri"/>
                          <a:ea typeface="Calibri"/>
                          <a:cs typeface="Calibri"/>
                          <a:sym typeface="Calibri"/>
                        </a:rPr>
                        <a:t>Poor</a:t>
                      </a:r>
                      <a:endParaRPr sz="13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350"/>
                        <a:buFont typeface="Calibri"/>
                        <a:buNone/>
                      </a:pPr>
                      <a:r>
                        <a:rPr lang="en-US" sz="1350" u="none" strike="noStrike" cap="none">
                          <a:solidFill>
                            <a:srgbClr val="404040"/>
                          </a:solidFill>
                          <a:latin typeface="Calibri"/>
                          <a:ea typeface="Calibri"/>
                          <a:cs typeface="Calibri"/>
                          <a:sym typeface="Calibri"/>
                        </a:rPr>
                        <a:t>Excellent</a:t>
                      </a:r>
                      <a:endParaRPr sz="13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extLst>
                  <a:ext uri="{0D108BD9-81ED-4DB2-BD59-A6C34878D82A}">
                    <a16:rowId xmlns:a16="http://schemas.microsoft.com/office/drawing/2014/main" val="10004"/>
                  </a:ext>
                </a:extLst>
              </a:tr>
              <a:tr h="438900">
                <a:tc>
                  <a:txBody>
                    <a:bodyPr/>
                    <a:lstStyle/>
                    <a:p>
                      <a:pPr marL="0" marR="0" lvl="0" indent="0" algn="l" rtl="0">
                        <a:spcBef>
                          <a:spcPts val="0"/>
                        </a:spcBef>
                        <a:spcAft>
                          <a:spcPts val="0"/>
                        </a:spcAft>
                        <a:buClr>
                          <a:srgbClr val="404040"/>
                        </a:buClr>
                        <a:buSzPts val="1350"/>
                        <a:buFont typeface="Calibri"/>
                        <a:buNone/>
                      </a:pPr>
                      <a:r>
                        <a:rPr lang="en-US" sz="1350" u="none" strike="noStrike" cap="none">
                          <a:solidFill>
                            <a:srgbClr val="404040"/>
                          </a:solidFill>
                          <a:latin typeface="Calibri"/>
                          <a:ea typeface="Calibri"/>
                          <a:cs typeface="Calibri"/>
                          <a:sym typeface="Calibri"/>
                        </a:rPr>
                        <a:t>Knowledge representation</a:t>
                      </a:r>
                      <a:endParaRPr sz="13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350"/>
                        <a:buFont typeface="Calibri"/>
                        <a:buNone/>
                      </a:pPr>
                      <a:r>
                        <a:rPr lang="en-US" sz="1350" u="none" strike="noStrike" cap="none">
                          <a:solidFill>
                            <a:srgbClr val="404040"/>
                          </a:solidFill>
                          <a:latin typeface="Calibri"/>
                          <a:ea typeface="Calibri"/>
                          <a:cs typeface="Calibri"/>
                          <a:sym typeface="Calibri"/>
                        </a:rPr>
                        <a:t>Excellent</a:t>
                      </a:r>
                      <a:endParaRPr sz="13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350"/>
                        <a:buFont typeface="Calibri"/>
                        <a:buNone/>
                      </a:pPr>
                      <a:r>
                        <a:rPr lang="en-US" sz="1350" u="none" strike="noStrike" cap="none">
                          <a:solidFill>
                            <a:srgbClr val="404040"/>
                          </a:solidFill>
                          <a:latin typeface="Calibri"/>
                          <a:ea typeface="Calibri"/>
                          <a:cs typeface="Calibri"/>
                          <a:sym typeface="Calibri"/>
                        </a:rPr>
                        <a:t>Weak</a:t>
                      </a:r>
                      <a:endParaRPr sz="13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438900">
                <a:tc>
                  <a:txBody>
                    <a:bodyPr/>
                    <a:lstStyle/>
                    <a:p>
                      <a:pPr marL="0" marR="0" lvl="0" indent="0" algn="l" rtl="0">
                        <a:spcBef>
                          <a:spcPts val="0"/>
                        </a:spcBef>
                        <a:spcAft>
                          <a:spcPts val="0"/>
                        </a:spcAft>
                        <a:buClr>
                          <a:srgbClr val="404040"/>
                        </a:buClr>
                        <a:buSzPts val="1350"/>
                        <a:buFont typeface="Calibri"/>
                        <a:buNone/>
                      </a:pPr>
                      <a:r>
                        <a:rPr lang="en-US" sz="1350" u="none" strike="noStrike" cap="none">
                          <a:solidFill>
                            <a:srgbClr val="404040"/>
                          </a:solidFill>
                          <a:latin typeface="Calibri"/>
                          <a:ea typeface="Calibri"/>
                          <a:cs typeface="Calibri"/>
                          <a:sym typeface="Calibri"/>
                        </a:rPr>
                        <a:t>Scalability</a:t>
                      </a:r>
                      <a:endParaRPr sz="13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350"/>
                        <a:buFont typeface="Calibri"/>
                        <a:buNone/>
                      </a:pPr>
                      <a:r>
                        <a:rPr lang="en-US" sz="1350" u="none" strike="noStrike" cap="none">
                          <a:solidFill>
                            <a:srgbClr val="404040"/>
                          </a:solidFill>
                          <a:latin typeface="Calibri"/>
                          <a:ea typeface="Calibri"/>
                          <a:cs typeface="Calibri"/>
                          <a:sym typeface="Calibri"/>
                        </a:rPr>
                        <a:t>Difficult</a:t>
                      </a:r>
                      <a:endParaRPr sz="13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350"/>
                        <a:buFont typeface="Calibri"/>
                        <a:buNone/>
                      </a:pPr>
                      <a:r>
                        <a:rPr lang="en-US" sz="1350" u="none" strike="noStrike" cap="none">
                          <a:solidFill>
                            <a:srgbClr val="404040"/>
                          </a:solidFill>
                          <a:latin typeface="Calibri"/>
                          <a:ea typeface="Calibri"/>
                          <a:cs typeface="Calibri"/>
                          <a:sym typeface="Calibri"/>
                        </a:rPr>
                        <a:t>Excellent</a:t>
                      </a:r>
                      <a:endParaRPr sz="135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extLst>
                  <a:ext uri="{0D108BD9-81ED-4DB2-BD59-A6C34878D82A}">
                    <a16:rowId xmlns:a16="http://schemas.microsoft.com/office/drawing/2014/main" val="10006"/>
                  </a:ext>
                </a:extLst>
              </a:tr>
            </a:tbl>
          </a:graphicData>
        </a:graphic>
      </p:graphicFrame>
      <p:sp>
        <p:nvSpPr>
          <p:cNvPr id="2007" name="Google Shape;2007;p117"/>
          <p:cNvSpPr/>
          <p:nvPr/>
        </p:nvSpPr>
        <p:spPr>
          <a:xfrm>
            <a:off x="457200" y="5074920"/>
            <a:ext cx="10607040" cy="1051560"/>
          </a:xfrm>
          <a:prstGeom prst="rect">
            <a:avLst/>
          </a:prstGeom>
          <a:solidFill>
            <a:srgbClr val="FFF6EC"/>
          </a:solidFill>
          <a:ln w="9525" cap="flat" cmpd="sng">
            <a:solidFill>
              <a:srgbClr val="B33A3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117"/>
          <p:cNvSpPr/>
          <p:nvPr/>
        </p:nvSpPr>
        <p:spPr>
          <a:xfrm>
            <a:off x="457200" y="5074920"/>
            <a:ext cx="64008" cy="1051560"/>
          </a:xfrm>
          <a:prstGeom prst="rect">
            <a:avLst/>
          </a:prstGeom>
          <a:solidFill>
            <a:srgbClr val="B33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117"/>
          <p:cNvSpPr/>
          <p:nvPr/>
        </p:nvSpPr>
        <p:spPr>
          <a:xfrm>
            <a:off x="685800" y="5184648"/>
            <a:ext cx="102412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33A3A"/>
              </a:buClr>
              <a:buSzPts val="1050"/>
              <a:buFont typeface="Calibri"/>
              <a:buNone/>
            </a:pPr>
            <a:r>
              <a:rPr lang="en-US" sz="1050" b="1" i="0" u="none" strike="noStrike" cap="none">
                <a:solidFill>
                  <a:srgbClr val="B33A3A"/>
                </a:solidFill>
                <a:latin typeface="Calibri"/>
                <a:ea typeface="Calibri"/>
                <a:cs typeface="Calibri"/>
                <a:sym typeface="Calibri"/>
              </a:rPr>
              <a:t>THE CORE INSIGHT</a:t>
            </a:r>
            <a:endParaRPr sz="1050" b="0" i="0" u="none" strike="noStrike" cap="none">
              <a:solidFill>
                <a:schemeClr val="dk1"/>
              </a:solidFill>
              <a:latin typeface="Calibri"/>
              <a:ea typeface="Calibri"/>
              <a:cs typeface="Calibri"/>
              <a:sym typeface="Calibri"/>
            </a:endParaRPr>
          </a:p>
        </p:txBody>
      </p:sp>
      <p:sp>
        <p:nvSpPr>
          <p:cNvPr id="2010" name="Google Shape;2010;p117"/>
          <p:cNvSpPr/>
          <p:nvPr/>
        </p:nvSpPr>
        <p:spPr>
          <a:xfrm>
            <a:off x="685800" y="5477256"/>
            <a:ext cx="10195560" cy="55778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400"/>
              <a:buFont typeface="Calibri"/>
              <a:buNone/>
            </a:pPr>
            <a:r>
              <a:rPr lang="en-US" sz="1400" b="0" i="0" u="none" strike="noStrike" cap="none">
                <a:solidFill>
                  <a:srgbClr val="404040"/>
                </a:solidFill>
                <a:latin typeface="Calibri"/>
                <a:ea typeface="Calibri"/>
                <a:cs typeface="Calibri"/>
                <a:sym typeface="Calibri"/>
              </a:rPr>
              <a:t>Humans possess both capabilities: we learn (a child learns to recognize a cat) and we reason ("all cats are mammals; Tom is a cat; therefore Tom is a mammal"). Neuro-Symbolic AI attempts to replicate this dual ability in machines.</a:t>
            </a:r>
            <a:endParaRPr sz="1400" b="0" i="0" u="none" strike="noStrike" cap="none">
              <a:solidFill>
                <a:schemeClr val="dk1"/>
              </a:solidFill>
              <a:latin typeface="Calibri"/>
              <a:ea typeface="Calibri"/>
              <a:cs typeface="Calibri"/>
              <a:sym typeface="Calibri"/>
            </a:endParaRPr>
          </a:p>
        </p:txBody>
      </p:sp>
      <p:sp>
        <p:nvSpPr>
          <p:cNvPr id="2011" name="Google Shape;2011;p117"/>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34 / 40</a:t>
            </a:r>
            <a:endParaRPr sz="950" b="0" i="0" u="none" strike="noStrike" cap="none">
              <a:solidFill>
                <a:schemeClr val="dk1"/>
              </a:solidFill>
              <a:latin typeface="Calibri"/>
              <a:ea typeface="Calibri"/>
              <a:cs typeface="Calibri"/>
              <a:sym typeface="Calibri"/>
            </a:endParaRPr>
          </a:p>
        </p:txBody>
      </p:sp>
      <p:sp>
        <p:nvSpPr>
          <p:cNvPr id="2012" name="Google Shape;2012;p117"/>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17"/>
        <p:cNvGrpSpPr/>
        <p:nvPr/>
      </p:nvGrpSpPr>
      <p:grpSpPr>
        <a:xfrm>
          <a:off x="0" y="0"/>
          <a:ext cx="0" cy="0"/>
          <a:chOff x="0" y="0"/>
          <a:chExt cx="0" cy="0"/>
        </a:xfrm>
      </p:grpSpPr>
      <p:sp>
        <p:nvSpPr>
          <p:cNvPr id="2018" name="Google Shape;2018;p118"/>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33A3A"/>
              </a:buClr>
              <a:buSzPts val="1100"/>
              <a:buFont typeface="Calibri"/>
              <a:buNone/>
            </a:pPr>
            <a:r>
              <a:rPr lang="en-US" sz="1100" b="1" i="0" u="none" strike="noStrike" cap="none">
                <a:solidFill>
                  <a:srgbClr val="B33A3A"/>
                </a:solidFill>
                <a:latin typeface="Calibri"/>
                <a:ea typeface="Calibri"/>
                <a:cs typeface="Calibri"/>
                <a:sym typeface="Calibri"/>
              </a:rPr>
              <a:t>5.6 DEFINITION</a:t>
            </a:r>
            <a:endParaRPr sz="1100" b="0" i="0" u="none" strike="noStrike" cap="none">
              <a:solidFill>
                <a:schemeClr val="dk1"/>
              </a:solidFill>
              <a:latin typeface="Calibri"/>
              <a:ea typeface="Calibri"/>
              <a:cs typeface="Calibri"/>
              <a:sym typeface="Calibri"/>
            </a:endParaRPr>
          </a:p>
        </p:txBody>
      </p:sp>
      <p:sp>
        <p:nvSpPr>
          <p:cNvPr id="2019" name="Google Shape;2019;p118"/>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What Is Neuro-Symbolic AI?</a:t>
            </a:r>
            <a:endParaRPr sz="2300" b="0" i="0" u="none" strike="noStrike" cap="none">
              <a:solidFill>
                <a:schemeClr val="dk1"/>
              </a:solidFill>
              <a:latin typeface="Calibri"/>
              <a:ea typeface="Calibri"/>
              <a:cs typeface="Calibri"/>
              <a:sym typeface="Calibri"/>
            </a:endParaRPr>
          </a:p>
        </p:txBody>
      </p:sp>
      <p:cxnSp>
        <p:nvCxnSpPr>
          <p:cNvPr id="2020" name="Google Shape;2020;p118"/>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2021" name="Google Shape;2021;p118"/>
          <p:cNvSpPr/>
          <p:nvPr/>
        </p:nvSpPr>
        <p:spPr>
          <a:xfrm>
            <a:off x="457200" y="1691640"/>
            <a:ext cx="10607040" cy="1188720"/>
          </a:xfrm>
          <a:prstGeom prst="rect">
            <a:avLst/>
          </a:prstGeom>
          <a:solidFill>
            <a:srgbClr val="FBEAEA"/>
          </a:solidFill>
          <a:ln w="9525" cap="flat" cmpd="sng">
            <a:solidFill>
              <a:srgbClr val="B33A3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118"/>
          <p:cNvSpPr/>
          <p:nvPr/>
        </p:nvSpPr>
        <p:spPr>
          <a:xfrm>
            <a:off x="457200" y="1691640"/>
            <a:ext cx="64008" cy="1188720"/>
          </a:xfrm>
          <a:prstGeom prst="rect">
            <a:avLst/>
          </a:prstGeom>
          <a:solidFill>
            <a:srgbClr val="B33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118"/>
          <p:cNvSpPr/>
          <p:nvPr/>
        </p:nvSpPr>
        <p:spPr>
          <a:xfrm>
            <a:off x="685800" y="1801368"/>
            <a:ext cx="102412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33A3A"/>
              </a:buClr>
              <a:buSzPts val="1050"/>
              <a:buFont typeface="Calibri"/>
              <a:buNone/>
            </a:pPr>
            <a:r>
              <a:rPr lang="en-US" sz="1050" b="1" i="0" u="none" strike="noStrike" cap="none">
                <a:solidFill>
                  <a:srgbClr val="B33A3A"/>
                </a:solidFill>
                <a:latin typeface="Calibri"/>
                <a:ea typeface="Calibri"/>
                <a:cs typeface="Calibri"/>
                <a:sym typeface="Calibri"/>
              </a:rPr>
              <a:t>DEFINITION</a:t>
            </a:r>
            <a:endParaRPr sz="1050" b="0" i="0" u="none" strike="noStrike" cap="none">
              <a:solidFill>
                <a:schemeClr val="dk1"/>
              </a:solidFill>
              <a:latin typeface="Calibri"/>
              <a:ea typeface="Calibri"/>
              <a:cs typeface="Calibri"/>
              <a:sym typeface="Calibri"/>
            </a:endParaRPr>
          </a:p>
        </p:txBody>
      </p:sp>
      <p:sp>
        <p:nvSpPr>
          <p:cNvPr id="2024" name="Google Shape;2024;p118"/>
          <p:cNvSpPr/>
          <p:nvPr/>
        </p:nvSpPr>
        <p:spPr>
          <a:xfrm>
            <a:off x="685800" y="2093976"/>
            <a:ext cx="10195560" cy="69494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500"/>
              <a:buFont typeface="Calibri"/>
              <a:buNone/>
            </a:pPr>
            <a:r>
              <a:rPr lang="en-US" sz="1500" b="0" i="0" u="none" strike="noStrike" cap="none">
                <a:solidFill>
                  <a:srgbClr val="404040"/>
                </a:solidFill>
                <a:latin typeface="Calibri"/>
                <a:ea typeface="Calibri"/>
                <a:cs typeface="Calibri"/>
                <a:sym typeface="Calibri"/>
              </a:rPr>
              <a:t>Neuro-symbolic AI is a hybrid approach that combines the pattern-recognition strength of neural networks with the structured, rule-based reasoning power of symbolic AI, aiming to get the advantages of both while avoiding the weaknesses of either approach alone.</a:t>
            </a:r>
            <a:endParaRPr sz="1500" b="0" i="0" u="none" strike="noStrike" cap="none">
              <a:solidFill>
                <a:schemeClr val="dk1"/>
              </a:solidFill>
              <a:latin typeface="Calibri"/>
              <a:ea typeface="Calibri"/>
              <a:cs typeface="Calibri"/>
              <a:sym typeface="Calibri"/>
            </a:endParaRPr>
          </a:p>
        </p:txBody>
      </p:sp>
      <p:sp>
        <p:nvSpPr>
          <p:cNvPr id="2025" name="Google Shape;2025;p118"/>
          <p:cNvSpPr/>
          <p:nvPr/>
        </p:nvSpPr>
        <p:spPr>
          <a:xfrm>
            <a:off x="2743200" y="3063240"/>
            <a:ext cx="6675120" cy="2606040"/>
          </a:xfrm>
          <a:prstGeom prst="rect">
            <a:avLst/>
          </a:prstGeom>
          <a:solidFill>
            <a:srgbClr val="F4F8F8"/>
          </a:solidFill>
          <a:ln w="9525" cap="flat" cmpd="sng">
            <a:solidFill>
              <a:srgbClr val="DDE3E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118"/>
          <p:cNvSpPr/>
          <p:nvPr/>
        </p:nvSpPr>
        <p:spPr>
          <a:xfrm>
            <a:off x="2971800" y="3154680"/>
            <a:ext cx="6217920" cy="242316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ts val="0"/>
              </a:spcBef>
              <a:spcAft>
                <a:spcPts val="0"/>
              </a:spcAft>
              <a:buClr>
                <a:srgbClr val="404040"/>
              </a:buClr>
              <a:buSzPts val="1300"/>
              <a:buFont typeface="Courier New"/>
              <a:buNone/>
            </a:pPr>
            <a:r>
              <a:rPr lang="en-US" sz="1300" b="0" i="0" u="none" strike="noStrike" cap="none">
                <a:solidFill>
                  <a:srgbClr val="404040"/>
                </a:solidFill>
                <a:latin typeface="Courier New"/>
                <a:ea typeface="Courier New"/>
                <a:cs typeface="Courier New"/>
                <a:sym typeface="Courier New"/>
              </a:rPr>
              <a:t>Raw Data</a:t>
            </a:r>
            <a:endParaRPr sz="1300" b="0" i="0" u="none" strike="noStrike" cap="none">
              <a:solidFill>
                <a:schemeClr val="dk1"/>
              </a:solidFill>
              <a:latin typeface="Calibri"/>
              <a:ea typeface="Calibri"/>
              <a:cs typeface="Calibri"/>
              <a:sym typeface="Calibri"/>
            </a:endParaRPr>
          </a:p>
          <a:p>
            <a:pPr marL="0" marR="0" lvl="0" indent="0" algn="ctr" rtl="0">
              <a:lnSpc>
                <a:spcPct val="115000"/>
              </a:lnSpc>
              <a:spcBef>
                <a:spcPts val="0"/>
              </a:spcBef>
              <a:spcAft>
                <a:spcPts val="0"/>
              </a:spcAft>
              <a:buClr>
                <a:srgbClr val="404040"/>
              </a:buClr>
              <a:buSzPts val="1300"/>
              <a:buFont typeface="Courier New"/>
              <a:buNone/>
            </a:pPr>
            <a:r>
              <a:rPr lang="en-US" sz="1300" b="0" i="0" u="none" strike="noStrike" cap="none">
                <a:solidFill>
                  <a:srgbClr val="404040"/>
                </a:solidFill>
                <a:latin typeface="Courier New"/>
                <a:ea typeface="Courier New"/>
                <a:cs typeface="Courier New"/>
                <a:sym typeface="Courier New"/>
              </a:rPr>
              <a:t>  ↓</a:t>
            </a:r>
            <a:endParaRPr sz="1300" b="0" i="0" u="none" strike="noStrike" cap="none">
              <a:solidFill>
                <a:schemeClr val="dk1"/>
              </a:solidFill>
              <a:latin typeface="Calibri"/>
              <a:ea typeface="Calibri"/>
              <a:cs typeface="Calibri"/>
              <a:sym typeface="Calibri"/>
            </a:endParaRPr>
          </a:p>
          <a:p>
            <a:pPr marL="0" marR="0" lvl="0" indent="0" algn="ctr" rtl="0">
              <a:lnSpc>
                <a:spcPct val="115000"/>
              </a:lnSpc>
              <a:spcBef>
                <a:spcPts val="0"/>
              </a:spcBef>
              <a:spcAft>
                <a:spcPts val="0"/>
              </a:spcAft>
              <a:buClr>
                <a:srgbClr val="404040"/>
              </a:buClr>
              <a:buSzPts val="1300"/>
              <a:buFont typeface="Courier New"/>
              <a:buNone/>
            </a:pPr>
            <a:r>
              <a:rPr lang="en-US" sz="1300" b="0" i="0" u="none" strike="noStrike" cap="none">
                <a:solidFill>
                  <a:srgbClr val="404040"/>
                </a:solidFill>
                <a:latin typeface="Courier New"/>
                <a:ea typeface="Courier New"/>
                <a:cs typeface="Courier New"/>
                <a:sym typeface="Courier New"/>
              </a:rPr>
              <a:t>Neural Network (Perception)</a:t>
            </a:r>
            <a:endParaRPr sz="1300" b="0" i="0" u="none" strike="noStrike" cap="none">
              <a:solidFill>
                <a:schemeClr val="dk1"/>
              </a:solidFill>
              <a:latin typeface="Calibri"/>
              <a:ea typeface="Calibri"/>
              <a:cs typeface="Calibri"/>
              <a:sym typeface="Calibri"/>
            </a:endParaRPr>
          </a:p>
          <a:p>
            <a:pPr marL="0" marR="0" lvl="0" indent="0" algn="ctr" rtl="0">
              <a:lnSpc>
                <a:spcPct val="115000"/>
              </a:lnSpc>
              <a:spcBef>
                <a:spcPts val="0"/>
              </a:spcBef>
              <a:spcAft>
                <a:spcPts val="0"/>
              </a:spcAft>
              <a:buClr>
                <a:srgbClr val="404040"/>
              </a:buClr>
              <a:buSzPts val="1300"/>
              <a:buFont typeface="Courier New"/>
              <a:buNone/>
            </a:pPr>
            <a:r>
              <a:rPr lang="en-US" sz="1300" b="0" i="0" u="none" strike="noStrike" cap="none">
                <a:solidFill>
                  <a:srgbClr val="404040"/>
                </a:solidFill>
                <a:latin typeface="Courier New"/>
                <a:ea typeface="Courier New"/>
                <a:cs typeface="Courier New"/>
                <a:sym typeface="Courier New"/>
              </a:rPr>
              <a:t>  ↓</a:t>
            </a:r>
            <a:endParaRPr sz="1300" b="0" i="0" u="none" strike="noStrike" cap="none">
              <a:solidFill>
                <a:schemeClr val="dk1"/>
              </a:solidFill>
              <a:latin typeface="Calibri"/>
              <a:ea typeface="Calibri"/>
              <a:cs typeface="Calibri"/>
              <a:sym typeface="Calibri"/>
            </a:endParaRPr>
          </a:p>
          <a:p>
            <a:pPr marL="0" marR="0" lvl="0" indent="0" algn="ctr" rtl="0">
              <a:lnSpc>
                <a:spcPct val="115000"/>
              </a:lnSpc>
              <a:spcBef>
                <a:spcPts val="0"/>
              </a:spcBef>
              <a:spcAft>
                <a:spcPts val="0"/>
              </a:spcAft>
              <a:buClr>
                <a:srgbClr val="404040"/>
              </a:buClr>
              <a:buSzPts val="1300"/>
              <a:buFont typeface="Courier New"/>
              <a:buNone/>
            </a:pPr>
            <a:r>
              <a:rPr lang="en-US" sz="1300" b="0" i="0" u="none" strike="noStrike" cap="none">
                <a:solidFill>
                  <a:srgbClr val="404040"/>
                </a:solidFill>
                <a:latin typeface="Courier New"/>
                <a:ea typeface="Courier New"/>
                <a:cs typeface="Courier New"/>
                <a:sym typeface="Courier New"/>
              </a:rPr>
              <a:t>Concept Extraction</a:t>
            </a:r>
            <a:endParaRPr sz="1300" b="0" i="0" u="none" strike="noStrike" cap="none">
              <a:solidFill>
                <a:schemeClr val="dk1"/>
              </a:solidFill>
              <a:latin typeface="Calibri"/>
              <a:ea typeface="Calibri"/>
              <a:cs typeface="Calibri"/>
              <a:sym typeface="Calibri"/>
            </a:endParaRPr>
          </a:p>
          <a:p>
            <a:pPr marL="0" marR="0" lvl="0" indent="0" algn="ctr" rtl="0">
              <a:lnSpc>
                <a:spcPct val="115000"/>
              </a:lnSpc>
              <a:spcBef>
                <a:spcPts val="0"/>
              </a:spcBef>
              <a:spcAft>
                <a:spcPts val="0"/>
              </a:spcAft>
              <a:buClr>
                <a:srgbClr val="404040"/>
              </a:buClr>
              <a:buSzPts val="1300"/>
              <a:buFont typeface="Courier New"/>
              <a:buNone/>
            </a:pPr>
            <a:r>
              <a:rPr lang="en-US" sz="1300" b="0" i="0" u="none" strike="noStrike" cap="none">
                <a:solidFill>
                  <a:srgbClr val="404040"/>
                </a:solidFill>
                <a:latin typeface="Courier New"/>
                <a:ea typeface="Courier New"/>
                <a:cs typeface="Courier New"/>
                <a:sym typeface="Courier New"/>
              </a:rPr>
              <a:t>  ↓</a:t>
            </a:r>
            <a:endParaRPr sz="1300" b="0" i="0" u="none" strike="noStrike" cap="none">
              <a:solidFill>
                <a:schemeClr val="dk1"/>
              </a:solidFill>
              <a:latin typeface="Calibri"/>
              <a:ea typeface="Calibri"/>
              <a:cs typeface="Calibri"/>
              <a:sym typeface="Calibri"/>
            </a:endParaRPr>
          </a:p>
          <a:p>
            <a:pPr marL="0" marR="0" lvl="0" indent="0" algn="ctr" rtl="0">
              <a:lnSpc>
                <a:spcPct val="115000"/>
              </a:lnSpc>
              <a:spcBef>
                <a:spcPts val="0"/>
              </a:spcBef>
              <a:spcAft>
                <a:spcPts val="0"/>
              </a:spcAft>
              <a:buClr>
                <a:srgbClr val="404040"/>
              </a:buClr>
              <a:buSzPts val="1300"/>
              <a:buFont typeface="Courier New"/>
              <a:buNone/>
            </a:pPr>
            <a:r>
              <a:rPr lang="en-US" sz="1300" b="0" i="0" u="none" strike="noStrike" cap="none">
                <a:solidFill>
                  <a:srgbClr val="404040"/>
                </a:solidFill>
                <a:latin typeface="Courier New"/>
                <a:ea typeface="Courier New"/>
                <a:cs typeface="Courier New"/>
                <a:sym typeface="Courier New"/>
              </a:rPr>
              <a:t>Knowledge Representation</a:t>
            </a:r>
            <a:endParaRPr sz="1300" b="0" i="0" u="none" strike="noStrike" cap="none">
              <a:solidFill>
                <a:schemeClr val="dk1"/>
              </a:solidFill>
              <a:latin typeface="Calibri"/>
              <a:ea typeface="Calibri"/>
              <a:cs typeface="Calibri"/>
              <a:sym typeface="Calibri"/>
            </a:endParaRPr>
          </a:p>
          <a:p>
            <a:pPr marL="0" marR="0" lvl="0" indent="0" algn="ctr" rtl="0">
              <a:lnSpc>
                <a:spcPct val="115000"/>
              </a:lnSpc>
              <a:spcBef>
                <a:spcPts val="0"/>
              </a:spcBef>
              <a:spcAft>
                <a:spcPts val="0"/>
              </a:spcAft>
              <a:buClr>
                <a:srgbClr val="404040"/>
              </a:buClr>
              <a:buSzPts val="1300"/>
              <a:buFont typeface="Courier New"/>
              <a:buNone/>
            </a:pPr>
            <a:r>
              <a:rPr lang="en-US" sz="1300" b="0" i="0" u="none" strike="noStrike" cap="none">
                <a:solidFill>
                  <a:srgbClr val="404040"/>
                </a:solidFill>
                <a:latin typeface="Courier New"/>
                <a:ea typeface="Courier New"/>
                <a:cs typeface="Courier New"/>
                <a:sym typeface="Courier New"/>
              </a:rPr>
              <a:t>  ↓</a:t>
            </a:r>
            <a:endParaRPr sz="1300" b="0" i="0" u="none" strike="noStrike" cap="none">
              <a:solidFill>
                <a:schemeClr val="dk1"/>
              </a:solidFill>
              <a:latin typeface="Calibri"/>
              <a:ea typeface="Calibri"/>
              <a:cs typeface="Calibri"/>
              <a:sym typeface="Calibri"/>
            </a:endParaRPr>
          </a:p>
          <a:p>
            <a:pPr marL="0" marR="0" lvl="0" indent="0" algn="ctr" rtl="0">
              <a:lnSpc>
                <a:spcPct val="115000"/>
              </a:lnSpc>
              <a:spcBef>
                <a:spcPts val="0"/>
              </a:spcBef>
              <a:spcAft>
                <a:spcPts val="0"/>
              </a:spcAft>
              <a:buClr>
                <a:srgbClr val="404040"/>
              </a:buClr>
              <a:buSzPts val="1300"/>
              <a:buFont typeface="Courier New"/>
              <a:buNone/>
            </a:pPr>
            <a:r>
              <a:rPr lang="en-US" sz="1300" b="0" i="0" u="none" strike="noStrike" cap="none">
                <a:solidFill>
                  <a:srgbClr val="404040"/>
                </a:solidFill>
                <a:latin typeface="Courier New"/>
                <a:ea typeface="Courier New"/>
                <a:cs typeface="Courier New"/>
                <a:sym typeface="Courier New"/>
              </a:rPr>
              <a:t>Symbolic Reasoning (Logic)</a:t>
            </a:r>
            <a:endParaRPr sz="1300" b="0" i="0" u="none" strike="noStrike" cap="none">
              <a:solidFill>
                <a:schemeClr val="dk1"/>
              </a:solidFill>
              <a:latin typeface="Calibri"/>
              <a:ea typeface="Calibri"/>
              <a:cs typeface="Calibri"/>
              <a:sym typeface="Calibri"/>
            </a:endParaRPr>
          </a:p>
          <a:p>
            <a:pPr marL="0" marR="0" lvl="0" indent="0" algn="ctr" rtl="0">
              <a:lnSpc>
                <a:spcPct val="115000"/>
              </a:lnSpc>
              <a:spcBef>
                <a:spcPts val="0"/>
              </a:spcBef>
              <a:spcAft>
                <a:spcPts val="0"/>
              </a:spcAft>
              <a:buClr>
                <a:srgbClr val="404040"/>
              </a:buClr>
              <a:buSzPts val="1300"/>
              <a:buFont typeface="Courier New"/>
              <a:buNone/>
            </a:pPr>
            <a:r>
              <a:rPr lang="en-US" sz="1300" b="0" i="0" u="none" strike="noStrike" cap="none">
                <a:solidFill>
                  <a:srgbClr val="404040"/>
                </a:solidFill>
                <a:latin typeface="Courier New"/>
                <a:ea typeface="Courier New"/>
                <a:cs typeface="Courier New"/>
                <a:sym typeface="Courier New"/>
              </a:rPr>
              <a:t>  ↓</a:t>
            </a:r>
            <a:endParaRPr sz="1300" b="0" i="0" u="none" strike="noStrike" cap="none">
              <a:solidFill>
                <a:schemeClr val="dk1"/>
              </a:solidFill>
              <a:latin typeface="Calibri"/>
              <a:ea typeface="Calibri"/>
              <a:cs typeface="Calibri"/>
              <a:sym typeface="Calibri"/>
            </a:endParaRPr>
          </a:p>
          <a:p>
            <a:pPr marL="0" marR="0" lvl="0" indent="0" algn="ctr" rtl="0">
              <a:lnSpc>
                <a:spcPct val="115000"/>
              </a:lnSpc>
              <a:spcBef>
                <a:spcPts val="0"/>
              </a:spcBef>
              <a:spcAft>
                <a:spcPts val="0"/>
              </a:spcAft>
              <a:buClr>
                <a:srgbClr val="404040"/>
              </a:buClr>
              <a:buSzPts val="1300"/>
              <a:buFont typeface="Courier New"/>
              <a:buNone/>
            </a:pPr>
            <a:r>
              <a:rPr lang="en-US" sz="1300" b="0" i="0" u="none" strike="noStrike" cap="none">
                <a:solidFill>
                  <a:srgbClr val="404040"/>
                </a:solidFill>
                <a:latin typeface="Courier New"/>
                <a:ea typeface="Courier New"/>
                <a:cs typeface="Courier New"/>
                <a:sym typeface="Courier New"/>
              </a:rPr>
              <a:t>Decision</a:t>
            </a:r>
            <a:endParaRPr sz="1300" b="0" i="0" u="none" strike="noStrike" cap="none">
              <a:solidFill>
                <a:schemeClr val="dk1"/>
              </a:solidFill>
              <a:latin typeface="Calibri"/>
              <a:ea typeface="Calibri"/>
              <a:cs typeface="Calibri"/>
              <a:sym typeface="Calibri"/>
            </a:endParaRPr>
          </a:p>
        </p:txBody>
      </p:sp>
      <p:sp>
        <p:nvSpPr>
          <p:cNvPr id="2027" name="Google Shape;2027;p118"/>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35 / 40</a:t>
            </a:r>
            <a:endParaRPr sz="950" b="0" i="0" u="none" strike="noStrike" cap="none">
              <a:solidFill>
                <a:schemeClr val="dk1"/>
              </a:solidFill>
              <a:latin typeface="Calibri"/>
              <a:ea typeface="Calibri"/>
              <a:cs typeface="Calibri"/>
              <a:sym typeface="Calibri"/>
            </a:endParaRPr>
          </a:p>
        </p:txBody>
      </p:sp>
      <p:sp>
        <p:nvSpPr>
          <p:cNvPr id="2028" name="Google Shape;2028;p118"/>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33"/>
        <p:cNvGrpSpPr/>
        <p:nvPr/>
      </p:nvGrpSpPr>
      <p:grpSpPr>
        <a:xfrm>
          <a:off x="0" y="0"/>
          <a:ext cx="0" cy="0"/>
          <a:chOff x="0" y="0"/>
          <a:chExt cx="0" cy="0"/>
        </a:xfrm>
      </p:grpSpPr>
      <p:sp>
        <p:nvSpPr>
          <p:cNvPr id="2034" name="Google Shape;2034;p119"/>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33A3A"/>
              </a:buClr>
              <a:buSzPts val="1100"/>
              <a:buFont typeface="Calibri"/>
              <a:buNone/>
            </a:pPr>
            <a:r>
              <a:rPr lang="en-US" sz="1100" b="1" i="0" u="none" strike="noStrike" cap="none">
                <a:solidFill>
                  <a:srgbClr val="B33A3A"/>
                </a:solidFill>
                <a:latin typeface="Calibri"/>
                <a:ea typeface="Calibri"/>
                <a:cs typeface="Calibri"/>
                <a:sym typeface="Calibri"/>
              </a:rPr>
              <a:t>5.7 VISUALIZING THE PIPELINE</a:t>
            </a:r>
            <a:endParaRPr sz="1100" b="0" i="0" u="none" strike="noStrike" cap="none">
              <a:solidFill>
                <a:schemeClr val="dk1"/>
              </a:solidFill>
              <a:latin typeface="Calibri"/>
              <a:ea typeface="Calibri"/>
              <a:cs typeface="Calibri"/>
              <a:sym typeface="Calibri"/>
            </a:endParaRPr>
          </a:p>
        </p:txBody>
      </p:sp>
      <p:sp>
        <p:nvSpPr>
          <p:cNvPr id="2035" name="Google Shape;2035;p119"/>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A Neuro-Symbolic Safety System</a:t>
            </a:r>
            <a:endParaRPr sz="2300" b="0" i="0" u="none" strike="noStrike" cap="none">
              <a:solidFill>
                <a:schemeClr val="dk1"/>
              </a:solidFill>
              <a:latin typeface="Calibri"/>
              <a:ea typeface="Calibri"/>
              <a:cs typeface="Calibri"/>
              <a:sym typeface="Calibri"/>
            </a:endParaRPr>
          </a:p>
        </p:txBody>
      </p:sp>
      <p:cxnSp>
        <p:nvCxnSpPr>
          <p:cNvPr id="2036" name="Google Shape;2036;p119"/>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2037" name="Google Shape;2037;p119"/>
          <p:cNvSpPr/>
          <p:nvPr/>
        </p:nvSpPr>
        <p:spPr>
          <a:xfrm>
            <a:off x="411480" y="1920240"/>
            <a:ext cx="1920240" cy="914400"/>
          </a:xfrm>
          <a:prstGeom prst="rect">
            <a:avLst/>
          </a:prstGeom>
          <a:solidFill>
            <a:srgbClr val="4040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119"/>
          <p:cNvSpPr/>
          <p:nvPr/>
        </p:nvSpPr>
        <p:spPr>
          <a:xfrm>
            <a:off x="502920" y="1920240"/>
            <a:ext cx="1737360" cy="914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i="0" u="none" strike="noStrike" cap="none">
                <a:solidFill>
                  <a:srgbClr val="FFFFFF"/>
                </a:solidFill>
                <a:latin typeface="Calibri"/>
                <a:ea typeface="Calibri"/>
                <a:cs typeface="Calibri"/>
                <a:sym typeface="Calibri"/>
              </a:rPr>
              <a:t>RAW INPUT</a:t>
            </a:r>
            <a:br>
              <a:rPr lang="en-US" sz="1000" b="1" i="0" u="none" strike="noStrike" cap="none">
                <a:solidFill>
                  <a:srgbClr val="FFFFFF"/>
                </a:solidFill>
                <a:latin typeface="Calibri"/>
                <a:ea typeface="Calibri"/>
                <a:cs typeface="Calibri"/>
                <a:sym typeface="Calibri"/>
              </a:rPr>
            </a:br>
            <a:endParaRPr sz="10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1050"/>
              <a:buFont typeface="Calibri"/>
              <a:buNone/>
            </a:pPr>
            <a:r>
              <a:rPr lang="en-US" sz="1050" b="0" i="0" u="none" strike="noStrike" cap="none">
                <a:solidFill>
                  <a:srgbClr val="FFFFFF"/>
                </a:solidFill>
                <a:latin typeface="Calibri"/>
                <a:ea typeface="Calibri"/>
                <a:cs typeface="Calibri"/>
                <a:sym typeface="Calibri"/>
              </a:rPr>
              <a:t>Image of a child near a pool</a:t>
            </a:r>
            <a:endParaRPr sz="1000" b="0" i="0" u="none" strike="noStrike" cap="none">
              <a:solidFill>
                <a:schemeClr val="dk1"/>
              </a:solidFill>
              <a:latin typeface="Calibri"/>
              <a:ea typeface="Calibri"/>
              <a:cs typeface="Calibri"/>
              <a:sym typeface="Calibri"/>
            </a:endParaRPr>
          </a:p>
        </p:txBody>
      </p:sp>
      <p:cxnSp>
        <p:nvCxnSpPr>
          <p:cNvPr id="2039" name="Google Shape;2039;p119"/>
          <p:cNvCxnSpPr/>
          <p:nvPr/>
        </p:nvCxnSpPr>
        <p:spPr>
          <a:xfrm>
            <a:off x="2331720" y="2377440"/>
            <a:ext cx="594360" cy="0"/>
          </a:xfrm>
          <a:prstGeom prst="straightConnector1">
            <a:avLst/>
          </a:prstGeom>
          <a:noFill/>
          <a:ln w="19050" cap="flat" cmpd="sng">
            <a:solidFill>
              <a:srgbClr val="6B6B6B"/>
            </a:solidFill>
            <a:prstDash val="solid"/>
            <a:round/>
            <a:headEnd type="none" w="sm" len="sm"/>
            <a:tailEnd type="triangle" w="med" len="med"/>
          </a:ln>
        </p:spPr>
      </p:cxnSp>
      <p:sp>
        <p:nvSpPr>
          <p:cNvPr id="2040" name="Google Shape;2040;p119"/>
          <p:cNvSpPr/>
          <p:nvPr/>
        </p:nvSpPr>
        <p:spPr>
          <a:xfrm>
            <a:off x="2971800" y="1920240"/>
            <a:ext cx="2103120" cy="914400"/>
          </a:xfrm>
          <a:prstGeom prst="rect">
            <a:avLst/>
          </a:prstGeom>
          <a:solidFill>
            <a:srgbClr val="B33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119"/>
          <p:cNvSpPr/>
          <p:nvPr/>
        </p:nvSpPr>
        <p:spPr>
          <a:xfrm>
            <a:off x="3063240" y="1920240"/>
            <a:ext cx="1920240" cy="914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i="0" u="none" strike="noStrike" cap="none">
                <a:solidFill>
                  <a:srgbClr val="FFFFFF"/>
                </a:solidFill>
                <a:latin typeface="Calibri"/>
                <a:ea typeface="Calibri"/>
                <a:cs typeface="Calibri"/>
                <a:sym typeface="Calibri"/>
              </a:rPr>
              <a:t>NEURAL NETWORK</a:t>
            </a:r>
            <a:br>
              <a:rPr lang="en-US" sz="1000" b="1" i="0" u="none" strike="noStrike" cap="none">
                <a:solidFill>
                  <a:srgbClr val="FFFFFF"/>
                </a:solidFill>
                <a:latin typeface="Calibri"/>
                <a:ea typeface="Calibri"/>
                <a:cs typeface="Calibri"/>
                <a:sym typeface="Calibri"/>
              </a:rPr>
            </a:br>
            <a:endParaRPr sz="10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950"/>
              <a:buFont typeface="Calibri"/>
              <a:buNone/>
            </a:pPr>
            <a:r>
              <a:rPr lang="en-US" sz="950" b="0" i="0" u="none" strike="noStrike" cap="none">
                <a:solidFill>
                  <a:srgbClr val="FFFFFF"/>
                </a:solidFill>
                <a:latin typeface="Calibri"/>
                <a:ea typeface="Calibri"/>
                <a:cs typeface="Calibri"/>
                <a:sym typeface="Calibri"/>
              </a:rPr>
              <a:t>(Perception Stage)</a:t>
            </a:r>
            <a:endParaRPr sz="10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950"/>
              <a:buFont typeface="Calibri"/>
              <a:buNone/>
            </a:pPr>
            <a:r>
              <a:rPr lang="en-US" sz="950" b="0" i="0" u="none" strike="noStrike" cap="none">
                <a:solidFill>
                  <a:srgbClr val="FFFFFF"/>
                </a:solidFill>
                <a:latin typeface="Calibri"/>
                <a:ea typeface="Calibri"/>
                <a:cs typeface="Calibri"/>
                <a:sym typeface="Calibri"/>
              </a:rPr>
              <a:t>detects objects &amp; positions</a:t>
            </a:r>
            <a:endParaRPr sz="1000" b="0" i="0" u="none" strike="noStrike" cap="none">
              <a:solidFill>
                <a:schemeClr val="dk1"/>
              </a:solidFill>
              <a:latin typeface="Calibri"/>
              <a:ea typeface="Calibri"/>
              <a:cs typeface="Calibri"/>
              <a:sym typeface="Calibri"/>
            </a:endParaRPr>
          </a:p>
        </p:txBody>
      </p:sp>
      <p:cxnSp>
        <p:nvCxnSpPr>
          <p:cNvPr id="2042" name="Google Shape;2042;p119"/>
          <p:cNvCxnSpPr/>
          <p:nvPr/>
        </p:nvCxnSpPr>
        <p:spPr>
          <a:xfrm>
            <a:off x="5120640" y="2377440"/>
            <a:ext cx="594360" cy="0"/>
          </a:xfrm>
          <a:prstGeom prst="straightConnector1">
            <a:avLst/>
          </a:prstGeom>
          <a:noFill/>
          <a:ln w="19050" cap="flat" cmpd="sng">
            <a:solidFill>
              <a:srgbClr val="6B6B6B"/>
            </a:solidFill>
            <a:prstDash val="solid"/>
            <a:round/>
            <a:headEnd type="none" w="sm" len="sm"/>
            <a:tailEnd type="triangle" w="med" len="med"/>
          </a:ln>
        </p:spPr>
      </p:cxnSp>
      <p:sp>
        <p:nvSpPr>
          <p:cNvPr id="2043" name="Google Shape;2043;p119"/>
          <p:cNvSpPr/>
          <p:nvPr/>
        </p:nvSpPr>
        <p:spPr>
          <a:xfrm>
            <a:off x="5760720" y="1783080"/>
            <a:ext cx="2331720" cy="1188720"/>
          </a:xfrm>
          <a:prstGeom prst="rect">
            <a:avLst/>
          </a:prstGeom>
          <a:solidFill>
            <a:srgbClr val="FBEAEA"/>
          </a:solidFill>
          <a:ln w="12700" cap="flat" cmpd="sng">
            <a:solidFill>
              <a:srgbClr val="B33A3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119"/>
          <p:cNvSpPr/>
          <p:nvPr/>
        </p:nvSpPr>
        <p:spPr>
          <a:xfrm>
            <a:off x="5852160" y="1783080"/>
            <a:ext cx="2148840" cy="11887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B33A3A"/>
              </a:buClr>
              <a:buSzPts val="950"/>
              <a:buFont typeface="Calibri"/>
              <a:buNone/>
            </a:pPr>
            <a:r>
              <a:rPr lang="en-US" sz="950" b="1" i="0" u="none" strike="noStrike" cap="none">
                <a:solidFill>
                  <a:srgbClr val="B33A3A"/>
                </a:solidFill>
                <a:latin typeface="Calibri"/>
                <a:ea typeface="Calibri"/>
                <a:cs typeface="Calibri"/>
                <a:sym typeface="Calibri"/>
              </a:rPr>
              <a:t>EXTRACTED FACTS</a:t>
            </a:r>
            <a:br>
              <a:rPr lang="en-US" sz="950" b="1" i="0" u="none" strike="noStrike" cap="none">
                <a:solidFill>
                  <a:srgbClr val="B33A3A"/>
                </a:solidFill>
                <a:latin typeface="Calibri"/>
                <a:ea typeface="Calibri"/>
                <a:cs typeface="Calibri"/>
                <a:sym typeface="Calibri"/>
              </a:rPr>
            </a:br>
            <a:endParaRPr sz="95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404040"/>
              </a:buClr>
              <a:buSzPts val="950"/>
              <a:buFont typeface="Calibri"/>
              <a:buNone/>
            </a:pPr>
            <a:r>
              <a:rPr lang="en-US" sz="950" b="0" i="0" u="none" strike="noStrike" cap="none">
                <a:solidFill>
                  <a:srgbClr val="404040"/>
                </a:solidFill>
                <a:latin typeface="Calibri"/>
                <a:ea typeface="Calibri"/>
                <a:cs typeface="Calibri"/>
                <a:sym typeface="Calibri"/>
              </a:rPr>
              <a:t>isChild(X)</a:t>
            </a:r>
            <a:endParaRPr sz="95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404040"/>
              </a:buClr>
              <a:buSzPts val="950"/>
              <a:buFont typeface="Calibri"/>
              <a:buNone/>
            </a:pPr>
            <a:r>
              <a:rPr lang="en-US" sz="950" b="0" i="0" u="none" strike="noStrike" cap="none">
                <a:solidFill>
                  <a:srgbClr val="404040"/>
                </a:solidFill>
                <a:latin typeface="Calibri"/>
                <a:ea typeface="Calibri"/>
                <a:cs typeface="Calibri"/>
                <a:sym typeface="Calibri"/>
              </a:rPr>
              <a:t>isPool(Y)</a:t>
            </a:r>
            <a:endParaRPr sz="95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404040"/>
              </a:buClr>
              <a:buSzPts val="950"/>
              <a:buFont typeface="Calibri"/>
              <a:buNone/>
            </a:pPr>
            <a:r>
              <a:rPr lang="en-US" sz="950" b="0" i="0" u="none" strike="noStrike" cap="none">
                <a:solidFill>
                  <a:srgbClr val="404040"/>
                </a:solidFill>
                <a:latin typeface="Calibri"/>
                <a:ea typeface="Calibri"/>
                <a:cs typeface="Calibri"/>
                <a:sym typeface="Calibri"/>
              </a:rPr>
              <a:t>distanceNear(X, Y)</a:t>
            </a:r>
            <a:endParaRPr sz="950" b="0" i="0" u="none" strike="noStrike" cap="none">
              <a:solidFill>
                <a:schemeClr val="dk1"/>
              </a:solidFill>
              <a:latin typeface="Calibri"/>
              <a:ea typeface="Calibri"/>
              <a:cs typeface="Calibri"/>
              <a:sym typeface="Calibri"/>
            </a:endParaRPr>
          </a:p>
        </p:txBody>
      </p:sp>
      <p:cxnSp>
        <p:nvCxnSpPr>
          <p:cNvPr id="2045" name="Google Shape;2045;p119"/>
          <p:cNvCxnSpPr/>
          <p:nvPr/>
        </p:nvCxnSpPr>
        <p:spPr>
          <a:xfrm>
            <a:off x="6931152" y="2971800"/>
            <a:ext cx="0" cy="502920"/>
          </a:xfrm>
          <a:prstGeom prst="straightConnector1">
            <a:avLst/>
          </a:prstGeom>
          <a:noFill/>
          <a:ln w="19050" cap="flat" cmpd="sng">
            <a:solidFill>
              <a:srgbClr val="6B6B6B"/>
            </a:solidFill>
            <a:prstDash val="solid"/>
            <a:round/>
            <a:headEnd type="none" w="sm" len="sm"/>
            <a:tailEnd type="triangle" w="med" len="med"/>
          </a:ln>
        </p:spPr>
      </p:cxnSp>
      <p:sp>
        <p:nvSpPr>
          <p:cNvPr id="2046" name="Google Shape;2046;p119"/>
          <p:cNvSpPr/>
          <p:nvPr/>
        </p:nvSpPr>
        <p:spPr>
          <a:xfrm>
            <a:off x="5120640" y="3566160"/>
            <a:ext cx="3611880" cy="1143000"/>
          </a:xfrm>
          <a:prstGeom prst="rect">
            <a:avLst/>
          </a:prstGeom>
          <a:solidFill>
            <a:srgbClr val="1F4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119"/>
          <p:cNvSpPr/>
          <p:nvPr/>
        </p:nvSpPr>
        <p:spPr>
          <a:xfrm>
            <a:off x="5212080" y="3566160"/>
            <a:ext cx="3429000" cy="114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i="0" u="none" strike="noStrike" cap="none">
                <a:solidFill>
                  <a:srgbClr val="FFFFFF"/>
                </a:solidFill>
                <a:latin typeface="Calibri"/>
                <a:ea typeface="Calibri"/>
                <a:cs typeface="Calibri"/>
                <a:sym typeface="Calibri"/>
              </a:rPr>
              <a:t>SYMBOLIC REASONER (Logic Stage)</a:t>
            </a:r>
            <a:br>
              <a:rPr lang="en-US" sz="1000" b="1" i="0" u="none" strike="noStrike" cap="none">
                <a:solidFill>
                  <a:srgbClr val="FFFFFF"/>
                </a:solidFill>
                <a:latin typeface="Calibri"/>
                <a:ea typeface="Calibri"/>
                <a:cs typeface="Calibri"/>
                <a:sym typeface="Calibri"/>
              </a:rPr>
            </a:br>
            <a:endParaRPr sz="10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900"/>
              <a:buFont typeface="Calibri"/>
              <a:buNone/>
            </a:pPr>
            <a:r>
              <a:rPr lang="en-US" sz="900" b="0" i="0" u="none" strike="noStrike" cap="none">
                <a:solidFill>
                  <a:srgbClr val="FFFFFF"/>
                </a:solidFill>
                <a:latin typeface="Calibri"/>
                <a:ea typeface="Calibri"/>
                <a:cs typeface="Calibri"/>
                <a:sym typeface="Calibri"/>
              </a:rPr>
              <a:t>RULE: IF isChild(X) AND isPool(Y)</a:t>
            </a:r>
            <a:endParaRPr sz="10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900"/>
              <a:buFont typeface="Calibri"/>
              <a:buNone/>
            </a:pPr>
            <a:r>
              <a:rPr lang="en-US" sz="900" b="0" i="0" u="none" strike="noStrike" cap="none">
                <a:solidFill>
                  <a:srgbClr val="FFFFFF"/>
                </a:solidFill>
                <a:latin typeface="Calibri"/>
                <a:ea typeface="Calibri"/>
                <a:cs typeface="Calibri"/>
                <a:sym typeface="Calibri"/>
              </a:rPr>
              <a:t>AND distanceNear(X,Y) THEN alertRisk(X)</a:t>
            </a:r>
            <a:endParaRPr sz="1000" b="0" i="0" u="none" strike="noStrike" cap="none">
              <a:solidFill>
                <a:schemeClr val="dk1"/>
              </a:solidFill>
              <a:latin typeface="Calibri"/>
              <a:ea typeface="Calibri"/>
              <a:cs typeface="Calibri"/>
              <a:sym typeface="Calibri"/>
            </a:endParaRPr>
          </a:p>
        </p:txBody>
      </p:sp>
      <p:cxnSp>
        <p:nvCxnSpPr>
          <p:cNvPr id="2048" name="Google Shape;2048;p119"/>
          <p:cNvCxnSpPr/>
          <p:nvPr/>
        </p:nvCxnSpPr>
        <p:spPr>
          <a:xfrm flipH="1">
            <a:off x="3657600" y="4114800"/>
            <a:ext cx="1463040" cy="45720"/>
          </a:xfrm>
          <a:prstGeom prst="straightConnector1">
            <a:avLst/>
          </a:prstGeom>
          <a:noFill/>
          <a:ln w="19050" cap="flat" cmpd="sng">
            <a:solidFill>
              <a:srgbClr val="6B6B6B"/>
            </a:solidFill>
            <a:prstDash val="solid"/>
            <a:round/>
            <a:headEnd type="none" w="sm" len="sm"/>
            <a:tailEnd type="triangle" w="med" len="med"/>
          </a:ln>
        </p:spPr>
      </p:cxnSp>
      <p:sp>
        <p:nvSpPr>
          <p:cNvPr id="2049" name="Google Shape;2049;p119"/>
          <p:cNvSpPr/>
          <p:nvPr/>
        </p:nvSpPr>
        <p:spPr>
          <a:xfrm>
            <a:off x="640080" y="3703320"/>
            <a:ext cx="2331720" cy="868680"/>
          </a:xfrm>
          <a:prstGeom prst="rect">
            <a:avLst/>
          </a:prstGeom>
          <a:solidFill>
            <a:srgbClr val="B33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119"/>
          <p:cNvSpPr/>
          <p:nvPr/>
        </p:nvSpPr>
        <p:spPr>
          <a:xfrm>
            <a:off x="731520" y="3703320"/>
            <a:ext cx="2148840" cy="8686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i="0" u="none" strike="noStrike" cap="none">
                <a:solidFill>
                  <a:srgbClr val="FFFFFF"/>
                </a:solidFill>
                <a:latin typeface="Calibri"/>
                <a:ea typeface="Calibri"/>
                <a:cs typeface="Calibri"/>
                <a:sym typeface="Calibri"/>
              </a:rPr>
              <a:t>FINAL DECISION</a:t>
            </a:r>
            <a:br>
              <a:rPr lang="en-US" sz="1000" b="1" i="0" u="none" strike="noStrike" cap="none">
                <a:solidFill>
                  <a:srgbClr val="FFFFFF"/>
                </a:solidFill>
                <a:latin typeface="Calibri"/>
                <a:ea typeface="Calibri"/>
                <a:cs typeface="Calibri"/>
                <a:sym typeface="Calibri"/>
              </a:rPr>
            </a:br>
            <a:endParaRPr sz="10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1100"/>
              <a:buFont typeface="Calibri"/>
              <a:buNone/>
            </a:pPr>
            <a:r>
              <a:rPr lang="en-US" sz="1100" b="0" i="0" u="none" strike="noStrike" cap="none">
                <a:solidFill>
                  <a:srgbClr val="FFFFFF"/>
                </a:solidFill>
                <a:latin typeface="Calibri"/>
                <a:ea typeface="Calibri"/>
                <a:cs typeface="Calibri"/>
                <a:sym typeface="Calibri"/>
              </a:rPr>
              <a:t>Send safety alert</a:t>
            </a:r>
            <a:endParaRPr sz="1000" b="0" i="0" u="none" strike="noStrike" cap="none">
              <a:solidFill>
                <a:schemeClr val="dk1"/>
              </a:solidFill>
              <a:latin typeface="Calibri"/>
              <a:ea typeface="Calibri"/>
              <a:cs typeface="Calibri"/>
              <a:sym typeface="Calibri"/>
            </a:endParaRPr>
          </a:p>
        </p:txBody>
      </p:sp>
      <p:sp>
        <p:nvSpPr>
          <p:cNvPr id="2051" name="Google Shape;2051;p119"/>
          <p:cNvSpPr/>
          <p:nvPr/>
        </p:nvSpPr>
        <p:spPr>
          <a:xfrm>
            <a:off x="457200" y="4846320"/>
            <a:ext cx="1060704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6B6B"/>
              </a:buClr>
              <a:buSzPts val="1150"/>
              <a:buFont typeface="Calibri"/>
              <a:buNone/>
            </a:pPr>
            <a:r>
              <a:rPr lang="en-US" sz="1150" b="0" i="1" u="none" strike="noStrike" cap="none">
                <a:solidFill>
                  <a:srgbClr val="6B6B6B"/>
                </a:solidFill>
                <a:latin typeface="Calibri"/>
                <a:ea typeface="Calibri"/>
                <a:cs typeface="Calibri"/>
                <a:sym typeface="Calibri"/>
              </a:rPr>
              <a:t>Figure 5.1 — The neural network perceives the scene; the symbolic reasoner applies a clear, explainable rule to decide on an alert.</a:t>
            </a:r>
            <a:endParaRPr sz="1150" b="0" i="0" u="none" strike="noStrike" cap="none">
              <a:solidFill>
                <a:schemeClr val="dk1"/>
              </a:solidFill>
              <a:latin typeface="Calibri"/>
              <a:ea typeface="Calibri"/>
              <a:cs typeface="Calibri"/>
              <a:sym typeface="Calibri"/>
            </a:endParaRPr>
          </a:p>
        </p:txBody>
      </p:sp>
      <p:sp>
        <p:nvSpPr>
          <p:cNvPr id="2052" name="Google Shape;2052;p119"/>
          <p:cNvSpPr/>
          <p:nvPr/>
        </p:nvSpPr>
        <p:spPr>
          <a:xfrm>
            <a:off x="640080" y="5349240"/>
            <a:ext cx="10241280" cy="914400"/>
          </a:xfrm>
          <a:prstGeom prst="rect">
            <a:avLst/>
          </a:prstGeom>
          <a:solidFill>
            <a:srgbClr val="FFF6EC"/>
          </a:solidFill>
          <a:ln w="9525" cap="flat" cmpd="sng">
            <a:solidFill>
              <a:srgbClr val="B33A3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119"/>
          <p:cNvSpPr/>
          <p:nvPr/>
        </p:nvSpPr>
        <p:spPr>
          <a:xfrm>
            <a:off x="640080" y="5349240"/>
            <a:ext cx="64008" cy="914400"/>
          </a:xfrm>
          <a:prstGeom prst="rect">
            <a:avLst/>
          </a:prstGeom>
          <a:solidFill>
            <a:srgbClr val="B33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119"/>
          <p:cNvSpPr/>
          <p:nvPr/>
        </p:nvSpPr>
        <p:spPr>
          <a:xfrm>
            <a:off x="868680" y="5458968"/>
            <a:ext cx="98755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33A3A"/>
              </a:buClr>
              <a:buSzPts val="1050"/>
              <a:buFont typeface="Calibri"/>
              <a:buNone/>
            </a:pPr>
            <a:r>
              <a:rPr lang="en-US" sz="1050" b="1" i="0" u="none" strike="noStrike" cap="none">
                <a:solidFill>
                  <a:srgbClr val="B33A3A"/>
                </a:solidFill>
                <a:latin typeface="Calibri"/>
                <a:ea typeface="Calibri"/>
                <a:cs typeface="Calibri"/>
                <a:sym typeface="Calibri"/>
              </a:rPr>
              <a:t>IMPORTANT PRINCIPLE</a:t>
            </a:r>
            <a:endParaRPr sz="1050" b="0" i="0" u="none" strike="noStrike" cap="none">
              <a:solidFill>
                <a:schemeClr val="dk1"/>
              </a:solidFill>
              <a:latin typeface="Calibri"/>
              <a:ea typeface="Calibri"/>
              <a:cs typeface="Calibri"/>
              <a:sym typeface="Calibri"/>
            </a:endParaRPr>
          </a:p>
        </p:txBody>
      </p:sp>
      <p:sp>
        <p:nvSpPr>
          <p:cNvPr id="2055" name="Google Shape;2055;p119"/>
          <p:cNvSpPr/>
          <p:nvPr/>
        </p:nvSpPr>
        <p:spPr>
          <a:xfrm>
            <a:off x="868680" y="5751576"/>
            <a:ext cx="9829800" cy="42062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300"/>
              <a:buFont typeface="Calibri"/>
              <a:buNone/>
            </a:pPr>
            <a:r>
              <a:rPr lang="en-US" sz="1300" b="0" i="0" u="none" strike="noStrike" cap="none">
                <a:solidFill>
                  <a:srgbClr val="404040"/>
                </a:solidFill>
                <a:latin typeface="Calibri"/>
                <a:ea typeface="Calibri"/>
                <a:cs typeface="Calibri"/>
                <a:sym typeface="Calibri"/>
              </a:rPr>
              <a:t>Perception and reasoning are different jobs. Asking one giant neural network to both "see" the scene and "reason" about safety rules tends to produce a system that is hard to verify and debug. Splitting the two jobs makes each part simpler and more reliable.</a:t>
            </a:r>
            <a:endParaRPr sz="1300" b="0" i="0" u="none" strike="noStrike" cap="none">
              <a:solidFill>
                <a:schemeClr val="dk1"/>
              </a:solidFill>
              <a:latin typeface="Calibri"/>
              <a:ea typeface="Calibri"/>
              <a:cs typeface="Calibri"/>
              <a:sym typeface="Calibri"/>
            </a:endParaRPr>
          </a:p>
        </p:txBody>
      </p:sp>
      <p:sp>
        <p:nvSpPr>
          <p:cNvPr id="2056" name="Google Shape;2056;p119"/>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35 / 40</a:t>
            </a:r>
            <a:endParaRPr sz="950" b="0" i="0" u="none" strike="noStrike" cap="none">
              <a:solidFill>
                <a:schemeClr val="dk1"/>
              </a:solidFill>
              <a:latin typeface="Calibri"/>
              <a:ea typeface="Calibri"/>
              <a:cs typeface="Calibri"/>
              <a:sym typeface="Calibri"/>
            </a:endParaRPr>
          </a:p>
        </p:txBody>
      </p:sp>
      <p:sp>
        <p:nvSpPr>
          <p:cNvPr id="2057" name="Google Shape;2057;p119"/>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62"/>
        <p:cNvGrpSpPr/>
        <p:nvPr/>
      </p:nvGrpSpPr>
      <p:grpSpPr>
        <a:xfrm>
          <a:off x="0" y="0"/>
          <a:ext cx="0" cy="0"/>
          <a:chOff x="0" y="0"/>
          <a:chExt cx="0" cy="0"/>
        </a:xfrm>
      </p:grpSpPr>
      <p:sp>
        <p:nvSpPr>
          <p:cNvPr id="2063" name="Google Shape;2063;p120"/>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33A3A"/>
              </a:buClr>
              <a:buSzPts val="1100"/>
              <a:buFont typeface="Calibri"/>
              <a:buNone/>
            </a:pPr>
            <a:r>
              <a:rPr lang="en-US" sz="1100" b="1" i="0" u="none" strike="noStrike" cap="none">
                <a:solidFill>
                  <a:srgbClr val="B33A3A"/>
                </a:solidFill>
                <a:latin typeface="Calibri"/>
                <a:ea typeface="Calibri"/>
                <a:cs typeface="Calibri"/>
                <a:sym typeface="Calibri"/>
              </a:rPr>
              <a:t>5.8 EXPLAINABLE AI (XAI)</a:t>
            </a:r>
            <a:endParaRPr sz="1100" b="0" i="0" u="none" strike="noStrike" cap="none">
              <a:solidFill>
                <a:schemeClr val="dk1"/>
              </a:solidFill>
              <a:latin typeface="Calibri"/>
              <a:ea typeface="Calibri"/>
              <a:cs typeface="Calibri"/>
              <a:sym typeface="Calibri"/>
            </a:endParaRPr>
          </a:p>
        </p:txBody>
      </p:sp>
      <p:sp>
        <p:nvSpPr>
          <p:cNvPr id="2064" name="Google Shape;2064;p120"/>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Why Explainability Matters</a:t>
            </a:r>
            <a:endParaRPr sz="2300" b="0" i="0" u="none" strike="noStrike" cap="none">
              <a:solidFill>
                <a:schemeClr val="dk1"/>
              </a:solidFill>
              <a:latin typeface="Calibri"/>
              <a:ea typeface="Calibri"/>
              <a:cs typeface="Calibri"/>
              <a:sym typeface="Calibri"/>
            </a:endParaRPr>
          </a:p>
        </p:txBody>
      </p:sp>
      <p:cxnSp>
        <p:nvCxnSpPr>
          <p:cNvPr id="2065" name="Google Shape;2065;p120"/>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2066" name="Google Shape;2066;p120"/>
          <p:cNvSpPr/>
          <p:nvPr/>
        </p:nvSpPr>
        <p:spPr>
          <a:xfrm>
            <a:off x="457200" y="1691640"/>
            <a:ext cx="10607040" cy="146304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404040"/>
              </a:buClr>
              <a:buSzPts val="1500"/>
              <a:buFont typeface="Calibri"/>
              <a:buNone/>
            </a:pPr>
            <a:r>
              <a:rPr lang="en-US" sz="1500" b="0" i="0" u="none" strike="noStrike" cap="none">
                <a:solidFill>
                  <a:srgbClr val="404040"/>
                </a:solidFill>
                <a:latin typeface="Calibri"/>
                <a:ea typeface="Calibri"/>
                <a:cs typeface="Calibri"/>
                <a:sym typeface="Calibri"/>
              </a:rPr>
              <a:t>One of the biggest challenges in modern AI. Suppose an AI rejects a loan application and the customer asks "Why?" A neural network might only offer Confidence = 94% — not helpful. Symbolic reasoning can instead explain: "Income below threshold; credit score insufficient; outstanding debt high." A clear, actionable explanation.</a:t>
            </a:r>
            <a:endParaRPr sz="1500" b="0" i="0" u="none" strike="noStrike" cap="none">
              <a:solidFill>
                <a:schemeClr val="dk1"/>
              </a:solidFill>
              <a:latin typeface="Calibri"/>
              <a:ea typeface="Calibri"/>
              <a:cs typeface="Calibri"/>
              <a:sym typeface="Calibri"/>
            </a:endParaRPr>
          </a:p>
        </p:txBody>
      </p:sp>
      <p:sp>
        <p:nvSpPr>
          <p:cNvPr id="2067" name="Google Shape;2067;p120"/>
          <p:cNvSpPr/>
          <p:nvPr/>
        </p:nvSpPr>
        <p:spPr>
          <a:xfrm>
            <a:off x="457200" y="3291840"/>
            <a:ext cx="10607040" cy="1188720"/>
          </a:xfrm>
          <a:prstGeom prst="rect">
            <a:avLst/>
          </a:prstGeom>
          <a:solidFill>
            <a:srgbClr val="FFF6EC"/>
          </a:solidFill>
          <a:ln w="9525" cap="flat" cmpd="sng">
            <a:solidFill>
              <a:srgbClr val="B33A3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120"/>
          <p:cNvSpPr/>
          <p:nvPr/>
        </p:nvSpPr>
        <p:spPr>
          <a:xfrm>
            <a:off x="457200" y="3291840"/>
            <a:ext cx="64008" cy="1188720"/>
          </a:xfrm>
          <a:prstGeom prst="rect">
            <a:avLst/>
          </a:prstGeom>
          <a:solidFill>
            <a:srgbClr val="B33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120"/>
          <p:cNvSpPr/>
          <p:nvPr/>
        </p:nvSpPr>
        <p:spPr>
          <a:xfrm>
            <a:off x="685800" y="3401568"/>
            <a:ext cx="102412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33A3A"/>
              </a:buClr>
              <a:buSzPts val="1050"/>
              <a:buFont typeface="Calibri"/>
              <a:buNone/>
            </a:pPr>
            <a:r>
              <a:rPr lang="en-US" sz="1050" b="1" i="0" u="none" strike="noStrike" cap="none">
                <a:solidFill>
                  <a:srgbClr val="B33A3A"/>
                </a:solidFill>
                <a:latin typeface="Calibri"/>
                <a:ea typeface="Calibri"/>
                <a:cs typeface="Calibri"/>
                <a:sym typeface="Calibri"/>
              </a:rPr>
              <a:t>WHY EXPLAINABILITY MATTERS</a:t>
            </a:r>
            <a:endParaRPr sz="1050" b="0" i="0" u="none" strike="noStrike" cap="none">
              <a:solidFill>
                <a:schemeClr val="dk1"/>
              </a:solidFill>
              <a:latin typeface="Calibri"/>
              <a:ea typeface="Calibri"/>
              <a:cs typeface="Calibri"/>
              <a:sym typeface="Calibri"/>
            </a:endParaRPr>
          </a:p>
        </p:txBody>
      </p:sp>
      <p:sp>
        <p:nvSpPr>
          <p:cNvPr id="2070" name="Google Shape;2070;p120"/>
          <p:cNvSpPr/>
          <p:nvPr/>
        </p:nvSpPr>
        <p:spPr>
          <a:xfrm>
            <a:off x="685800" y="3694176"/>
            <a:ext cx="10195560" cy="69494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400"/>
              <a:buFont typeface="Calibri"/>
              <a:buNone/>
            </a:pPr>
            <a:r>
              <a:rPr lang="en-US" sz="1400" b="0" i="0" u="none" strike="noStrike" cap="none">
                <a:solidFill>
                  <a:srgbClr val="404040"/>
                </a:solidFill>
                <a:latin typeface="Calibri"/>
                <a:ea typeface="Calibri"/>
                <a:cs typeface="Calibri"/>
                <a:sym typeface="Calibri"/>
              </a:rPr>
              <a:t>Explainability is critical in healthcare, banking, defense, law, and autonomous vehicles — domains where organizations and regulators increasingly demand explainable decisions, not just accurate ones. Neuro-symbolic systems naturally support this because the final reasoning step is symbolic and traceable.</a:t>
            </a:r>
            <a:endParaRPr sz="1400" b="0" i="0" u="none" strike="noStrike" cap="none">
              <a:solidFill>
                <a:schemeClr val="dk1"/>
              </a:solidFill>
              <a:latin typeface="Calibri"/>
              <a:ea typeface="Calibri"/>
              <a:cs typeface="Calibri"/>
              <a:sym typeface="Calibri"/>
            </a:endParaRPr>
          </a:p>
        </p:txBody>
      </p:sp>
      <p:sp>
        <p:nvSpPr>
          <p:cNvPr id="2071" name="Google Shape;2071;p120"/>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36 / 40</a:t>
            </a:r>
            <a:endParaRPr sz="950" b="0" i="0" u="none" strike="noStrike" cap="none">
              <a:solidFill>
                <a:schemeClr val="dk1"/>
              </a:solidFill>
              <a:latin typeface="Calibri"/>
              <a:ea typeface="Calibri"/>
              <a:cs typeface="Calibri"/>
              <a:sym typeface="Calibri"/>
            </a:endParaRPr>
          </a:p>
        </p:txBody>
      </p:sp>
      <p:sp>
        <p:nvSpPr>
          <p:cNvPr id="2072" name="Google Shape;2072;p120"/>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77"/>
        <p:cNvGrpSpPr/>
        <p:nvPr/>
      </p:nvGrpSpPr>
      <p:grpSpPr>
        <a:xfrm>
          <a:off x="0" y="0"/>
          <a:ext cx="0" cy="0"/>
          <a:chOff x="0" y="0"/>
          <a:chExt cx="0" cy="0"/>
        </a:xfrm>
      </p:grpSpPr>
      <p:sp>
        <p:nvSpPr>
          <p:cNvPr id="2078" name="Google Shape;2078;p121"/>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33A3A"/>
              </a:buClr>
              <a:buSzPts val="1100"/>
              <a:buFont typeface="Calibri"/>
              <a:buNone/>
            </a:pPr>
            <a:r>
              <a:rPr lang="en-US" sz="1100" b="1" i="0" u="none" strike="noStrike" cap="none">
                <a:solidFill>
                  <a:srgbClr val="B33A3A"/>
                </a:solidFill>
                <a:latin typeface="Calibri"/>
                <a:ea typeface="Calibri"/>
                <a:cs typeface="Calibri"/>
                <a:sym typeface="Calibri"/>
              </a:rPr>
              <a:t>5.9 BUILDING ON TOPIC 4</a:t>
            </a:r>
            <a:endParaRPr sz="1100" b="0" i="0" u="none" strike="noStrike" cap="none">
              <a:solidFill>
                <a:schemeClr val="dk1"/>
              </a:solidFill>
              <a:latin typeface="Calibri"/>
              <a:ea typeface="Calibri"/>
              <a:cs typeface="Calibri"/>
              <a:sym typeface="Calibri"/>
            </a:endParaRPr>
          </a:p>
        </p:txBody>
      </p:sp>
      <p:sp>
        <p:nvSpPr>
          <p:cNvPr id="2079" name="Google Shape;2079;p121"/>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Knowledge Graphs + Neural Networks</a:t>
            </a:r>
            <a:endParaRPr sz="2300" b="0" i="0" u="none" strike="noStrike" cap="none">
              <a:solidFill>
                <a:schemeClr val="dk1"/>
              </a:solidFill>
              <a:latin typeface="Calibri"/>
              <a:ea typeface="Calibri"/>
              <a:cs typeface="Calibri"/>
              <a:sym typeface="Calibri"/>
            </a:endParaRPr>
          </a:p>
        </p:txBody>
      </p:sp>
      <p:cxnSp>
        <p:nvCxnSpPr>
          <p:cNvPr id="2080" name="Google Shape;2080;p121"/>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2081" name="Google Shape;2081;p121"/>
          <p:cNvSpPr/>
          <p:nvPr/>
        </p:nvSpPr>
        <p:spPr>
          <a:xfrm>
            <a:off x="457200" y="1645920"/>
            <a:ext cx="10607040" cy="1280160"/>
          </a:xfrm>
          <a:prstGeom prst="rect">
            <a:avLst/>
          </a:prstGeom>
          <a:noFill/>
          <a:ln>
            <a:noFill/>
          </a:ln>
        </p:spPr>
        <p:txBody>
          <a:bodyPr spcFirstLastPara="1" wrap="square" lIns="0" tIns="0" rIns="0" bIns="0" anchor="ctr" anchorCtr="0">
            <a:noAutofit/>
          </a:bodyPr>
          <a:lstStyle/>
          <a:p>
            <a:pPr marL="0" marR="0" lvl="0" indent="0" algn="l" rtl="0">
              <a:lnSpc>
                <a:spcPct val="128000"/>
              </a:lnSpc>
              <a:spcBef>
                <a:spcPts val="0"/>
              </a:spcBef>
              <a:spcAft>
                <a:spcPts val="0"/>
              </a:spcAft>
              <a:buClr>
                <a:srgbClr val="404040"/>
              </a:buClr>
              <a:buSzPts val="1450"/>
              <a:buFont typeface="Calibri"/>
              <a:buNone/>
            </a:pPr>
            <a:r>
              <a:rPr lang="en-US" sz="1450" b="0" i="0" u="none" strike="noStrike" cap="none">
                <a:solidFill>
                  <a:srgbClr val="404040"/>
                </a:solidFill>
                <a:latin typeface="Calibri"/>
                <a:ea typeface="Calibri"/>
                <a:cs typeface="Calibri"/>
                <a:sym typeface="Calibri"/>
              </a:rPr>
              <a:t>One of the most popular neuro-symbolic approaches: a knowledge graph stores facts such as Ali → StudiesAt → UMT and UMT → LocatedIn → Lahore. A neural network processes the natural-language question </a:t>
            </a:r>
            <a:r>
              <a:rPr lang="en-US" sz="1450" b="0" i="1" u="none" strike="noStrike" cap="none">
                <a:solidFill>
                  <a:srgbClr val="404040"/>
                </a:solidFill>
                <a:latin typeface="Calibri"/>
                <a:ea typeface="Calibri"/>
                <a:cs typeface="Calibri"/>
                <a:sym typeface="Calibri"/>
              </a:rPr>
              <a:t>"Where does Ali study?"</a:t>
            </a:r>
            <a:r>
              <a:rPr lang="en-US" sz="1450" b="0" i="0" u="none" strike="noStrike" cap="none">
                <a:solidFill>
                  <a:srgbClr val="404040"/>
                </a:solidFill>
                <a:latin typeface="Calibri"/>
                <a:ea typeface="Calibri"/>
                <a:cs typeface="Calibri"/>
                <a:sym typeface="Calibri"/>
              </a:rPr>
              <a:t>, and the knowledge graph supplies the factual answer: "Ali studies at UMT." The knowledge graph provides accuracy; the neural network provides language understanding.</a:t>
            </a:r>
            <a:endParaRPr sz="1450" b="0" i="0" u="none" strike="noStrike" cap="none">
              <a:solidFill>
                <a:schemeClr val="dk1"/>
              </a:solidFill>
              <a:latin typeface="Calibri"/>
              <a:ea typeface="Calibri"/>
              <a:cs typeface="Calibri"/>
              <a:sym typeface="Calibri"/>
            </a:endParaRPr>
          </a:p>
        </p:txBody>
      </p:sp>
      <p:sp>
        <p:nvSpPr>
          <p:cNvPr id="2082" name="Google Shape;2082;p121"/>
          <p:cNvSpPr/>
          <p:nvPr/>
        </p:nvSpPr>
        <p:spPr>
          <a:xfrm>
            <a:off x="457200" y="3017520"/>
            <a:ext cx="1060704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1700"/>
              <a:buFont typeface="Calibri"/>
              <a:buNone/>
            </a:pPr>
            <a:r>
              <a:rPr lang="en-US" sz="1700" b="1" i="0" u="none" strike="noStrike" cap="none">
                <a:solidFill>
                  <a:srgbClr val="404040"/>
                </a:solidFill>
                <a:latin typeface="Calibri"/>
                <a:ea typeface="Calibri"/>
                <a:cs typeface="Calibri"/>
                <a:sym typeface="Calibri"/>
              </a:rPr>
              <a:t>5.10 Large Language Models and Neuro-Symbolic AI</a:t>
            </a:r>
            <a:endParaRPr sz="1700" b="0" i="0" u="none" strike="noStrike" cap="none">
              <a:solidFill>
                <a:schemeClr val="dk1"/>
              </a:solidFill>
              <a:latin typeface="Calibri"/>
              <a:ea typeface="Calibri"/>
              <a:cs typeface="Calibri"/>
              <a:sym typeface="Calibri"/>
            </a:endParaRPr>
          </a:p>
        </p:txBody>
      </p:sp>
      <p:sp>
        <p:nvSpPr>
          <p:cNvPr id="2083" name="Google Shape;2083;p121"/>
          <p:cNvSpPr/>
          <p:nvPr/>
        </p:nvSpPr>
        <p:spPr>
          <a:xfrm>
            <a:off x="457200" y="3429000"/>
            <a:ext cx="10607040" cy="64008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404040"/>
              </a:buClr>
              <a:buSzPts val="1350"/>
              <a:buFont typeface="Calibri"/>
              <a:buNone/>
            </a:pPr>
            <a:r>
              <a:rPr lang="en-US" sz="1350" b="0" i="0" u="none" strike="noStrike" cap="none">
                <a:solidFill>
                  <a:srgbClr val="404040"/>
                </a:solidFill>
                <a:latin typeface="Calibri"/>
                <a:ea typeface="Calibri"/>
                <a:cs typeface="Calibri"/>
                <a:sym typeface="Calibri"/>
              </a:rPr>
              <a:t>LLMs sometimes hallucinate — inventing references, dates, or statistics — because they predict probable words rather than verifying facts. The neuro-symbolic solution combines an LLM, a knowledge graph, and a logical reasoner:</a:t>
            </a:r>
            <a:endParaRPr sz="1350" b="0" i="0" u="none" strike="noStrike" cap="none">
              <a:solidFill>
                <a:schemeClr val="dk1"/>
              </a:solidFill>
              <a:latin typeface="Calibri"/>
              <a:ea typeface="Calibri"/>
              <a:cs typeface="Calibri"/>
              <a:sym typeface="Calibri"/>
            </a:endParaRPr>
          </a:p>
        </p:txBody>
      </p:sp>
      <p:sp>
        <p:nvSpPr>
          <p:cNvPr id="2084" name="Google Shape;2084;p121"/>
          <p:cNvSpPr/>
          <p:nvPr/>
        </p:nvSpPr>
        <p:spPr>
          <a:xfrm>
            <a:off x="3200400" y="4069080"/>
            <a:ext cx="5760720" cy="1965960"/>
          </a:xfrm>
          <a:prstGeom prst="rect">
            <a:avLst/>
          </a:prstGeom>
          <a:solidFill>
            <a:srgbClr val="F4F8F8"/>
          </a:solidFill>
          <a:ln w="9525" cap="flat" cmpd="sng">
            <a:solidFill>
              <a:srgbClr val="DDE3E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121"/>
          <p:cNvSpPr/>
          <p:nvPr/>
        </p:nvSpPr>
        <p:spPr>
          <a:xfrm>
            <a:off x="3429000" y="4160520"/>
            <a:ext cx="5303520" cy="178308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ts val="0"/>
              </a:spcBef>
              <a:spcAft>
                <a:spcPts val="0"/>
              </a:spcAft>
              <a:buClr>
                <a:srgbClr val="404040"/>
              </a:buClr>
              <a:buSzPts val="1200"/>
              <a:buFont typeface="Courier New"/>
              <a:buNone/>
            </a:pPr>
            <a:r>
              <a:rPr lang="en-US" sz="1200" b="0" i="0" u="none" strike="noStrike" cap="none">
                <a:solidFill>
                  <a:srgbClr val="404040"/>
                </a:solidFill>
                <a:latin typeface="Courier New"/>
                <a:ea typeface="Courier New"/>
                <a:cs typeface="Courier New"/>
                <a:sym typeface="Courier New"/>
              </a:rPr>
              <a:t>Question</a:t>
            </a:r>
            <a:endParaRPr sz="1200" b="0" i="0" u="none" strike="noStrike" cap="none">
              <a:solidFill>
                <a:schemeClr val="dk1"/>
              </a:solidFill>
              <a:latin typeface="Calibri"/>
              <a:ea typeface="Calibri"/>
              <a:cs typeface="Calibri"/>
              <a:sym typeface="Calibri"/>
            </a:endParaRPr>
          </a:p>
          <a:p>
            <a:pPr marL="0" marR="0" lvl="0" indent="0" algn="ctr" rtl="0">
              <a:lnSpc>
                <a:spcPct val="115000"/>
              </a:lnSpc>
              <a:spcBef>
                <a:spcPts val="0"/>
              </a:spcBef>
              <a:spcAft>
                <a:spcPts val="0"/>
              </a:spcAft>
              <a:buClr>
                <a:srgbClr val="404040"/>
              </a:buClr>
              <a:buSzPts val="1200"/>
              <a:buFont typeface="Courier New"/>
              <a:buNone/>
            </a:pPr>
            <a:r>
              <a:rPr lang="en-US" sz="1200" b="0" i="0" u="none" strike="noStrike" cap="none">
                <a:solidFill>
                  <a:srgbClr val="404040"/>
                </a:solidFill>
                <a:latin typeface="Courier New"/>
                <a:ea typeface="Courier New"/>
                <a:cs typeface="Courier New"/>
                <a:sym typeface="Courier New"/>
              </a:rPr>
              <a:t>  ↓</a:t>
            </a:r>
            <a:endParaRPr sz="1200" b="0" i="0" u="none" strike="noStrike" cap="none">
              <a:solidFill>
                <a:schemeClr val="dk1"/>
              </a:solidFill>
              <a:latin typeface="Calibri"/>
              <a:ea typeface="Calibri"/>
              <a:cs typeface="Calibri"/>
              <a:sym typeface="Calibri"/>
            </a:endParaRPr>
          </a:p>
          <a:p>
            <a:pPr marL="0" marR="0" lvl="0" indent="0" algn="ctr" rtl="0">
              <a:lnSpc>
                <a:spcPct val="115000"/>
              </a:lnSpc>
              <a:spcBef>
                <a:spcPts val="0"/>
              </a:spcBef>
              <a:spcAft>
                <a:spcPts val="0"/>
              </a:spcAft>
              <a:buClr>
                <a:srgbClr val="404040"/>
              </a:buClr>
              <a:buSzPts val="1200"/>
              <a:buFont typeface="Courier New"/>
              <a:buNone/>
            </a:pPr>
            <a:r>
              <a:rPr lang="en-US" sz="1200" b="0" i="0" u="none" strike="noStrike" cap="none">
                <a:solidFill>
                  <a:srgbClr val="404040"/>
                </a:solidFill>
                <a:latin typeface="Courier New"/>
                <a:ea typeface="Courier New"/>
                <a:cs typeface="Courier New"/>
                <a:sym typeface="Courier New"/>
              </a:rPr>
              <a:t>LLM Understands</a:t>
            </a:r>
            <a:endParaRPr sz="1200" b="0" i="0" u="none" strike="noStrike" cap="none">
              <a:solidFill>
                <a:schemeClr val="dk1"/>
              </a:solidFill>
              <a:latin typeface="Calibri"/>
              <a:ea typeface="Calibri"/>
              <a:cs typeface="Calibri"/>
              <a:sym typeface="Calibri"/>
            </a:endParaRPr>
          </a:p>
          <a:p>
            <a:pPr marL="0" marR="0" lvl="0" indent="0" algn="ctr" rtl="0">
              <a:lnSpc>
                <a:spcPct val="115000"/>
              </a:lnSpc>
              <a:spcBef>
                <a:spcPts val="0"/>
              </a:spcBef>
              <a:spcAft>
                <a:spcPts val="0"/>
              </a:spcAft>
              <a:buClr>
                <a:srgbClr val="404040"/>
              </a:buClr>
              <a:buSzPts val="1200"/>
              <a:buFont typeface="Courier New"/>
              <a:buNone/>
            </a:pPr>
            <a:r>
              <a:rPr lang="en-US" sz="1200" b="0" i="0" u="none" strike="noStrike" cap="none">
                <a:solidFill>
                  <a:srgbClr val="404040"/>
                </a:solidFill>
                <a:latin typeface="Courier New"/>
                <a:ea typeface="Courier New"/>
                <a:cs typeface="Courier New"/>
                <a:sym typeface="Courier New"/>
              </a:rPr>
              <a:t>  ↓</a:t>
            </a:r>
            <a:endParaRPr sz="1200" b="0" i="0" u="none" strike="noStrike" cap="none">
              <a:solidFill>
                <a:schemeClr val="dk1"/>
              </a:solidFill>
              <a:latin typeface="Calibri"/>
              <a:ea typeface="Calibri"/>
              <a:cs typeface="Calibri"/>
              <a:sym typeface="Calibri"/>
            </a:endParaRPr>
          </a:p>
          <a:p>
            <a:pPr marL="0" marR="0" lvl="0" indent="0" algn="ctr" rtl="0">
              <a:lnSpc>
                <a:spcPct val="115000"/>
              </a:lnSpc>
              <a:spcBef>
                <a:spcPts val="0"/>
              </a:spcBef>
              <a:spcAft>
                <a:spcPts val="0"/>
              </a:spcAft>
              <a:buClr>
                <a:srgbClr val="404040"/>
              </a:buClr>
              <a:buSzPts val="1200"/>
              <a:buFont typeface="Courier New"/>
              <a:buNone/>
            </a:pPr>
            <a:r>
              <a:rPr lang="en-US" sz="1200" b="0" i="0" u="none" strike="noStrike" cap="none">
                <a:solidFill>
                  <a:srgbClr val="404040"/>
                </a:solidFill>
                <a:latin typeface="Courier New"/>
                <a:ea typeface="Courier New"/>
                <a:cs typeface="Courier New"/>
                <a:sym typeface="Courier New"/>
              </a:rPr>
              <a:t>Knowledge Graph Retrieves Facts</a:t>
            </a:r>
            <a:endParaRPr sz="1200" b="0" i="0" u="none" strike="noStrike" cap="none">
              <a:solidFill>
                <a:schemeClr val="dk1"/>
              </a:solidFill>
              <a:latin typeface="Calibri"/>
              <a:ea typeface="Calibri"/>
              <a:cs typeface="Calibri"/>
              <a:sym typeface="Calibri"/>
            </a:endParaRPr>
          </a:p>
          <a:p>
            <a:pPr marL="0" marR="0" lvl="0" indent="0" algn="ctr" rtl="0">
              <a:lnSpc>
                <a:spcPct val="115000"/>
              </a:lnSpc>
              <a:spcBef>
                <a:spcPts val="0"/>
              </a:spcBef>
              <a:spcAft>
                <a:spcPts val="0"/>
              </a:spcAft>
              <a:buClr>
                <a:srgbClr val="404040"/>
              </a:buClr>
              <a:buSzPts val="1200"/>
              <a:buFont typeface="Courier New"/>
              <a:buNone/>
            </a:pPr>
            <a:r>
              <a:rPr lang="en-US" sz="1200" b="0" i="0" u="none" strike="noStrike" cap="none">
                <a:solidFill>
                  <a:srgbClr val="404040"/>
                </a:solidFill>
                <a:latin typeface="Courier New"/>
                <a:ea typeface="Courier New"/>
                <a:cs typeface="Courier New"/>
                <a:sym typeface="Courier New"/>
              </a:rPr>
              <a:t>  ↓</a:t>
            </a:r>
            <a:endParaRPr sz="1200" b="0" i="0" u="none" strike="noStrike" cap="none">
              <a:solidFill>
                <a:schemeClr val="dk1"/>
              </a:solidFill>
              <a:latin typeface="Calibri"/>
              <a:ea typeface="Calibri"/>
              <a:cs typeface="Calibri"/>
              <a:sym typeface="Calibri"/>
            </a:endParaRPr>
          </a:p>
          <a:p>
            <a:pPr marL="0" marR="0" lvl="0" indent="0" algn="ctr" rtl="0">
              <a:lnSpc>
                <a:spcPct val="115000"/>
              </a:lnSpc>
              <a:spcBef>
                <a:spcPts val="0"/>
              </a:spcBef>
              <a:spcAft>
                <a:spcPts val="0"/>
              </a:spcAft>
              <a:buClr>
                <a:srgbClr val="404040"/>
              </a:buClr>
              <a:buSzPts val="1200"/>
              <a:buFont typeface="Courier New"/>
              <a:buNone/>
            </a:pPr>
            <a:r>
              <a:rPr lang="en-US" sz="1200" b="0" i="0" u="none" strike="noStrike" cap="none">
                <a:solidFill>
                  <a:srgbClr val="404040"/>
                </a:solidFill>
                <a:latin typeface="Courier New"/>
                <a:ea typeface="Courier New"/>
                <a:cs typeface="Courier New"/>
                <a:sym typeface="Courier New"/>
              </a:rPr>
              <a:t>Reasoning Engine Verifies</a:t>
            </a:r>
            <a:endParaRPr sz="1200" b="0" i="0" u="none" strike="noStrike" cap="none">
              <a:solidFill>
                <a:schemeClr val="dk1"/>
              </a:solidFill>
              <a:latin typeface="Calibri"/>
              <a:ea typeface="Calibri"/>
              <a:cs typeface="Calibri"/>
              <a:sym typeface="Calibri"/>
            </a:endParaRPr>
          </a:p>
          <a:p>
            <a:pPr marL="0" marR="0" lvl="0" indent="0" algn="ctr" rtl="0">
              <a:lnSpc>
                <a:spcPct val="115000"/>
              </a:lnSpc>
              <a:spcBef>
                <a:spcPts val="0"/>
              </a:spcBef>
              <a:spcAft>
                <a:spcPts val="0"/>
              </a:spcAft>
              <a:buClr>
                <a:srgbClr val="404040"/>
              </a:buClr>
              <a:buSzPts val="1200"/>
              <a:buFont typeface="Courier New"/>
              <a:buNone/>
            </a:pPr>
            <a:r>
              <a:rPr lang="en-US" sz="1200" b="0" i="0" u="none" strike="noStrike" cap="none">
                <a:solidFill>
                  <a:srgbClr val="404040"/>
                </a:solidFill>
                <a:latin typeface="Courier New"/>
                <a:ea typeface="Courier New"/>
                <a:cs typeface="Courier New"/>
                <a:sym typeface="Courier New"/>
              </a:rPr>
              <a:t>  ↓</a:t>
            </a:r>
            <a:endParaRPr sz="1200" b="0" i="0" u="none" strike="noStrike" cap="none">
              <a:solidFill>
                <a:schemeClr val="dk1"/>
              </a:solidFill>
              <a:latin typeface="Calibri"/>
              <a:ea typeface="Calibri"/>
              <a:cs typeface="Calibri"/>
              <a:sym typeface="Calibri"/>
            </a:endParaRPr>
          </a:p>
          <a:p>
            <a:pPr marL="0" marR="0" lvl="0" indent="0" algn="ctr" rtl="0">
              <a:lnSpc>
                <a:spcPct val="115000"/>
              </a:lnSpc>
              <a:spcBef>
                <a:spcPts val="0"/>
              </a:spcBef>
              <a:spcAft>
                <a:spcPts val="0"/>
              </a:spcAft>
              <a:buClr>
                <a:srgbClr val="404040"/>
              </a:buClr>
              <a:buSzPts val="1200"/>
              <a:buFont typeface="Courier New"/>
              <a:buNone/>
            </a:pPr>
            <a:r>
              <a:rPr lang="en-US" sz="1200" b="0" i="0" u="none" strike="noStrike" cap="none">
                <a:solidFill>
                  <a:srgbClr val="404040"/>
                </a:solidFill>
                <a:latin typeface="Courier New"/>
                <a:ea typeface="Courier New"/>
                <a:cs typeface="Courier New"/>
                <a:sym typeface="Courier New"/>
              </a:rPr>
              <a:t>Answer Generated</a:t>
            </a:r>
            <a:endParaRPr sz="1200" b="0" i="0" u="none" strike="noStrike" cap="none">
              <a:solidFill>
                <a:schemeClr val="dk1"/>
              </a:solidFill>
              <a:latin typeface="Calibri"/>
              <a:ea typeface="Calibri"/>
              <a:cs typeface="Calibri"/>
              <a:sym typeface="Calibri"/>
            </a:endParaRPr>
          </a:p>
        </p:txBody>
      </p:sp>
      <p:sp>
        <p:nvSpPr>
          <p:cNvPr id="2086" name="Google Shape;2086;p121"/>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36 / 40</a:t>
            </a:r>
            <a:endParaRPr sz="950" b="0" i="0" u="none" strike="noStrike" cap="none">
              <a:solidFill>
                <a:schemeClr val="dk1"/>
              </a:solidFill>
              <a:latin typeface="Calibri"/>
              <a:ea typeface="Calibri"/>
              <a:cs typeface="Calibri"/>
              <a:sym typeface="Calibri"/>
            </a:endParaRPr>
          </a:p>
        </p:txBody>
      </p:sp>
      <p:sp>
        <p:nvSpPr>
          <p:cNvPr id="2087" name="Google Shape;2087;p121"/>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92"/>
        <p:cNvGrpSpPr/>
        <p:nvPr/>
      </p:nvGrpSpPr>
      <p:grpSpPr>
        <a:xfrm>
          <a:off x="0" y="0"/>
          <a:ext cx="0" cy="0"/>
          <a:chOff x="0" y="0"/>
          <a:chExt cx="0" cy="0"/>
        </a:xfrm>
      </p:grpSpPr>
      <p:sp>
        <p:nvSpPr>
          <p:cNvPr id="2093" name="Google Shape;2093;p122"/>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33A3A"/>
              </a:buClr>
              <a:buSzPts val="1100"/>
              <a:buFont typeface="Calibri"/>
              <a:buNone/>
            </a:pPr>
            <a:r>
              <a:rPr lang="en-US" sz="1100" b="1" i="0" u="none" strike="noStrike" cap="none">
                <a:solidFill>
                  <a:srgbClr val="B33A3A"/>
                </a:solidFill>
                <a:latin typeface="Calibri"/>
                <a:ea typeface="Calibri"/>
                <a:cs typeface="Calibri"/>
                <a:sym typeface="Calibri"/>
              </a:rPr>
              <a:t>5.11 REAL-WORLD APPLICATIONS</a:t>
            </a:r>
            <a:endParaRPr sz="1100" b="0" i="0" u="none" strike="noStrike" cap="none">
              <a:solidFill>
                <a:schemeClr val="dk1"/>
              </a:solidFill>
              <a:latin typeface="Calibri"/>
              <a:ea typeface="Calibri"/>
              <a:cs typeface="Calibri"/>
              <a:sym typeface="Calibri"/>
            </a:endParaRPr>
          </a:p>
        </p:txBody>
      </p:sp>
      <p:sp>
        <p:nvSpPr>
          <p:cNvPr id="2094" name="Google Shape;2094;p122"/>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Neuro-Symbolic AI in Practice</a:t>
            </a:r>
            <a:endParaRPr sz="2300" b="0" i="0" u="none" strike="noStrike" cap="none">
              <a:solidFill>
                <a:schemeClr val="dk1"/>
              </a:solidFill>
              <a:latin typeface="Calibri"/>
              <a:ea typeface="Calibri"/>
              <a:cs typeface="Calibri"/>
              <a:sym typeface="Calibri"/>
            </a:endParaRPr>
          </a:p>
        </p:txBody>
      </p:sp>
      <p:cxnSp>
        <p:nvCxnSpPr>
          <p:cNvPr id="2095" name="Google Shape;2095;p122"/>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graphicFrame>
        <p:nvGraphicFramePr>
          <p:cNvPr id="2096" name="Google Shape;2096;p122"/>
          <p:cNvGraphicFramePr/>
          <p:nvPr/>
        </p:nvGraphicFramePr>
        <p:xfrm>
          <a:off x="457200" y="1691640"/>
          <a:ext cx="10607025" cy="3401550"/>
        </p:xfrm>
        <a:graphic>
          <a:graphicData uri="http://schemas.openxmlformats.org/drawingml/2006/table">
            <a:tbl>
              <a:tblPr>
                <a:noFill/>
                <a:tableStyleId>{18CE5CEB-0992-447E-8985-1B7A4AD8BB01}</a:tableStyleId>
              </a:tblPr>
              <a:tblGrid>
                <a:gridCol w="265175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4297675">
                  <a:extLst>
                    <a:ext uri="{9D8B030D-6E8A-4147-A177-3AD203B41FA5}">
                      <a16:colId xmlns:a16="http://schemas.microsoft.com/office/drawing/2014/main" val="20002"/>
                    </a:ext>
                  </a:extLst>
                </a:gridCol>
              </a:tblGrid>
              <a:tr h="566925">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Domain</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B33A3A"/>
                    </a:solidFill>
                  </a:tcPr>
                </a:tc>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Neural Component</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B33A3A"/>
                    </a:solidFill>
                  </a:tcPr>
                </a:tc>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Symbolic Component</a:t>
                      </a:r>
                      <a:endParaRPr sz="13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B33A3A"/>
                    </a:solidFill>
                  </a:tcPr>
                </a:tc>
                <a:extLst>
                  <a:ext uri="{0D108BD9-81ED-4DB2-BD59-A6C34878D82A}">
                    <a16:rowId xmlns:a16="http://schemas.microsoft.com/office/drawing/2014/main" val="10000"/>
                  </a:ext>
                </a:extLst>
              </a:tr>
              <a:tr h="566925">
                <a:tc>
                  <a:txBody>
                    <a:bodyPr/>
                    <a:lstStyle/>
                    <a:p>
                      <a:pPr marL="0" marR="0" lvl="0" indent="0" algn="l" rtl="0">
                        <a:spcBef>
                          <a:spcPts val="0"/>
                        </a:spcBef>
                        <a:spcAft>
                          <a:spcPts val="0"/>
                        </a:spcAft>
                        <a:buClr>
                          <a:srgbClr val="404040"/>
                        </a:buClr>
                        <a:buSzPts val="1200"/>
                        <a:buFont typeface="Calibri"/>
                        <a:buNone/>
                      </a:pPr>
                      <a:r>
                        <a:rPr lang="en-US" sz="1200" u="none" strike="noStrike" cap="none">
                          <a:solidFill>
                            <a:srgbClr val="404040"/>
                          </a:solidFill>
                          <a:latin typeface="Calibri"/>
                          <a:ea typeface="Calibri"/>
                          <a:cs typeface="Calibri"/>
                          <a:sym typeface="Calibri"/>
                        </a:rPr>
                        <a:t>Healthcare</a:t>
                      </a:r>
                      <a:endParaRPr sz="12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200"/>
                        <a:buFont typeface="Calibri"/>
                        <a:buNone/>
                      </a:pPr>
                      <a:r>
                        <a:rPr lang="en-US" sz="1200" u="none" strike="noStrike" cap="none">
                          <a:solidFill>
                            <a:srgbClr val="404040"/>
                          </a:solidFill>
                          <a:latin typeface="Calibri"/>
                          <a:ea typeface="Calibri"/>
                          <a:cs typeface="Calibri"/>
                          <a:sym typeface="Calibri"/>
                        </a:rPr>
                        <a:t>Detect Tumor</a:t>
                      </a:r>
                      <a:endParaRPr sz="12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200"/>
                        <a:buFont typeface="Calibri"/>
                        <a:buNone/>
                      </a:pPr>
                      <a:r>
                        <a:rPr lang="en-US" sz="1200" u="none" strike="noStrike" cap="none">
                          <a:solidFill>
                            <a:srgbClr val="404040"/>
                          </a:solidFill>
                          <a:latin typeface="Calibri"/>
                          <a:ea typeface="Calibri"/>
                          <a:cs typeface="Calibri"/>
                          <a:sym typeface="Calibri"/>
                        </a:rPr>
                        <a:t>Combine with history → Risk Assessment</a:t>
                      </a:r>
                      <a:endParaRPr sz="12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566925">
                <a:tc>
                  <a:txBody>
                    <a:bodyPr/>
                    <a:lstStyle/>
                    <a:p>
                      <a:pPr marL="0" marR="0" lvl="0" indent="0" algn="l" rtl="0">
                        <a:spcBef>
                          <a:spcPts val="0"/>
                        </a:spcBef>
                        <a:spcAft>
                          <a:spcPts val="0"/>
                        </a:spcAft>
                        <a:buClr>
                          <a:srgbClr val="404040"/>
                        </a:buClr>
                        <a:buSzPts val="1200"/>
                        <a:buFont typeface="Calibri"/>
                        <a:buNone/>
                      </a:pPr>
                      <a:r>
                        <a:rPr lang="en-US" sz="1200" u="none" strike="noStrike" cap="none">
                          <a:solidFill>
                            <a:srgbClr val="404040"/>
                          </a:solidFill>
                          <a:latin typeface="Calibri"/>
                          <a:ea typeface="Calibri"/>
                          <a:cs typeface="Calibri"/>
                          <a:sym typeface="Calibri"/>
                        </a:rPr>
                        <a:t>Robotics</a:t>
                      </a:r>
                      <a:endParaRPr sz="12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200"/>
                        <a:buFont typeface="Calibri"/>
                        <a:buNone/>
                      </a:pPr>
                      <a:r>
                        <a:rPr lang="en-US" sz="1200" u="none" strike="noStrike" cap="none">
                          <a:solidFill>
                            <a:srgbClr val="404040"/>
                          </a:solidFill>
                          <a:latin typeface="Calibri"/>
                          <a:ea typeface="Calibri"/>
                          <a:cs typeface="Calibri"/>
                          <a:sym typeface="Calibri"/>
                        </a:rPr>
                        <a:t>Detect Box</a:t>
                      </a:r>
                      <a:endParaRPr sz="12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200"/>
                        <a:buFont typeface="Calibri"/>
                        <a:buNone/>
                      </a:pPr>
                      <a:r>
                        <a:rPr lang="en-US" sz="1200" u="none" strike="noStrike" cap="none">
                          <a:solidFill>
                            <a:srgbClr val="404040"/>
                          </a:solidFill>
                          <a:latin typeface="Calibri"/>
                          <a:ea typeface="Calibri"/>
                          <a:cs typeface="Calibri"/>
                          <a:sym typeface="Calibri"/>
                        </a:rPr>
                        <a:t>Plan Path, Avoid Collision, Schedule</a:t>
                      </a:r>
                      <a:endParaRPr sz="12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extLst>
                  <a:ext uri="{0D108BD9-81ED-4DB2-BD59-A6C34878D82A}">
                    <a16:rowId xmlns:a16="http://schemas.microsoft.com/office/drawing/2014/main" val="10002"/>
                  </a:ext>
                </a:extLst>
              </a:tr>
              <a:tr h="566925">
                <a:tc>
                  <a:txBody>
                    <a:bodyPr/>
                    <a:lstStyle/>
                    <a:p>
                      <a:pPr marL="0" marR="0" lvl="0" indent="0" algn="l" rtl="0">
                        <a:spcBef>
                          <a:spcPts val="0"/>
                        </a:spcBef>
                        <a:spcAft>
                          <a:spcPts val="0"/>
                        </a:spcAft>
                        <a:buClr>
                          <a:srgbClr val="404040"/>
                        </a:buClr>
                        <a:buSzPts val="1200"/>
                        <a:buFont typeface="Calibri"/>
                        <a:buNone/>
                      </a:pPr>
                      <a:r>
                        <a:rPr lang="en-US" sz="1200" u="none" strike="noStrike" cap="none">
                          <a:solidFill>
                            <a:srgbClr val="404040"/>
                          </a:solidFill>
                          <a:latin typeface="Calibri"/>
                          <a:ea typeface="Calibri"/>
                          <a:cs typeface="Calibri"/>
                          <a:sym typeface="Calibri"/>
                        </a:rPr>
                        <a:t>Autonomous Vehicles</a:t>
                      </a:r>
                      <a:endParaRPr sz="12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200"/>
                        <a:buFont typeface="Calibri"/>
                        <a:buNone/>
                      </a:pPr>
                      <a:r>
                        <a:rPr lang="en-US" sz="1200" u="none" strike="noStrike" cap="none">
                          <a:solidFill>
                            <a:srgbClr val="404040"/>
                          </a:solidFill>
                          <a:latin typeface="Calibri"/>
                          <a:ea typeface="Calibri"/>
                          <a:cs typeface="Calibri"/>
                          <a:sym typeface="Calibri"/>
                        </a:rPr>
                        <a:t>Detect Objects</a:t>
                      </a:r>
                      <a:endParaRPr sz="12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200"/>
                        <a:buFont typeface="Calibri"/>
                        <a:buNone/>
                      </a:pPr>
                      <a:r>
                        <a:rPr lang="en-US" sz="1200" u="none" strike="noStrike" cap="none">
                          <a:solidFill>
                            <a:srgbClr val="404040"/>
                          </a:solidFill>
                          <a:latin typeface="Calibri"/>
                          <a:ea typeface="Calibri"/>
                          <a:cs typeface="Calibri"/>
                          <a:sym typeface="Calibri"/>
                        </a:rPr>
                        <a:t>Apply Traffic Rules &amp; Safety Constraints</a:t>
                      </a:r>
                      <a:endParaRPr sz="12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566925">
                <a:tc>
                  <a:txBody>
                    <a:bodyPr/>
                    <a:lstStyle/>
                    <a:p>
                      <a:pPr marL="0" marR="0" lvl="0" indent="0" algn="l" rtl="0">
                        <a:spcBef>
                          <a:spcPts val="0"/>
                        </a:spcBef>
                        <a:spcAft>
                          <a:spcPts val="0"/>
                        </a:spcAft>
                        <a:buClr>
                          <a:srgbClr val="404040"/>
                        </a:buClr>
                        <a:buSzPts val="1200"/>
                        <a:buFont typeface="Calibri"/>
                        <a:buNone/>
                      </a:pPr>
                      <a:r>
                        <a:rPr lang="en-US" sz="1200" u="none" strike="noStrike" cap="none">
                          <a:solidFill>
                            <a:srgbClr val="404040"/>
                          </a:solidFill>
                          <a:latin typeface="Calibri"/>
                          <a:ea typeface="Calibri"/>
                          <a:cs typeface="Calibri"/>
                          <a:sym typeface="Calibri"/>
                        </a:rPr>
                        <a:t>Finance</a:t>
                      </a:r>
                      <a:endParaRPr sz="12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200"/>
                        <a:buFont typeface="Calibri"/>
                        <a:buNone/>
                      </a:pPr>
                      <a:r>
                        <a:rPr lang="en-US" sz="1200" u="none" strike="noStrike" cap="none">
                          <a:solidFill>
                            <a:srgbClr val="404040"/>
                          </a:solidFill>
                          <a:latin typeface="Calibri"/>
                          <a:ea typeface="Calibri"/>
                          <a:cs typeface="Calibri"/>
                          <a:sym typeface="Calibri"/>
                        </a:rPr>
                        <a:t>Detect Fraud Pattern</a:t>
                      </a:r>
                      <a:endParaRPr sz="12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tc>
                  <a:txBody>
                    <a:bodyPr/>
                    <a:lstStyle/>
                    <a:p>
                      <a:pPr marL="0" marR="0" lvl="0" indent="0" algn="l" rtl="0">
                        <a:spcBef>
                          <a:spcPts val="0"/>
                        </a:spcBef>
                        <a:spcAft>
                          <a:spcPts val="0"/>
                        </a:spcAft>
                        <a:buClr>
                          <a:srgbClr val="404040"/>
                        </a:buClr>
                        <a:buSzPts val="1200"/>
                        <a:buFont typeface="Calibri"/>
                        <a:buNone/>
                      </a:pPr>
                      <a:r>
                        <a:rPr lang="en-US" sz="1200" u="none" strike="noStrike" cap="none">
                          <a:solidFill>
                            <a:srgbClr val="404040"/>
                          </a:solidFill>
                          <a:latin typeface="Calibri"/>
                          <a:ea typeface="Calibri"/>
                          <a:cs typeface="Calibri"/>
                          <a:sym typeface="Calibri"/>
                        </a:rPr>
                        <a:t>Apply Regulatory Compliance, Explain Decision</a:t>
                      </a:r>
                      <a:endParaRPr sz="12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EAF1F1"/>
                    </a:solidFill>
                  </a:tcPr>
                </a:tc>
                <a:extLst>
                  <a:ext uri="{0D108BD9-81ED-4DB2-BD59-A6C34878D82A}">
                    <a16:rowId xmlns:a16="http://schemas.microsoft.com/office/drawing/2014/main" val="10004"/>
                  </a:ext>
                </a:extLst>
              </a:tr>
              <a:tr h="566925">
                <a:tc>
                  <a:txBody>
                    <a:bodyPr/>
                    <a:lstStyle/>
                    <a:p>
                      <a:pPr marL="0" marR="0" lvl="0" indent="0" algn="l" rtl="0">
                        <a:spcBef>
                          <a:spcPts val="0"/>
                        </a:spcBef>
                        <a:spcAft>
                          <a:spcPts val="0"/>
                        </a:spcAft>
                        <a:buClr>
                          <a:srgbClr val="404040"/>
                        </a:buClr>
                        <a:buSzPts val="1200"/>
                        <a:buFont typeface="Calibri"/>
                        <a:buNone/>
                      </a:pPr>
                      <a:r>
                        <a:rPr lang="en-US" sz="1200" u="none" strike="noStrike" cap="none">
                          <a:solidFill>
                            <a:srgbClr val="404040"/>
                          </a:solidFill>
                          <a:latin typeface="Calibri"/>
                          <a:ea typeface="Calibri"/>
                          <a:cs typeface="Calibri"/>
                          <a:sym typeface="Calibri"/>
                        </a:rPr>
                        <a:t>Scientific Discovery</a:t>
                      </a:r>
                      <a:endParaRPr sz="12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200"/>
                        <a:buFont typeface="Calibri"/>
                        <a:buNone/>
                      </a:pPr>
                      <a:r>
                        <a:rPr lang="en-US" sz="1200" u="none" strike="noStrike" cap="none">
                          <a:solidFill>
                            <a:srgbClr val="404040"/>
                          </a:solidFill>
                          <a:latin typeface="Calibri"/>
                          <a:ea typeface="Calibri"/>
                          <a:cs typeface="Calibri"/>
                          <a:sym typeface="Calibri"/>
                        </a:rPr>
                        <a:t>Find Patterns in Data</a:t>
                      </a:r>
                      <a:endParaRPr sz="12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404040"/>
                        </a:buClr>
                        <a:buSzPts val="1200"/>
                        <a:buFont typeface="Calibri"/>
                        <a:buNone/>
                      </a:pPr>
                      <a:r>
                        <a:rPr lang="en-US" sz="1200" u="none" strike="noStrike" cap="none">
                          <a:solidFill>
                            <a:srgbClr val="404040"/>
                          </a:solidFill>
                          <a:latin typeface="Calibri"/>
                          <a:ea typeface="Calibri"/>
                          <a:cs typeface="Calibri"/>
                          <a:sym typeface="Calibri"/>
                        </a:rPr>
                        <a:t>Apply Known Laws to Filter Candidates</a:t>
                      </a:r>
                      <a:endParaRPr sz="1200" u="none" strike="noStrike" cap="none">
                        <a:latin typeface="Calibri"/>
                        <a:ea typeface="Calibri"/>
                        <a:cs typeface="Calibri"/>
                        <a:sym typeface="Calibri"/>
                      </a:endParaRPr>
                    </a:p>
                  </a:txBody>
                  <a:tcPr marL="101600" marR="101600" marT="50800" marB="50800" anchor="ctr">
                    <a:lnL w="9525" cap="flat" cmpd="sng">
                      <a:solidFill>
                        <a:srgbClr val="DDE3E3"/>
                      </a:solidFill>
                      <a:prstDash val="solid"/>
                      <a:round/>
                      <a:headEnd type="none" w="sm" len="sm"/>
                      <a:tailEnd type="none" w="sm" len="sm"/>
                    </a:lnL>
                    <a:lnR w="9525" cap="flat" cmpd="sng">
                      <a:solidFill>
                        <a:srgbClr val="DDE3E3"/>
                      </a:solidFill>
                      <a:prstDash val="solid"/>
                      <a:round/>
                      <a:headEnd type="none" w="sm" len="sm"/>
                      <a:tailEnd type="none" w="sm" len="sm"/>
                    </a:lnR>
                    <a:lnT w="9525" cap="flat" cmpd="sng">
                      <a:solidFill>
                        <a:srgbClr val="DDE3E3"/>
                      </a:solidFill>
                      <a:prstDash val="solid"/>
                      <a:round/>
                      <a:headEnd type="none" w="sm" len="sm"/>
                      <a:tailEnd type="none" w="sm" len="sm"/>
                    </a:lnT>
                    <a:lnB w="9525" cap="flat" cmpd="sng">
                      <a:solidFill>
                        <a:srgbClr val="DDE3E3"/>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bl>
          </a:graphicData>
        </a:graphic>
      </p:graphicFrame>
      <p:sp>
        <p:nvSpPr>
          <p:cNvPr id="2097" name="Google Shape;2097;p122"/>
          <p:cNvSpPr/>
          <p:nvPr/>
        </p:nvSpPr>
        <p:spPr>
          <a:xfrm>
            <a:off x="457200" y="5303520"/>
            <a:ext cx="10607040" cy="914400"/>
          </a:xfrm>
          <a:prstGeom prst="rect">
            <a:avLst/>
          </a:prstGeom>
          <a:solidFill>
            <a:srgbClr val="FFF6EC"/>
          </a:solidFill>
          <a:ln w="9525" cap="flat" cmpd="sng">
            <a:solidFill>
              <a:srgbClr val="B33A3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122"/>
          <p:cNvSpPr/>
          <p:nvPr/>
        </p:nvSpPr>
        <p:spPr>
          <a:xfrm>
            <a:off x="457200" y="5303520"/>
            <a:ext cx="64008" cy="914400"/>
          </a:xfrm>
          <a:prstGeom prst="rect">
            <a:avLst/>
          </a:prstGeom>
          <a:solidFill>
            <a:srgbClr val="B33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122"/>
          <p:cNvSpPr/>
          <p:nvPr/>
        </p:nvSpPr>
        <p:spPr>
          <a:xfrm>
            <a:off x="685800" y="5413248"/>
            <a:ext cx="102412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33A3A"/>
              </a:buClr>
              <a:buSzPts val="1050"/>
              <a:buFont typeface="Calibri"/>
              <a:buNone/>
            </a:pPr>
            <a:r>
              <a:rPr lang="en-US" sz="1050" b="1" i="0" u="none" strike="noStrike" cap="none">
                <a:solidFill>
                  <a:srgbClr val="B33A3A"/>
                </a:solidFill>
                <a:latin typeface="Calibri"/>
                <a:ea typeface="Calibri"/>
                <a:cs typeface="Calibri"/>
                <a:sym typeface="Calibri"/>
              </a:rPr>
              <a:t>LOOKING AHEAD: NEURO-SYMBOLIC AI AND AGI</a:t>
            </a:r>
            <a:endParaRPr sz="1050" b="0" i="0" u="none" strike="noStrike" cap="none">
              <a:solidFill>
                <a:schemeClr val="dk1"/>
              </a:solidFill>
              <a:latin typeface="Calibri"/>
              <a:ea typeface="Calibri"/>
              <a:cs typeface="Calibri"/>
              <a:sym typeface="Calibri"/>
            </a:endParaRPr>
          </a:p>
        </p:txBody>
      </p:sp>
      <p:sp>
        <p:nvSpPr>
          <p:cNvPr id="2100" name="Google Shape;2100;p122"/>
          <p:cNvSpPr/>
          <p:nvPr/>
        </p:nvSpPr>
        <p:spPr>
          <a:xfrm>
            <a:off x="685800" y="5705856"/>
            <a:ext cx="10195560" cy="42062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200"/>
              <a:buFont typeface="Calibri"/>
              <a:buNone/>
            </a:pPr>
            <a:r>
              <a:rPr lang="en-US" sz="1200" b="0" i="0" u="none" strike="noStrike" cap="none">
                <a:solidFill>
                  <a:srgbClr val="404040"/>
                </a:solidFill>
                <a:latin typeface="Calibri"/>
                <a:ea typeface="Calibri"/>
                <a:cs typeface="Calibri"/>
                <a:sym typeface="Calibri"/>
              </a:rPr>
              <a:t>Many researchers believe neither symbolic AI nor neural networks alone can achieve true AGI, because real intelligence requires both learning and reasoning — the two abilities humans use together effortlessly.</a:t>
            </a:r>
            <a:endParaRPr sz="1200" b="0" i="0" u="none" strike="noStrike" cap="none">
              <a:solidFill>
                <a:schemeClr val="dk1"/>
              </a:solidFill>
              <a:latin typeface="Calibri"/>
              <a:ea typeface="Calibri"/>
              <a:cs typeface="Calibri"/>
              <a:sym typeface="Calibri"/>
            </a:endParaRPr>
          </a:p>
        </p:txBody>
      </p:sp>
      <p:sp>
        <p:nvSpPr>
          <p:cNvPr id="2101" name="Google Shape;2101;p122"/>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37 / 40</a:t>
            </a:r>
            <a:endParaRPr sz="950" b="0" i="0" u="none" strike="noStrike" cap="none">
              <a:solidFill>
                <a:schemeClr val="dk1"/>
              </a:solidFill>
              <a:latin typeface="Calibri"/>
              <a:ea typeface="Calibri"/>
              <a:cs typeface="Calibri"/>
              <a:sym typeface="Calibri"/>
            </a:endParaRPr>
          </a:p>
        </p:txBody>
      </p:sp>
      <p:sp>
        <p:nvSpPr>
          <p:cNvPr id="2102" name="Google Shape;2102;p122"/>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07"/>
        <p:cNvGrpSpPr/>
        <p:nvPr/>
      </p:nvGrpSpPr>
      <p:grpSpPr>
        <a:xfrm>
          <a:off x="0" y="0"/>
          <a:ext cx="0" cy="0"/>
          <a:chOff x="0" y="0"/>
          <a:chExt cx="0" cy="0"/>
        </a:xfrm>
      </p:grpSpPr>
      <p:sp>
        <p:nvSpPr>
          <p:cNvPr id="2108" name="Google Shape;2108;p123"/>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33A3A"/>
              </a:buClr>
              <a:buSzPts val="1100"/>
              <a:buFont typeface="Calibri"/>
              <a:buNone/>
            </a:pPr>
            <a:r>
              <a:rPr lang="en-US" sz="1100" b="1" i="0" u="none" strike="noStrike" cap="none">
                <a:solidFill>
                  <a:srgbClr val="B33A3A"/>
                </a:solidFill>
                <a:latin typeface="Calibri"/>
                <a:ea typeface="Calibri"/>
                <a:cs typeface="Calibri"/>
                <a:sym typeface="Calibri"/>
              </a:rPr>
              <a:t>WORKED EXAMPLE 1 — TRY IT YOURSELF</a:t>
            </a:r>
            <a:endParaRPr sz="1100" b="0" i="0" u="none" strike="noStrike" cap="none">
              <a:solidFill>
                <a:schemeClr val="dk1"/>
              </a:solidFill>
              <a:latin typeface="Calibri"/>
              <a:ea typeface="Calibri"/>
              <a:cs typeface="Calibri"/>
              <a:sym typeface="Calibri"/>
            </a:endParaRPr>
          </a:p>
        </p:txBody>
      </p:sp>
      <p:sp>
        <p:nvSpPr>
          <p:cNvPr id="2109" name="Google Shape;2109;p123"/>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Neuro-Symbolic Visual Question Answering</a:t>
            </a:r>
            <a:endParaRPr sz="2300" b="0" i="0" u="none" strike="noStrike" cap="none">
              <a:solidFill>
                <a:schemeClr val="dk1"/>
              </a:solidFill>
              <a:latin typeface="Calibri"/>
              <a:ea typeface="Calibri"/>
              <a:cs typeface="Calibri"/>
              <a:sym typeface="Calibri"/>
            </a:endParaRPr>
          </a:p>
        </p:txBody>
      </p:sp>
      <p:cxnSp>
        <p:nvCxnSpPr>
          <p:cNvPr id="2110" name="Google Shape;2110;p123"/>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2111" name="Google Shape;2111;p123"/>
          <p:cNvSpPr/>
          <p:nvPr/>
        </p:nvSpPr>
        <p:spPr>
          <a:xfrm>
            <a:off x="640080" y="1691640"/>
            <a:ext cx="10241280" cy="2926080"/>
          </a:xfrm>
          <a:prstGeom prst="rect">
            <a:avLst/>
          </a:prstGeom>
          <a:solidFill>
            <a:srgbClr val="FBEAEA"/>
          </a:solidFill>
          <a:ln w="15875" cap="flat" cmpd="sng">
            <a:solidFill>
              <a:srgbClr val="B33A3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123"/>
          <p:cNvSpPr/>
          <p:nvPr/>
        </p:nvSpPr>
        <p:spPr>
          <a:xfrm>
            <a:off x="868680" y="1874520"/>
            <a:ext cx="3657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33A3A"/>
              </a:buClr>
              <a:buSzPts val="1200"/>
              <a:buFont typeface="Calibri"/>
              <a:buNone/>
            </a:pPr>
            <a:r>
              <a:rPr lang="en-US" sz="1200" b="1" i="0" u="none" strike="noStrike" cap="none">
                <a:solidFill>
                  <a:srgbClr val="B33A3A"/>
                </a:solidFill>
                <a:latin typeface="Calibri"/>
                <a:ea typeface="Calibri"/>
                <a:cs typeface="Calibri"/>
                <a:sym typeface="Calibri"/>
              </a:rPr>
              <a:t>PROBLEM</a:t>
            </a:r>
            <a:endParaRPr sz="1200" b="0" i="0" u="none" strike="noStrike" cap="none">
              <a:solidFill>
                <a:schemeClr val="dk1"/>
              </a:solidFill>
              <a:latin typeface="Calibri"/>
              <a:ea typeface="Calibri"/>
              <a:cs typeface="Calibri"/>
              <a:sym typeface="Calibri"/>
            </a:endParaRPr>
          </a:p>
        </p:txBody>
      </p:sp>
      <p:sp>
        <p:nvSpPr>
          <p:cNvPr id="2113" name="Google Shape;2113;p123"/>
          <p:cNvSpPr/>
          <p:nvPr/>
        </p:nvSpPr>
        <p:spPr>
          <a:xfrm>
            <a:off x="868680" y="2194560"/>
            <a:ext cx="9784080" cy="118872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404040"/>
              </a:buClr>
              <a:buSzPts val="1400"/>
              <a:buFont typeface="Calibri"/>
              <a:buNone/>
            </a:pPr>
            <a:r>
              <a:rPr lang="en-US" sz="1400" b="0" i="0" u="none" strike="noStrike" cap="none">
                <a:solidFill>
                  <a:srgbClr val="404040"/>
                </a:solidFill>
                <a:latin typeface="Calibri"/>
                <a:ea typeface="Calibri"/>
                <a:cs typeface="Calibri"/>
                <a:sym typeface="Calibri"/>
              </a:rPr>
              <a:t>A system is shown an image and asked: "Is there a red object that is larger than the blue cube?" The neural network detects:</a:t>
            </a:r>
            <a:endParaRPr sz="1400" b="0" i="0" u="none" strike="noStrike" cap="none">
              <a:solidFill>
                <a:schemeClr val="dk1"/>
              </a:solidFill>
              <a:latin typeface="Calibri"/>
              <a:ea typeface="Calibri"/>
              <a:cs typeface="Calibri"/>
              <a:sym typeface="Calibri"/>
            </a:endParaRPr>
          </a:p>
          <a:p>
            <a:pPr marL="0" marR="0" lvl="0" indent="0" algn="l" rtl="0">
              <a:lnSpc>
                <a:spcPct val="130000"/>
              </a:lnSpc>
              <a:spcBef>
                <a:spcPts val="0"/>
              </a:spcBef>
              <a:spcAft>
                <a:spcPts val="0"/>
              </a:spcAft>
              <a:buClr>
                <a:srgbClr val="404040"/>
              </a:buClr>
              <a:buSzPts val="1400"/>
              <a:buFont typeface="Calibri"/>
              <a:buNone/>
            </a:pPr>
            <a:r>
              <a:rPr lang="en-US" sz="1400" b="0" i="1" u="none" strike="noStrike" cap="none">
                <a:solidFill>
                  <a:srgbClr val="404040"/>
                </a:solidFill>
                <a:latin typeface="Calibri"/>
                <a:ea typeface="Calibri"/>
                <a:cs typeface="Calibri"/>
                <a:sym typeface="Calibri"/>
              </a:rPr>
              <a:t>Object A (red sphere, size = large) · Object B (blue cube, size = small) · Object C (green cylinder, size = medium)</a:t>
            </a:r>
            <a:endParaRPr sz="1400" b="0" i="0" u="none" strike="noStrike" cap="none">
              <a:solidFill>
                <a:schemeClr val="dk1"/>
              </a:solidFill>
              <a:latin typeface="Calibri"/>
              <a:ea typeface="Calibri"/>
              <a:cs typeface="Calibri"/>
              <a:sym typeface="Calibri"/>
            </a:endParaRPr>
          </a:p>
        </p:txBody>
      </p:sp>
      <p:sp>
        <p:nvSpPr>
          <p:cNvPr id="2114" name="Google Shape;2114;p123"/>
          <p:cNvSpPr/>
          <p:nvPr/>
        </p:nvSpPr>
        <p:spPr>
          <a:xfrm>
            <a:off x="868680" y="3474720"/>
            <a:ext cx="9784080" cy="86868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404040"/>
              </a:buClr>
              <a:buSzPts val="1400"/>
              <a:buFont typeface="Calibri"/>
              <a:buNone/>
            </a:pPr>
            <a:r>
              <a:rPr lang="en-US" sz="1400" b="1" i="1" u="none" strike="noStrike" cap="none">
                <a:solidFill>
                  <a:srgbClr val="404040"/>
                </a:solidFill>
                <a:latin typeface="Calibri"/>
                <a:ea typeface="Calibri"/>
                <a:cs typeface="Calibri"/>
                <a:sym typeface="Calibri"/>
              </a:rPr>
              <a:t>Question:  </a:t>
            </a:r>
            <a:r>
              <a:rPr lang="en-US" sz="1400" b="0" i="1" u="none" strike="noStrike" cap="none">
                <a:solidFill>
                  <a:srgbClr val="404040"/>
                </a:solidFill>
                <a:latin typeface="Calibri"/>
                <a:ea typeface="Calibri"/>
                <a:cs typeface="Calibri"/>
                <a:sym typeface="Calibri"/>
              </a:rPr>
              <a:t>How does a neuro-symbolic system answer this question correctly, and why is this difficult for a "pure" neural network to do reliably?</a:t>
            </a:r>
            <a:endParaRPr sz="1400" b="0" i="0" u="none" strike="noStrike" cap="none">
              <a:solidFill>
                <a:schemeClr val="dk1"/>
              </a:solidFill>
              <a:latin typeface="Calibri"/>
              <a:ea typeface="Calibri"/>
              <a:cs typeface="Calibri"/>
              <a:sym typeface="Calibri"/>
            </a:endParaRPr>
          </a:p>
        </p:txBody>
      </p:sp>
      <p:sp>
        <p:nvSpPr>
          <p:cNvPr id="2115" name="Google Shape;2115;p123"/>
          <p:cNvSpPr/>
          <p:nvPr/>
        </p:nvSpPr>
        <p:spPr>
          <a:xfrm>
            <a:off x="640080" y="4846320"/>
            <a:ext cx="1024128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B33A3A"/>
              </a:buClr>
              <a:buSzPts val="1250"/>
              <a:buFont typeface="Calibri"/>
              <a:buNone/>
            </a:pPr>
            <a:r>
              <a:rPr lang="en-US" sz="1250" b="1" i="1" u="none" strike="noStrike" cap="none">
                <a:solidFill>
                  <a:srgbClr val="B33A3A"/>
                </a:solidFill>
                <a:latin typeface="Calibri"/>
                <a:ea typeface="Calibri"/>
                <a:cs typeface="Calibri"/>
                <a:sym typeface="Calibri"/>
              </a:rPr>
              <a:t>PAUSE HERE — work out your answer before the next slide</a:t>
            </a:r>
            <a:endParaRPr sz="1250" b="0" i="0" u="none" strike="noStrike" cap="none">
              <a:solidFill>
                <a:schemeClr val="dk1"/>
              </a:solidFill>
              <a:latin typeface="Calibri"/>
              <a:ea typeface="Calibri"/>
              <a:cs typeface="Calibri"/>
              <a:sym typeface="Calibri"/>
            </a:endParaRPr>
          </a:p>
        </p:txBody>
      </p:sp>
      <p:sp>
        <p:nvSpPr>
          <p:cNvPr id="2116" name="Google Shape;2116;p123"/>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38 / 40</a:t>
            </a:r>
            <a:endParaRPr sz="950" b="0" i="0" u="none" strike="noStrike" cap="none">
              <a:solidFill>
                <a:schemeClr val="dk1"/>
              </a:solidFill>
              <a:latin typeface="Calibri"/>
              <a:ea typeface="Calibri"/>
              <a:cs typeface="Calibri"/>
              <a:sym typeface="Calibri"/>
            </a:endParaRPr>
          </a:p>
        </p:txBody>
      </p:sp>
      <p:sp>
        <p:nvSpPr>
          <p:cNvPr id="2117" name="Google Shape;2117;p123"/>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22"/>
        <p:cNvGrpSpPr/>
        <p:nvPr/>
      </p:nvGrpSpPr>
      <p:grpSpPr>
        <a:xfrm>
          <a:off x="0" y="0"/>
          <a:ext cx="0" cy="0"/>
          <a:chOff x="0" y="0"/>
          <a:chExt cx="0" cy="0"/>
        </a:xfrm>
      </p:grpSpPr>
      <p:sp>
        <p:nvSpPr>
          <p:cNvPr id="2123" name="Google Shape;2123;p124"/>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33A3A"/>
              </a:buClr>
              <a:buSzPts val="1100"/>
              <a:buFont typeface="Calibri"/>
              <a:buNone/>
            </a:pPr>
            <a:r>
              <a:rPr lang="en-US" sz="1100" b="1" i="0" u="none" strike="noStrike" cap="none">
                <a:solidFill>
                  <a:srgbClr val="B33A3A"/>
                </a:solidFill>
                <a:latin typeface="Calibri"/>
                <a:ea typeface="Calibri"/>
                <a:cs typeface="Calibri"/>
                <a:sym typeface="Calibri"/>
              </a:rPr>
              <a:t>WORKED EXAMPLE 1 — SOLUTION</a:t>
            </a:r>
            <a:endParaRPr sz="1100" b="0" i="0" u="none" strike="noStrike" cap="none">
              <a:solidFill>
                <a:schemeClr val="dk1"/>
              </a:solidFill>
              <a:latin typeface="Calibri"/>
              <a:ea typeface="Calibri"/>
              <a:cs typeface="Calibri"/>
              <a:sym typeface="Calibri"/>
            </a:endParaRPr>
          </a:p>
        </p:txBody>
      </p:sp>
      <p:sp>
        <p:nvSpPr>
          <p:cNvPr id="2124" name="Google Shape;2124;p124"/>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Neuro-Symbolic Visual Question Answering</a:t>
            </a:r>
            <a:endParaRPr sz="2300" b="0" i="0" u="none" strike="noStrike" cap="none">
              <a:solidFill>
                <a:schemeClr val="dk1"/>
              </a:solidFill>
              <a:latin typeface="Calibri"/>
              <a:ea typeface="Calibri"/>
              <a:cs typeface="Calibri"/>
              <a:sym typeface="Calibri"/>
            </a:endParaRPr>
          </a:p>
        </p:txBody>
      </p:sp>
      <p:cxnSp>
        <p:nvCxnSpPr>
          <p:cNvPr id="2125" name="Google Shape;2125;p124"/>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2126" name="Google Shape;2126;p124"/>
          <p:cNvSpPr/>
          <p:nvPr/>
        </p:nvSpPr>
        <p:spPr>
          <a:xfrm>
            <a:off x="457200" y="1627632"/>
            <a:ext cx="365760" cy="365760"/>
          </a:xfrm>
          <a:prstGeom prst="ellipse">
            <a:avLst/>
          </a:prstGeom>
          <a:solidFill>
            <a:srgbClr val="B33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124"/>
          <p:cNvSpPr/>
          <p:nvPr/>
        </p:nvSpPr>
        <p:spPr>
          <a:xfrm>
            <a:off x="457200" y="1627632"/>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2128" name="Google Shape;2128;p124"/>
          <p:cNvSpPr/>
          <p:nvPr/>
        </p:nvSpPr>
        <p:spPr>
          <a:xfrm>
            <a:off x="960120" y="1554480"/>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404040"/>
              </a:buClr>
              <a:buSzPts val="1240"/>
              <a:buFont typeface="Calibri"/>
              <a:buNone/>
            </a:pPr>
            <a:r>
              <a:rPr lang="en-US" sz="1240" b="0" i="0" u="none" strike="noStrike" cap="none">
                <a:solidFill>
                  <a:srgbClr val="404040"/>
                </a:solidFill>
                <a:latin typeface="Calibri"/>
                <a:ea typeface="Calibri"/>
                <a:cs typeface="Calibri"/>
                <a:sym typeface="Calibri"/>
              </a:rPr>
              <a:t>The neural perception stage outputs structured facts: color(A, red), shape(A, sphere), size(A, large); color(B, blue), shape(B, cube), size(B, small); and so on for Object C.</a:t>
            </a:r>
            <a:endParaRPr sz="1240" b="0" i="0" u="none" strike="noStrike" cap="none">
              <a:solidFill>
                <a:schemeClr val="dk1"/>
              </a:solidFill>
              <a:latin typeface="Calibri"/>
              <a:ea typeface="Calibri"/>
              <a:cs typeface="Calibri"/>
              <a:sym typeface="Calibri"/>
            </a:endParaRPr>
          </a:p>
        </p:txBody>
      </p:sp>
      <p:sp>
        <p:nvSpPr>
          <p:cNvPr id="2129" name="Google Shape;2129;p124"/>
          <p:cNvSpPr/>
          <p:nvPr/>
        </p:nvSpPr>
        <p:spPr>
          <a:xfrm>
            <a:off x="457200" y="2295144"/>
            <a:ext cx="365760" cy="365760"/>
          </a:xfrm>
          <a:prstGeom prst="ellipse">
            <a:avLst/>
          </a:prstGeom>
          <a:solidFill>
            <a:srgbClr val="B33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124"/>
          <p:cNvSpPr/>
          <p:nvPr/>
        </p:nvSpPr>
        <p:spPr>
          <a:xfrm>
            <a:off x="457200" y="2295144"/>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2131" name="Google Shape;2131;p124"/>
          <p:cNvSpPr/>
          <p:nvPr/>
        </p:nvSpPr>
        <p:spPr>
          <a:xfrm>
            <a:off x="960120" y="2221992"/>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404040"/>
              </a:buClr>
              <a:buSzPts val="1240"/>
              <a:buFont typeface="Calibri"/>
              <a:buNone/>
            </a:pPr>
            <a:r>
              <a:rPr lang="en-US" sz="1240" b="0" i="0" u="none" strike="noStrike" cap="none">
                <a:solidFill>
                  <a:srgbClr val="404040"/>
                </a:solidFill>
                <a:latin typeface="Calibri"/>
                <a:ea typeface="Calibri"/>
                <a:cs typeface="Calibri"/>
                <a:sym typeface="Calibri"/>
              </a:rPr>
              <a:t>The question is parsed into a symbolic logical query: does there exist an object X such that color(X, red) AND size(X) &gt; size(B), where B is the blue cube?</a:t>
            </a:r>
            <a:endParaRPr sz="1240" b="0" i="0" u="none" strike="noStrike" cap="none">
              <a:solidFill>
                <a:schemeClr val="dk1"/>
              </a:solidFill>
              <a:latin typeface="Calibri"/>
              <a:ea typeface="Calibri"/>
              <a:cs typeface="Calibri"/>
              <a:sym typeface="Calibri"/>
            </a:endParaRPr>
          </a:p>
        </p:txBody>
      </p:sp>
      <p:sp>
        <p:nvSpPr>
          <p:cNvPr id="2132" name="Google Shape;2132;p124"/>
          <p:cNvSpPr/>
          <p:nvPr/>
        </p:nvSpPr>
        <p:spPr>
          <a:xfrm>
            <a:off x="457200" y="2962656"/>
            <a:ext cx="365760" cy="365760"/>
          </a:xfrm>
          <a:prstGeom prst="ellipse">
            <a:avLst/>
          </a:prstGeom>
          <a:solidFill>
            <a:srgbClr val="B33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124"/>
          <p:cNvSpPr/>
          <p:nvPr/>
        </p:nvSpPr>
        <p:spPr>
          <a:xfrm>
            <a:off x="457200" y="2962656"/>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2134" name="Google Shape;2134;p124"/>
          <p:cNvSpPr/>
          <p:nvPr/>
        </p:nvSpPr>
        <p:spPr>
          <a:xfrm>
            <a:off x="960120" y="2889504"/>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404040"/>
              </a:buClr>
              <a:buSzPts val="1240"/>
              <a:buFont typeface="Calibri"/>
              <a:buNone/>
            </a:pPr>
            <a:r>
              <a:rPr lang="en-US" sz="1240" b="0" i="0" u="none" strike="noStrike" cap="none">
                <a:solidFill>
                  <a:srgbClr val="404040"/>
                </a:solidFill>
                <a:latin typeface="Calibri"/>
                <a:ea typeface="Calibri"/>
                <a:cs typeface="Calibri"/>
                <a:sym typeface="Calibri"/>
              </a:rPr>
              <a:t>The symbolic reasoner searches the extracted facts: it finds Object B satisfies "blue cube," then checks all other objects for "red" and "larger than B." Object A matches both conditions.</a:t>
            </a:r>
            <a:endParaRPr sz="1240" b="0" i="0" u="none" strike="noStrike" cap="none">
              <a:solidFill>
                <a:schemeClr val="dk1"/>
              </a:solidFill>
              <a:latin typeface="Calibri"/>
              <a:ea typeface="Calibri"/>
              <a:cs typeface="Calibri"/>
              <a:sym typeface="Calibri"/>
            </a:endParaRPr>
          </a:p>
        </p:txBody>
      </p:sp>
      <p:sp>
        <p:nvSpPr>
          <p:cNvPr id="2135" name="Google Shape;2135;p124"/>
          <p:cNvSpPr/>
          <p:nvPr/>
        </p:nvSpPr>
        <p:spPr>
          <a:xfrm>
            <a:off x="457200" y="3630168"/>
            <a:ext cx="365760" cy="365760"/>
          </a:xfrm>
          <a:prstGeom prst="ellipse">
            <a:avLst/>
          </a:prstGeom>
          <a:solidFill>
            <a:srgbClr val="B33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124"/>
          <p:cNvSpPr/>
          <p:nvPr/>
        </p:nvSpPr>
        <p:spPr>
          <a:xfrm>
            <a:off x="457200" y="3630168"/>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4</a:t>
            </a:r>
            <a:endParaRPr sz="1400" b="0" i="0" u="none" strike="noStrike" cap="none">
              <a:solidFill>
                <a:schemeClr val="dk1"/>
              </a:solidFill>
              <a:latin typeface="Calibri"/>
              <a:ea typeface="Calibri"/>
              <a:cs typeface="Calibri"/>
              <a:sym typeface="Calibri"/>
            </a:endParaRPr>
          </a:p>
        </p:txBody>
      </p:sp>
      <p:sp>
        <p:nvSpPr>
          <p:cNvPr id="2137" name="Google Shape;2137;p124"/>
          <p:cNvSpPr/>
          <p:nvPr/>
        </p:nvSpPr>
        <p:spPr>
          <a:xfrm>
            <a:off x="960120" y="3557016"/>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404040"/>
              </a:buClr>
              <a:buSzPts val="1240"/>
              <a:buFont typeface="Calibri"/>
              <a:buNone/>
            </a:pPr>
            <a:r>
              <a:rPr lang="en-US" sz="1240" b="0" i="0" u="none" strike="noStrike" cap="none">
                <a:solidFill>
                  <a:srgbClr val="404040"/>
                </a:solidFill>
                <a:latin typeface="Calibri"/>
                <a:ea typeface="Calibri"/>
                <a:cs typeface="Calibri"/>
                <a:sym typeface="Calibri"/>
              </a:rPr>
              <a:t>Final answer: "Yes" — because Object A (red sphere) is larger than Object B (blue cube). The system can explain its answer by citing exactly these two facts.</a:t>
            </a:r>
            <a:endParaRPr sz="1240" b="0" i="0" u="none" strike="noStrike" cap="none">
              <a:solidFill>
                <a:schemeClr val="dk1"/>
              </a:solidFill>
              <a:latin typeface="Calibri"/>
              <a:ea typeface="Calibri"/>
              <a:cs typeface="Calibri"/>
              <a:sym typeface="Calibri"/>
            </a:endParaRPr>
          </a:p>
        </p:txBody>
      </p:sp>
      <p:sp>
        <p:nvSpPr>
          <p:cNvPr id="2138" name="Google Shape;2138;p124"/>
          <p:cNvSpPr/>
          <p:nvPr/>
        </p:nvSpPr>
        <p:spPr>
          <a:xfrm>
            <a:off x="457200" y="4480560"/>
            <a:ext cx="10607040" cy="1691640"/>
          </a:xfrm>
          <a:prstGeom prst="rect">
            <a:avLst/>
          </a:prstGeom>
          <a:solidFill>
            <a:srgbClr val="FFF6EC"/>
          </a:solidFill>
          <a:ln w="9525" cap="flat" cmpd="sng">
            <a:solidFill>
              <a:srgbClr val="B33A3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124"/>
          <p:cNvSpPr/>
          <p:nvPr/>
        </p:nvSpPr>
        <p:spPr>
          <a:xfrm>
            <a:off x="457200" y="4480560"/>
            <a:ext cx="64008" cy="1691640"/>
          </a:xfrm>
          <a:prstGeom prst="rect">
            <a:avLst/>
          </a:prstGeom>
          <a:solidFill>
            <a:srgbClr val="B33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124"/>
          <p:cNvSpPr/>
          <p:nvPr/>
        </p:nvSpPr>
        <p:spPr>
          <a:xfrm>
            <a:off x="685800" y="4590288"/>
            <a:ext cx="102412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33A3A"/>
              </a:buClr>
              <a:buSzPts val="1050"/>
              <a:buFont typeface="Calibri"/>
              <a:buNone/>
            </a:pPr>
            <a:r>
              <a:rPr lang="en-US" sz="1050" b="1" i="0" u="none" strike="noStrike" cap="none">
                <a:solidFill>
                  <a:srgbClr val="B33A3A"/>
                </a:solidFill>
                <a:latin typeface="Calibri"/>
                <a:ea typeface="Calibri"/>
                <a:cs typeface="Calibri"/>
                <a:sym typeface="Calibri"/>
              </a:rPr>
              <a:t>WHY THIS SOLUTION WORKS</a:t>
            </a:r>
            <a:endParaRPr sz="1050" b="0" i="0" u="none" strike="noStrike" cap="none">
              <a:solidFill>
                <a:schemeClr val="dk1"/>
              </a:solidFill>
              <a:latin typeface="Calibri"/>
              <a:ea typeface="Calibri"/>
              <a:cs typeface="Calibri"/>
              <a:sym typeface="Calibri"/>
            </a:endParaRPr>
          </a:p>
        </p:txBody>
      </p:sp>
      <p:sp>
        <p:nvSpPr>
          <p:cNvPr id="2141" name="Google Shape;2141;p124"/>
          <p:cNvSpPr/>
          <p:nvPr/>
        </p:nvSpPr>
        <p:spPr>
          <a:xfrm>
            <a:off x="685800" y="4882896"/>
            <a:ext cx="10195560" cy="119786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220"/>
              <a:buFont typeface="Calibri"/>
              <a:buNone/>
            </a:pPr>
            <a:r>
              <a:rPr lang="en-US" sz="1220" b="0" i="0" u="none" strike="noStrike" cap="none">
                <a:solidFill>
                  <a:srgbClr val="404040"/>
                </a:solidFill>
                <a:latin typeface="Calibri"/>
                <a:ea typeface="Calibri"/>
                <a:cs typeface="Calibri"/>
                <a:sym typeface="Calibri"/>
              </a:rPr>
              <a:t>A "pure" neural network trained end-to-end often struggles because the question requires composing multiple logical conditions — something neural networks can approximate but often get wrong on unusual combinations. By separating perception (network's strength) from logical composition (reasoner's strength), the system handles questions far outside its training examples correctly, and can show its reasoning step by step.</a:t>
            </a:r>
            <a:endParaRPr sz="1220" b="0" i="0" u="none" strike="noStrike" cap="none">
              <a:solidFill>
                <a:schemeClr val="dk1"/>
              </a:solidFill>
              <a:latin typeface="Calibri"/>
              <a:ea typeface="Calibri"/>
              <a:cs typeface="Calibri"/>
              <a:sym typeface="Calibri"/>
            </a:endParaRPr>
          </a:p>
        </p:txBody>
      </p:sp>
      <p:sp>
        <p:nvSpPr>
          <p:cNvPr id="2142" name="Google Shape;2142;p124"/>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38 / 40</a:t>
            </a:r>
            <a:endParaRPr sz="950" b="0" i="0" u="none" strike="noStrike" cap="none">
              <a:solidFill>
                <a:schemeClr val="dk1"/>
              </a:solidFill>
              <a:latin typeface="Calibri"/>
              <a:ea typeface="Calibri"/>
              <a:cs typeface="Calibri"/>
              <a:sym typeface="Calibri"/>
            </a:endParaRPr>
          </a:p>
        </p:txBody>
      </p:sp>
      <p:sp>
        <p:nvSpPr>
          <p:cNvPr id="2143" name="Google Shape;2143;p124"/>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48"/>
        <p:cNvGrpSpPr/>
        <p:nvPr/>
      </p:nvGrpSpPr>
      <p:grpSpPr>
        <a:xfrm>
          <a:off x="0" y="0"/>
          <a:ext cx="0" cy="0"/>
          <a:chOff x="0" y="0"/>
          <a:chExt cx="0" cy="0"/>
        </a:xfrm>
      </p:grpSpPr>
      <p:sp>
        <p:nvSpPr>
          <p:cNvPr id="2149" name="Google Shape;2149;p125"/>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33A3A"/>
              </a:buClr>
              <a:buSzPts val="1100"/>
              <a:buFont typeface="Calibri"/>
              <a:buNone/>
            </a:pPr>
            <a:r>
              <a:rPr lang="en-US" sz="1100" b="1" i="0" u="none" strike="noStrike" cap="none">
                <a:solidFill>
                  <a:srgbClr val="B33A3A"/>
                </a:solidFill>
                <a:latin typeface="Calibri"/>
                <a:ea typeface="Calibri"/>
                <a:cs typeface="Calibri"/>
                <a:sym typeface="Calibri"/>
              </a:rPr>
              <a:t>WORKED EXAMPLE 2 — TRY IT YOURSELF</a:t>
            </a:r>
            <a:endParaRPr sz="1100" b="0" i="0" u="none" strike="noStrike" cap="none">
              <a:solidFill>
                <a:schemeClr val="dk1"/>
              </a:solidFill>
              <a:latin typeface="Calibri"/>
              <a:ea typeface="Calibri"/>
              <a:cs typeface="Calibri"/>
              <a:sym typeface="Calibri"/>
            </a:endParaRPr>
          </a:p>
        </p:txBody>
      </p:sp>
      <p:sp>
        <p:nvSpPr>
          <p:cNvPr id="2150" name="Google Shape;2150;p125"/>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Constraining a Neural Network with Known Rules</a:t>
            </a:r>
            <a:endParaRPr sz="2300" b="0" i="0" u="none" strike="noStrike" cap="none">
              <a:solidFill>
                <a:schemeClr val="dk1"/>
              </a:solidFill>
              <a:latin typeface="Calibri"/>
              <a:ea typeface="Calibri"/>
              <a:cs typeface="Calibri"/>
              <a:sym typeface="Calibri"/>
            </a:endParaRPr>
          </a:p>
        </p:txBody>
      </p:sp>
      <p:cxnSp>
        <p:nvCxnSpPr>
          <p:cNvPr id="2151" name="Google Shape;2151;p125"/>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2152" name="Google Shape;2152;p125"/>
          <p:cNvSpPr/>
          <p:nvPr/>
        </p:nvSpPr>
        <p:spPr>
          <a:xfrm>
            <a:off x="640080" y="1691640"/>
            <a:ext cx="10241280" cy="2880360"/>
          </a:xfrm>
          <a:prstGeom prst="rect">
            <a:avLst/>
          </a:prstGeom>
          <a:solidFill>
            <a:srgbClr val="FBEAEA"/>
          </a:solidFill>
          <a:ln w="15875" cap="flat" cmpd="sng">
            <a:solidFill>
              <a:srgbClr val="B33A3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125"/>
          <p:cNvSpPr/>
          <p:nvPr/>
        </p:nvSpPr>
        <p:spPr>
          <a:xfrm>
            <a:off x="868680" y="1874520"/>
            <a:ext cx="3657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33A3A"/>
              </a:buClr>
              <a:buSzPts val="1200"/>
              <a:buFont typeface="Calibri"/>
              <a:buNone/>
            </a:pPr>
            <a:r>
              <a:rPr lang="en-US" sz="1200" b="1" i="0" u="none" strike="noStrike" cap="none">
                <a:solidFill>
                  <a:srgbClr val="B33A3A"/>
                </a:solidFill>
                <a:latin typeface="Calibri"/>
                <a:ea typeface="Calibri"/>
                <a:cs typeface="Calibri"/>
                <a:sym typeface="Calibri"/>
              </a:rPr>
              <a:t>PROBLEM</a:t>
            </a:r>
            <a:endParaRPr sz="1200" b="0" i="0" u="none" strike="noStrike" cap="none">
              <a:solidFill>
                <a:schemeClr val="dk1"/>
              </a:solidFill>
              <a:latin typeface="Calibri"/>
              <a:ea typeface="Calibri"/>
              <a:cs typeface="Calibri"/>
              <a:sym typeface="Calibri"/>
            </a:endParaRPr>
          </a:p>
        </p:txBody>
      </p:sp>
      <p:sp>
        <p:nvSpPr>
          <p:cNvPr id="2154" name="Google Shape;2154;p125"/>
          <p:cNvSpPr/>
          <p:nvPr/>
        </p:nvSpPr>
        <p:spPr>
          <a:xfrm>
            <a:off x="868680" y="2194560"/>
            <a:ext cx="9784080" cy="128016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404040"/>
              </a:buClr>
              <a:buSzPts val="1400"/>
              <a:buFont typeface="Calibri"/>
              <a:buNone/>
            </a:pPr>
            <a:r>
              <a:rPr lang="en-US" sz="1400" b="0" i="0" u="none" strike="noStrike" cap="none">
                <a:solidFill>
                  <a:srgbClr val="404040"/>
                </a:solidFill>
                <a:latin typeface="Calibri"/>
                <a:ea typeface="Calibri"/>
                <a:cs typeface="Calibri"/>
                <a:sym typeface="Calibri"/>
              </a:rPr>
              <a:t>A neural network predicts patient diagnoses from medical scans. On one unusual scan, the raw output assigns: 60% probability "Disease X," and separately, 55% probability "Patient is male AND Disease X requires female anatomy" (a known medical impossibility).</a:t>
            </a:r>
            <a:endParaRPr sz="1400" b="0" i="0" u="none" strike="noStrike" cap="none">
              <a:solidFill>
                <a:schemeClr val="dk1"/>
              </a:solidFill>
              <a:latin typeface="Calibri"/>
              <a:ea typeface="Calibri"/>
              <a:cs typeface="Calibri"/>
              <a:sym typeface="Calibri"/>
            </a:endParaRPr>
          </a:p>
        </p:txBody>
      </p:sp>
      <p:sp>
        <p:nvSpPr>
          <p:cNvPr id="2155" name="Google Shape;2155;p125"/>
          <p:cNvSpPr/>
          <p:nvPr/>
        </p:nvSpPr>
        <p:spPr>
          <a:xfrm>
            <a:off x="868680" y="3566160"/>
            <a:ext cx="9784080" cy="73152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404040"/>
              </a:buClr>
              <a:buSzPts val="1450"/>
              <a:buFont typeface="Calibri"/>
              <a:buNone/>
            </a:pPr>
            <a:r>
              <a:rPr lang="en-US" sz="1450" b="1" i="1" u="none" strike="noStrike" cap="none">
                <a:solidFill>
                  <a:srgbClr val="404040"/>
                </a:solidFill>
                <a:latin typeface="Calibri"/>
                <a:ea typeface="Calibri"/>
                <a:cs typeface="Calibri"/>
                <a:sym typeface="Calibri"/>
              </a:rPr>
              <a:t>Question:  </a:t>
            </a:r>
            <a:r>
              <a:rPr lang="en-US" sz="1450" b="0" i="1" u="none" strike="noStrike" cap="none">
                <a:solidFill>
                  <a:srgbClr val="404040"/>
                </a:solidFill>
                <a:latin typeface="Calibri"/>
                <a:ea typeface="Calibri"/>
                <a:cs typeface="Calibri"/>
                <a:sym typeface="Calibri"/>
              </a:rPr>
              <a:t>How does injecting symbolic knowledge correct this contradiction?</a:t>
            </a:r>
            <a:endParaRPr sz="1450" b="0" i="0" u="none" strike="noStrike" cap="none">
              <a:solidFill>
                <a:schemeClr val="dk1"/>
              </a:solidFill>
              <a:latin typeface="Calibri"/>
              <a:ea typeface="Calibri"/>
              <a:cs typeface="Calibri"/>
              <a:sym typeface="Calibri"/>
            </a:endParaRPr>
          </a:p>
        </p:txBody>
      </p:sp>
      <p:sp>
        <p:nvSpPr>
          <p:cNvPr id="2156" name="Google Shape;2156;p125"/>
          <p:cNvSpPr/>
          <p:nvPr/>
        </p:nvSpPr>
        <p:spPr>
          <a:xfrm>
            <a:off x="640080" y="4800600"/>
            <a:ext cx="1024128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B33A3A"/>
              </a:buClr>
              <a:buSzPts val="1250"/>
              <a:buFont typeface="Calibri"/>
              <a:buNone/>
            </a:pPr>
            <a:r>
              <a:rPr lang="en-US" sz="1250" b="1" i="1" u="none" strike="noStrike" cap="none">
                <a:solidFill>
                  <a:srgbClr val="B33A3A"/>
                </a:solidFill>
                <a:latin typeface="Calibri"/>
                <a:ea typeface="Calibri"/>
                <a:cs typeface="Calibri"/>
                <a:sym typeface="Calibri"/>
              </a:rPr>
              <a:t>PAUSE HERE — work out your answer before the next slide</a:t>
            </a:r>
            <a:endParaRPr sz="1250" b="0" i="0" u="none" strike="noStrike" cap="none">
              <a:solidFill>
                <a:schemeClr val="dk1"/>
              </a:solidFill>
              <a:latin typeface="Calibri"/>
              <a:ea typeface="Calibri"/>
              <a:cs typeface="Calibri"/>
              <a:sym typeface="Calibri"/>
            </a:endParaRPr>
          </a:p>
        </p:txBody>
      </p:sp>
      <p:sp>
        <p:nvSpPr>
          <p:cNvPr id="2157" name="Google Shape;2157;p125"/>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38 / 40</a:t>
            </a:r>
            <a:endParaRPr sz="950" b="0" i="0" u="none" strike="noStrike" cap="none">
              <a:solidFill>
                <a:schemeClr val="dk1"/>
              </a:solidFill>
              <a:latin typeface="Calibri"/>
              <a:ea typeface="Calibri"/>
              <a:cs typeface="Calibri"/>
              <a:sym typeface="Calibri"/>
            </a:endParaRPr>
          </a:p>
        </p:txBody>
      </p:sp>
      <p:sp>
        <p:nvSpPr>
          <p:cNvPr id="2158" name="Google Shape;2158;p125"/>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63"/>
        <p:cNvGrpSpPr/>
        <p:nvPr/>
      </p:nvGrpSpPr>
      <p:grpSpPr>
        <a:xfrm>
          <a:off x="0" y="0"/>
          <a:ext cx="0" cy="0"/>
          <a:chOff x="0" y="0"/>
          <a:chExt cx="0" cy="0"/>
        </a:xfrm>
      </p:grpSpPr>
      <p:sp>
        <p:nvSpPr>
          <p:cNvPr id="2164" name="Google Shape;2164;p126"/>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33A3A"/>
              </a:buClr>
              <a:buSzPts val="1100"/>
              <a:buFont typeface="Calibri"/>
              <a:buNone/>
            </a:pPr>
            <a:r>
              <a:rPr lang="en-US" sz="1100" b="1" i="0" u="none" strike="noStrike" cap="none">
                <a:solidFill>
                  <a:srgbClr val="B33A3A"/>
                </a:solidFill>
                <a:latin typeface="Calibri"/>
                <a:ea typeface="Calibri"/>
                <a:cs typeface="Calibri"/>
                <a:sym typeface="Calibri"/>
              </a:rPr>
              <a:t>WORKED EXAMPLE 2 — SOLUTION</a:t>
            </a:r>
            <a:endParaRPr sz="1100" b="0" i="0" u="none" strike="noStrike" cap="none">
              <a:solidFill>
                <a:schemeClr val="dk1"/>
              </a:solidFill>
              <a:latin typeface="Calibri"/>
              <a:ea typeface="Calibri"/>
              <a:cs typeface="Calibri"/>
              <a:sym typeface="Calibri"/>
            </a:endParaRPr>
          </a:p>
        </p:txBody>
      </p:sp>
      <p:sp>
        <p:nvSpPr>
          <p:cNvPr id="2165" name="Google Shape;2165;p126"/>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Constraining a Neural Network with Known Rules</a:t>
            </a:r>
            <a:endParaRPr sz="2300" b="0" i="0" u="none" strike="noStrike" cap="none">
              <a:solidFill>
                <a:schemeClr val="dk1"/>
              </a:solidFill>
              <a:latin typeface="Calibri"/>
              <a:ea typeface="Calibri"/>
              <a:cs typeface="Calibri"/>
              <a:sym typeface="Calibri"/>
            </a:endParaRPr>
          </a:p>
        </p:txBody>
      </p:sp>
      <p:cxnSp>
        <p:nvCxnSpPr>
          <p:cNvPr id="2166" name="Google Shape;2166;p126"/>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2167" name="Google Shape;2167;p126"/>
          <p:cNvSpPr/>
          <p:nvPr/>
        </p:nvSpPr>
        <p:spPr>
          <a:xfrm>
            <a:off x="457200" y="1627632"/>
            <a:ext cx="365760" cy="365760"/>
          </a:xfrm>
          <a:prstGeom prst="ellipse">
            <a:avLst/>
          </a:prstGeom>
          <a:solidFill>
            <a:srgbClr val="B33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126"/>
          <p:cNvSpPr/>
          <p:nvPr/>
        </p:nvSpPr>
        <p:spPr>
          <a:xfrm>
            <a:off x="457200" y="1627632"/>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2169" name="Google Shape;2169;p126"/>
          <p:cNvSpPr/>
          <p:nvPr/>
        </p:nvSpPr>
        <p:spPr>
          <a:xfrm>
            <a:off x="960120" y="1554480"/>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404040"/>
              </a:buClr>
              <a:buSzPts val="1240"/>
              <a:buFont typeface="Calibri"/>
              <a:buNone/>
            </a:pPr>
            <a:r>
              <a:rPr lang="en-US" sz="1240" b="0" i="0" u="none" strike="noStrike" cap="none">
                <a:solidFill>
                  <a:srgbClr val="404040"/>
                </a:solidFill>
                <a:latin typeface="Calibri"/>
                <a:ea typeface="Calibri"/>
                <a:cs typeface="Calibri"/>
                <a:sym typeface="Calibri"/>
              </a:rPr>
              <a:t>Identify the raw, uncorrected output: it has assigned meaningful probability to an outcome that is logically impossible according to established medical fact.</a:t>
            </a:r>
            <a:endParaRPr sz="1240" b="0" i="0" u="none" strike="noStrike" cap="none">
              <a:solidFill>
                <a:schemeClr val="dk1"/>
              </a:solidFill>
              <a:latin typeface="Calibri"/>
              <a:ea typeface="Calibri"/>
              <a:cs typeface="Calibri"/>
              <a:sym typeface="Calibri"/>
            </a:endParaRPr>
          </a:p>
        </p:txBody>
      </p:sp>
      <p:sp>
        <p:nvSpPr>
          <p:cNvPr id="2170" name="Google Shape;2170;p126"/>
          <p:cNvSpPr/>
          <p:nvPr/>
        </p:nvSpPr>
        <p:spPr>
          <a:xfrm>
            <a:off x="457200" y="2295144"/>
            <a:ext cx="365760" cy="365760"/>
          </a:xfrm>
          <a:prstGeom prst="ellipse">
            <a:avLst/>
          </a:prstGeom>
          <a:solidFill>
            <a:srgbClr val="B33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126"/>
          <p:cNvSpPr/>
          <p:nvPr/>
        </p:nvSpPr>
        <p:spPr>
          <a:xfrm>
            <a:off x="457200" y="2295144"/>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2172" name="Google Shape;2172;p126"/>
          <p:cNvSpPr/>
          <p:nvPr/>
        </p:nvSpPr>
        <p:spPr>
          <a:xfrm>
            <a:off x="960120" y="2221992"/>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404040"/>
              </a:buClr>
              <a:buSzPts val="1240"/>
              <a:buFont typeface="Calibri"/>
              <a:buNone/>
            </a:pPr>
            <a:r>
              <a:rPr lang="en-US" sz="1240" b="0" i="0" u="none" strike="noStrike" cap="none">
                <a:solidFill>
                  <a:srgbClr val="404040"/>
                </a:solidFill>
                <a:latin typeface="Calibri"/>
                <a:ea typeface="Calibri"/>
                <a:cs typeface="Calibri"/>
                <a:sym typeface="Calibri"/>
              </a:rPr>
              <a:t>Introduce the symbolic constraint as a hard logical rule given in advance: "IF patientSex = male, THEN probability(Disease X) MUST equal 0." This comes from established medical knowledge, not the training data.</a:t>
            </a:r>
            <a:endParaRPr sz="1240" b="0" i="0" u="none" strike="noStrike" cap="none">
              <a:solidFill>
                <a:schemeClr val="dk1"/>
              </a:solidFill>
              <a:latin typeface="Calibri"/>
              <a:ea typeface="Calibri"/>
              <a:cs typeface="Calibri"/>
              <a:sym typeface="Calibri"/>
            </a:endParaRPr>
          </a:p>
        </p:txBody>
      </p:sp>
      <p:sp>
        <p:nvSpPr>
          <p:cNvPr id="2173" name="Google Shape;2173;p126"/>
          <p:cNvSpPr/>
          <p:nvPr/>
        </p:nvSpPr>
        <p:spPr>
          <a:xfrm>
            <a:off x="457200" y="2962656"/>
            <a:ext cx="365760" cy="365760"/>
          </a:xfrm>
          <a:prstGeom prst="ellipse">
            <a:avLst/>
          </a:prstGeom>
          <a:solidFill>
            <a:srgbClr val="B33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126"/>
          <p:cNvSpPr/>
          <p:nvPr/>
        </p:nvSpPr>
        <p:spPr>
          <a:xfrm>
            <a:off x="457200" y="2962656"/>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2175" name="Google Shape;2175;p126"/>
          <p:cNvSpPr/>
          <p:nvPr/>
        </p:nvSpPr>
        <p:spPr>
          <a:xfrm>
            <a:off x="960120" y="2889504"/>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404040"/>
              </a:buClr>
              <a:buSzPts val="1240"/>
              <a:buFont typeface="Calibri"/>
              <a:buNone/>
            </a:pPr>
            <a:r>
              <a:rPr lang="en-US" sz="1240" b="0" i="0" u="none" strike="noStrike" cap="none">
                <a:solidFill>
                  <a:srgbClr val="404040"/>
                </a:solidFill>
                <a:latin typeface="Calibri"/>
                <a:ea typeface="Calibri"/>
                <a:cs typeface="Calibri"/>
                <a:sym typeface="Calibri"/>
              </a:rPr>
              <a:t>Apply the constraint to override the network's raw output: since the rule's condition is true, the impossible probability is forced to zero, regardless of the raw network's calculation.</a:t>
            </a:r>
            <a:endParaRPr sz="1240" b="0" i="0" u="none" strike="noStrike" cap="none">
              <a:solidFill>
                <a:schemeClr val="dk1"/>
              </a:solidFill>
              <a:latin typeface="Calibri"/>
              <a:ea typeface="Calibri"/>
              <a:cs typeface="Calibri"/>
              <a:sym typeface="Calibri"/>
            </a:endParaRPr>
          </a:p>
        </p:txBody>
      </p:sp>
      <p:sp>
        <p:nvSpPr>
          <p:cNvPr id="2176" name="Google Shape;2176;p126"/>
          <p:cNvSpPr/>
          <p:nvPr/>
        </p:nvSpPr>
        <p:spPr>
          <a:xfrm>
            <a:off x="457200" y="3630168"/>
            <a:ext cx="365760" cy="365760"/>
          </a:xfrm>
          <a:prstGeom prst="ellipse">
            <a:avLst/>
          </a:prstGeom>
          <a:solidFill>
            <a:srgbClr val="B33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126"/>
          <p:cNvSpPr/>
          <p:nvPr/>
        </p:nvSpPr>
        <p:spPr>
          <a:xfrm>
            <a:off x="457200" y="3630168"/>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4</a:t>
            </a:r>
            <a:endParaRPr sz="1400" b="0" i="0" u="none" strike="noStrike" cap="none">
              <a:solidFill>
                <a:schemeClr val="dk1"/>
              </a:solidFill>
              <a:latin typeface="Calibri"/>
              <a:ea typeface="Calibri"/>
              <a:cs typeface="Calibri"/>
              <a:sym typeface="Calibri"/>
            </a:endParaRPr>
          </a:p>
        </p:txBody>
      </p:sp>
      <p:sp>
        <p:nvSpPr>
          <p:cNvPr id="2178" name="Google Shape;2178;p126"/>
          <p:cNvSpPr/>
          <p:nvPr/>
        </p:nvSpPr>
        <p:spPr>
          <a:xfrm>
            <a:off x="960120" y="3557016"/>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404040"/>
              </a:buClr>
              <a:buSzPts val="1240"/>
              <a:buFont typeface="Calibri"/>
              <a:buNone/>
            </a:pPr>
            <a:r>
              <a:rPr lang="en-US" sz="1240" b="0" i="0" u="none" strike="noStrike" cap="none">
                <a:solidFill>
                  <a:srgbClr val="404040"/>
                </a:solidFill>
                <a:latin typeface="Calibri"/>
                <a:ea typeface="Calibri"/>
                <a:cs typeface="Calibri"/>
                <a:sym typeface="Calibri"/>
              </a:rPr>
              <a:t>The remaining probability is redistributed among medically valid diagnoses, producing a final, logically consistent diagnosis.</a:t>
            </a:r>
            <a:endParaRPr sz="1240" b="0" i="0" u="none" strike="noStrike" cap="none">
              <a:solidFill>
                <a:schemeClr val="dk1"/>
              </a:solidFill>
              <a:latin typeface="Calibri"/>
              <a:ea typeface="Calibri"/>
              <a:cs typeface="Calibri"/>
              <a:sym typeface="Calibri"/>
            </a:endParaRPr>
          </a:p>
        </p:txBody>
      </p:sp>
      <p:sp>
        <p:nvSpPr>
          <p:cNvPr id="2179" name="Google Shape;2179;p126"/>
          <p:cNvSpPr/>
          <p:nvPr/>
        </p:nvSpPr>
        <p:spPr>
          <a:xfrm>
            <a:off x="457200" y="4480560"/>
            <a:ext cx="10607040" cy="1691640"/>
          </a:xfrm>
          <a:prstGeom prst="rect">
            <a:avLst/>
          </a:prstGeom>
          <a:solidFill>
            <a:srgbClr val="FFF6EC"/>
          </a:solidFill>
          <a:ln w="9525" cap="flat" cmpd="sng">
            <a:solidFill>
              <a:srgbClr val="B33A3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126"/>
          <p:cNvSpPr/>
          <p:nvPr/>
        </p:nvSpPr>
        <p:spPr>
          <a:xfrm>
            <a:off x="457200" y="4480560"/>
            <a:ext cx="64008" cy="1691640"/>
          </a:xfrm>
          <a:prstGeom prst="rect">
            <a:avLst/>
          </a:prstGeom>
          <a:solidFill>
            <a:srgbClr val="B33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126"/>
          <p:cNvSpPr/>
          <p:nvPr/>
        </p:nvSpPr>
        <p:spPr>
          <a:xfrm>
            <a:off x="685800" y="4590288"/>
            <a:ext cx="102412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33A3A"/>
              </a:buClr>
              <a:buSzPts val="1050"/>
              <a:buFont typeface="Calibri"/>
              <a:buNone/>
            </a:pPr>
            <a:r>
              <a:rPr lang="en-US" sz="1050" b="1" i="0" u="none" strike="noStrike" cap="none">
                <a:solidFill>
                  <a:srgbClr val="B33A3A"/>
                </a:solidFill>
                <a:latin typeface="Calibri"/>
                <a:ea typeface="Calibri"/>
                <a:cs typeface="Calibri"/>
                <a:sym typeface="Calibri"/>
              </a:rPr>
              <a:t>WHY THIS SOLUTION WORKS</a:t>
            </a:r>
            <a:endParaRPr sz="1050" b="0" i="0" u="none" strike="noStrike" cap="none">
              <a:solidFill>
                <a:schemeClr val="dk1"/>
              </a:solidFill>
              <a:latin typeface="Calibri"/>
              <a:ea typeface="Calibri"/>
              <a:cs typeface="Calibri"/>
              <a:sym typeface="Calibri"/>
            </a:endParaRPr>
          </a:p>
        </p:txBody>
      </p:sp>
      <p:sp>
        <p:nvSpPr>
          <p:cNvPr id="2182" name="Google Shape;2182;p126"/>
          <p:cNvSpPr/>
          <p:nvPr/>
        </p:nvSpPr>
        <p:spPr>
          <a:xfrm>
            <a:off x="685800" y="4882896"/>
            <a:ext cx="10195560" cy="119786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220"/>
              <a:buFont typeface="Calibri"/>
              <a:buNone/>
            </a:pPr>
            <a:r>
              <a:rPr lang="en-US" sz="1220" b="0" i="0" u="none" strike="noStrike" cap="none">
                <a:solidFill>
                  <a:srgbClr val="404040"/>
                </a:solidFill>
                <a:latin typeface="Calibri"/>
                <a:ea typeface="Calibri"/>
                <a:cs typeface="Calibri"/>
                <a:sym typeface="Calibri"/>
              </a:rPr>
              <a:t>Neural networks learn purely from statistical patterns in data, and data can contain rare errors, biases, or gaps leading to occasional impossible predictions. By injecting a small set of rock-solid symbolic rules, the system gains a safety net that guarantees certain categories of error cannot occur — a guarantee pure statistical learning alone cannot provide. This matters enormously in healthcare, aviation, and law.</a:t>
            </a:r>
            <a:endParaRPr sz="1220" b="0" i="0" u="none" strike="noStrike" cap="none">
              <a:solidFill>
                <a:schemeClr val="dk1"/>
              </a:solidFill>
              <a:latin typeface="Calibri"/>
              <a:ea typeface="Calibri"/>
              <a:cs typeface="Calibri"/>
              <a:sym typeface="Calibri"/>
            </a:endParaRPr>
          </a:p>
        </p:txBody>
      </p:sp>
      <p:sp>
        <p:nvSpPr>
          <p:cNvPr id="2183" name="Google Shape;2183;p126"/>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38 / 40</a:t>
            </a:r>
            <a:endParaRPr sz="950" b="0" i="0" u="none" strike="noStrike" cap="none">
              <a:solidFill>
                <a:schemeClr val="dk1"/>
              </a:solidFill>
              <a:latin typeface="Calibri"/>
              <a:ea typeface="Calibri"/>
              <a:cs typeface="Calibri"/>
              <a:sym typeface="Calibri"/>
            </a:endParaRPr>
          </a:p>
        </p:txBody>
      </p:sp>
      <p:sp>
        <p:nvSpPr>
          <p:cNvPr id="2184" name="Google Shape;2184;p126"/>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89"/>
        <p:cNvGrpSpPr/>
        <p:nvPr/>
      </p:nvGrpSpPr>
      <p:grpSpPr>
        <a:xfrm>
          <a:off x="0" y="0"/>
          <a:ext cx="0" cy="0"/>
          <a:chOff x="0" y="0"/>
          <a:chExt cx="0" cy="0"/>
        </a:xfrm>
      </p:grpSpPr>
      <p:sp>
        <p:nvSpPr>
          <p:cNvPr id="2190" name="Google Shape;2190;p127"/>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33A3A"/>
              </a:buClr>
              <a:buSzPts val="1100"/>
              <a:buFont typeface="Calibri"/>
              <a:buNone/>
            </a:pPr>
            <a:r>
              <a:rPr lang="en-US" sz="1100" b="1" i="0" u="none" strike="noStrike" cap="none">
                <a:solidFill>
                  <a:srgbClr val="B33A3A"/>
                </a:solidFill>
                <a:latin typeface="Calibri"/>
                <a:ea typeface="Calibri"/>
                <a:cs typeface="Calibri"/>
                <a:sym typeface="Calibri"/>
              </a:rPr>
              <a:t>WORKED EXAMPLE 3 — TRY IT YOURSELF</a:t>
            </a:r>
            <a:endParaRPr sz="1100" b="0" i="0" u="none" strike="noStrike" cap="none">
              <a:solidFill>
                <a:schemeClr val="dk1"/>
              </a:solidFill>
              <a:latin typeface="Calibri"/>
              <a:ea typeface="Calibri"/>
              <a:cs typeface="Calibri"/>
              <a:sym typeface="Calibri"/>
            </a:endParaRPr>
          </a:p>
        </p:txBody>
      </p:sp>
      <p:sp>
        <p:nvSpPr>
          <p:cNvPr id="2191" name="Google Shape;2191;p127"/>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Knowledge-Graph Embeddings for Recommendation</a:t>
            </a:r>
            <a:endParaRPr sz="2300" b="0" i="0" u="none" strike="noStrike" cap="none">
              <a:solidFill>
                <a:schemeClr val="dk1"/>
              </a:solidFill>
              <a:latin typeface="Calibri"/>
              <a:ea typeface="Calibri"/>
              <a:cs typeface="Calibri"/>
              <a:sym typeface="Calibri"/>
            </a:endParaRPr>
          </a:p>
        </p:txBody>
      </p:sp>
      <p:cxnSp>
        <p:nvCxnSpPr>
          <p:cNvPr id="2192" name="Google Shape;2192;p127"/>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2193" name="Google Shape;2193;p127"/>
          <p:cNvSpPr/>
          <p:nvPr/>
        </p:nvSpPr>
        <p:spPr>
          <a:xfrm>
            <a:off x="640080" y="1691640"/>
            <a:ext cx="10241280" cy="2926080"/>
          </a:xfrm>
          <a:prstGeom prst="rect">
            <a:avLst/>
          </a:prstGeom>
          <a:solidFill>
            <a:srgbClr val="FBEAEA"/>
          </a:solidFill>
          <a:ln w="15875" cap="flat" cmpd="sng">
            <a:solidFill>
              <a:srgbClr val="B33A3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127"/>
          <p:cNvSpPr/>
          <p:nvPr/>
        </p:nvSpPr>
        <p:spPr>
          <a:xfrm>
            <a:off x="868680" y="1874520"/>
            <a:ext cx="3657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33A3A"/>
              </a:buClr>
              <a:buSzPts val="1200"/>
              <a:buFont typeface="Calibri"/>
              <a:buNone/>
            </a:pPr>
            <a:r>
              <a:rPr lang="en-US" sz="1200" b="1" i="0" u="none" strike="noStrike" cap="none">
                <a:solidFill>
                  <a:srgbClr val="B33A3A"/>
                </a:solidFill>
                <a:latin typeface="Calibri"/>
                <a:ea typeface="Calibri"/>
                <a:cs typeface="Calibri"/>
                <a:sym typeface="Calibri"/>
              </a:rPr>
              <a:t>PROBLEM</a:t>
            </a:r>
            <a:endParaRPr sz="1200" b="0" i="0" u="none" strike="noStrike" cap="none">
              <a:solidFill>
                <a:schemeClr val="dk1"/>
              </a:solidFill>
              <a:latin typeface="Calibri"/>
              <a:ea typeface="Calibri"/>
              <a:cs typeface="Calibri"/>
              <a:sym typeface="Calibri"/>
            </a:endParaRPr>
          </a:p>
        </p:txBody>
      </p:sp>
      <p:sp>
        <p:nvSpPr>
          <p:cNvPr id="2195" name="Google Shape;2195;p127"/>
          <p:cNvSpPr/>
          <p:nvPr/>
        </p:nvSpPr>
        <p:spPr>
          <a:xfrm>
            <a:off x="868680" y="2194560"/>
            <a:ext cx="978408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1450"/>
              <a:buFont typeface="Calibri"/>
              <a:buNone/>
            </a:pPr>
            <a:r>
              <a:rPr lang="en-US" sz="1450" b="0" i="0" u="none" strike="noStrike" cap="none">
                <a:solidFill>
                  <a:srgbClr val="404040"/>
                </a:solidFill>
                <a:latin typeface="Calibri"/>
                <a:ea typeface="Calibri"/>
                <a:cs typeface="Calibri"/>
                <a:sym typeface="Calibri"/>
              </a:rPr>
              <a:t>A streaming platform's knowledge graph contains:</a:t>
            </a:r>
            <a:endParaRPr sz="1450" b="0" i="0" u="none" strike="noStrike" cap="none">
              <a:solidFill>
                <a:schemeClr val="dk1"/>
              </a:solidFill>
              <a:latin typeface="Calibri"/>
              <a:ea typeface="Calibri"/>
              <a:cs typeface="Calibri"/>
              <a:sym typeface="Calibri"/>
            </a:endParaRPr>
          </a:p>
        </p:txBody>
      </p:sp>
      <p:sp>
        <p:nvSpPr>
          <p:cNvPr id="2196" name="Google Shape;2196;p127"/>
          <p:cNvSpPr/>
          <p:nvPr/>
        </p:nvSpPr>
        <p:spPr>
          <a:xfrm>
            <a:off x="868680" y="2542032"/>
            <a:ext cx="9784080" cy="777240"/>
          </a:xfrm>
          <a:prstGeom prst="rect">
            <a:avLst/>
          </a:prstGeom>
          <a:solidFill>
            <a:srgbClr val="F4F8F8"/>
          </a:solidFill>
          <a:ln w="9525" cap="flat" cmpd="sng">
            <a:solidFill>
              <a:srgbClr val="DDE3E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127"/>
          <p:cNvSpPr/>
          <p:nvPr/>
        </p:nvSpPr>
        <p:spPr>
          <a:xfrm>
            <a:off x="1097280" y="2633472"/>
            <a:ext cx="9326880" cy="59436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ts val="0"/>
              </a:spcBef>
              <a:spcAft>
                <a:spcPts val="0"/>
              </a:spcAft>
              <a:buClr>
                <a:srgbClr val="404040"/>
              </a:buClr>
              <a:buSzPts val="1200"/>
              <a:buFont typeface="Courier New"/>
              <a:buNone/>
            </a:pPr>
            <a:r>
              <a:rPr lang="en-US" sz="1200" b="0" i="0" u="none" strike="noStrike" cap="none">
                <a:solidFill>
                  <a:srgbClr val="404040"/>
                </a:solidFill>
                <a:latin typeface="Courier New"/>
                <a:ea typeface="Courier New"/>
                <a:cs typeface="Courier New"/>
                <a:sym typeface="Courier New"/>
              </a:rPr>
              <a:t>(User1, watched, MovieA) · (MovieA, genre, SciFi) · (MovieB, genre, SciFi)</a:t>
            </a:r>
            <a:endParaRPr sz="1200" b="0" i="0" u="none" strike="noStrike" cap="none">
              <a:solidFill>
                <a:schemeClr val="dk1"/>
              </a:solidFill>
              <a:latin typeface="Calibri"/>
              <a:ea typeface="Calibri"/>
              <a:cs typeface="Calibri"/>
              <a:sym typeface="Calibri"/>
            </a:endParaRPr>
          </a:p>
          <a:p>
            <a:pPr marL="0" marR="0" lvl="0" indent="0" algn="ctr" rtl="0">
              <a:lnSpc>
                <a:spcPct val="115000"/>
              </a:lnSpc>
              <a:spcBef>
                <a:spcPts val="0"/>
              </a:spcBef>
              <a:spcAft>
                <a:spcPts val="0"/>
              </a:spcAft>
              <a:buClr>
                <a:srgbClr val="404040"/>
              </a:buClr>
              <a:buSzPts val="1200"/>
              <a:buFont typeface="Courier New"/>
              <a:buNone/>
            </a:pPr>
            <a:r>
              <a:rPr lang="en-US" sz="1200" b="0" i="0" u="none" strike="noStrike" cap="none">
                <a:solidFill>
                  <a:srgbClr val="404040"/>
                </a:solidFill>
                <a:latin typeface="Courier New"/>
                <a:ea typeface="Courier New"/>
                <a:cs typeface="Courier New"/>
                <a:sym typeface="Courier New"/>
              </a:rPr>
              <a:t>(MovieA, actor, ActorX) · (MovieC, actor, ActorX)</a:t>
            </a:r>
            <a:endParaRPr sz="1200" b="0" i="0" u="none" strike="noStrike" cap="none">
              <a:solidFill>
                <a:schemeClr val="dk1"/>
              </a:solidFill>
              <a:latin typeface="Calibri"/>
              <a:ea typeface="Calibri"/>
              <a:cs typeface="Calibri"/>
              <a:sym typeface="Calibri"/>
            </a:endParaRPr>
          </a:p>
        </p:txBody>
      </p:sp>
      <p:sp>
        <p:nvSpPr>
          <p:cNvPr id="2198" name="Google Shape;2198;p127"/>
          <p:cNvSpPr/>
          <p:nvPr/>
        </p:nvSpPr>
        <p:spPr>
          <a:xfrm>
            <a:off x="868680" y="3520440"/>
            <a:ext cx="9784080" cy="86868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404040"/>
              </a:buClr>
              <a:buSzPts val="1350"/>
              <a:buFont typeface="Calibri"/>
              <a:buNone/>
            </a:pPr>
            <a:r>
              <a:rPr lang="en-US" sz="1350" b="1" i="1" u="none" strike="noStrike" cap="none">
                <a:solidFill>
                  <a:srgbClr val="404040"/>
                </a:solidFill>
                <a:latin typeface="Calibri"/>
                <a:ea typeface="Calibri"/>
                <a:cs typeface="Calibri"/>
                <a:sym typeface="Calibri"/>
              </a:rPr>
              <a:t>Question:  </a:t>
            </a:r>
            <a:r>
              <a:rPr lang="en-US" sz="1350" b="0" i="1" u="none" strike="noStrike" cap="none">
                <a:solidFill>
                  <a:srgbClr val="404040"/>
                </a:solidFill>
                <a:latin typeface="Calibri"/>
                <a:ea typeface="Calibri"/>
                <a:cs typeface="Calibri"/>
                <a:sym typeface="Calibri"/>
              </a:rPr>
              <a:t>Explain, step by step, how a neuro-symbolic recommendation system decides what to recommend to User1, combining the graph's symbolic structure with a neural network's pattern-matching.</a:t>
            </a:r>
            <a:endParaRPr sz="1350" b="0" i="0" u="none" strike="noStrike" cap="none">
              <a:solidFill>
                <a:schemeClr val="dk1"/>
              </a:solidFill>
              <a:latin typeface="Calibri"/>
              <a:ea typeface="Calibri"/>
              <a:cs typeface="Calibri"/>
              <a:sym typeface="Calibri"/>
            </a:endParaRPr>
          </a:p>
        </p:txBody>
      </p:sp>
      <p:sp>
        <p:nvSpPr>
          <p:cNvPr id="2199" name="Google Shape;2199;p127"/>
          <p:cNvSpPr/>
          <p:nvPr/>
        </p:nvSpPr>
        <p:spPr>
          <a:xfrm>
            <a:off x="640080" y="4846320"/>
            <a:ext cx="1024128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B33A3A"/>
              </a:buClr>
              <a:buSzPts val="1250"/>
              <a:buFont typeface="Calibri"/>
              <a:buNone/>
            </a:pPr>
            <a:r>
              <a:rPr lang="en-US" sz="1250" b="1" i="1" u="none" strike="noStrike" cap="none">
                <a:solidFill>
                  <a:srgbClr val="B33A3A"/>
                </a:solidFill>
                <a:latin typeface="Calibri"/>
                <a:ea typeface="Calibri"/>
                <a:cs typeface="Calibri"/>
                <a:sym typeface="Calibri"/>
              </a:rPr>
              <a:t>PAUSE HERE — work out your answer before the next slide</a:t>
            </a:r>
            <a:endParaRPr sz="1250" b="0" i="0" u="none" strike="noStrike" cap="none">
              <a:solidFill>
                <a:schemeClr val="dk1"/>
              </a:solidFill>
              <a:latin typeface="Calibri"/>
              <a:ea typeface="Calibri"/>
              <a:cs typeface="Calibri"/>
              <a:sym typeface="Calibri"/>
            </a:endParaRPr>
          </a:p>
        </p:txBody>
      </p:sp>
      <p:sp>
        <p:nvSpPr>
          <p:cNvPr id="2200" name="Google Shape;2200;p127"/>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39 / 40</a:t>
            </a:r>
            <a:endParaRPr sz="950" b="0" i="0" u="none" strike="noStrike" cap="none">
              <a:solidFill>
                <a:schemeClr val="dk1"/>
              </a:solidFill>
              <a:latin typeface="Calibri"/>
              <a:ea typeface="Calibri"/>
              <a:cs typeface="Calibri"/>
              <a:sym typeface="Calibri"/>
            </a:endParaRPr>
          </a:p>
        </p:txBody>
      </p:sp>
      <p:sp>
        <p:nvSpPr>
          <p:cNvPr id="2201" name="Google Shape;2201;p127"/>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06"/>
        <p:cNvGrpSpPr/>
        <p:nvPr/>
      </p:nvGrpSpPr>
      <p:grpSpPr>
        <a:xfrm>
          <a:off x="0" y="0"/>
          <a:ext cx="0" cy="0"/>
          <a:chOff x="0" y="0"/>
          <a:chExt cx="0" cy="0"/>
        </a:xfrm>
      </p:grpSpPr>
      <p:sp>
        <p:nvSpPr>
          <p:cNvPr id="2207" name="Google Shape;2207;p128"/>
          <p:cNvSpPr/>
          <p:nvPr/>
        </p:nvSpPr>
        <p:spPr>
          <a:xfrm>
            <a:off x="457200" y="292608"/>
            <a:ext cx="8686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33A3A"/>
              </a:buClr>
              <a:buSzPts val="1100"/>
              <a:buFont typeface="Calibri"/>
              <a:buNone/>
            </a:pPr>
            <a:r>
              <a:rPr lang="en-US" sz="1100" b="1" i="0" u="none" strike="noStrike" cap="none">
                <a:solidFill>
                  <a:srgbClr val="B33A3A"/>
                </a:solidFill>
                <a:latin typeface="Calibri"/>
                <a:ea typeface="Calibri"/>
                <a:cs typeface="Calibri"/>
                <a:sym typeface="Calibri"/>
              </a:rPr>
              <a:t>WORKED EXAMPLE 3 — SOLUTION</a:t>
            </a:r>
            <a:endParaRPr sz="1100" b="0" i="0" u="none" strike="noStrike" cap="none">
              <a:solidFill>
                <a:schemeClr val="dk1"/>
              </a:solidFill>
              <a:latin typeface="Calibri"/>
              <a:ea typeface="Calibri"/>
              <a:cs typeface="Calibri"/>
              <a:sym typeface="Calibri"/>
            </a:endParaRPr>
          </a:p>
        </p:txBody>
      </p:sp>
      <p:sp>
        <p:nvSpPr>
          <p:cNvPr id="2208" name="Google Shape;2208;p128"/>
          <p:cNvSpPr/>
          <p:nvPr/>
        </p:nvSpPr>
        <p:spPr>
          <a:xfrm>
            <a:off x="457200" y="54864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4040"/>
              </a:buClr>
              <a:buSzPts val="2300"/>
              <a:buFont typeface="Calibri"/>
              <a:buNone/>
            </a:pPr>
            <a:r>
              <a:rPr lang="en-US" sz="2300" b="1" i="0" u="none" strike="noStrike" cap="none">
                <a:solidFill>
                  <a:srgbClr val="404040"/>
                </a:solidFill>
                <a:latin typeface="Calibri"/>
                <a:ea typeface="Calibri"/>
                <a:cs typeface="Calibri"/>
                <a:sym typeface="Calibri"/>
              </a:rPr>
              <a:t>Knowledge-Graph Embeddings for Recommendation</a:t>
            </a:r>
            <a:endParaRPr sz="2300" b="0" i="0" u="none" strike="noStrike" cap="none">
              <a:solidFill>
                <a:schemeClr val="dk1"/>
              </a:solidFill>
              <a:latin typeface="Calibri"/>
              <a:ea typeface="Calibri"/>
              <a:cs typeface="Calibri"/>
              <a:sym typeface="Calibri"/>
            </a:endParaRPr>
          </a:p>
        </p:txBody>
      </p:sp>
      <p:cxnSp>
        <p:nvCxnSpPr>
          <p:cNvPr id="2209" name="Google Shape;2209;p128"/>
          <p:cNvCxnSpPr/>
          <p:nvPr/>
        </p:nvCxnSpPr>
        <p:spPr>
          <a:xfrm>
            <a:off x="457200" y="1005840"/>
            <a:ext cx="11274552" cy="0"/>
          </a:xfrm>
          <a:prstGeom prst="straightConnector1">
            <a:avLst/>
          </a:prstGeom>
          <a:noFill/>
          <a:ln w="12700" cap="flat" cmpd="sng">
            <a:solidFill>
              <a:srgbClr val="DDE3E3"/>
            </a:solidFill>
            <a:prstDash val="solid"/>
            <a:round/>
            <a:headEnd type="none" w="sm" len="sm"/>
            <a:tailEnd type="none" w="sm" len="sm"/>
          </a:ln>
        </p:spPr>
      </p:cxnSp>
      <p:sp>
        <p:nvSpPr>
          <p:cNvPr id="2210" name="Google Shape;2210;p128"/>
          <p:cNvSpPr/>
          <p:nvPr/>
        </p:nvSpPr>
        <p:spPr>
          <a:xfrm>
            <a:off x="457200" y="1627632"/>
            <a:ext cx="365760" cy="365760"/>
          </a:xfrm>
          <a:prstGeom prst="ellipse">
            <a:avLst/>
          </a:prstGeom>
          <a:solidFill>
            <a:srgbClr val="B33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128"/>
          <p:cNvSpPr/>
          <p:nvPr/>
        </p:nvSpPr>
        <p:spPr>
          <a:xfrm>
            <a:off x="457200" y="1627632"/>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2212" name="Google Shape;2212;p128"/>
          <p:cNvSpPr/>
          <p:nvPr/>
        </p:nvSpPr>
        <p:spPr>
          <a:xfrm>
            <a:off x="960120" y="1554480"/>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404040"/>
              </a:buClr>
              <a:buSzPts val="1230"/>
              <a:buFont typeface="Calibri"/>
              <a:buNone/>
            </a:pPr>
            <a:r>
              <a:rPr lang="en-US" sz="1230" b="0" i="0" u="none" strike="noStrike" cap="none">
                <a:solidFill>
                  <a:srgbClr val="404040"/>
                </a:solidFill>
                <a:latin typeface="Calibri"/>
                <a:ea typeface="Calibri"/>
                <a:cs typeface="Calibri"/>
                <a:sym typeface="Calibri"/>
              </a:rPr>
              <a:t>The symbolic knowledge graph provides exact, traceable candidate paths: from MovieA, two relationship types lead outward — genre (→ MovieB) and actor (→ MovieC).</a:t>
            </a:r>
            <a:endParaRPr sz="1230" b="0" i="0" u="none" strike="noStrike" cap="none">
              <a:solidFill>
                <a:schemeClr val="dk1"/>
              </a:solidFill>
              <a:latin typeface="Calibri"/>
              <a:ea typeface="Calibri"/>
              <a:cs typeface="Calibri"/>
              <a:sym typeface="Calibri"/>
            </a:endParaRPr>
          </a:p>
        </p:txBody>
      </p:sp>
      <p:sp>
        <p:nvSpPr>
          <p:cNvPr id="2213" name="Google Shape;2213;p128"/>
          <p:cNvSpPr/>
          <p:nvPr/>
        </p:nvSpPr>
        <p:spPr>
          <a:xfrm>
            <a:off x="457200" y="2295144"/>
            <a:ext cx="365760" cy="365760"/>
          </a:xfrm>
          <a:prstGeom prst="ellipse">
            <a:avLst/>
          </a:prstGeom>
          <a:solidFill>
            <a:srgbClr val="B33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128"/>
          <p:cNvSpPr/>
          <p:nvPr/>
        </p:nvSpPr>
        <p:spPr>
          <a:xfrm>
            <a:off x="457200" y="2295144"/>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2215" name="Google Shape;2215;p128"/>
          <p:cNvSpPr/>
          <p:nvPr/>
        </p:nvSpPr>
        <p:spPr>
          <a:xfrm>
            <a:off x="960120" y="2221992"/>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404040"/>
              </a:buClr>
              <a:buSzPts val="1230"/>
              <a:buFont typeface="Calibri"/>
              <a:buNone/>
            </a:pPr>
            <a:r>
              <a:rPr lang="en-US" sz="1230" b="0" i="0" u="none" strike="noStrike" cap="none">
                <a:solidFill>
                  <a:srgbClr val="404040"/>
                </a:solidFill>
                <a:latin typeface="Calibri"/>
                <a:ea typeface="Calibri"/>
                <a:cs typeface="Calibri"/>
                <a:sym typeface="Calibri"/>
              </a:rPr>
              <a:t>Each entity is converted into a neural embedding — a vector of numbers learned from patterns across millions of other users' behavior, not just this small graph snippet.</a:t>
            </a:r>
            <a:endParaRPr sz="1230" b="0" i="0" u="none" strike="noStrike" cap="none">
              <a:solidFill>
                <a:schemeClr val="dk1"/>
              </a:solidFill>
              <a:latin typeface="Calibri"/>
              <a:ea typeface="Calibri"/>
              <a:cs typeface="Calibri"/>
              <a:sym typeface="Calibri"/>
            </a:endParaRPr>
          </a:p>
        </p:txBody>
      </p:sp>
      <p:sp>
        <p:nvSpPr>
          <p:cNvPr id="2216" name="Google Shape;2216;p128"/>
          <p:cNvSpPr/>
          <p:nvPr/>
        </p:nvSpPr>
        <p:spPr>
          <a:xfrm>
            <a:off x="457200" y="2962656"/>
            <a:ext cx="365760" cy="365760"/>
          </a:xfrm>
          <a:prstGeom prst="ellipse">
            <a:avLst/>
          </a:prstGeom>
          <a:solidFill>
            <a:srgbClr val="B33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128"/>
          <p:cNvSpPr/>
          <p:nvPr/>
        </p:nvSpPr>
        <p:spPr>
          <a:xfrm>
            <a:off x="457200" y="2962656"/>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2218" name="Google Shape;2218;p128"/>
          <p:cNvSpPr/>
          <p:nvPr/>
        </p:nvSpPr>
        <p:spPr>
          <a:xfrm>
            <a:off x="960120" y="2889504"/>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404040"/>
              </a:buClr>
              <a:buSzPts val="1230"/>
              <a:buFont typeface="Calibri"/>
              <a:buNone/>
            </a:pPr>
            <a:r>
              <a:rPr lang="en-US" sz="1230" b="0" i="0" u="none" strike="noStrike" cap="none">
                <a:solidFill>
                  <a:srgbClr val="404040"/>
                </a:solidFill>
                <a:latin typeface="Calibri"/>
                <a:ea typeface="Calibri"/>
                <a:cs typeface="Calibri"/>
                <a:sym typeface="Calibri"/>
              </a:rPr>
              <a:t>The neural network computes a similarity score between User1's embedding and each candidate, based on subtle patterns the symbolic graph alone cannot represent.</a:t>
            </a:r>
            <a:endParaRPr sz="1230" b="0" i="0" u="none" strike="noStrike" cap="none">
              <a:solidFill>
                <a:schemeClr val="dk1"/>
              </a:solidFill>
              <a:latin typeface="Calibri"/>
              <a:ea typeface="Calibri"/>
              <a:cs typeface="Calibri"/>
              <a:sym typeface="Calibri"/>
            </a:endParaRPr>
          </a:p>
        </p:txBody>
      </p:sp>
      <p:sp>
        <p:nvSpPr>
          <p:cNvPr id="2219" name="Google Shape;2219;p128"/>
          <p:cNvSpPr/>
          <p:nvPr/>
        </p:nvSpPr>
        <p:spPr>
          <a:xfrm>
            <a:off x="457200" y="3630168"/>
            <a:ext cx="365760" cy="365760"/>
          </a:xfrm>
          <a:prstGeom prst="ellipse">
            <a:avLst/>
          </a:prstGeom>
          <a:solidFill>
            <a:srgbClr val="B33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128"/>
          <p:cNvSpPr/>
          <p:nvPr/>
        </p:nvSpPr>
        <p:spPr>
          <a:xfrm>
            <a:off x="457200" y="3630168"/>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4</a:t>
            </a:r>
            <a:endParaRPr sz="1400" b="0" i="0" u="none" strike="noStrike" cap="none">
              <a:solidFill>
                <a:schemeClr val="dk1"/>
              </a:solidFill>
              <a:latin typeface="Calibri"/>
              <a:ea typeface="Calibri"/>
              <a:cs typeface="Calibri"/>
              <a:sym typeface="Calibri"/>
            </a:endParaRPr>
          </a:p>
        </p:txBody>
      </p:sp>
      <p:sp>
        <p:nvSpPr>
          <p:cNvPr id="2221" name="Google Shape;2221;p128"/>
          <p:cNvSpPr/>
          <p:nvPr/>
        </p:nvSpPr>
        <p:spPr>
          <a:xfrm>
            <a:off x="960120" y="3557016"/>
            <a:ext cx="10149840" cy="64008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404040"/>
              </a:buClr>
              <a:buSzPts val="1230"/>
              <a:buFont typeface="Calibri"/>
              <a:buNone/>
            </a:pPr>
            <a:r>
              <a:rPr lang="en-US" sz="1230" b="0" i="0" u="none" strike="noStrike" cap="none">
                <a:solidFill>
                  <a:srgbClr val="404040"/>
                </a:solidFill>
                <a:latin typeface="Calibri"/>
                <a:ea typeface="Calibri"/>
                <a:cs typeface="Calibri"/>
                <a:sym typeface="Calibri"/>
              </a:rPr>
              <a:t>Suppose MovieC ranks higher. The final recommendation is MovieC, and the system can still explain its choice symbolically: "shares Actor X with a movie you watched."</a:t>
            </a:r>
            <a:endParaRPr sz="1230" b="0" i="0" u="none" strike="noStrike" cap="none">
              <a:solidFill>
                <a:schemeClr val="dk1"/>
              </a:solidFill>
              <a:latin typeface="Calibri"/>
              <a:ea typeface="Calibri"/>
              <a:cs typeface="Calibri"/>
              <a:sym typeface="Calibri"/>
            </a:endParaRPr>
          </a:p>
        </p:txBody>
      </p:sp>
      <p:sp>
        <p:nvSpPr>
          <p:cNvPr id="2222" name="Google Shape;2222;p128"/>
          <p:cNvSpPr/>
          <p:nvPr/>
        </p:nvSpPr>
        <p:spPr>
          <a:xfrm>
            <a:off x="457200" y="4480560"/>
            <a:ext cx="10607040" cy="1691640"/>
          </a:xfrm>
          <a:prstGeom prst="rect">
            <a:avLst/>
          </a:prstGeom>
          <a:solidFill>
            <a:srgbClr val="FFF6EC"/>
          </a:solidFill>
          <a:ln w="9525" cap="flat" cmpd="sng">
            <a:solidFill>
              <a:srgbClr val="B33A3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128"/>
          <p:cNvSpPr/>
          <p:nvPr/>
        </p:nvSpPr>
        <p:spPr>
          <a:xfrm>
            <a:off x="457200" y="4480560"/>
            <a:ext cx="64008" cy="1691640"/>
          </a:xfrm>
          <a:prstGeom prst="rect">
            <a:avLst/>
          </a:prstGeom>
          <a:solidFill>
            <a:srgbClr val="B33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128"/>
          <p:cNvSpPr/>
          <p:nvPr/>
        </p:nvSpPr>
        <p:spPr>
          <a:xfrm>
            <a:off x="685800" y="4590288"/>
            <a:ext cx="102412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33A3A"/>
              </a:buClr>
              <a:buSzPts val="1050"/>
              <a:buFont typeface="Calibri"/>
              <a:buNone/>
            </a:pPr>
            <a:r>
              <a:rPr lang="en-US" sz="1050" b="1" i="0" u="none" strike="noStrike" cap="none">
                <a:solidFill>
                  <a:srgbClr val="B33A3A"/>
                </a:solidFill>
                <a:latin typeface="Calibri"/>
                <a:ea typeface="Calibri"/>
                <a:cs typeface="Calibri"/>
                <a:sym typeface="Calibri"/>
              </a:rPr>
              <a:t>WHY THIS SOLUTION WORKS</a:t>
            </a:r>
            <a:endParaRPr sz="1050" b="0" i="0" u="none" strike="noStrike" cap="none">
              <a:solidFill>
                <a:schemeClr val="dk1"/>
              </a:solidFill>
              <a:latin typeface="Calibri"/>
              <a:ea typeface="Calibri"/>
              <a:cs typeface="Calibri"/>
              <a:sym typeface="Calibri"/>
            </a:endParaRPr>
          </a:p>
        </p:txBody>
      </p:sp>
      <p:sp>
        <p:nvSpPr>
          <p:cNvPr id="2225" name="Google Shape;2225;p128"/>
          <p:cNvSpPr/>
          <p:nvPr/>
        </p:nvSpPr>
        <p:spPr>
          <a:xfrm>
            <a:off x="685800" y="4882896"/>
            <a:ext cx="10195560" cy="1197864"/>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04040"/>
              </a:buClr>
              <a:buSzPts val="1220"/>
              <a:buFont typeface="Calibri"/>
              <a:buNone/>
            </a:pPr>
            <a:r>
              <a:rPr lang="en-US" sz="1220" b="0" i="0" u="none" strike="noStrike" cap="none">
                <a:solidFill>
                  <a:srgbClr val="404040"/>
                </a:solidFill>
                <a:latin typeface="Calibri"/>
                <a:ea typeface="Calibri"/>
                <a:cs typeface="Calibri"/>
                <a:sym typeface="Calibri"/>
              </a:rPr>
              <a:t>This shows the two components contributing genuinely different value: the symbolic graph generates a small set of plausible, explainable candidates, while the neural network ranks those candidates using subtle statistical patterns no one could hand-write as explicit rules. This is the architecture used by major streaming and e-commerce recommendation systems today.</a:t>
            </a:r>
            <a:endParaRPr sz="1220" b="0" i="0" u="none" strike="noStrike" cap="none">
              <a:solidFill>
                <a:schemeClr val="dk1"/>
              </a:solidFill>
              <a:latin typeface="Calibri"/>
              <a:ea typeface="Calibri"/>
              <a:cs typeface="Calibri"/>
              <a:sym typeface="Calibri"/>
            </a:endParaRPr>
          </a:p>
        </p:txBody>
      </p:sp>
      <p:sp>
        <p:nvSpPr>
          <p:cNvPr id="2226" name="Google Shape;2226;p128"/>
          <p:cNvSpPr/>
          <p:nvPr/>
        </p:nvSpPr>
        <p:spPr>
          <a:xfrm>
            <a:off x="10972800" y="6510528"/>
            <a:ext cx="7772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39 / 40</a:t>
            </a:r>
            <a:endParaRPr sz="950" b="0" i="0" u="none" strike="noStrike" cap="none">
              <a:solidFill>
                <a:schemeClr val="dk1"/>
              </a:solidFill>
              <a:latin typeface="Calibri"/>
              <a:ea typeface="Calibri"/>
              <a:cs typeface="Calibri"/>
              <a:sym typeface="Calibri"/>
            </a:endParaRPr>
          </a:p>
        </p:txBody>
      </p:sp>
      <p:sp>
        <p:nvSpPr>
          <p:cNvPr id="2227" name="Google Shape;2227;p128"/>
          <p:cNvSpPr/>
          <p:nvPr/>
        </p:nvSpPr>
        <p:spPr>
          <a:xfrm>
            <a:off x="457200" y="6510528"/>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B6B"/>
              </a:buClr>
              <a:buSzPts val="950"/>
              <a:buFont typeface="Calibri"/>
              <a:buNone/>
            </a:pPr>
            <a:r>
              <a:rPr lang="en-US" sz="950" b="0" i="0" u="none" strike="noStrike" cap="none">
                <a:solidFill>
                  <a:srgbClr val="6B6B6B"/>
                </a:solidFill>
                <a:latin typeface="Calibri"/>
                <a:ea typeface="Calibri"/>
                <a:cs typeface="Calibri"/>
                <a:sym typeface="Calibri"/>
              </a:rPr>
              <a:t>Knowledge Representation &amp; Reasoning · Lecture Notes</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12698</Words>
  <Application>Microsoft Office PowerPoint</Application>
  <PresentationFormat>Widescreen</PresentationFormat>
  <Paragraphs>1222</Paragraphs>
  <Slides>89</Slides>
  <Notes>89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89</vt:i4>
      </vt:variant>
    </vt:vector>
  </HeadingPairs>
  <TitlesOfParts>
    <vt:vector size="93"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Husnain Ashfaq</cp:lastModifiedBy>
  <cp:revision>1</cp:revision>
  <dcterms:modified xsi:type="dcterms:W3CDTF">2026-06-27T13:36:32Z</dcterms:modified>
</cp:coreProperties>
</file>