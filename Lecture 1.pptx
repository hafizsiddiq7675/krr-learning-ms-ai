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59"/>
  </p:notesMasterIdLst>
  <p:sldIdLst>
    <p:sldId id="256" r:id="rId2"/>
    <p:sldId id="261" r:id="rId3"/>
    <p:sldId id="262" r:id="rId4"/>
    <p:sldId id="263" r:id="rId5"/>
    <p:sldId id="258" r:id="rId6"/>
    <p:sldId id="259" r:id="rId7"/>
    <p:sldId id="260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06" r:id="rId5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9" name="Google Shape;55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3" name="Google Shape;61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9" name="Google Shape;70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8" name="Google Shape;75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5" name="Google Shape;79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5" name="Google Shape;80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4" name="Google Shape;91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5" name="Google Shape;97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6" name="Google Shape;99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1" name="Google Shape;103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2" name="Google Shape;105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3" name="Google Shape;116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7" name="Google Shape;118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4" name="Google Shape;121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4" name="Google Shape;122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4" name="Google Shape;1264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7" name="Google Shape;1297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8" name="Google Shape;1298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8" name="Google Shape;1318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0" name="Google Shape;1360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1" name="Google Shape;1361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7" name="Google Shape;1377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8" name="Google Shape;1378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8" name="Google Shape;1398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1" name="Google Shape;1421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2" name="Google Shape;1422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1" name="Google Shape;1431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2" name="Google Shape;1432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8" name="Google Shape;1488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9" name="Google Shape;1489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0" name="Google Shape;1550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1551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4" name="Google Shape;1584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1" name="Google Shape;1611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2" name="Google Shape;1612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5" name="Google Shape;164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6" name="Google Shape;1646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3" name="Google Shape;1683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4" name="Google Shape;1684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3" name="Google Shape;1773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4" name="Google Shape;1774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4" name="Google Shape;1794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5" name="Google Shape;1795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7" name="Google Shape;1827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8" name="Google Shape;1828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1" name="Google Shape;1871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2" name="Google Shape;1872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6" name="Google Shape;1896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7" name="Google Shape;1897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9" name="Google Shape;1939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0" name="Google Shape;1940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2" name="Google Shape;1952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9" name="Google Shape;1969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0" name="Google Shape;1970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0" name="Google Shape;1990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1" name="Google Shape;1991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2" name="Google Shape;1722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3" name="Google Shape;1723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F8FA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34E4A"/>
          </a:solidFill>
          <a:ln w="12700" cap="flat" cmpd="sng">
            <a:solidFill>
              <a:srgbClr val="134E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&amp; Reasoning in AI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74320" y="2240280"/>
            <a:ext cx="1572768" cy="169164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74320" y="2240280"/>
            <a:ext cx="1572768" cy="29260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74320" y="224028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47472" y="2578608"/>
            <a:ext cx="1426464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Introduction to KR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993392" y="2240280"/>
            <a:ext cx="1572768" cy="169164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993392" y="2240280"/>
            <a:ext cx="1572768" cy="29260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993392" y="224028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066544" y="2578608"/>
            <a:ext cx="1426464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Types of Knowledge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712464" y="2240280"/>
            <a:ext cx="1572768" cy="169164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712464" y="2240280"/>
            <a:ext cx="1572768" cy="29260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3712464" y="224028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785616" y="2578608"/>
            <a:ext cx="1426464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Propositional Logic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431536" y="2240280"/>
            <a:ext cx="1572768" cy="169164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5431536" y="2240280"/>
            <a:ext cx="1572768" cy="292608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5431536" y="224028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5504688" y="2578608"/>
            <a:ext cx="1426464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First Order Logic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150608" y="2240280"/>
            <a:ext cx="1572768" cy="169164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7150608" y="2240280"/>
            <a:ext cx="1572768" cy="29260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7150608" y="224028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7223760" y="2578608"/>
            <a:ext cx="1426464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Wumpus World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9;p3">
            <a:extLst>
              <a:ext uri="{FF2B5EF4-FFF2-40B4-BE49-F238E27FC236}">
                <a16:creationId xmlns:a16="http://schemas.microsoft.com/office/drawing/2014/main" id="{9452CCE6-B880-84C6-72F0-600C67E20FBD}"/>
              </a:ext>
            </a:extLst>
          </p:cNvPr>
          <p:cNvSpPr/>
          <p:nvPr/>
        </p:nvSpPr>
        <p:spPr>
          <a:xfrm>
            <a:off x="2177122" y="44119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Lecture 1   Dr. Husnain Ashfaq</a:t>
            </a:r>
            <a:endParaRPr sz="3200" b="0" i="0" u="none" strike="noStrike" cap="none" dirty="0">
              <a:solidFill>
                <a:schemeClr val="bg1">
                  <a:lumMod val="8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Artificial Intelligence?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Before we study KRR, we must understand what AI is — and what it is trying to achieve.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274320" y="960120"/>
            <a:ext cx="8595360" cy="1207008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274320" y="960120"/>
            <a:ext cx="8595360" cy="29260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274320" y="96012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11480" y="1280160"/>
            <a:ext cx="832104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Artificial Intelligence (AI) is the field of computer science concerned with building systems that can perform tasks which, if performed by a human, would require intelligence. These tasks include perceiving the environment, learning from experience, reasoning about knowledge, solving problems, and taking actions to achieve goals.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274320" y="2304288"/>
            <a:ext cx="2011680" cy="26517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274320" y="2304288"/>
            <a:ext cx="2011680" cy="47548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274320" y="2304288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👁  PERCEIVE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65760" y="2834640"/>
            <a:ext cx="1828800" cy="20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Sense and interpret data from the environment — images, text, speech, sensor readings.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2450592" y="2304288"/>
            <a:ext cx="2011680" cy="26517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2450592" y="2304288"/>
            <a:ext cx="2011680" cy="47548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2450592" y="2304288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🧠  LEARN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2542032" y="2834640"/>
            <a:ext cx="1828800" cy="20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Identify patterns in data and improve performance over time without being explicitly programmed.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626864" y="2304288"/>
            <a:ext cx="2011680" cy="26517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626864" y="2304288"/>
            <a:ext cx="2011680" cy="47548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4626864" y="2304288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REASON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718304" y="2834640"/>
            <a:ext cx="1828800" cy="20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Use stored knowledge and logic to draw conclusions, solve problems, and make decisions.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803136" y="2304288"/>
            <a:ext cx="2011680" cy="26517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6803136" y="2304288"/>
            <a:ext cx="2011680" cy="475488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6803136" y="2304288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ACT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894576" y="2834640"/>
            <a:ext cx="1828800" cy="20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Take intelligent actions in the world — recommendations, decisions, movements, responses.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274320" y="5010912"/>
            <a:ext cx="8595360" cy="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Major Branches of AI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AI is not one thing — it is a family of sub-fields, each tackling a different aspect of intelligence.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274320" y="960120"/>
            <a:ext cx="4206240" cy="9601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274320" y="960120"/>
            <a:ext cx="502920" cy="9601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274320" y="960120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841248" y="101498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41248" y="1271016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Systems that learn from data — finding patterns without explicit programming. Includes supervised, unsupervised, and reinforcement learning.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709160" y="960120"/>
            <a:ext cx="4206240" cy="9601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4709160" y="960120"/>
            <a:ext cx="502920" cy="9601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4709160" y="960120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276088" y="101498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276088" y="1271016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Neural networks with many layers that learn hierarchical representations of data. Powers image recognition, speech, and language models.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274320" y="1984248"/>
            <a:ext cx="4206240" cy="9601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274320" y="1984248"/>
            <a:ext cx="502920" cy="960120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274320" y="1984248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841248" y="203911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Natural Language Processing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41248" y="2295144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Understanding and generating human language — chatbots, translation, sentiment analysis, and large language models like GPT.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709160" y="1984248"/>
            <a:ext cx="4206240" cy="9601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709160" y="1984248"/>
            <a:ext cx="502920" cy="960120"/>
          </a:xfrm>
          <a:prstGeom prst="rect">
            <a:avLst/>
          </a:prstGeom>
          <a:solidFill>
            <a:srgbClr val="EC4899"/>
          </a:solidFill>
          <a:ln w="12700" cap="flat" cmpd="sng">
            <a:solidFill>
              <a:srgbClr val="EC48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4709160" y="1984248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📷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276088" y="203911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Computer Vision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5276088" y="2295144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Enabling machines to interpret visual information — object detection, facial recognition, medical imaging, self-driving cars.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274320" y="3008376"/>
            <a:ext cx="4206240" cy="9601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274320" y="3008376"/>
            <a:ext cx="502920" cy="9601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274320" y="3008376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841248" y="306324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Robotics &amp; Planning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841248" y="3319272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AI agents that interact physically with the world — navigation, manipulation, task planning in dynamic environments.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4709160" y="3008376"/>
            <a:ext cx="4206240" cy="960120"/>
          </a:xfrm>
          <a:prstGeom prst="rect">
            <a:avLst/>
          </a:prstGeom>
          <a:solidFill>
            <a:srgbClr val="F0FDFA"/>
          </a:solidFill>
          <a:ln w="254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4709160" y="3008376"/>
            <a:ext cx="502920" cy="9601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4709160" y="3008376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5276088" y="306324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276088" y="3319272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Storing facts and rules formally, then applying logic to derive conclusions. THIS is what this course is about — the brain's reasoning engine.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8275320" y="3063240"/>
            <a:ext cx="548640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8275320" y="30632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274320" y="4032504"/>
            <a:ext cx="4206240" cy="9601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274320" y="4032504"/>
            <a:ext cx="502920" cy="9601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274320" y="4032504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🏥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841248" y="408736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Expert Systems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841248" y="4343400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Rule-based AI that encodes domain expertise (medical, legal, financial) as IF-THEN rules to give professional-level advice.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709160" y="4032504"/>
            <a:ext cx="4206240" cy="9601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4709160" y="4032504"/>
            <a:ext cx="502920" cy="960120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4709160" y="4032504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276088" y="408736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Planning &amp; Search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276088" y="4343400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Finding sequences of actions to achieve goals in complex state spaces — used in game AI, logistics, and autonomous systems.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World of AI — Where Knowledge Representation &amp; Reasoning Lives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64592" y="640080"/>
            <a:ext cx="8814816" cy="4315968"/>
          </a:xfrm>
          <a:prstGeom prst="rect">
            <a:avLst/>
          </a:prstGeom>
          <a:solidFill>
            <a:srgbClr val="F0FDFA"/>
          </a:solidFill>
          <a:ln w="25400" cap="flat" cmpd="sng">
            <a:solidFill>
              <a:srgbClr val="5EEA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201168" y="6583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ARTIFICIAL INTELLIGENCE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274320" y="987552"/>
            <a:ext cx="2286000" cy="1481328"/>
          </a:xfrm>
          <a:prstGeom prst="rect">
            <a:avLst/>
          </a:prstGeom>
          <a:solidFill>
            <a:srgbClr val="FDF4FF"/>
          </a:solidFill>
          <a:ln w="19050" cap="flat" cmpd="sng">
            <a:solidFill>
              <a:srgbClr val="C08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274320" y="98755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PERCEPTION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274320" y="987552"/>
            <a:ext cx="2286000" cy="237744"/>
          </a:xfrm>
          <a:prstGeom prst="rect">
            <a:avLst/>
          </a:prstGeom>
          <a:solidFill>
            <a:srgbClr val="9333EA"/>
          </a:solidFill>
          <a:ln w="12700" cap="flat" cmpd="sng">
            <a:solidFill>
              <a:srgbClr val="933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347472" y="1261872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21A8"/>
                </a:solidFill>
                <a:latin typeface="Calibri"/>
                <a:ea typeface="Calibri"/>
                <a:cs typeface="Calibri"/>
                <a:sym typeface="Calibri"/>
              </a:rPr>
              <a:t>Computer Vision 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347472" y="1536192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21A8"/>
                </a:solidFill>
                <a:latin typeface="Calibri"/>
                <a:ea typeface="Calibri"/>
                <a:cs typeface="Calibri"/>
                <a:sym typeface="Calibri"/>
              </a:rPr>
              <a:t>Speech Recognition 🎤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347472" y="1810512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21A8"/>
                </a:solidFill>
                <a:latin typeface="Calibri"/>
                <a:ea typeface="Calibri"/>
                <a:cs typeface="Calibri"/>
                <a:sym typeface="Calibri"/>
              </a:rPr>
              <a:t>Sensor Fusion 📡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347472" y="2084832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21A8"/>
                </a:solidFill>
                <a:latin typeface="Calibri"/>
                <a:ea typeface="Calibri"/>
                <a:cs typeface="Calibri"/>
                <a:sym typeface="Calibri"/>
              </a:rPr>
              <a:t>NLP (Input) 💬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6537960" y="987552"/>
            <a:ext cx="2286000" cy="1481328"/>
          </a:xfrm>
          <a:prstGeom prst="rect">
            <a:avLst/>
          </a:prstGeom>
          <a:solidFill>
            <a:srgbClr val="F0FDF4"/>
          </a:solidFill>
          <a:ln w="19050" cap="flat" cmpd="sng">
            <a:solidFill>
              <a:srgbClr val="4AD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6537960" y="987552"/>
            <a:ext cx="2286000" cy="237744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6537960" y="98755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611112" y="1261872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Machine Learning 📊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611112" y="1536192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Deep Learning 🔗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611112" y="1810512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Reinforcement Learning 🎮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6611112" y="2084832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Neural Networks 🧬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274320" y="3246120"/>
            <a:ext cx="2286000" cy="1481328"/>
          </a:xfrm>
          <a:prstGeom prst="rect">
            <a:avLst/>
          </a:prstGeom>
          <a:solidFill>
            <a:srgbClr val="FFF7ED"/>
          </a:solidFill>
          <a:ln w="19050" cap="flat" cmpd="sng">
            <a:solidFill>
              <a:srgbClr val="FB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274320" y="3246120"/>
            <a:ext cx="2286000" cy="237744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274320" y="324612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347472" y="3520440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Robotics 🤖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47472" y="3794760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Planning &amp; Search 🗺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347472" y="4069080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Decision Making ⚡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347472" y="4343400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Natural Language Gen. 📝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6537960" y="3246120"/>
            <a:ext cx="2286000" cy="1481328"/>
          </a:xfrm>
          <a:prstGeom prst="rect">
            <a:avLst/>
          </a:prstGeom>
          <a:solidFill>
            <a:srgbClr val="FFF1F2"/>
          </a:solidFill>
          <a:ln w="19050" cap="flat" cmpd="sng">
            <a:solidFill>
              <a:srgbClr val="FB71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6537960" y="3246120"/>
            <a:ext cx="2286000" cy="237744"/>
          </a:xfrm>
          <a:prstGeom prst="rect">
            <a:avLst/>
          </a:prstGeom>
          <a:solidFill>
            <a:srgbClr val="E11D48"/>
          </a:solidFill>
          <a:ln w="12700" cap="flat" cmpd="sng">
            <a:solidFill>
              <a:srgbClr val="E11D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6537960" y="324612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6611112" y="3520440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Medical AI 🏥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6611112" y="3794760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Autonomous Vehicles 🚗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6611112" y="4069080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Search Engines 🔍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6611112" y="4343400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Expert Systems ⚖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2788920" y="987552"/>
            <a:ext cx="3547872" cy="3703320"/>
          </a:xfrm>
          <a:prstGeom prst="rect">
            <a:avLst/>
          </a:prstGeom>
          <a:solidFill>
            <a:srgbClr val="F0FDFA"/>
          </a:solidFill>
          <a:ln w="381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2788920" y="987552"/>
            <a:ext cx="3547872" cy="34747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2788920" y="987552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⭐  KNOWLEDGE REPRESENTATION &amp; REASONING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2880360" y="1389888"/>
            <a:ext cx="3364992" cy="47548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2880360" y="1389888"/>
            <a:ext cx="54864" cy="47548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2971800" y="142646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Knowledge Base (KB)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2971800" y="162763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Facts + Rules stored formally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2880360" y="1920240"/>
            <a:ext cx="3364992" cy="47548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2880360" y="1920240"/>
            <a:ext cx="54864" cy="47548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2971800" y="195681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Propositional Logic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2971800" y="215798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T/F propositions, connectives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2880360" y="2450592"/>
            <a:ext cx="3364992" cy="47548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2880360" y="2450592"/>
            <a:ext cx="54864" cy="47548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2971800" y="248716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First Order Logic (FOL)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2971800" y="268833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∀ ∃ Variables, Predicates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2880360" y="2980944"/>
            <a:ext cx="3364992" cy="47548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2880360" y="2980944"/>
            <a:ext cx="54864" cy="47548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2971800" y="301752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Inference Engine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2971800" y="321868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Modus Ponens, Resolution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2880360" y="3511296"/>
            <a:ext cx="3364992" cy="47548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2880360" y="3511296"/>
            <a:ext cx="54864" cy="47548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2971800" y="354787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Ontologies &amp; Semantic Web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971800" y="374904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OWL, RDF, Knowledge Graphs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2880360" y="4041648"/>
            <a:ext cx="3364992" cy="47548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2880360" y="4041648"/>
            <a:ext cx="54864" cy="47548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2971800" y="407822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Expert Systems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2971800" y="427939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Medical, Legal, Financial AI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0"/>
          <p:cNvCxnSpPr/>
          <p:nvPr/>
        </p:nvCxnSpPr>
        <p:spPr>
          <a:xfrm rot="10800000">
            <a:off x="2286000" y="1920240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0F766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1" name="Google Shape;351;p10"/>
          <p:cNvCxnSpPr/>
          <p:nvPr/>
        </p:nvCxnSpPr>
        <p:spPr>
          <a:xfrm>
            <a:off x="6336792" y="1920240"/>
            <a:ext cx="201168" cy="0"/>
          </a:xfrm>
          <a:prstGeom prst="straightConnector1">
            <a:avLst/>
          </a:prstGeom>
          <a:noFill/>
          <a:ln w="19050" cap="flat" cmpd="sng">
            <a:solidFill>
              <a:srgbClr val="0F766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2" name="Google Shape;352;p10"/>
          <p:cNvCxnSpPr/>
          <p:nvPr/>
        </p:nvCxnSpPr>
        <p:spPr>
          <a:xfrm rot="10800000">
            <a:off x="2286000" y="3840480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0F766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3" name="Google Shape;353;p10"/>
          <p:cNvCxnSpPr/>
          <p:nvPr/>
        </p:nvCxnSpPr>
        <p:spPr>
          <a:xfrm>
            <a:off x="6336792" y="3840480"/>
            <a:ext cx="201168" cy="0"/>
          </a:xfrm>
          <a:prstGeom prst="straightConnector1">
            <a:avLst/>
          </a:prstGeom>
          <a:noFill/>
          <a:ln w="19050" cap="flat" cmpd="sng">
            <a:solidFill>
              <a:srgbClr val="0F766E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This Course About?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The central question: How does a machine know things — and how does it think?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Knowledge Representation and Reasoning (KRR) answers one of the most fundamental questions in Artificial Intelligence: how does a machine know things — and how does it think?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74320" y="1664208"/>
            <a:ext cx="8595360" cy="141732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274320" y="1664208"/>
            <a:ext cx="1463040" cy="14173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274320" y="1664208"/>
            <a:ext cx="146304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874520" y="1709928"/>
            <a:ext cx="68580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Imagine building an AI doctor. You have millions of patient records.</a:t>
            </a:r>
            <a:b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 pile of records is NOT intelligence. The AI needs to:</a:t>
            </a:r>
            <a:b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① REPRESENT </a:t>
            </a: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what it knows (store facts &amp; rules in a structured form)   </a:t>
            </a: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② REASON </a:t>
            </a: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over that knowledge (derive new conclusions)   </a:t>
            </a:r>
            <a:r>
              <a:rPr lang="en-US" sz="11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③ ACT </a:t>
            </a: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intelligently (make decisions, give recommendations)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874520" y="2907792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Raw data → Structured knowledge → Intelligent reasoning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74320" y="3218688"/>
            <a:ext cx="2011680" cy="17373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274320" y="3218688"/>
            <a:ext cx="2011680" cy="2743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274320" y="32186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#1: EXPLAINABILITY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65760" y="3538728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Neural networks are black boxes. Regulators in healthcare, finance &amp; law require explainable AI — KRR provides transparent, auditable reasoning chains.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2450592" y="3218688"/>
            <a:ext cx="2011680" cy="17373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2450592" y="3218688"/>
            <a:ext cx="2011680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2450592" y="32186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#2: RELIABILITY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2542032" y="3538728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Aviation, medical devices, autonomous vehicles — systems that must be formally verified. You can PROVE an AI will never recommend a drug a patient is allergic to.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626864" y="3218688"/>
            <a:ext cx="2011680" cy="17373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626864" y="3218688"/>
            <a:ext cx="2011680" cy="27432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626864" y="32186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#3: NEURO-SYMBOLIC 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718304" y="3538728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 cutting edge combines neural networks (perception &amp; learning) with symbolic reasoning (logic &amp; planning). DeepMind &amp; IBM are actively hiring for this.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803136" y="3218688"/>
            <a:ext cx="2011680" cy="17373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803136" y="3218688"/>
            <a:ext cx="2011680" cy="2743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803136" y="32186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#4: FOUNDATION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894576" y="3538728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Prolog, ontologies, semantic web, planning systems, expert systems, knowledge graphs — all direct applications of this course. Without this, you are a user, never a designer.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KRR Powers Real AI Systems You Already Know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74320" y="960120"/>
            <a:ext cx="4206240" cy="73152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274320" y="960120"/>
            <a:ext cx="54864" cy="7315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84048" y="99669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Google Search / Knowledge Graph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84048" y="127101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Declarative KR — billions of facts stored as entity-relationship triples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566160" y="1033272"/>
            <a:ext cx="822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274320" y="1755648"/>
            <a:ext cx="4206240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274320" y="1755648"/>
            <a:ext cx="54864" cy="7315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84048" y="179222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Siri / Alexa / Google Assistant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84048" y="206654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FOL-style intent parsing + rule-based inference to trigger actions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566160" y="1828800"/>
            <a:ext cx="822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Consumer 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74320" y="2551176"/>
            <a:ext cx="4206240" cy="73152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274320" y="2551176"/>
            <a:ext cx="54864" cy="7315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84048" y="258775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Medical Diagnosis AI (IBM Watson)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84048" y="286207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Expert systems — IF-THEN rules derived from clinical knowledge bases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566160" y="2624328"/>
            <a:ext cx="822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74320" y="3346704"/>
            <a:ext cx="4206240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274320" y="3346704"/>
            <a:ext cx="54864" cy="7315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84048" y="3383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Email Spam Filters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84048" y="365760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Heuristic rules + propositional logic to classify T/F properties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566160" y="3419856"/>
            <a:ext cx="822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Cybersecurity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274320" y="4142232"/>
            <a:ext cx="4206240" cy="73152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274320" y="4142232"/>
            <a:ext cx="54864" cy="7315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384048" y="417880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Chess &amp; Game AI (Stockfish)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84048" y="445312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Heuristic knowledge + forward chaining over symbolic game states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566160" y="4215384"/>
            <a:ext cx="822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Gaming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709160" y="960120"/>
            <a:ext cx="4206240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709160" y="960120"/>
            <a:ext cx="54864" cy="7315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818888" y="99669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Self-Driving Cars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818888" y="127101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Sensor percepts → symbolic world model → FOL reasoning → safe action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001000" y="1033272"/>
            <a:ext cx="822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Automotive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709160" y="1755648"/>
            <a:ext cx="4206240" cy="73152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709160" y="1755648"/>
            <a:ext cx="54864" cy="7315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818888" y="179222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Prolog &amp; Logic Programming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818888" y="206654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Direct implementation of FOL with backward chaining inference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001000" y="1828800"/>
            <a:ext cx="822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Software / AI Dev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709160" y="2551176"/>
            <a:ext cx="4206240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4709160" y="2551176"/>
            <a:ext cx="54864" cy="7315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818888" y="258775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Legal &amp; Compliance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818888" y="286207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Production rule systems encoding laws as IF-THEN logical statements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001000" y="2624328"/>
            <a:ext cx="822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Finance / Legal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709160" y="3346704"/>
            <a:ext cx="4206240" cy="73152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709160" y="3346704"/>
            <a:ext cx="54864" cy="7315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818888" y="3383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Semantic Web (OWL, RDF)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818888" y="365760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FOL-based ontologies for interoperable AI knowledge across systems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001000" y="3419856"/>
            <a:ext cx="822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Web / Data Science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709160" y="4142232"/>
            <a:ext cx="4206240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709160" y="4142232"/>
            <a:ext cx="54864" cy="7315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818888" y="417880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Fraud Detection Systems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818888" y="445312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Meta-knowledge + heuristic rules for confidence-scored risk assessment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001000" y="4215384"/>
            <a:ext cx="8229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Banking / FinTech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Learning Journey — How Every Topic Connects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20040" y="914400"/>
            <a:ext cx="1572768" cy="320040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320040" y="914400"/>
            <a:ext cx="1572768" cy="64008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20040" y="91440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20040" y="123444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11480" y="1627632"/>
            <a:ext cx="1389888" cy="239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What is knowledge vs data? DIKW Pyramid. Real </a:t>
            </a:r>
            <a:r>
              <a:rPr lang="en-US" sz="900" b="0" i="0" u="none" strike="noStrike" cap="none" dirty="0" err="1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World→KB→Reasoning→Action</a:t>
            </a:r>
            <a:r>
              <a:rPr lang="en-US" sz="900" b="0" i="0" u="none" strike="noStrike" cap="none" dirty="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 loop. The Representation Hypothesis.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828800" y="19202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2029968" y="914400"/>
            <a:ext cx="1572768" cy="320040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2029968" y="914400"/>
            <a:ext cx="1572768" cy="6400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2029968" y="91440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2029968" y="123444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TYPES OF KNOWLEDGE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2121408" y="1627632"/>
            <a:ext cx="1389888" cy="239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Declarative (WHAT), Procedural (HOW), Heuristic (USUALLY WORKS), Meta (ABOUT KNOWLEDGE). Choosing the right type shapes system design.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538728" y="19202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739896" y="914400"/>
            <a:ext cx="1572768" cy="320040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3739896" y="914400"/>
            <a:ext cx="1572768" cy="64008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3739896" y="91440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739896" y="123444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PROPOSITIONAL LOGIC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831336" y="1627632"/>
            <a:ext cx="1389888" cy="239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Formal language for knowledge as logic. Connectives, truth tables, Knowledge Bases, Modus Ponens. Simple but cannot </a:t>
            </a:r>
            <a:r>
              <a:rPr lang="en-US" sz="900" b="0" i="0" u="none" strike="noStrike" cap="none" dirty="0" err="1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generalise</a:t>
            </a:r>
            <a:r>
              <a:rPr lang="en-US" sz="900" b="0" i="0" u="none" strike="noStrike" cap="none" dirty="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248656" y="19202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49824" y="914400"/>
            <a:ext cx="1572768" cy="320040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449824" y="914400"/>
            <a:ext cx="1572768" cy="640080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5449824" y="91440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449824" y="123444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FIRST ORDER LOGIC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541264" y="1627632"/>
            <a:ext cx="1389888" cy="239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Lifts limitations. Variables, predicates, quantifiers (∀, ∃). One rule covers all cases. Language of Prolog, ontologies, semantic AI.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958584" y="19202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159752" y="914400"/>
            <a:ext cx="1572768" cy="320040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7159752" y="914400"/>
            <a:ext cx="1572768" cy="64008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7159752" y="91440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159752" y="123444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WUMPUS WORLD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251192" y="1627632"/>
            <a:ext cx="1389888" cy="239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Real AI agent in unknown environment. Incomplete information. Builds KB step-by-step. Reasons before every move. Synthesis of all Parts.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74320" y="4279392"/>
            <a:ext cx="8595360" cy="64008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365760" y="427939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OUTCOME: You can design, build, query, and reason over a real Knowledge Base. You understand not just HOW but WHY each technique works.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34E4A"/>
          </a:solidFill>
          <a:ln w="12700" cap="flat" cmpd="sng">
            <a:solidFill>
              <a:srgbClr val="134E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0" y="73152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3383280" y="109728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to Knowledge Representation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1.1 What Is Knowledge in AI?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Knowledge is information that has been understood, organised, and can be used to solve problems or make decisions.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Simple answer: Knowledge is information that can be USED. Raw data cannot be acted on directly. Knowledge can.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274320" y="1417320"/>
            <a:ext cx="8595360" cy="224028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274320" y="1417320"/>
            <a:ext cx="8595360" cy="2743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274320" y="141732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Real-Life Analogy — The Hospital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457200" y="1783080"/>
            <a:ext cx="3474720" cy="1737360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457200" y="1783080"/>
            <a:ext cx="3474720" cy="2743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45720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INTERN (has DATA)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548640" y="2103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Sees: 'Temp: 39.2, HR: 110, RR: 22, Patient ID: 207'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To them — just numbers. No meaning. Cannot act.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4023360" y="24231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663440" y="1783080"/>
            <a:ext cx="4114800" cy="1737360"/>
          </a:xfrm>
          <a:prstGeom prst="rect">
            <a:avLst/>
          </a:prstGeom>
          <a:solidFill>
            <a:srgbClr val="ECFDF5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4663440" y="1783080"/>
            <a:ext cx="4114800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4663440" y="17830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EXPERIENCED DOCTOR (has KNOWLEDGE)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754880" y="210312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Reads same values and thinks: 'High fever, fast heart rate, rapid breathing — this could be SEPSIS. Order blood cultures and start IV fluids immediately!'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This is the gap KRR bridges in AI.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274320" y="3730752"/>
            <a:ext cx="8595360" cy="38404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365760" y="373075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KRR bridges the gap: Raw data → Structured knowledge → Intelligent reasoning → Intelligent action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365760" y="4187952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Critical Thinking Questions: When is symbolic KRR the right approach? What happens when the KB is incomplete? How does expressive power trade off against computational cost?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1.2 The DIKW Pyramid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 foundational model showing how raw facts evolve into wisdom — layer by layer.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274320" y="987552"/>
            <a:ext cx="8595360" cy="868680"/>
          </a:xfrm>
          <a:prstGeom prst="rect">
            <a:avLst/>
          </a:prstGeom>
          <a:solidFill>
            <a:srgbClr val="F8FAFC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274320" y="987552"/>
            <a:ext cx="1554480" cy="868680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274320" y="987552"/>
            <a:ext cx="15544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 —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1920240" y="104241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What: Raw, unprocessed numbers or symbols with no meaning on their own.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1920240" y="1444752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Example: Temp=39.2, HR=110, RR=22, Patient=207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274320" y="1947672"/>
            <a:ext cx="8595360" cy="868680"/>
          </a:xfrm>
          <a:prstGeom prst="rect">
            <a:avLst/>
          </a:prstGeom>
          <a:solidFill>
            <a:srgbClr val="F0FDFA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274320" y="1947672"/>
            <a:ext cx="1554480" cy="86868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274320" y="1947672"/>
            <a:ext cx="15544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 — INFORMATION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1920240" y="200253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What: Data given context and meaning.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1920240" y="2404872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Example: Patient 207 has a high fever, fast heart rate, and rapid breathing.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274320" y="2907792"/>
            <a:ext cx="8595360" cy="868680"/>
          </a:xfrm>
          <a:prstGeom prst="rect">
            <a:avLst/>
          </a:prstGeom>
          <a:solidFill>
            <a:srgbClr val="ECFDF5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274320" y="2907792"/>
            <a:ext cx="1554480" cy="8686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274320" y="2907792"/>
            <a:ext cx="15544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 — KNOWLEDGE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1920240" y="296265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What: Information combined with rules and patterns.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1920240" y="3364992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Example: Fever+HR&gt;100+RR&gt;20 → possible sepsis. Start blood cultures NOW.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274320" y="3867912"/>
            <a:ext cx="8595360" cy="868680"/>
          </a:xfrm>
          <a:prstGeom prst="rect">
            <a:avLst/>
          </a:prstGeom>
          <a:solidFill>
            <a:srgbClr val="FFFBEB"/>
          </a:solidFill>
          <a:ln w="1905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274320" y="3867912"/>
            <a:ext cx="1554480" cy="86868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274320" y="3867912"/>
            <a:ext cx="15544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 — WISDOM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1920240" y="392277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What: Applying knowledge with judgment and experience.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1920240" y="4325112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Example: Start antibiotics before cultures return — every hour delay raises mortality 7%.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1 — DIKW Classification Game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Work in pairs — Smart Traffic System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Classify each statement as:  Data  /  Information  /  Knowledge  /  Wisdom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274320" y="12618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274320" y="1261872"/>
            <a:ext cx="54864" cy="8229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384048" y="1261872"/>
            <a:ext cx="320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731520" y="1353312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Vehicle count at Signal A: 47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274320" y="21762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274320" y="2176272"/>
            <a:ext cx="54864" cy="8229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384048" y="2176272"/>
            <a:ext cx="320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731520" y="2267712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Signal A is congested right now.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274320" y="30906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274320" y="3090672"/>
            <a:ext cx="54864" cy="8229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384048" y="3090672"/>
            <a:ext cx="320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731520" y="3182112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a signal has more than 40 vehicles, extend green light by 30 seconds.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274320" y="40050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274320" y="4005072"/>
            <a:ext cx="54864" cy="8229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384048" y="4005072"/>
            <a:ext cx="320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731520" y="4096512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Route via Main Boulevard will save 12 minutes compared to Canal Road.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4709160" y="12618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4709160" y="1261872"/>
            <a:ext cx="54864" cy="8229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4818888" y="1261872"/>
            <a:ext cx="320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5166360" y="1353312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GPS coordinates: 31.5204, 74.3587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4709160" y="21762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4709160" y="2176272"/>
            <a:ext cx="54864" cy="8229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4818888" y="2176272"/>
            <a:ext cx="320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5166360" y="2267712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Speed camera recorded 94 km/h in a 60 km/h zone.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4709160" y="30906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4709160" y="3090672"/>
            <a:ext cx="54864" cy="8229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4818888" y="3090672"/>
            <a:ext cx="320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7.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5166360" y="3182112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Extending green on Ferozpur Road before Friday prayer reduces gridlock by 35%.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4709160" y="40050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4709160" y="4005072"/>
            <a:ext cx="54864" cy="8229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4818888" y="4005072"/>
            <a:ext cx="320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8.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5166360" y="4096512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Car with plate LHR-441 is travelling at 94 km/h.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1 — Solution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DIKW Classification — Smart Traffic System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Answers: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274320" y="12618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365760" y="130759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1.  Vehicle count: 47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3364992" y="1426464"/>
            <a:ext cx="1005840" cy="493776"/>
          </a:xfrm>
          <a:prstGeom prst="rect">
            <a:avLst/>
          </a:prstGeom>
          <a:solidFill>
            <a:srgbClr val="6B7280"/>
          </a:solidFill>
          <a:ln w="1270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3364992" y="1426464"/>
            <a:ext cx="1005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274320" y="21762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365760" y="222199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2.  Signal A is congested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3364992" y="2340864"/>
            <a:ext cx="1005840" cy="49377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3364992" y="2340864"/>
            <a:ext cx="1005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274320" y="30906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365760" y="313639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3.  IF vehicles &gt; 40 THEN extend green 30 sec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3364992" y="3255264"/>
            <a:ext cx="1005840" cy="493776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3364992" y="3255264"/>
            <a:ext cx="1005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274320" y="40050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365760" y="405079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4.  Route via Main Blvd saves 12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3364992" y="4169664"/>
            <a:ext cx="1005840" cy="49377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3364992" y="4169664"/>
            <a:ext cx="1005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4709160" y="12618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4800600" y="130759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5.  GPS: 31.5204, 74.3587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7799832" y="1426464"/>
            <a:ext cx="1005840" cy="493776"/>
          </a:xfrm>
          <a:prstGeom prst="rect">
            <a:avLst/>
          </a:prstGeom>
          <a:solidFill>
            <a:srgbClr val="6B7280"/>
          </a:solidFill>
          <a:ln w="1270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7799832" y="1426464"/>
            <a:ext cx="1005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4709160" y="21762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4800600" y="222199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6.  Car going 94 km/h in 60 zone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7799832" y="2340864"/>
            <a:ext cx="1005840" cy="49377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7799832" y="2340864"/>
            <a:ext cx="1005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4709160" y="30906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4800600" y="313639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7.  Extending green before Friday prayer → 35% less gridlock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7799832" y="3255264"/>
            <a:ext cx="1005840" cy="49377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7799832" y="3255264"/>
            <a:ext cx="1005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WISDOM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4709160" y="4005072"/>
            <a:ext cx="4206240" cy="8229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4800600" y="405079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8.  LHR-441 is speeding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7799832" y="4169664"/>
            <a:ext cx="1005840" cy="49377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7799832" y="4169664"/>
            <a:ext cx="1005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6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1.3 Real World → Knowledge → Reasoning → Action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The fundamental loop every AI reasoning system follows.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457200" y="960120"/>
            <a:ext cx="1828800" cy="777240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457200" y="96012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WORLD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2240280" y="10972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2560320" y="960120"/>
            <a:ext cx="1828800" cy="77724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2560320" y="96012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4343400" y="10972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4663440" y="960120"/>
            <a:ext cx="1828800" cy="77724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4663440" y="96012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REASONING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6446520" y="10972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6766560" y="960120"/>
            <a:ext cx="1828800" cy="77724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6766560" y="96012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274320" y="1901952"/>
            <a:ext cx="4160520" cy="29992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6"/>
          <p:cNvSpPr/>
          <p:nvPr/>
        </p:nvSpPr>
        <p:spPr>
          <a:xfrm>
            <a:off x="274320" y="1901952"/>
            <a:ext cx="4160520" cy="2743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6"/>
          <p:cNvSpPr/>
          <p:nvPr/>
        </p:nvSpPr>
        <p:spPr>
          <a:xfrm>
            <a:off x="274320" y="1901952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1: Medical Diagnosis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411480" y="2221992"/>
            <a:ext cx="3886200" cy="2633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Real World: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Patient: temperature 39.8, cough, fatigue for 3 days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KB Rule 1: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fever&gt;38 AND cough AND fatigue THEN likely_flu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KB Rule 2: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likely_flu THEN recommend_antiviral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Reasoning: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fever=39.8&gt;38 ✓, cough=TRUE ✓, fatigue=TRUE ✓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Apply Rule 1 ⇒ likely_flu=TRUE [Modus Ponens]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Apply Rule 2 ⇒ recommend_antiviral=TRUE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Action: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'Likely diagnosis: Influenza. Prescribe Tamiflu + rest.'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4709160" y="1901952"/>
            <a:ext cx="4160520" cy="2999232"/>
          </a:xfrm>
          <a:prstGeom prst="rect">
            <a:avLst/>
          </a:prstGeom>
          <a:solidFill>
            <a:srgbClr val="FFF8F8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6"/>
          <p:cNvSpPr/>
          <p:nvPr/>
        </p:nvSpPr>
        <p:spPr>
          <a:xfrm>
            <a:off x="4709160" y="1901952"/>
            <a:ext cx="4160520" cy="274320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4709160" y="1901952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2: Spam Filter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4846320" y="2221992"/>
            <a:ext cx="3886200" cy="2633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Real World: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Email: subject='YOU WON $1,000,000!!!', sender=unknown@xyz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KB Rule 1: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subject_has_large_sum AND sender_unknown THEN spam=TRUE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KB Rule 2: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ALL_CAPS_word_count &gt; 3 THEN spam_score += 2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Reasoning: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subject_has_large_sum=TRUE, sender_unknown=TRUE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⇒ spam=TRUE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Action: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Move email to Spam folder automatically.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7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1.4 The Representation Hypothesis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7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One of the most important theoretical ideas in the history of AI — Newell &amp; Simon, 1976.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274320" y="914400"/>
            <a:ext cx="8595360" cy="155448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Symbol System Hypothesis (Newell &amp; Simon, 1976)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"A physical symbol system has the necessary and sufficient means for general intelligent action. Any system capable of general intelligent behaviour is a physical symbol system."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Translation: Intelligence = symbols + rules. You do not need to simulate every atom of reality. You just need to correctly represent the relevant parts as symbols and define rules that operate on them.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320040" y="2578608"/>
            <a:ext cx="2651760" cy="235915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320040" y="2578608"/>
            <a:ext cx="2651760" cy="29260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7"/>
          <p:cNvSpPr/>
          <p:nvPr/>
        </p:nvSpPr>
        <p:spPr>
          <a:xfrm>
            <a:off x="320040" y="257860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SYMBOLS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411480" y="2907792"/>
            <a:ext cx="2468880" cy="199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Internal representations of objects, relations, states, rules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Examples: Ali, CS701, enrolled(x,y), Human(x)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2926080" y="324612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3172968" y="2578608"/>
            <a:ext cx="2651760" cy="235915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7"/>
          <p:cNvSpPr/>
          <p:nvPr/>
        </p:nvSpPr>
        <p:spPr>
          <a:xfrm>
            <a:off x="3172968" y="2578608"/>
            <a:ext cx="2651760" cy="29260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7"/>
          <p:cNvSpPr/>
          <p:nvPr/>
        </p:nvSpPr>
        <p:spPr>
          <a:xfrm>
            <a:off x="3172968" y="257860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SYMBOL MANIPULATION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3264408" y="2907792"/>
            <a:ext cx="2468880" cy="199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Operations on symbols according to formal rules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Examples: Modus Ponens, Unification, Inference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5779008" y="324612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6025896" y="2578608"/>
            <a:ext cx="2651760" cy="235915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7"/>
          <p:cNvSpPr/>
          <p:nvPr/>
        </p:nvSpPr>
        <p:spPr>
          <a:xfrm>
            <a:off x="6025896" y="2578608"/>
            <a:ext cx="2651760" cy="29260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7"/>
          <p:cNvSpPr/>
          <p:nvPr/>
        </p:nvSpPr>
        <p:spPr>
          <a:xfrm>
            <a:off x="6025896" y="257860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6117336" y="2907792"/>
            <a:ext cx="2468880" cy="199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Emerges from well-chosen symbols + correct rules — no 'magic' needed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This is the foundation of ALL rule-based AI systems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8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Questions — Part 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8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Think carefully and write your answers before turning to the next slide.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274320" y="960120"/>
            <a:ext cx="8595360" cy="950976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274320" y="960120"/>
            <a:ext cx="54864" cy="95097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411480" y="1051560"/>
            <a:ext cx="832104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Q1. What is the difference between data, information, and knowledge? Use a real-world traffic example to illustrate each level.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274320" y="1965960"/>
            <a:ext cx="8595360" cy="9509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274320" y="1965960"/>
            <a:ext cx="54864" cy="95097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411480" y="2057400"/>
            <a:ext cx="832104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Q2. Classify each of the following as Data, Information, Knowledge, or Wisdom: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Marks = 85   (b) Student failed 3 subjects   (c) IF failed &gt; 2 THEN put on probation   (d) Mentoring raises pass rate by 78%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8"/>
          <p:cNvSpPr/>
          <p:nvPr/>
        </p:nvSpPr>
        <p:spPr>
          <a:xfrm>
            <a:off x="274320" y="2971800"/>
            <a:ext cx="8595360" cy="950976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274320" y="2971800"/>
            <a:ext cx="54864" cy="95097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411480" y="3063240"/>
            <a:ext cx="832104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Q3. Explain the Representation Hypothesis (Newell &amp; Simon, 1976) in your own words. Why does it matter for building AI systems?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274320" y="3977640"/>
            <a:ext cx="8595360" cy="9509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274320" y="3977640"/>
            <a:ext cx="54864" cy="95097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8"/>
          <p:cNvSpPr/>
          <p:nvPr/>
        </p:nvSpPr>
        <p:spPr>
          <a:xfrm>
            <a:off x="411480" y="4069080"/>
            <a:ext cx="832104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Q4. Describe the full Real World → Knowledge → Reasoning → Action loop for a university admission system. Include sample facts, rules, and an inference step.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9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Questions — Part 1: Answers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9"/>
          <p:cNvSpPr/>
          <p:nvPr/>
        </p:nvSpPr>
        <p:spPr>
          <a:xfrm>
            <a:off x="274320" y="960120"/>
            <a:ext cx="8595360" cy="950976"/>
          </a:xfrm>
          <a:prstGeom prst="rect">
            <a:avLst/>
          </a:prstGeom>
          <a:solidFill>
            <a:srgbClr val="F0FFF4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9"/>
          <p:cNvSpPr/>
          <p:nvPr/>
        </p:nvSpPr>
        <p:spPr>
          <a:xfrm>
            <a:off x="274320" y="960120"/>
            <a:ext cx="54864" cy="950976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9"/>
          <p:cNvSpPr/>
          <p:nvPr/>
        </p:nvSpPr>
        <p:spPr>
          <a:xfrm>
            <a:off x="411480" y="99669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Q1. Data vs Information vs Knowledge (traffic example)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9"/>
          <p:cNvSpPr/>
          <p:nvPr/>
        </p:nvSpPr>
        <p:spPr>
          <a:xfrm>
            <a:off x="411480" y="1271016"/>
            <a:ext cx="83210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Data: raw numbers (speed=94 km/h). Information: car LHR-441 is speeding in a 60 zone. Knowledge: IF speed&gt;60 THEN speeding=TRUE; issue fine. The progression adds context, meaning, and actionable rules.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9"/>
          <p:cNvSpPr/>
          <p:nvPr/>
        </p:nvSpPr>
        <p:spPr>
          <a:xfrm>
            <a:off x="274320" y="1965960"/>
            <a:ext cx="8595360" cy="9509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9"/>
          <p:cNvSpPr/>
          <p:nvPr/>
        </p:nvSpPr>
        <p:spPr>
          <a:xfrm>
            <a:off x="274320" y="1965960"/>
            <a:ext cx="54864" cy="950976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9"/>
          <p:cNvSpPr/>
          <p:nvPr/>
        </p:nvSpPr>
        <p:spPr>
          <a:xfrm>
            <a:off x="411480" y="200253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Q2. Classify: (a) Marks=85 (b) Student failed 3 subjects (c) IF failed&gt;2 THEN probation (d) Mentoring raises pass rate 78%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411480" y="2276856"/>
            <a:ext cx="83210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DATA — raw number. (b) INFORMATION — data + context applied. (c) KNOWLEDGE — rule derived from patterns. (d) WISDOM — experience + judgment + context.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274320" y="2971800"/>
            <a:ext cx="8595360" cy="950976"/>
          </a:xfrm>
          <a:prstGeom prst="rect">
            <a:avLst/>
          </a:prstGeom>
          <a:solidFill>
            <a:srgbClr val="F0FFF4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9"/>
          <p:cNvSpPr/>
          <p:nvPr/>
        </p:nvSpPr>
        <p:spPr>
          <a:xfrm>
            <a:off x="274320" y="2971800"/>
            <a:ext cx="54864" cy="950976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9"/>
          <p:cNvSpPr/>
          <p:nvPr/>
        </p:nvSpPr>
        <p:spPr>
          <a:xfrm>
            <a:off x="411480" y="300837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Q3. Representation Hypothesis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411480" y="3282696"/>
            <a:ext cx="83210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 Hypothesis says intelligent behaviour can emerge from manipulating symbolic structures using formal rules — no physical simulation needed. It justifies building AI using symbols (facts) + rules (logic). Without it, we would need to simulate every atom of reality inside a computer.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274320" y="3977640"/>
            <a:ext cx="8595360" cy="9509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9"/>
          <p:cNvSpPr/>
          <p:nvPr/>
        </p:nvSpPr>
        <p:spPr>
          <a:xfrm>
            <a:off x="274320" y="3977640"/>
            <a:ext cx="54864" cy="950976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9"/>
          <p:cNvSpPr/>
          <p:nvPr/>
        </p:nvSpPr>
        <p:spPr>
          <a:xfrm>
            <a:off x="411480" y="401421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Q4. Real World → Action loop for university admission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411480" y="4288536"/>
            <a:ext cx="83210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Real World: Student applies: CGPA=3.7, Test=85, Activities=5. Knowledge: IF CGPA≥3.5 AND Test≥80 AND Activities≥3 THEN admit=TRUE. Reasoning: 3.7≥3.5 ✓, 85≥80 ✓, 5≥3 ✓ ⇒ admit=TRUE [Modus Ponens]. Action: System sends admission offer letter automatically.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34E4A"/>
          </a:solidFill>
          <a:ln w="12700" cap="flat" cmpd="sng">
            <a:solidFill>
              <a:srgbClr val="134E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0"/>
          <p:cNvSpPr/>
          <p:nvPr/>
        </p:nvSpPr>
        <p:spPr>
          <a:xfrm>
            <a:off x="0" y="73152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3383280" y="109728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Types of Knowledge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3383280" y="22860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Declarative (WHAT) • Procedural (HOW) • Heuristic (USUALLY WORKS) • Meta (ABOUT KNOWLEDGE)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Choosing the right type is critical for effective system design. 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Four Types of Knowledge — Overview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1"/>
          <p:cNvSpPr/>
          <p:nvPr/>
        </p:nvSpPr>
        <p:spPr>
          <a:xfrm>
            <a:off x="256032" y="914400"/>
            <a:ext cx="2011680" cy="4041648"/>
          </a:xfrm>
          <a:prstGeom prst="rect">
            <a:avLst/>
          </a:prstGeom>
          <a:solidFill>
            <a:srgbClr val="F0FDFA"/>
          </a:solidFill>
          <a:ln w="1905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1"/>
          <p:cNvSpPr/>
          <p:nvPr/>
        </p:nvSpPr>
        <p:spPr>
          <a:xfrm>
            <a:off x="256032" y="914400"/>
            <a:ext cx="2011680" cy="512064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1"/>
          <p:cNvSpPr/>
          <p:nvPr/>
        </p:nvSpPr>
        <p:spPr>
          <a:xfrm>
            <a:off x="256032" y="91440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DECLARATIVE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256032" y="12070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Answers: WHAT is true?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1"/>
          <p:cNvSpPr/>
          <p:nvPr/>
        </p:nvSpPr>
        <p:spPr>
          <a:xfrm>
            <a:off x="347472" y="1481328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Facts about the world — stored as assertions that are simply true or false. The foundation of any knowledge base.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347472" y="23957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1"/>
          <p:cNvSpPr/>
          <p:nvPr/>
        </p:nvSpPr>
        <p:spPr>
          <a:xfrm>
            <a:off x="347472" y="2606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Paris is the capital of France.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1"/>
          <p:cNvSpPr/>
          <p:nvPr/>
        </p:nvSpPr>
        <p:spPr>
          <a:xfrm>
            <a:off x="347472" y="299008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Water boils at 100°C at sea level.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1"/>
          <p:cNvSpPr/>
          <p:nvPr/>
        </p:nvSpPr>
        <p:spPr>
          <a:xfrm>
            <a:off x="347472" y="337413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enrolled(Ali, CS701)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1"/>
          <p:cNvSpPr/>
          <p:nvPr/>
        </p:nvSpPr>
        <p:spPr>
          <a:xfrm>
            <a:off x="347472" y="375818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credit_hours(CS701, 3)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1"/>
          <p:cNvSpPr/>
          <p:nvPr/>
        </p:nvSpPr>
        <p:spPr>
          <a:xfrm>
            <a:off x="2432304" y="914400"/>
            <a:ext cx="2011680" cy="4041648"/>
          </a:xfrm>
          <a:prstGeom prst="rect">
            <a:avLst/>
          </a:prstGeom>
          <a:solidFill>
            <a:srgbClr val="F0FDF4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1"/>
          <p:cNvSpPr/>
          <p:nvPr/>
        </p:nvSpPr>
        <p:spPr>
          <a:xfrm>
            <a:off x="2432304" y="914400"/>
            <a:ext cx="2011680" cy="512064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1"/>
          <p:cNvSpPr/>
          <p:nvPr/>
        </p:nvSpPr>
        <p:spPr>
          <a:xfrm>
            <a:off x="2432304" y="91440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PROCEDURAL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1"/>
          <p:cNvSpPr/>
          <p:nvPr/>
        </p:nvSpPr>
        <p:spPr>
          <a:xfrm>
            <a:off x="2432304" y="12070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Answers: HOW to do it?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1"/>
          <p:cNvSpPr/>
          <p:nvPr/>
        </p:nvSpPr>
        <p:spPr>
          <a:xfrm>
            <a:off x="2523744" y="1481328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Step-by-step processes to accomplish tasks. Describes sequences of operations.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1"/>
          <p:cNvSpPr/>
          <p:nvPr/>
        </p:nvSpPr>
        <p:spPr>
          <a:xfrm>
            <a:off x="2523744" y="23957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2523744" y="2606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Step 1: Subtract 6 from both sides: 3x=15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1"/>
          <p:cNvSpPr/>
          <p:nvPr/>
        </p:nvSpPr>
        <p:spPr>
          <a:xfrm>
            <a:off x="2523744" y="299008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Step 2: Divide by 3: x=5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1"/>
          <p:cNvSpPr/>
          <p:nvPr/>
        </p:nvSpPr>
        <p:spPr>
          <a:xfrm>
            <a:off x="2523744" y="337413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ATM: Insert → PIN → Amount → Dispense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2523744" y="375818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Triage: Check breathing → If not, start CPR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1"/>
          <p:cNvSpPr/>
          <p:nvPr/>
        </p:nvSpPr>
        <p:spPr>
          <a:xfrm>
            <a:off x="4608576" y="914400"/>
            <a:ext cx="2011680" cy="4041648"/>
          </a:xfrm>
          <a:prstGeom prst="rect">
            <a:avLst/>
          </a:prstGeom>
          <a:solidFill>
            <a:srgbClr val="F0FDFA"/>
          </a:solidFill>
          <a:ln w="1905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1"/>
          <p:cNvSpPr/>
          <p:nvPr/>
        </p:nvSpPr>
        <p:spPr>
          <a:xfrm>
            <a:off x="4608576" y="914400"/>
            <a:ext cx="2011680" cy="51206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1"/>
          <p:cNvSpPr/>
          <p:nvPr/>
        </p:nvSpPr>
        <p:spPr>
          <a:xfrm>
            <a:off x="4608576" y="91440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HEURISTIC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4608576" y="12070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Answers: What USUALLY works?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1"/>
          <p:cNvSpPr/>
          <p:nvPr/>
        </p:nvSpPr>
        <p:spPr>
          <a:xfrm>
            <a:off x="4700016" y="1481328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Experience-based practical guidance. Can be wrong — that is what makes it heuristic. Rule of thumb, not guarantee.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1"/>
          <p:cNvSpPr/>
          <p:nvPr/>
        </p:nvSpPr>
        <p:spPr>
          <a:xfrm>
            <a:off x="4700016" y="23957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1"/>
          <p:cNvSpPr/>
          <p:nvPr/>
        </p:nvSpPr>
        <p:spPr>
          <a:xfrm>
            <a:off x="4700016" y="2606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Patient 50+, smoker, chest pain → check heart first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1"/>
          <p:cNvSpPr/>
          <p:nvPr/>
        </p:nvSpPr>
        <p:spPr>
          <a:xfrm>
            <a:off x="4700016" y="299008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Spam: 3+ exclamation marks + dollar amount → likely spam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1"/>
          <p:cNvSpPr/>
          <p:nvPr/>
        </p:nvSpPr>
        <p:spPr>
          <a:xfrm>
            <a:off x="4700016" y="337413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Chess: control centre in opening phase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1"/>
          <p:cNvSpPr/>
          <p:nvPr/>
        </p:nvSpPr>
        <p:spPr>
          <a:xfrm>
            <a:off x="4700016" y="375818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RSI&gt;70 + volume spike → possibly overbought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1"/>
          <p:cNvSpPr/>
          <p:nvPr/>
        </p:nvSpPr>
        <p:spPr>
          <a:xfrm>
            <a:off x="6784848" y="914400"/>
            <a:ext cx="2011680" cy="4041648"/>
          </a:xfrm>
          <a:prstGeom prst="rect">
            <a:avLst/>
          </a:prstGeom>
          <a:solidFill>
            <a:srgbClr val="FFF5F5"/>
          </a:solidFill>
          <a:ln w="1905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1"/>
          <p:cNvSpPr/>
          <p:nvPr/>
        </p:nvSpPr>
        <p:spPr>
          <a:xfrm>
            <a:off x="6784848" y="914400"/>
            <a:ext cx="2011680" cy="512064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1"/>
          <p:cNvSpPr/>
          <p:nvPr/>
        </p:nvSpPr>
        <p:spPr>
          <a:xfrm>
            <a:off x="6784848" y="91440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META-KNOWLEDGE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1"/>
          <p:cNvSpPr/>
          <p:nvPr/>
        </p:nvSpPr>
        <p:spPr>
          <a:xfrm>
            <a:off x="6784848" y="12070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Answers: What do I KNOW about my knowledge?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1"/>
          <p:cNvSpPr/>
          <p:nvPr/>
        </p:nvSpPr>
        <p:spPr>
          <a:xfrm>
            <a:off x="6876288" y="1481328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Knowledge about the scope, reliability, or source of other knowledge. Enables self-aware AI systems.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1"/>
          <p:cNvSpPr/>
          <p:nvPr/>
        </p:nvSpPr>
        <p:spPr>
          <a:xfrm>
            <a:off x="6876288" y="23957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1"/>
          <p:cNvSpPr/>
          <p:nvPr/>
        </p:nvSpPr>
        <p:spPr>
          <a:xfrm>
            <a:off x="6876288" y="2606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'My flu diagnosis rule is 87% accurate on adults.'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1"/>
          <p:cNvSpPr/>
          <p:nvPr/>
        </p:nvSpPr>
        <p:spPr>
          <a:xfrm>
            <a:off x="6876288" y="299008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'I do not have enough data for this rare disease.'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1"/>
          <p:cNvSpPr/>
          <p:nvPr/>
        </p:nvSpPr>
        <p:spPr>
          <a:xfrm>
            <a:off x="6876288" y="337413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'Lab result from 3 days ago may be outdated.'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1"/>
          <p:cNvSpPr/>
          <p:nvPr/>
        </p:nvSpPr>
        <p:spPr>
          <a:xfrm>
            <a:off x="6876288" y="375818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Confidence scoring: 'Diagnosis: Flu (87%)'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3 — Knowledge Sorting: Ride-Sharing App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2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 dirty="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Classify each item as: Declarative / Procedural / Heuristic / Meta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2"/>
          <p:cNvSpPr/>
          <p:nvPr/>
        </p:nvSpPr>
        <p:spPr>
          <a:xfrm>
            <a:off x="274320" y="987552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2"/>
          <p:cNvSpPr/>
          <p:nvPr/>
        </p:nvSpPr>
        <p:spPr>
          <a:xfrm>
            <a:off x="274320" y="987552"/>
            <a:ext cx="54864" cy="7315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22"/>
          <p:cNvSpPr/>
          <p:nvPr/>
        </p:nvSpPr>
        <p:spPr>
          <a:xfrm>
            <a:off x="384048" y="987552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2"/>
          <p:cNvSpPr/>
          <p:nvPr/>
        </p:nvSpPr>
        <p:spPr>
          <a:xfrm>
            <a:off x="768096" y="1060704"/>
            <a:ext cx="36576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Distance from Model Town to Airport is 22 km.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274320" y="1783080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"/>
          <p:cNvSpPr/>
          <p:nvPr/>
        </p:nvSpPr>
        <p:spPr>
          <a:xfrm>
            <a:off x="274320" y="1783080"/>
            <a:ext cx="54864" cy="7315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2"/>
          <p:cNvSpPr/>
          <p:nvPr/>
        </p:nvSpPr>
        <p:spPr>
          <a:xfrm>
            <a:off x="384048" y="1783080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2"/>
          <p:cNvSpPr/>
          <p:nvPr/>
        </p:nvSpPr>
        <p:spPr>
          <a:xfrm>
            <a:off x="768096" y="1856232"/>
            <a:ext cx="36576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To calculate fare: base_fare + (distance × rate_per_km) + surge_multiplier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274320" y="2578608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22"/>
          <p:cNvSpPr/>
          <p:nvPr/>
        </p:nvSpPr>
        <p:spPr>
          <a:xfrm>
            <a:off x="274320" y="2578608"/>
            <a:ext cx="54864" cy="7315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22"/>
          <p:cNvSpPr/>
          <p:nvPr/>
        </p:nvSpPr>
        <p:spPr>
          <a:xfrm>
            <a:off x="384048" y="2578608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768096" y="2651760"/>
            <a:ext cx="36576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it is raining, surge pricing usually increases by 1.5×.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274320" y="3374136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22"/>
          <p:cNvSpPr/>
          <p:nvPr/>
        </p:nvSpPr>
        <p:spPr>
          <a:xfrm>
            <a:off x="274320" y="3374136"/>
            <a:ext cx="54864" cy="7315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2"/>
          <p:cNvSpPr/>
          <p:nvPr/>
        </p:nvSpPr>
        <p:spPr>
          <a:xfrm>
            <a:off x="384048" y="3374136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2"/>
          <p:cNvSpPr/>
          <p:nvPr/>
        </p:nvSpPr>
        <p:spPr>
          <a:xfrm>
            <a:off x="768096" y="3447288"/>
            <a:ext cx="36576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Distance estimation model has error margin of ±0.8 km.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274320" y="4169664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2"/>
          <p:cNvSpPr/>
          <p:nvPr/>
        </p:nvSpPr>
        <p:spPr>
          <a:xfrm>
            <a:off x="274320" y="4169664"/>
            <a:ext cx="54864" cy="7315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2"/>
          <p:cNvSpPr/>
          <p:nvPr/>
        </p:nvSpPr>
        <p:spPr>
          <a:xfrm>
            <a:off x="384048" y="4169664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2"/>
          <p:cNvSpPr/>
          <p:nvPr/>
        </p:nvSpPr>
        <p:spPr>
          <a:xfrm>
            <a:off x="768096" y="4242816"/>
            <a:ext cx="36576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Driver Ali has a 4.8 star rating.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4709160" y="987552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2"/>
          <p:cNvSpPr/>
          <p:nvPr/>
        </p:nvSpPr>
        <p:spPr>
          <a:xfrm>
            <a:off x="4709160" y="987552"/>
            <a:ext cx="54864" cy="7315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2"/>
          <p:cNvSpPr/>
          <p:nvPr/>
        </p:nvSpPr>
        <p:spPr>
          <a:xfrm>
            <a:off x="4818888" y="987552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2"/>
          <p:cNvSpPr/>
          <p:nvPr/>
        </p:nvSpPr>
        <p:spPr>
          <a:xfrm>
            <a:off x="5202936" y="1060704"/>
            <a:ext cx="36576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a driver cancels more than 3 trips in an hour, flag their account.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2"/>
          <p:cNvSpPr/>
          <p:nvPr/>
        </p:nvSpPr>
        <p:spPr>
          <a:xfrm>
            <a:off x="4709160" y="1783080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2"/>
          <p:cNvSpPr/>
          <p:nvPr/>
        </p:nvSpPr>
        <p:spPr>
          <a:xfrm>
            <a:off x="4709160" y="1783080"/>
            <a:ext cx="54864" cy="7315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2"/>
          <p:cNvSpPr/>
          <p:nvPr/>
        </p:nvSpPr>
        <p:spPr>
          <a:xfrm>
            <a:off x="4818888" y="1783080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7.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2"/>
          <p:cNvSpPr/>
          <p:nvPr/>
        </p:nvSpPr>
        <p:spPr>
          <a:xfrm>
            <a:off x="5202936" y="1856232"/>
            <a:ext cx="36576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Friday evenings see 3× more ride requests near food streets.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2"/>
          <p:cNvSpPr/>
          <p:nvPr/>
        </p:nvSpPr>
        <p:spPr>
          <a:xfrm>
            <a:off x="4709160" y="2578608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2"/>
          <p:cNvSpPr/>
          <p:nvPr/>
        </p:nvSpPr>
        <p:spPr>
          <a:xfrm>
            <a:off x="4709160" y="2578608"/>
            <a:ext cx="54864" cy="7315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22"/>
          <p:cNvSpPr/>
          <p:nvPr/>
        </p:nvSpPr>
        <p:spPr>
          <a:xfrm>
            <a:off x="4818888" y="2578608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8.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2"/>
          <p:cNvSpPr/>
          <p:nvPr/>
        </p:nvSpPr>
        <p:spPr>
          <a:xfrm>
            <a:off x="5202936" y="2651760"/>
            <a:ext cx="36576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Our surge-pricing prediction is 74% accurate for weekends.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2"/>
          <p:cNvSpPr/>
          <p:nvPr/>
        </p:nvSpPr>
        <p:spPr>
          <a:xfrm>
            <a:off x="4709160" y="3374136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22"/>
          <p:cNvSpPr/>
          <p:nvPr/>
        </p:nvSpPr>
        <p:spPr>
          <a:xfrm>
            <a:off x="4709160" y="3374136"/>
            <a:ext cx="54864" cy="7315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2"/>
          <p:cNvSpPr/>
          <p:nvPr/>
        </p:nvSpPr>
        <p:spPr>
          <a:xfrm>
            <a:off x="4818888" y="3374136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9.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2"/>
          <p:cNvSpPr/>
          <p:nvPr/>
        </p:nvSpPr>
        <p:spPr>
          <a:xfrm>
            <a:off x="5202936" y="3447288"/>
            <a:ext cx="36576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To assign a driver: find nearest available within 5 km radius.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2"/>
          <p:cNvSpPr/>
          <p:nvPr/>
        </p:nvSpPr>
        <p:spPr>
          <a:xfrm>
            <a:off x="4709160" y="4169664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2"/>
          <p:cNvSpPr/>
          <p:nvPr/>
        </p:nvSpPr>
        <p:spPr>
          <a:xfrm>
            <a:off x="4709160" y="4169664"/>
            <a:ext cx="54864" cy="7315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2"/>
          <p:cNvSpPr/>
          <p:nvPr/>
        </p:nvSpPr>
        <p:spPr>
          <a:xfrm>
            <a:off x="4818888" y="4169664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10.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2"/>
          <p:cNvSpPr/>
          <p:nvPr/>
        </p:nvSpPr>
        <p:spPr>
          <a:xfrm>
            <a:off x="5202936" y="4242816"/>
            <a:ext cx="36576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GPS module data is 15 minutes old — refresh before routing.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3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3 — Solution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3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Ride-Sharing App — Knowledge Type Classification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3"/>
          <p:cNvSpPr/>
          <p:nvPr/>
        </p:nvSpPr>
        <p:spPr>
          <a:xfrm>
            <a:off x="274320" y="987552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23"/>
          <p:cNvSpPr/>
          <p:nvPr/>
        </p:nvSpPr>
        <p:spPr>
          <a:xfrm>
            <a:off x="365760" y="1042416"/>
            <a:ext cx="29718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1.  Distance = 22 km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3"/>
          <p:cNvSpPr/>
          <p:nvPr/>
        </p:nvSpPr>
        <p:spPr>
          <a:xfrm>
            <a:off x="3401568" y="1097280"/>
            <a:ext cx="969264" cy="512064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3"/>
          <p:cNvSpPr/>
          <p:nvPr/>
        </p:nvSpPr>
        <p:spPr>
          <a:xfrm>
            <a:off x="3401568" y="1097280"/>
            <a:ext cx="9692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DECLARATIVE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3"/>
          <p:cNvSpPr/>
          <p:nvPr/>
        </p:nvSpPr>
        <p:spPr>
          <a:xfrm>
            <a:off x="274320" y="1783080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23"/>
          <p:cNvSpPr/>
          <p:nvPr/>
        </p:nvSpPr>
        <p:spPr>
          <a:xfrm>
            <a:off x="365760" y="1837944"/>
            <a:ext cx="29718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2.  Fare formula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3"/>
          <p:cNvSpPr/>
          <p:nvPr/>
        </p:nvSpPr>
        <p:spPr>
          <a:xfrm>
            <a:off x="3401568" y="1892808"/>
            <a:ext cx="969264" cy="512064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23"/>
          <p:cNvSpPr/>
          <p:nvPr/>
        </p:nvSpPr>
        <p:spPr>
          <a:xfrm>
            <a:off x="3401568" y="1892808"/>
            <a:ext cx="9692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PROCEDURAL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3"/>
          <p:cNvSpPr/>
          <p:nvPr/>
        </p:nvSpPr>
        <p:spPr>
          <a:xfrm>
            <a:off x="274320" y="2578608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3"/>
          <p:cNvSpPr/>
          <p:nvPr/>
        </p:nvSpPr>
        <p:spPr>
          <a:xfrm>
            <a:off x="365760" y="2633472"/>
            <a:ext cx="29718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3.  Rain → surge usually 1.5×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3"/>
          <p:cNvSpPr/>
          <p:nvPr/>
        </p:nvSpPr>
        <p:spPr>
          <a:xfrm>
            <a:off x="3401568" y="2688336"/>
            <a:ext cx="969264" cy="51206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23"/>
          <p:cNvSpPr/>
          <p:nvPr/>
        </p:nvSpPr>
        <p:spPr>
          <a:xfrm>
            <a:off x="3401568" y="2688336"/>
            <a:ext cx="9692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HEURISTIC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3"/>
          <p:cNvSpPr/>
          <p:nvPr/>
        </p:nvSpPr>
        <p:spPr>
          <a:xfrm>
            <a:off x="274320" y="3374136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23"/>
          <p:cNvSpPr/>
          <p:nvPr/>
        </p:nvSpPr>
        <p:spPr>
          <a:xfrm>
            <a:off x="365760" y="3429000"/>
            <a:ext cx="29718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4.  Error margin ±0.8 km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3"/>
          <p:cNvSpPr/>
          <p:nvPr/>
        </p:nvSpPr>
        <p:spPr>
          <a:xfrm>
            <a:off x="3401568" y="3483864"/>
            <a:ext cx="969264" cy="512064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23"/>
          <p:cNvSpPr/>
          <p:nvPr/>
        </p:nvSpPr>
        <p:spPr>
          <a:xfrm>
            <a:off x="3401568" y="3483864"/>
            <a:ext cx="9692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3"/>
          <p:cNvSpPr/>
          <p:nvPr/>
        </p:nvSpPr>
        <p:spPr>
          <a:xfrm>
            <a:off x="274320" y="4169664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23"/>
          <p:cNvSpPr/>
          <p:nvPr/>
        </p:nvSpPr>
        <p:spPr>
          <a:xfrm>
            <a:off x="365760" y="4224528"/>
            <a:ext cx="29718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5.  Driver Ali rating: 4.8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3"/>
          <p:cNvSpPr/>
          <p:nvPr/>
        </p:nvSpPr>
        <p:spPr>
          <a:xfrm>
            <a:off x="3401568" y="4279392"/>
            <a:ext cx="969264" cy="512064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23"/>
          <p:cNvSpPr/>
          <p:nvPr/>
        </p:nvSpPr>
        <p:spPr>
          <a:xfrm>
            <a:off x="3401568" y="4279392"/>
            <a:ext cx="9692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DECLARATIVE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3"/>
          <p:cNvSpPr/>
          <p:nvPr/>
        </p:nvSpPr>
        <p:spPr>
          <a:xfrm>
            <a:off x="4709160" y="987552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3"/>
          <p:cNvSpPr/>
          <p:nvPr/>
        </p:nvSpPr>
        <p:spPr>
          <a:xfrm>
            <a:off x="4800600" y="1042416"/>
            <a:ext cx="29718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6.  IF cancels&gt;3/hr THEN flag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3"/>
          <p:cNvSpPr/>
          <p:nvPr/>
        </p:nvSpPr>
        <p:spPr>
          <a:xfrm>
            <a:off x="7836408" y="1097280"/>
            <a:ext cx="969264" cy="512064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23"/>
          <p:cNvSpPr/>
          <p:nvPr/>
        </p:nvSpPr>
        <p:spPr>
          <a:xfrm>
            <a:off x="7836408" y="1097280"/>
            <a:ext cx="9692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PROCEDURAL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3"/>
          <p:cNvSpPr/>
          <p:nvPr/>
        </p:nvSpPr>
        <p:spPr>
          <a:xfrm>
            <a:off x="4709160" y="1783080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23"/>
          <p:cNvSpPr/>
          <p:nvPr/>
        </p:nvSpPr>
        <p:spPr>
          <a:xfrm>
            <a:off x="4800600" y="1837944"/>
            <a:ext cx="29718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7.  Friday evenings = 3× demand near food streets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3"/>
          <p:cNvSpPr/>
          <p:nvPr/>
        </p:nvSpPr>
        <p:spPr>
          <a:xfrm>
            <a:off x="7836408" y="1892808"/>
            <a:ext cx="969264" cy="51206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3"/>
          <p:cNvSpPr/>
          <p:nvPr/>
        </p:nvSpPr>
        <p:spPr>
          <a:xfrm>
            <a:off x="7836408" y="1892808"/>
            <a:ext cx="9692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HEURISTIC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3"/>
          <p:cNvSpPr/>
          <p:nvPr/>
        </p:nvSpPr>
        <p:spPr>
          <a:xfrm>
            <a:off x="4709160" y="2578608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23"/>
          <p:cNvSpPr/>
          <p:nvPr/>
        </p:nvSpPr>
        <p:spPr>
          <a:xfrm>
            <a:off x="4800600" y="2633472"/>
            <a:ext cx="29718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8.  Surge prediction 74% accurate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3"/>
          <p:cNvSpPr/>
          <p:nvPr/>
        </p:nvSpPr>
        <p:spPr>
          <a:xfrm>
            <a:off x="7836408" y="2688336"/>
            <a:ext cx="969264" cy="512064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3"/>
          <p:cNvSpPr/>
          <p:nvPr/>
        </p:nvSpPr>
        <p:spPr>
          <a:xfrm>
            <a:off x="7836408" y="2688336"/>
            <a:ext cx="9692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3"/>
          <p:cNvSpPr/>
          <p:nvPr/>
        </p:nvSpPr>
        <p:spPr>
          <a:xfrm>
            <a:off x="4709160" y="3374136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23"/>
          <p:cNvSpPr/>
          <p:nvPr/>
        </p:nvSpPr>
        <p:spPr>
          <a:xfrm>
            <a:off x="4800600" y="3429000"/>
            <a:ext cx="29718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9.  Algorithm to assign nearest driver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3"/>
          <p:cNvSpPr/>
          <p:nvPr/>
        </p:nvSpPr>
        <p:spPr>
          <a:xfrm>
            <a:off x="7836408" y="3483864"/>
            <a:ext cx="969264" cy="512064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23"/>
          <p:cNvSpPr/>
          <p:nvPr/>
        </p:nvSpPr>
        <p:spPr>
          <a:xfrm>
            <a:off x="7836408" y="3483864"/>
            <a:ext cx="9692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PROCEDURAL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3"/>
          <p:cNvSpPr/>
          <p:nvPr/>
        </p:nvSpPr>
        <p:spPr>
          <a:xfrm>
            <a:off x="4709160" y="4169664"/>
            <a:ext cx="4206240" cy="73152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23"/>
          <p:cNvSpPr/>
          <p:nvPr/>
        </p:nvSpPr>
        <p:spPr>
          <a:xfrm>
            <a:off x="4800600" y="4224528"/>
            <a:ext cx="29718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10.  GPS data is 15 min old — refresh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3"/>
          <p:cNvSpPr/>
          <p:nvPr/>
        </p:nvSpPr>
        <p:spPr>
          <a:xfrm>
            <a:off x="7836408" y="4279392"/>
            <a:ext cx="969264" cy="512064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3"/>
          <p:cNvSpPr/>
          <p:nvPr/>
        </p:nvSpPr>
        <p:spPr>
          <a:xfrm>
            <a:off x="7836408" y="4279392"/>
            <a:ext cx="9692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24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Questions — Part 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4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4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Think carefully and write your answers before turning to the next slide.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4"/>
          <p:cNvSpPr/>
          <p:nvPr/>
        </p:nvSpPr>
        <p:spPr>
          <a:xfrm>
            <a:off x="274320" y="960120"/>
            <a:ext cx="8595360" cy="100584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24"/>
          <p:cNvSpPr/>
          <p:nvPr/>
        </p:nvSpPr>
        <p:spPr>
          <a:xfrm>
            <a:off x="274320" y="960120"/>
            <a:ext cx="54864" cy="100584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24"/>
          <p:cNvSpPr/>
          <p:nvPr/>
        </p:nvSpPr>
        <p:spPr>
          <a:xfrm>
            <a:off x="411480" y="105156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Q5. What is the key difference between declarative and procedural knowledge? Can declarative knowledge be converted into procedural knowledge? Give an example.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4"/>
          <p:cNvSpPr/>
          <p:nvPr/>
        </p:nvSpPr>
        <p:spPr>
          <a:xfrm>
            <a:off x="274320" y="2039112"/>
            <a:ext cx="8595360" cy="1005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4"/>
          <p:cNvSpPr/>
          <p:nvPr/>
        </p:nvSpPr>
        <p:spPr>
          <a:xfrm>
            <a:off x="274320" y="2039112"/>
            <a:ext cx="54864" cy="100584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24"/>
          <p:cNvSpPr/>
          <p:nvPr/>
        </p:nvSpPr>
        <p:spPr>
          <a:xfrm>
            <a:off x="411480" y="2130552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Q6. Give 3 examples of heuristic knowledge from your own experience as a student or developer. For each, explain why it is heuristic and NOT a guaranteed rule.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4"/>
          <p:cNvSpPr/>
          <p:nvPr/>
        </p:nvSpPr>
        <p:spPr>
          <a:xfrm>
            <a:off x="274320" y="3099816"/>
            <a:ext cx="8595360" cy="160020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24"/>
          <p:cNvSpPr/>
          <p:nvPr/>
        </p:nvSpPr>
        <p:spPr>
          <a:xfrm>
            <a:off x="274320" y="3099816"/>
            <a:ext cx="54864" cy="160020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24"/>
          <p:cNvSpPr/>
          <p:nvPr/>
        </p:nvSpPr>
        <p:spPr>
          <a:xfrm>
            <a:off x="411480" y="3191256"/>
            <a:ext cx="83210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Q7. You are building an AI chatbot for a bank. Classify each of the following items as Declarative, Procedural, Heuristic, or Meta-Knowledge: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Customer balance: Rs 45,000   (b) Transfer process: verify PIN → check balance → deduct → credit   (c) Transfers of Rs 50,000+ at midnight are often fraudulent   (d) Our fraud detection model has 93% precision   (e) Minimum balance rule: Rs 1,000   (f) 3 failed PINs in a row → lock account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25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Questions — Part 2: Answers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5"/>
          <p:cNvSpPr/>
          <p:nvPr/>
        </p:nvSpPr>
        <p:spPr>
          <a:xfrm>
            <a:off x="274320" y="960120"/>
            <a:ext cx="8595360" cy="1078992"/>
          </a:xfrm>
          <a:prstGeom prst="rect">
            <a:avLst/>
          </a:prstGeom>
          <a:solidFill>
            <a:srgbClr val="F0FFF4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25"/>
          <p:cNvSpPr/>
          <p:nvPr/>
        </p:nvSpPr>
        <p:spPr>
          <a:xfrm>
            <a:off x="274320" y="960120"/>
            <a:ext cx="54864" cy="107899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25"/>
          <p:cNvSpPr/>
          <p:nvPr/>
        </p:nvSpPr>
        <p:spPr>
          <a:xfrm>
            <a:off x="411480" y="99669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Q5. Declarative vs Procedural knowledge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5"/>
          <p:cNvSpPr/>
          <p:nvPr/>
        </p:nvSpPr>
        <p:spPr>
          <a:xfrm>
            <a:off x="411480" y="1271016"/>
            <a:ext cx="83210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Declarative: WHAT is true. e.g., 'A sorted array has each element ≤ the next.'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Procedural: HOW to do it. e.g., 'Compare neighbours, swap if out of order, repeat (bubble sort).'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Conversion: Yes — the declarative goal 'sorted array' becomes the procedure. AI systems often need both: declare the GOAL, then procedurally reach it.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5"/>
          <p:cNvSpPr/>
          <p:nvPr/>
        </p:nvSpPr>
        <p:spPr>
          <a:xfrm>
            <a:off x="274320" y="2103120"/>
            <a:ext cx="8595360" cy="10789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25"/>
          <p:cNvSpPr/>
          <p:nvPr/>
        </p:nvSpPr>
        <p:spPr>
          <a:xfrm>
            <a:off x="274320" y="2103120"/>
            <a:ext cx="54864" cy="107899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25"/>
          <p:cNvSpPr/>
          <p:nvPr/>
        </p:nvSpPr>
        <p:spPr>
          <a:xfrm>
            <a:off x="411480" y="213969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Q6. Three heuristic knowledge examples (student/developer)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5"/>
          <p:cNvSpPr/>
          <p:nvPr/>
        </p:nvSpPr>
        <p:spPr>
          <a:xfrm>
            <a:off x="411480" y="2414016"/>
            <a:ext cx="83210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1. 'If a question has a very long answer in the key — skip it in the exam, do short ones first.' (Not guaranteed — long questions may be easier for you.)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2. 'If the professor repeats a concept 3+ times — it will be in the exam.' (Not guaranteed — may just be addressing student confusion.)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3. 'If code ran fine yesterday and broke today — I probably changed something I forgot.' (Not guaranteed — could be an external library update or environment issue.)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5"/>
          <p:cNvSpPr/>
          <p:nvPr/>
        </p:nvSpPr>
        <p:spPr>
          <a:xfrm>
            <a:off x="274320" y="3246120"/>
            <a:ext cx="8595360" cy="1600200"/>
          </a:xfrm>
          <a:prstGeom prst="rect">
            <a:avLst/>
          </a:prstGeom>
          <a:solidFill>
            <a:srgbClr val="F0FFF4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25"/>
          <p:cNvSpPr/>
          <p:nvPr/>
        </p:nvSpPr>
        <p:spPr>
          <a:xfrm>
            <a:off x="274320" y="3246120"/>
            <a:ext cx="54864" cy="160020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25"/>
          <p:cNvSpPr/>
          <p:nvPr/>
        </p:nvSpPr>
        <p:spPr>
          <a:xfrm>
            <a:off x="411480" y="328269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Q7. Bank chatbot classification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5"/>
          <p:cNvSpPr/>
          <p:nvPr/>
        </p:nvSpPr>
        <p:spPr>
          <a:xfrm>
            <a:off x="411480" y="3557016"/>
            <a:ext cx="83210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DECLARATIVE — stored fact. (b) PROCEDURAL — deterministic step-by-step process. (c) HEURISTIC — experiential pattern (can be wrong). (d) META — reliability/accuracy of our own system. (e) DECLARATIVE — business policy fact. (f) PROCEDURAL — exact deterministic rule.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26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34E4A"/>
          </a:solidFill>
          <a:ln w="12700" cap="flat" cmpd="sng">
            <a:solidFill>
              <a:srgbClr val="134E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26"/>
          <p:cNvSpPr/>
          <p:nvPr/>
        </p:nvSpPr>
        <p:spPr>
          <a:xfrm>
            <a:off x="0" y="73152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6"/>
          <p:cNvSpPr/>
          <p:nvPr/>
        </p:nvSpPr>
        <p:spPr>
          <a:xfrm>
            <a:off x="3383280" y="109728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Propositional Logic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6"/>
          <p:cNvSpPr/>
          <p:nvPr/>
        </p:nvSpPr>
        <p:spPr>
          <a:xfrm>
            <a:off x="3383280" y="22860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The foundation of formal reasoning in AI. A precise, mathematical language to express knowledge and draw conclusions.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Propositions • Connectives • Truth Tables • Knowledge Bases • Modus Ponens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endParaRPr lang="en-US" sz="1400" b="0" i="0" u="none" strike="noStrike" cap="none" dirty="0">
              <a:solidFill>
                <a:srgbClr val="CCFB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27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3.1 Propositions &amp; Connectives (AND, OR, NOT)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7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27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 proposition is any statement definitively TRUE or FALSE — not a question, command, or vague statement.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7"/>
          <p:cNvSpPr/>
          <p:nvPr/>
        </p:nvSpPr>
        <p:spPr>
          <a:xfrm>
            <a:off x="274320" y="932688"/>
            <a:ext cx="4114800" cy="1572768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7"/>
          <p:cNvSpPr/>
          <p:nvPr/>
        </p:nvSpPr>
        <p:spPr>
          <a:xfrm>
            <a:off x="274320" y="932688"/>
            <a:ext cx="4114800" cy="2560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27"/>
          <p:cNvSpPr/>
          <p:nvPr/>
        </p:nvSpPr>
        <p:spPr>
          <a:xfrm>
            <a:off x="274320" y="9326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VALID PROPOSITIONS (True or False)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7"/>
          <p:cNvSpPr/>
          <p:nvPr/>
        </p:nvSpPr>
        <p:spPr>
          <a:xfrm>
            <a:off x="411480" y="123444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It is raining outside.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7"/>
          <p:cNvSpPr/>
          <p:nvPr/>
        </p:nvSpPr>
        <p:spPr>
          <a:xfrm>
            <a:off x="411480" y="148132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Karachi is the capital of Pakistan. (FALSE)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7"/>
          <p:cNvSpPr/>
          <p:nvPr/>
        </p:nvSpPr>
        <p:spPr>
          <a:xfrm>
            <a:off x="411480" y="172821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2 + 2 = 4. (TRUE)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7"/>
          <p:cNvSpPr/>
          <p:nvPr/>
        </p:nvSpPr>
        <p:spPr>
          <a:xfrm>
            <a:off x="411480" y="197510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Ali passed the exam.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7"/>
          <p:cNvSpPr/>
          <p:nvPr/>
        </p:nvSpPr>
        <p:spPr>
          <a:xfrm>
            <a:off x="411480" y="222199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Python is a programming language. (TRUE)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7"/>
          <p:cNvSpPr/>
          <p:nvPr/>
        </p:nvSpPr>
        <p:spPr>
          <a:xfrm>
            <a:off x="4754880" y="932688"/>
            <a:ext cx="4114800" cy="1572768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27"/>
          <p:cNvSpPr/>
          <p:nvPr/>
        </p:nvSpPr>
        <p:spPr>
          <a:xfrm>
            <a:off x="4754880" y="932688"/>
            <a:ext cx="4114800" cy="25603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27"/>
          <p:cNvSpPr/>
          <p:nvPr/>
        </p:nvSpPr>
        <p:spPr>
          <a:xfrm>
            <a:off x="4754880" y="9326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✘ NOT Valid Propositions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7"/>
          <p:cNvSpPr/>
          <p:nvPr/>
        </p:nvSpPr>
        <p:spPr>
          <a:xfrm>
            <a:off x="4892040" y="123444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Is it raining? (Question)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7"/>
          <p:cNvSpPr/>
          <p:nvPr/>
        </p:nvSpPr>
        <p:spPr>
          <a:xfrm>
            <a:off x="4892040" y="148132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Please close the window. (Command)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7"/>
          <p:cNvSpPr/>
          <p:nvPr/>
        </p:nvSpPr>
        <p:spPr>
          <a:xfrm>
            <a:off x="4892040" y="172821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x + y = 10 (Depends on x, y)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7"/>
          <p:cNvSpPr/>
          <p:nvPr/>
        </p:nvSpPr>
        <p:spPr>
          <a:xfrm>
            <a:off x="4892040" y="197510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She is tall. (Vague — tall vs what?)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7"/>
          <p:cNvSpPr/>
          <p:nvPr/>
        </p:nvSpPr>
        <p:spPr>
          <a:xfrm>
            <a:off x="4892040" y="222199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Study harder! (Imperative)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7"/>
          <p:cNvSpPr/>
          <p:nvPr/>
        </p:nvSpPr>
        <p:spPr>
          <a:xfrm>
            <a:off x="256032" y="2606040"/>
            <a:ext cx="2834640" cy="237744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27"/>
          <p:cNvSpPr/>
          <p:nvPr/>
        </p:nvSpPr>
        <p:spPr>
          <a:xfrm>
            <a:off x="256032" y="2606040"/>
            <a:ext cx="2834640" cy="41148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27"/>
          <p:cNvSpPr/>
          <p:nvPr/>
        </p:nvSpPr>
        <p:spPr>
          <a:xfrm>
            <a:off x="256032" y="2606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∧ Q  —  AND (Conjunction)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7"/>
          <p:cNvSpPr/>
          <p:nvPr/>
        </p:nvSpPr>
        <p:spPr>
          <a:xfrm>
            <a:off x="347472" y="3063240"/>
            <a:ext cx="1645920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Both must be true for the whole statement to be true.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P='I submitted assignment.' Q='I attended lab.'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 ∧ Q → TRUE only if BOTH done.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7"/>
          <p:cNvSpPr/>
          <p:nvPr/>
        </p:nvSpPr>
        <p:spPr>
          <a:xfrm>
            <a:off x="2084832" y="3063240"/>
            <a:ext cx="310896" cy="21945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27"/>
          <p:cNvSpPr/>
          <p:nvPr/>
        </p:nvSpPr>
        <p:spPr>
          <a:xfrm>
            <a:off x="2084832" y="306324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7"/>
          <p:cNvSpPr/>
          <p:nvPr/>
        </p:nvSpPr>
        <p:spPr>
          <a:xfrm>
            <a:off x="2404872" y="3063240"/>
            <a:ext cx="310896" cy="21945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27"/>
          <p:cNvSpPr/>
          <p:nvPr/>
        </p:nvSpPr>
        <p:spPr>
          <a:xfrm>
            <a:off x="2404872" y="306324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7"/>
          <p:cNvSpPr/>
          <p:nvPr/>
        </p:nvSpPr>
        <p:spPr>
          <a:xfrm>
            <a:off x="2724912" y="3063240"/>
            <a:ext cx="310896" cy="21945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27"/>
          <p:cNvSpPr/>
          <p:nvPr/>
        </p:nvSpPr>
        <p:spPr>
          <a:xfrm>
            <a:off x="2724912" y="306324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7"/>
          <p:cNvSpPr/>
          <p:nvPr/>
        </p:nvSpPr>
        <p:spPr>
          <a:xfrm>
            <a:off x="2084832" y="3310128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27"/>
          <p:cNvSpPr/>
          <p:nvPr/>
        </p:nvSpPr>
        <p:spPr>
          <a:xfrm>
            <a:off x="2084832" y="3310128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7"/>
          <p:cNvSpPr/>
          <p:nvPr/>
        </p:nvSpPr>
        <p:spPr>
          <a:xfrm>
            <a:off x="2404872" y="3310128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7"/>
          <p:cNvSpPr/>
          <p:nvPr/>
        </p:nvSpPr>
        <p:spPr>
          <a:xfrm>
            <a:off x="2404872" y="3310128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7"/>
          <p:cNvSpPr/>
          <p:nvPr/>
        </p:nvSpPr>
        <p:spPr>
          <a:xfrm>
            <a:off x="2724912" y="3310128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27"/>
          <p:cNvSpPr/>
          <p:nvPr/>
        </p:nvSpPr>
        <p:spPr>
          <a:xfrm>
            <a:off x="2724912" y="3310128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7"/>
          <p:cNvSpPr/>
          <p:nvPr/>
        </p:nvSpPr>
        <p:spPr>
          <a:xfrm>
            <a:off x="2084832" y="3566160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27"/>
          <p:cNvSpPr/>
          <p:nvPr/>
        </p:nvSpPr>
        <p:spPr>
          <a:xfrm>
            <a:off x="2084832" y="3566160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7"/>
          <p:cNvSpPr/>
          <p:nvPr/>
        </p:nvSpPr>
        <p:spPr>
          <a:xfrm>
            <a:off x="2404872" y="3566160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27"/>
          <p:cNvSpPr/>
          <p:nvPr/>
        </p:nvSpPr>
        <p:spPr>
          <a:xfrm>
            <a:off x="2404872" y="3566160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7"/>
          <p:cNvSpPr/>
          <p:nvPr/>
        </p:nvSpPr>
        <p:spPr>
          <a:xfrm>
            <a:off x="2724912" y="3566160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27"/>
          <p:cNvSpPr/>
          <p:nvPr/>
        </p:nvSpPr>
        <p:spPr>
          <a:xfrm>
            <a:off x="2724912" y="3566160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7"/>
          <p:cNvSpPr/>
          <p:nvPr/>
        </p:nvSpPr>
        <p:spPr>
          <a:xfrm>
            <a:off x="2084832" y="3822192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27"/>
          <p:cNvSpPr/>
          <p:nvPr/>
        </p:nvSpPr>
        <p:spPr>
          <a:xfrm>
            <a:off x="2084832" y="382219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7"/>
          <p:cNvSpPr/>
          <p:nvPr/>
        </p:nvSpPr>
        <p:spPr>
          <a:xfrm>
            <a:off x="2404872" y="3822192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27"/>
          <p:cNvSpPr/>
          <p:nvPr/>
        </p:nvSpPr>
        <p:spPr>
          <a:xfrm>
            <a:off x="2404872" y="382219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7"/>
          <p:cNvSpPr/>
          <p:nvPr/>
        </p:nvSpPr>
        <p:spPr>
          <a:xfrm>
            <a:off x="2724912" y="3822192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27"/>
          <p:cNvSpPr/>
          <p:nvPr/>
        </p:nvSpPr>
        <p:spPr>
          <a:xfrm>
            <a:off x="2724912" y="382219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7"/>
          <p:cNvSpPr/>
          <p:nvPr/>
        </p:nvSpPr>
        <p:spPr>
          <a:xfrm>
            <a:off x="2084832" y="4078224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27"/>
          <p:cNvSpPr/>
          <p:nvPr/>
        </p:nvSpPr>
        <p:spPr>
          <a:xfrm>
            <a:off x="2084832" y="4078224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7"/>
          <p:cNvSpPr/>
          <p:nvPr/>
        </p:nvSpPr>
        <p:spPr>
          <a:xfrm>
            <a:off x="2404872" y="4078224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27"/>
          <p:cNvSpPr/>
          <p:nvPr/>
        </p:nvSpPr>
        <p:spPr>
          <a:xfrm>
            <a:off x="2404872" y="4078224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7"/>
          <p:cNvSpPr/>
          <p:nvPr/>
        </p:nvSpPr>
        <p:spPr>
          <a:xfrm>
            <a:off x="2724912" y="4078224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27"/>
          <p:cNvSpPr/>
          <p:nvPr/>
        </p:nvSpPr>
        <p:spPr>
          <a:xfrm>
            <a:off x="2724912" y="4078224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7"/>
          <p:cNvSpPr/>
          <p:nvPr/>
        </p:nvSpPr>
        <p:spPr>
          <a:xfrm>
            <a:off x="3227832" y="2606040"/>
            <a:ext cx="2834640" cy="237744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7"/>
          <p:cNvSpPr/>
          <p:nvPr/>
        </p:nvSpPr>
        <p:spPr>
          <a:xfrm>
            <a:off x="3227832" y="2606040"/>
            <a:ext cx="2834640" cy="4114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27"/>
          <p:cNvSpPr/>
          <p:nvPr/>
        </p:nvSpPr>
        <p:spPr>
          <a:xfrm>
            <a:off x="3227832" y="2606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∨ Q  —  OR (Disjunction)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7"/>
          <p:cNvSpPr/>
          <p:nvPr/>
        </p:nvSpPr>
        <p:spPr>
          <a:xfrm>
            <a:off x="3319272" y="3063240"/>
            <a:ext cx="1645920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At least one must be true. Both can be true — OR is inclusive.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P='Passed midterm.' Q='Passed final.'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 ∨ Q = TRUE if at least one exam passed.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7"/>
          <p:cNvSpPr/>
          <p:nvPr/>
        </p:nvSpPr>
        <p:spPr>
          <a:xfrm>
            <a:off x="5056632" y="3063240"/>
            <a:ext cx="310896" cy="219456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27"/>
          <p:cNvSpPr/>
          <p:nvPr/>
        </p:nvSpPr>
        <p:spPr>
          <a:xfrm>
            <a:off x="5056632" y="306324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7"/>
          <p:cNvSpPr/>
          <p:nvPr/>
        </p:nvSpPr>
        <p:spPr>
          <a:xfrm>
            <a:off x="5376672" y="3063240"/>
            <a:ext cx="310896" cy="219456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27"/>
          <p:cNvSpPr/>
          <p:nvPr/>
        </p:nvSpPr>
        <p:spPr>
          <a:xfrm>
            <a:off x="5376672" y="306324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7"/>
          <p:cNvSpPr/>
          <p:nvPr/>
        </p:nvSpPr>
        <p:spPr>
          <a:xfrm>
            <a:off x="5696712" y="3063240"/>
            <a:ext cx="310896" cy="219456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27"/>
          <p:cNvSpPr/>
          <p:nvPr/>
        </p:nvSpPr>
        <p:spPr>
          <a:xfrm>
            <a:off x="5696712" y="306324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7"/>
          <p:cNvSpPr/>
          <p:nvPr/>
        </p:nvSpPr>
        <p:spPr>
          <a:xfrm>
            <a:off x="5056632" y="3310128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27"/>
          <p:cNvSpPr/>
          <p:nvPr/>
        </p:nvSpPr>
        <p:spPr>
          <a:xfrm>
            <a:off x="5056632" y="3310128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7"/>
          <p:cNvSpPr/>
          <p:nvPr/>
        </p:nvSpPr>
        <p:spPr>
          <a:xfrm>
            <a:off x="5376672" y="3310128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27"/>
          <p:cNvSpPr/>
          <p:nvPr/>
        </p:nvSpPr>
        <p:spPr>
          <a:xfrm>
            <a:off x="5376672" y="3310128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7"/>
          <p:cNvSpPr/>
          <p:nvPr/>
        </p:nvSpPr>
        <p:spPr>
          <a:xfrm>
            <a:off x="5696712" y="3310128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27"/>
          <p:cNvSpPr/>
          <p:nvPr/>
        </p:nvSpPr>
        <p:spPr>
          <a:xfrm>
            <a:off x="5696712" y="3310128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7"/>
          <p:cNvSpPr/>
          <p:nvPr/>
        </p:nvSpPr>
        <p:spPr>
          <a:xfrm>
            <a:off x="5056632" y="3566160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27"/>
          <p:cNvSpPr/>
          <p:nvPr/>
        </p:nvSpPr>
        <p:spPr>
          <a:xfrm>
            <a:off x="5056632" y="3566160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7"/>
          <p:cNvSpPr/>
          <p:nvPr/>
        </p:nvSpPr>
        <p:spPr>
          <a:xfrm>
            <a:off x="5376672" y="3566160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27"/>
          <p:cNvSpPr/>
          <p:nvPr/>
        </p:nvSpPr>
        <p:spPr>
          <a:xfrm>
            <a:off x="5376672" y="3566160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7"/>
          <p:cNvSpPr/>
          <p:nvPr/>
        </p:nvSpPr>
        <p:spPr>
          <a:xfrm>
            <a:off x="5696712" y="3566160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27"/>
          <p:cNvSpPr/>
          <p:nvPr/>
        </p:nvSpPr>
        <p:spPr>
          <a:xfrm>
            <a:off x="5696712" y="3566160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7"/>
          <p:cNvSpPr/>
          <p:nvPr/>
        </p:nvSpPr>
        <p:spPr>
          <a:xfrm>
            <a:off x="5056632" y="3822192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27"/>
          <p:cNvSpPr/>
          <p:nvPr/>
        </p:nvSpPr>
        <p:spPr>
          <a:xfrm>
            <a:off x="5056632" y="382219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7"/>
          <p:cNvSpPr/>
          <p:nvPr/>
        </p:nvSpPr>
        <p:spPr>
          <a:xfrm>
            <a:off x="5376672" y="3822192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27"/>
          <p:cNvSpPr/>
          <p:nvPr/>
        </p:nvSpPr>
        <p:spPr>
          <a:xfrm>
            <a:off x="5376672" y="382219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7"/>
          <p:cNvSpPr/>
          <p:nvPr/>
        </p:nvSpPr>
        <p:spPr>
          <a:xfrm>
            <a:off x="5696712" y="3822192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27"/>
          <p:cNvSpPr/>
          <p:nvPr/>
        </p:nvSpPr>
        <p:spPr>
          <a:xfrm>
            <a:off x="5696712" y="3822192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7"/>
          <p:cNvSpPr/>
          <p:nvPr/>
        </p:nvSpPr>
        <p:spPr>
          <a:xfrm>
            <a:off x="5056632" y="4078224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27"/>
          <p:cNvSpPr/>
          <p:nvPr/>
        </p:nvSpPr>
        <p:spPr>
          <a:xfrm>
            <a:off x="5056632" y="4078224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7"/>
          <p:cNvSpPr/>
          <p:nvPr/>
        </p:nvSpPr>
        <p:spPr>
          <a:xfrm>
            <a:off x="5376672" y="4078224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27"/>
          <p:cNvSpPr/>
          <p:nvPr/>
        </p:nvSpPr>
        <p:spPr>
          <a:xfrm>
            <a:off x="5376672" y="4078224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7"/>
          <p:cNvSpPr/>
          <p:nvPr/>
        </p:nvSpPr>
        <p:spPr>
          <a:xfrm>
            <a:off x="5696712" y="4078224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27"/>
          <p:cNvSpPr/>
          <p:nvPr/>
        </p:nvSpPr>
        <p:spPr>
          <a:xfrm>
            <a:off x="5696712" y="4078224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7"/>
          <p:cNvSpPr/>
          <p:nvPr/>
        </p:nvSpPr>
        <p:spPr>
          <a:xfrm>
            <a:off x="6199632" y="2606040"/>
            <a:ext cx="2834640" cy="237744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27"/>
          <p:cNvSpPr/>
          <p:nvPr/>
        </p:nvSpPr>
        <p:spPr>
          <a:xfrm>
            <a:off x="6199632" y="2606040"/>
            <a:ext cx="2834640" cy="41148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27"/>
          <p:cNvSpPr/>
          <p:nvPr/>
        </p:nvSpPr>
        <p:spPr>
          <a:xfrm>
            <a:off x="6199632" y="2606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¬P  —  NOT (Negation)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7"/>
          <p:cNvSpPr/>
          <p:nvPr/>
        </p:nvSpPr>
        <p:spPr>
          <a:xfrm>
            <a:off x="6291072" y="3063240"/>
            <a:ext cx="1645920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Reverses truth value. TRUE becomes FALSE. FALSE becomes TRUE.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P='Server is online.'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¬P = 'Server is offline.'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7"/>
          <p:cNvSpPr/>
          <p:nvPr/>
        </p:nvSpPr>
        <p:spPr>
          <a:xfrm>
            <a:off x="8028432" y="3063240"/>
            <a:ext cx="310896" cy="21945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27"/>
          <p:cNvSpPr/>
          <p:nvPr/>
        </p:nvSpPr>
        <p:spPr>
          <a:xfrm>
            <a:off x="8028432" y="306324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7"/>
          <p:cNvSpPr/>
          <p:nvPr/>
        </p:nvSpPr>
        <p:spPr>
          <a:xfrm>
            <a:off x="8348472" y="3063240"/>
            <a:ext cx="310896" cy="21945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27"/>
          <p:cNvSpPr/>
          <p:nvPr/>
        </p:nvSpPr>
        <p:spPr>
          <a:xfrm>
            <a:off x="8348472" y="306324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¬P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7"/>
          <p:cNvSpPr/>
          <p:nvPr/>
        </p:nvSpPr>
        <p:spPr>
          <a:xfrm>
            <a:off x="8028432" y="3310128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27"/>
          <p:cNvSpPr/>
          <p:nvPr/>
        </p:nvSpPr>
        <p:spPr>
          <a:xfrm>
            <a:off x="8028432" y="3310128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7"/>
          <p:cNvSpPr/>
          <p:nvPr/>
        </p:nvSpPr>
        <p:spPr>
          <a:xfrm>
            <a:off x="8348472" y="3310128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27"/>
          <p:cNvSpPr/>
          <p:nvPr/>
        </p:nvSpPr>
        <p:spPr>
          <a:xfrm>
            <a:off x="8348472" y="3310128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7"/>
          <p:cNvSpPr/>
          <p:nvPr/>
        </p:nvSpPr>
        <p:spPr>
          <a:xfrm>
            <a:off x="8028432" y="3566160"/>
            <a:ext cx="310896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7"/>
          <p:cNvSpPr/>
          <p:nvPr/>
        </p:nvSpPr>
        <p:spPr>
          <a:xfrm>
            <a:off x="8028432" y="3566160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7"/>
          <p:cNvSpPr/>
          <p:nvPr/>
        </p:nvSpPr>
        <p:spPr>
          <a:xfrm>
            <a:off x="8348472" y="3566160"/>
            <a:ext cx="310896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27"/>
          <p:cNvSpPr/>
          <p:nvPr/>
        </p:nvSpPr>
        <p:spPr>
          <a:xfrm>
            <a:off x="8348472" y="3566160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28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Connectives: IMPLIES (→) and BICONDITIONAL (↔)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8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28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Two of the most important — and most misunderstood — connectives in logic.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8"/>
          <p:cNvSpPr/>
          <p:nvPr/>
        </p:nvSpPr>
        <p:spPr>
          <a:xfrm>
            <a:off x="274320" y="914400"/>
            <a:ext cx="5303520" cy="402336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28"/>
          <p:cNvSpPr/>
          <p:nvPr/>
        </p:nvSpPr>
        <p:spPr>
          <a:xfrm>
            <a:off x="274320" y="914400"/>
            <a:ext cx="5303520" cy="29260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28"/>
          <p:cNvSpPr/>
          <p:nvPr/>
        </p:nvSpPr>
        <p:spPr>
          <a:xfrm>
            <a:off x="274320" y="91440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→ Q   IMPLIES (Implication)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8"/>
          <p:cNvSpPr/>
          <p:nvPr/>
        </p:nvSpPr>
        <p:spPr>
          <a:xfrm>
            <a:off x="411480" y="1252728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'If P then Q'. FALSE only when P is TRUE but Q is FALSE — the premise holds but the conclusion fails.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Think of it as a PROMISE: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8"/>
          <p:cNvSpPr/>
          <p:nvPr/>
        </p:nvSpPr>
        <p:spPr>
          <a:xfrm>
            <a:off x="411480" y="1901952"/>
            <a:ext cx="5029200" cy="438912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28"/>
          <p:cNvSpPr/>
          <p:nvPr/>
        </p:nvSpPr>
        <p:spPr>
          <a:xfrm>
            <a:off x="530352" y="1920240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Case 1: Rains AND road wet → Promise kept!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8"/>
          <p:cNvSpPr/>
          <p:nvPr/>
        </p:nvSpPr>
        <p:spPr>
          <a:xfrm>
            <a:off x="4663440" y="1956816"/>
            <a:ext cx="7132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8"/>
          <p:cNvSpPr/>
          <p:nvPr/>
        </p:nvSpPr>
        <p:spPr>
          <a:xfrm>
            <a:off x="411480" y="2395728"/>
            <a:ext cx="5029200" cy="438912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28"/>
          <p:cNvSpPr/>
          <p:nvPr/>
        </p:nvSpPr>
        <p:spPr>
          <a:xfrm>
            <a:off x="530352" y="2414016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Case 2 ★: Rains AND road DRY → Promise BROKEN!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8"/>
          <p:cNvSpPr/>
          <p:nvPr/>
        </p:nvSpPr>
        <p:spPr>
          <a:xfrm>
            <a:off x="4663440" y="2450592"/>
            <a:ext cx="7132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8"/>
          <p:cNvSpPr/>
          <p:nvPr/>
        </p:nvSpPr>
        <p:spPr>
          <a:xfrm>
            <a:off x="411480" y="2889504"/>
            <a:ext cx="5029200" cy="438912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28"/>
          <p:cNvSpPr/>
          <p:nvPr/>
        </p:nvSpPr>
        <p:spPr>
          <a:xfrm>
            <a:off x="530352" y="2907792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Case 3: No rain AND road wet → Something else wet it. Promise untested.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8"/>
          <p:cNvSpPr/>
          <p:nvPr/>
        </p:nvSpPr>
        <p:spPr>
          <a:xfrm>
            <a:off x="4663440" y="2944368"/>
            <a:ext cx="7132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8"/>
          <p:cNvSpPr/>
          <p:nvPr/>
        </p:nvSpPr>
        <p:spPr>
          <a:xfrm>
            <a:off x="411480" y="3383280"/>
            <a:ext cx="5029200" cy="438912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28"/>
          <p:cNvSpPr/>
          <p:nvPr/>
        </p:nvSpPr>
        <p:spPr>
          <a:xfrm>
            <a:off x="530352" y="3401568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Case 4: No rain AND road dry → Fine. Promise untested.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8"/>
          <p:cNvSpPr/>
          <p:nvPr/>
        </p:nvSpPr>
        <p:spPr>
          <a:xfrm>
            <a:off x="4663440" y="3438144"/>
            <a:ext cx="7132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8"/>
          <p:cNvSpPr/>
          <p:nvPr/>
        </p:nvSpPr>
        <p:spPr>
          <a:xfrm>
            <a:off x="411480" y="3913632"/>
            <a:ext cx="5029200" cy="475488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28"/>
          <p:cNvSpPr/>
          <p:nvPr/>
        </p:nvSpPr>
        <p:spPr>
          <a:xfrm>
            <a:off x="502920" y="3931920"/>
            <a:ext cx="48463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KEY TIP: P → Q is ONLY false when P=TRUE and Q=FALSE. All other combinations are TRUE.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 dirty="0" err="1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Memorise</a:t>
            </a:r>
            <a:r>
              <a:rPr lang="en-US" sz="950" b="0" i="0" u="none" strike="noStrike" cap="none" dirty="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: 'A true premise leading to a false conclusion breaks the implication.'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8"/>
          <p:cNvSpPr/>
          <p:nvPr/>
        </p:nvSpPr>
        <p:spPr>
          <a:xfrm>
            <a:off x="5760720" y="914400"/>
            <a:ext cx="3108960" cy="4023360"/>
          </a:xfrm>
          <a:prstGeom prst="rect">
            <a:avLst/>
          </a:prstGeom>
          <a:solidFill>
            <a:srgbClr val="FFF8F8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28"/>
          <p:cNvSpPr/>
          <p:nvPr/>
        </p:nvSpPr>
        <p:spPr>
          <a:xfrm>
            <a:off x="5760720" y="914400"/>
            <a:ext cx="3108960" cy="292608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28"/>
          <p:cNvSpPr/>
          <p:nvPr/>
        </p:nvSpPr>
        <p:spPr>
          <a:xfrm>
            <a:off x="5760720" y="91440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↔ Q   BICONDITIONAL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8"/>
          <p:cNvSpPr/>
          <p:nvPr/>
        </p:nvSpPr>
        <p:spPr>
          <a:xfrm>
            <a:off x="5852160" y="1261872"/>
            <a:ext cx="29260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'P if and only if Q' — TRUE when both have the SAME truth value.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Example: P='You study hard.' Q='You pass exam.'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 ↔ Q = 'You pass IF AND ONLY IF you study.'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Pass without studying? FALSE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Study but still fail? FALSE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Both study+pass: TRUE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Both no-study+fail: TRUE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8"/>
          <p:cNvSpPr/>
          <p:nvPr/>
        </p:nvSpPr>
        <p:spPr>
          <a:xfrm>
            <a:off x="5852160" y="3456432"/>
            <a:ext cx="804672" cy="25603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28"/>
          <p:cNvSpPr/>
          <p:nvPr/>
        </p:nvSpPr>
        <p:spPr>
          <a:xfrm>
            <a:off x="5852160" y="3456432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8"/>
          <p:cNvSpPr/>
          <p:nvPr/>
        </p:nvSpPr>
        <p:spPr>
          <a:xfrm>
            <a:off x="6675120" y="3456432"/>
            <a:ext cx="804672" cy="25603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28"/>
          <p:cNvSpPr/>
          <p:nvPr/>
        </p:nvSpPr>
        <p:spPr>
          <a:xfrm>
            <a:off x="6675120" y="3456432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8"/>
          <p:cNvSpPr/>
          <p:nvPr/>
        </p:nvSpPr>
        <p:spPr>
          <a:xfrm>
            <a:off x="7498080" y="3456432"/>
            <a:ext cx="804672" cy="25603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28"/>
          <p:cNvSpPr/>
          <p:nvPr/>
        </p:nvSpPr>
        <p:spPr>
          <a:xfrm>
            <a:off x="7498080" y="3456432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↔ 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8"/>
          <p:cNvSpPr/>
          <p:nvPr/>
        </p:nvSpPr>
        <p:spPr>
          <a:xfrm>
            <a:off x="5852160" y="3749040"/>
            <a:ext cx="804672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28"/>
          <p:cNvSpPr/>
          <p:nvPr/>
        </p:nvSpPr>
        <p:spPr>
          <a:xfrm>
            <a:off x="5852160" y="3749040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8"/>
          <p:cNvSpPr/>
          <p:nvPr/>
        </p:nvSpPr>
        <p:spPr>
          <a:xfrm>
            <a:off x="6675120" y="3749040"/>
            <a:ext cx="804672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28"/>
          <p:cNvSpPr/>
          <p:nvPr/>
        </p:nvSpPr>
        <p:spPr>
          <a:xfrm>
            <a:off x="6675120" y="3749040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8"/>
          <p:cNvSpPr/>
          <p:nvPr/>
        </p:nvSpPr>
        <p:spPr>
          <a:xfrm>
            <a:off x="7498080" y="3749040"/>
            <a:ext cx="804672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28"/>
          <p:cNvSpPr/>
          <p:nvPr/>
        </p:nvSpPr>
        <p:spPr>
          <a:xfrm>
            <a:off x="7498080" y="3749040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8"/>
          <p:cNvSpPr/>
          <p:nvPr/>
        </p:nvSpPr>
        <p:spPr>
          <a:xfrm>
            <a:off x="5852160" y="4005072"/>
            <a:ext cx="804672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28"/>
          <p:cNvSpPr/>
          <p:nvPr/>
        </p:nvSpPr>
        <p:spPr>
          <a:xfrm>
            <a:off x="5852160" y="3986784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8"/>
          <p:cNvSpPr/>
          <p:nvPr/>
        </p:nvSpPr>
        <p:spPr>
          <a:xfrm>
            <a:off x="6675120" y="4005072"/>
            <a:ext cx="804672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28"/>
          <p:cNvSpPr/>
          <p:nvPr/>
        </p:nvSpPr>
        <p:spPr>
          <a:xfrm>
            <a:off x="6675120" y="3986784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8"/>
          <p:cNvSpPr/>
          <p:nvPr/>
        </p:nvSpPr>
        <p:spPr>
          <a:xfrm>
            <a:off x="7498080" y="4005072"/>
            <a:ext cx="804672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28"/>
          <p:cNvSpPr/>
          <p:nvPr/>
        </p:nvSpPr>
        <p:spPr>
          <a:xfrm>
            <a:off x="7498080" y="3986784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8"/>
          <p:cNvSpPr/>
          <p:nvPr/>
        </p:nvSpPr>
        <p:spPr>
          <a:xfrm>
            <a:off x="5852160" y="4261104"/>
            <a:ext cx="804672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28"/>
          <p:cNvSpPr/>
          <p:nvPr/>
        </p:nvSpPr>
        <p:spPr>
          <a:xfrm>
            <a:off x="5852160" y="4224528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8"/>
          <p:cNvSpPr/>
          <p:nvPr/>
        </p:nvSpPr>
        <p:spPr>
          <a:xfrm>
            <a:off x="6675120" y="4261104"/>
            <a:ext cx="804672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28"/>
          <p:cNvSpPr/>
          <p:nvPr/>
        </p:nvSpPr>
        <p:spPr>
          <a:xfrm>
            <a:off x="6675120" y="4224528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8"/>
          <p:cNvSpPr/>
          <p:nvPr/>
        </p:nvSpPr>
        <p:spPr>
          <a:xfrm>
            <a:off x="7498080" y="4261104"/>
            <a:ext cx="804672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28"/>
          <p:cNvSpPr/>
          <p:nvPr/>
        </p:nvSpPr>
        <p:spPr>
          <a:xfrm>
            <a:off x="7498080" y="4224528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8"/>
          <p:cNvSpPr/>
          <p:nvPr/>
        </p:nvSpPr>
        <p:spPr>
          <a:xfrm>
            <a:off x="5852160" y="4517136"/>
            <a:ext cx="804672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28"/>
          <p:cNvSpPr/>
          <p:nvPr/>
        </p:nvSpPr>
        <p:spPr>
          <a:xfrm>
            <a:off x="5852160" y="4462272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8"/>
          <p:cNvSpPr/>
          <p:nvPr/>
        </p:nvSpPr>
        <p:spPr>
          <a:xfrm>
            <a:off x="6675120" y="4517136"/>
            <a:ext cx="804672" cy="237744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28"/>
          <p:cNvSpPr/>
          <p:nvPr/>
        </p:nvSpPr>
        <p:spPr>
          <a:xfrm>
            <a:off x="6675120" y="4462272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8"/>
          <p:cNvSpPr/>
          <p:nvPr/>
        </p:nvSpPr>
        <p:spPr>
          <a:xfrm>
            <a:off x="7498080" y="4517136"/>
            <a:ext cx="804672" cy="237744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28"/>
          <p:cNvSpPr/>
          <p:nvPr/>
        </p:nvSpPr>
        <p:spPr>
          <a:xfrm>
            <a:off x="7498080" y="4462272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29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3.3 Knowledge Base, Inference &amp; Modus Ponens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9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29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 Knowledge Base is a collection of logical sentences (facts + rules) the AI believes to be true.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9"/>
          <p:cNvSpPr/>
          <p:nvPr/>
        </p:nvSpPr>
        <p:spPr>
          <a:xfrm>
            <a:off x="274320" y="914400"/>
            <a:ext cx="4160520" cy="233172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29"/>
          <p:cNvSpPr/>
          <p:nvPr/>
        </p:nvSpPr>
        <p:spPr>
          <a:xfrm>
            <a:off x="274320" y="914400"/>
            <a:ext cx="4160520" cy="2743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29"/>
          <p:cNvSpPr/>
          <p:nvPr/>
        </p:nvSpPr>
        <p:spPr>
          <a:xfrm>
            <a:off x="274320" y="91440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Base — University Admission System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9"/>
          <p:cNvSpPr/>
          <p:nvPr/>
        </p:nvSpPr>
        <p:spPr>
          <a:xfrm>
            <a:off x="411480" y="1234440"/>
            <a:ext cx="38862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Fact 1: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MatricScore(Ali) = 82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Fact 2: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FSCScore(Ali) = 79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Fact 3: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TestScore(Ali) = 88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Fact 4: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Paid_Fee(Ali) = TRUE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Rule 1: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Matric≥80 AND FSC≥70 AND Test≥85 THEN Eligible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Rule 2: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Eligible AND Paid_Fee THEN Admitted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9"/>
          <p:cNvSpPr/>
          <p:nvPr/>
        </p:nvSpPr>
        <p:spPr>
          <a:xfrm>
            <a:off x="4754880" y="914400"/>
            <a:ext cx="4114800" cy="2331720"/>
          </a:xfrm>
          <a:prstGeom prst="rect">
            <a:avLst/>
          </a:prstGeom>
          <a:solidFill>
            <a:srgbClr val="ECFDF5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29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29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Modus Ponens — The Core Inference Rule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9"/>
          <p:cNvSpPr/>
          <p:nvPr/>
        </p:nvSpPr>
        <p:spPr>
          <a:xfrm>
            <a:off x="4892040" y="1234440"/>
            <a:ext cx="384048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Premise 1: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 → Q  (If P then Q)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Premise 2: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  (P is TRUE)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——————————————————</a:t>
            </a:r>
            <a:b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Conclusion: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  (Therefore Q must be TRUE)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b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Eligible(Ali) → CanApply(Ali)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Eligible(Ali) = TRUE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────────────────────────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CanApply(Ali) = TRUE 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9"/>
          <p:cNvSpPr/>
          <p:nvPr/>
        </p:nvSpPr>
        <p:spPr>
          <a:xfrm>
            <a:off x="274320" y="3337560"/>
            <a:ext cx="8595360" cy="1627632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29"/>
          <p:cNvSpPr/>
          <p:nvPr/>
        </p:nvSpPr>
        <p:spPr>
          <a:xfrm>
            <a:off x="274320" y="3337560"/>
            <a:ext cx="8595360" cy="27432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29"/>
          <p:cNvSpPr/>
          <p:nvPr/>
        </p:nvSpPr>
        <p:spPr>
          <a:xfrm>
            <a:off x="274320" y="333756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5 — Home Security Inference Chain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9"/>
          <p:cNvSpPr/>
          <p:nvPr/>
        </p:nvSpPr>
        <p:spPr>
          <a:xfrm>
            <a:off x="411480" y="3657600"/>
            <a:ext cx="8321040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Rules: </a:t>
            </a: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R1: MotionDetected→AlertTriggered  R2: AlertTriggered AND NightTime→SendSMS  R3: AlertTriggered AND NightTime→TurnOnLights  R4: SendSMS AND OwnerAway→CallPolice  R5: DoorUnlocked→MotionDetected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Facts: </a:t>
            </a: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DoorUnlocked=TRUE, NightTime=TRUE, OwnerAway=TRUE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Task: </a:t>
            </a: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Trace the full inference chain step by step. What is the final action? Which rule fires at each step?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30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5 — Solution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0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30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Home Security Inference Chain — Facts: DoorUnlocked=T, NightTime=T, OwnerAway=T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0"/>
          <p:cNvSpPr/>
          <p:nvPr/>
        </p:nvSpPr>
        <p:spPr>
          <a:xfrm>
            <a:off x="274320" y="960120"/>
            <a:ext cx="8595360" cy="566928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30"/>
          <p:cNvSpPr/>
          <p:nvPr/>
        </p:nvSpPr>
        <p:spPr>
          <a:xfrm>
            <a:off x="274320" y="960120"/>
            <a:ext cx="1005840" cy="566928"/>
          </a:xfrm>
          <a:prstGeom prst="rect">
            <a:avLst/>
          </a:prstGeom>
          <a:solidFill>
            <a:srgbClr val="6B7280"/>
          </a:solidFill>
          <a:ln w="1270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30"/>
          <p:cNvSpPr/>
          <p:nvPr/>
        </p:nvSpPr>
        <p:spPr>
          <a:xfrm>
            <a:off x="274320" y="96012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0"/>
          <p:cNvSpPr/>
          <p:nvPr/>
        </p:nvSpPr>
        <p:spPr>
          <a:xfrm>
            <a:off x="1371600" y="1014984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DoorUnlocked=TRUE, NightTime=TRUE, OwnerAway=TRUE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0"/>
          <p:cNvSpPr/>
          <p:nvPr/>
        </p:nvSpPr>
        <p:spPr>
          <a:xfrm>
            <a:off x="274320" y="1581912"/>
            <a:ext cx="859536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30"/>
          <p:cNvSpPr/>
          <p:nvPr/>
        </p:nvSpPr>
        <p:spPr>
          <a:xfrm>
            <a:off x="274320" y="1581912"/>
            <a:ext cx="1005840" cy="56692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30"/>
          <p:cNvSpPr/>
          <p:nvPr/>
        </p:nvSpPr>
        <p:spPr>
          <a:xfrm>
            <a:off x="274320" y="1581912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0"/>
          <p:cNvSpPr/>
          <p:nvPr/>
        </p:nvSpPr>
        <p:spPr>
          <a:xfrm>
            <a:off x="1371600" y="1636776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DoorUnlocked=T + Rule 5 (DoorUnlocked → MotionDetected) ⇒ MotionDetected=TRUE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0"/>
          <p:cNvSpPr/>
          <p:nvPr/>
        </p:nvSpPr>
        <p:spPr>
          <a:xfrm>
            <a:off x="274320" y="2203704"/>
            <a:ext cx="8595360" cy="566928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30"/>
          <p:cNvSpPr/>
          <p:nvPr/>
        </p:nvSpPr>
        <p:spPr>
          <a:xfrm>
            <a:off x="274320" y="2203704"/>
            <a:ext cx="1005840" cy="566928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30"/>
          <p:cNvSpPr/>
          <p:nvPr/>
        </p:nvSpPr>
        <p:spPr>
          <a:xfrm>
            <a:off x="274320" y="2203704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0"/>
          <p:cNvSpPr/>
          <p:nvPr/>
        </p:nvSpPr>
        <p:spPr>
          <a:xfrm>
            <a:off x="1371600" y="2258568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MotionDetected=T + Rule 1 (MotionDetected → AlertTriggered) ⇒ AlertTriggered=TRUE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0"/>
          <p:cNvSpPr/>
          <p:nvPr/>
        </p:nvSpPr>
        <p:spPr>
          <a:xfrm>
            <a:off x="274320" y="2825496"/>
            <a:ext cx="859536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30"/>
          <p:cNvSpPr/>
          <p:nvPr/>
        </p:nvSpPr>
        <p:spPr>
          <a:xfrm>
            <a:off x="274320" y="2825496"/>
            <a:ext cx="1005840" cy="56692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30"/>
          <p:cNvSpPr/>
          <p:nvPr/>
        </p:nvSpPr>
        <p:spPr>
          <a:xfrm>
            <a:off x="274320" y="2825496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0"/>
          <p:cNvSpPr/>
          <p:nvPr/>
        </p:nvSpPr>
        <p:spPr>
          <a:xfrm>
            <a:off x="1371600" y="288036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AlertTriggered=T AND NightTime=T + Rule 2 ⇒ SendSMS=TRUE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0"/>
          <p:cNvSpPr/>
          <p:nvPr/>
        </p:nvSpPr>
        <p:spPr>
          <a:xfrm>
            <a:off x="274320" y="3447288"/>
            <a:ext cx="8595360" cy="566928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30"/>
          <p:cNvSpPr/>
          <p:nvPr/>
        </p:nvSpPr>
        <p:spPr>
          <a:xfrm>
            <a:off x="274320" y="3447288"/>
            <a:ext cx="1005840" cy="56692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30"/>
          <p:cNvSpPr/>
          <p:nvPr/>
        </p:nvSpPr>
        <p:spPr>
          <a:xfrm>
            <a:off x="274320" y="3447288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0"/>
          <p:cNvSpPr/>
          <p:nvPr/>
        </p:nvSpPr>
        <p:spPr>
          <a:xfrm>
            <a:off x="1371600" y="3502152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AlertTriggered=T AND NightTime=T + Rule 3 ⇒ TurnOnLights=TRUE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0"/>
          <p:cNvSpPr/>
          <p:nvPr/>
        </p:nvSpPr>
        <p:spPr>
          <a:xfrm>
            <a:off x="274320" y="4069080"/>
            <a:ext cx="859536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30"/>
          <p:cNvSpPr/>
          <p:nvPr/>
        </p:nvSpPr>
        <p:spPr>
          <a:xfrm>
            <a:off x="274320" y="4069080"/>
            <a:ext cx="1005840" cy="56692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30"/>
          <p:cNvSpPr/>
          <p:nvPr/>
        </p:nvSpPr>
        <p:spPr>
          <a:xfrm>
            <a:off x="274320" y="406908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0"/>
          <p:cNvSpPr/>
          <p:nvPr/>
        </p:nvSpPr>
        <p:spPr>
          <a:xfrm>
            <a:off x="1371600" y="4123944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SendSMS=T AND OwnerAway=T + Rule 4 ⇒ CallPolice=TRUE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3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Actions:  SendSMS  •  TurnOnLights  •  CallPolice  |  Every step = Modus Ponens: IF rule AND premise THEN conclusion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3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3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4 — Truth Table Construction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1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1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P='I have my laptop'  Q='WiFi is working'  R='I can do my assignment'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1"/>
          <p:cNvSpPr/>
          <p:nvPr/>
        </p:nvSpPr>
        <p:spPr>
          <a:xfrm>
            <a:off x="274320" y="960120"/>
            <a:ext cx="8595360" cy="128016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31"/>
          <p:cNvSpPr/>
          <p:nvPr/>
        </p:nvSpPr>
        <p:spPr>
          <a:xfrm>
            <a:off x="274320" y="960120"/>
            <a:ext cx="54864" cy="12801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31"/>
          <p:cNvSpPr/>
          <p:nvPr/>
        </p:nvSpPr>
        <p:spPr>
          <a:xfrm>
            <a:off x="411480" y="1033272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Formula 1: (P AND Q) → 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1"/>
          <p:cNvSpPr/>
          <p:nvPr/>
        </p:nvSpPr>
        <p:spPr>
          <a:xfrm>
            <a:off x="411480" y="1362456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Build the full truth table: P | Q | R | P AND Q | (P AND Q) → 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For which combination(s) of P, Q, R is this formula FALSE?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1"/>
          <p:cNvSpPr/>
          <p:nvPr/>
        </p:nvSpPr>
        <p:spPr>
          <a:xfrm>
            <a:off x="274320" y="2313432"/>
            <a:ext cx="8595360" cy="12801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31"/>
          <p:cNvSpPr/>
          <p:nvPr/>
        </p:nvSpPr>
        <p:spPr>
          <a:xfrm>
            <a:off x="274320" y="2313432"/>
            <a:ext cx="54864" cy="12801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31"/>
          <p:cNvSpPr/>
          <p:nvPr/>
        </p:nvSpPr>
        <p:spPr>
          <a:xfrm>
            <a:off x="411480" y="2386584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Formula 2: NOT P  OR  (Q AND R)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1"/>
          <p:cNvSpPr/>
          <p:nvPr/>
        </p:nvSpPr>
        <p:spPr>
          <a:xfrm>
            <a:off x="411480" y="2715768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Build the full truth table: P | Q | R | NOT P | Q AND R | NOT P OR (Q AND R)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For which rows is this formula TRUE?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1"/>
          <p:cNvSpPr/>
          <p:nvPr/>
        </p:nvSpPr>
        <p:spPr>
          <a:xfrm>
            <a:off x="274320" y="3666744"/>
            <a:ext cx="8595360" cy="128016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31"/>
          <p:cNvSpPr/>
          <p:nvPr/>
        </p:nvSpPr>
        <p:spPr>
          <a:xfrm>
            <a:off x="274320" y="3666744"/>
            <a:ext cx="54864" cy="12801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1"/>
          <p:cNvSpPr/>
          <p:nvPr/>
        </p:nvSpPr>
        <p:spPr>
          <a:xfrm>
            <a:off x="411480" y="3739896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Formula 3: (P → Q) AND (Q → R) → (P → R)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1"/>
          <p:cNvSpPr/>
          <p:nvPr/>
        </p:nvSpPr>
        <p:spPr>
          <a:xfrm>
            <a:off x="411480" y="4069080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This is called Hypothetical Syllogism. Is it always TRUE? Build the truth table to verify. What does this formula mean in plain English?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3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4 — Solution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2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3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Truth Table Construction — P='Laptop'  Q='WiFi'  R='Can do assignment'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2"/>
          <p:cNvSpPr/>
          <p:nvPr/>
        </p:nvSpPr>
        <p:spPr>
          <a:xfrm>
            <a:off x="274320" y="914400"/>
            <a:ext cx="5120640" cy="301752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32"/>
          <p:cNvSpPr/>
          <p:nvPr/>
        </p:nvSpPr>
        <p:spPr>
          <a:xfrm>
            <a:off x="274320" y="914400"/>
            <a:ext cx="5120640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32"/>
          <p:cNvSpPr/>
          <p:nvPr/>
        </p:nvSpPr>
        <p:spPr>
          <a:xfrm>
            <a:off x="274320" y="91440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 1: (P AND Q) → 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32"/>
          <p:cNvSpPr/>
          <p:nvPr/>
        </p:nvSpPr>
        <p:spPr>
          <a:xfrm>
            <a:off x="320040" y="1207008"/>
            <a:ext cx="502920" cy="21945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32"/>
          <p:cNvSpPr/>
          <p:nvPr/>
        </p:nvSpPr>
        <p:spPr>
          <a:xfrm>
            <a:off x="320040" y="120700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32"/>
          <p:cNvSpPr/>
          <p:nvPr/>
        </p:nvSpPr>
        <p:spPr>
          <a:xfrm>
            <a:off x="841248" y="1207008"/>
            <a:ext cx="502920" cy="21945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32"/>
          <p:cNvSpPr/>
          <p:nvPr/>
        </p:nvSpPr>
        <p:spPr>
          <a:xfrm>
            <a:off x="841248" y="120700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32"/>
          <p:cNvSpPr/>
          <p:nvPr/>
        </p:nvSpPr>
        <p:spPr>
          <a:xfrm>
            <a:off x="1362456" y="1207008"/>
            <a:ext cx="502920" cy="21945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32"/>
          <p:cNvSpPr/>
          <p:nvPr/>
        </p:nvSpPr>
        <p:spPr>
          <a:xfrm>
            <a:off x="1362456" y="120700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32"/>
          <p:cNvSpPr/>
          <p:nvPr/>
        </p:nvSpPr>
        <p:spPr>
          <a:xfrm>
            <a:off x="1883664" y="1207008"/>
            <a:ext cx="594360" cy="21945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32"/>
          <p:cNvSpPr/>
          <p:nvPr/>
        </p:nvSpPr>
        <p:spPr>
          <a:xfrm>
            <a:off x="1883664" y="1207008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P∧Q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2"/>
          <p:cNvSpPr/>
          <p:nvPr/>
        </p:nvSpPr>
        <p:spPr>
          <a:xfrm>
            <a:off x="2496312" y="1207008"/>
            <a:ext cx="1371600" cy="21945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32"/>
          <p:cNvSpPr/>
          <p:nvPr/>
        </p:nvSpPr>
        <p:spPr>
          <a:xfrm>
            <a:off x="2496312" y="120700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(P∧Q)→R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32"/>
          <p:cNvSpPr/>
          <p:nvPr/>
        </p:nvSpPr>
        <p:spPr>
          <a:xfrm>
            <a:off x="320040" y="1453896"/>
            <a:ext cx="50292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32"/>
          <p:cNvSpPr/>
          <p:nvPr/>
        </p:nvSpPr>
        <p:spPr>
          <a:xfrm>
            <a:off x="320040" y="145389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32"/>
          <p:cNvSpPr/>
          <p:nvPr/>
        </p:nvSpPr>
        <p:spPr>
          <a:xfrm>
            <a:off x="841248" y="1453896"/>
            <a:ext cx="50292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32"/>
          <p:cNvSpPr/>
          <p:nvPr/>
        </p:nvSpPr>
        <p:spPr>
          <a:xfrm>
            <a:off x="841248" y="145389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32"/>
          <p:cNvSpPr/>
          <p:nvPr/>
        </p:nvSpPr>
        <p:spPr>
          <a:xfrm>
            <a:off x="1362456" y="1453896"/>
            <a:ext cx="50292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32"/>
          <p:cNvSpPr/>
          <p:nvPr/>
        </p:nvSpPr>
        <p:spPr>
          <a:xfrm>
            <a:off x="1362456" y="145389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2"/>
          <p:cNvSpPr/>
          <p:nvPr/>
        </p:nvSpPr>
        <p:spPr>
          <a:xfrm>
            <a:off x="1883664" y="1453896"/>
            <a:ext cx="59436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32"/>
          <p:cNvSpPr/>
          <p:nvPr/>
        </p:nvSpPr>
        <p:spPr>
          <a:xfrm>
            <a:off x="1883664" y="1453896"/>
            <a:ext cx="5943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32"/>
          <p:cNvSpPr/>
          <p:nvPr/>
        </p:nvSpPr>
        <p:spPr>
          <a:xfrm>
            <a:off x="2496312" y="1453896"/>
            <a:ext cx="137160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32"/>
          <p:cNvSpPr/>
          <p:nvPr/>
        </p:nvSpPr>
        <p:spPr>
          <a:xfrm>
            <a:off x="2496312" y="1453896"/>
            <a:ext cx="13716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2"/>
          <p:cNvSpPr/>
          <p:nvPr/>
        </p:nvSpPr>
        <p:spPr>
          <a:xfrm>
            <a:off x="320040" y="1636776"/>
            <a:ext cx="50292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32"/>
          <p:cNvSpPr/>
          <p:nvPr/>
        </p:nvSpPr>
        <p:spPr>
          <a:xfrm>
            <a:off x="320040" y="163677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32"/>
          <p:cNvSpPr/>
          <p:nvPr/>
        </p:nvSpPr>
        <p:spPr>
          <a:xfrm>
            <a:off x="841248" y="1636776"/>
            <a:ext cx="50292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32"/>
          <p:cNvSpPr/>
          <p:nvPr/>
        </p:nvSpPr>
        <p:spPr>
          <a:xfrm>
            <a:off x="841248" y="163677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32"/>
          <p:cNvSpPr/>
          <p:nvPr/>
        </p:nvSpPr>
        <p:spPr>
          <a:xfrm>
            <a:off x="1362456" y="1636776"/>
            <a:ext cx="50292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32"/>
          <p:cNvSpPr/>
          <p:nvPr/>
        </p:nvSpPr>
        <p:spPr>
          <a:xfrm>
            <a:off x="1362456" y="163677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32"/>
          <p:cNvSpPr/>
          <p:nvPr/>
        </p:nvSpPr>
        <p:spPr>
          <a:xfrm>
            <a:off x="1883664" y="1636776"/>
            <a:ext cx="59436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32"/>
          <p:cNvSpPr/>
          <p:nvPr/>
        </p:nvSpPr>
        <p:spPr>
          <a:xfrm>
            <a:off x="1883664" y="1636776"/>
            <a:ext cx="5943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2"/>
          <p:cNvSpPr/>
          <p:nvPr/>
        </p:nvSpPr>
        <p:spPr>
          <a:xfrm>
            <a:off x="2496312" y="1636776"/>
            <a:ext cx="1371600" cy="173736"/>
          </a:xfrm>
          <a:prstGeom prst="rect">
            <a:avLst/>
          </a:prstGeom>
          <a:solidFill>
            <a:srgbClr val="FEE2E2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32"/>
          <p:cNvSpPr/>
          <p:nvPr/>
        </p:nvSpPr>
        <p:spPr>
          <a:xfrm>
            <a:off x="2496312" y="1636776"/>
            <a:ext cx="13716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 ★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2"/>
          <p:cNvSpPr/>
          <p:nvPr/>
        </p:nvSpPr>
        <p:spPr>
          <a:xfrm>
            <a:off x="320040" y="1819656"/>
            <a:ext cx="50292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32"/>
          <p:cNvSpPr/>
          <p:nvPr/>
        </p:nvSpPr>
        <p:spPr>
          <a:xfrm>
            <a:off x="320040" y="181965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2"/>
          <p:cNvSpPr/>
          <p:nvPr/>
        </p:nvSpPr>
        <p:spPr>
          <a:xfrm>
            <a:off x="841248" y="1819656"/>
            <a:ext cx="50292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32"/>
          <p:cNvSpPr/>
          <p:nvPr/>
        </p:nvSpPr>
        <p:spPr>
          <a:xfrm>
            <a:off x="841248" y="181965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2"/>
          <p:cNvSpPr/>
          <p:nvPr/>
        </p:nvSpPr>
        <p:spPr>
          <a:xfrm>
            <a:off x="1362456" y="1819656"/>
            <a:ext cx="50292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32"/>
          <p:cNvSpPr/>
          <p:nvPr/>
        </p:nvSpPr>
        <p:spPr>
          <a:xfrm>
            <a:off x="1362456" y="181965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32"/>
          <p:cNvSpPr/>
          <p:nvPr/>
        </p:nvSpPr>
        <p:spPr>
          <a:xfrm>
            <a:off x="1883664" y="1819656"/>
            <a:ext cx="59436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32"/>
          <p:cNvSpPr/>
          <p:nvPr/>
        </p:nvSpPr>
        <p:spPr>
          <a:xfrm>
            <a:off x="1883664" y="1819656"/>
            <a:ext cx="5943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2"/>
          <p:cNvSpPr/>
          <p:nvPr/>
        </p:nvSpPr>
        <p:spPr>
          <a:xfrm>
            <a:off x="2496312" y="1819656"/>
            <a:ext cx="137160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32"/>
          <p:cNvSpPr/>
          <p:nvPr/>
        </p:nvSpPr>
        <p:spPr>
          <a:xfrm>
            <a:off x="2496312" y="1819656"/>
            <a:ext cx="13716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32"/>
          <p:cNvSpPr/>
          <p:nvPr/>
        </p:nvSpPr>
        <p:spPr>
          <a:xfrm>
            <a:off x="320040" y="2002536"/>
            <a:ext cx="50292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2"/>
          <p:cNvSpPr/>
          <p:nvPr/>
        </p:nvSpPr>
        <p:spPr>
          <a:xfrm>
            <a:off x="320040" y="200253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2"/>
          <p:cNvSpPr/>
          <p:nvPr/>
        </p:nvSpPr>
        <p:spPr>
          <a:xfrm>
            <a:off x="841248" y="2002536"/>
            <a:ext cx="50292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32"/>
          <p:cNvSpPr/>
          <p:nvPr/>
        </p:nvSpPr>
        <p:spPr>
          <a:xfrm>
            <a:off x="841248" y="200253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2"/>
          <p:cNvSpPr/>
          <p:nvPr/>
        </p:nvSpPr>
        <p:spPr>
          <a:xfrm>
            <a:off x="1362456" y="2002536"/>
            <a:ext cx="50292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2"/>
          <p:cNvSpPr/>
          <p:nvPr/>
        </p:nvSpPr>
        <p:spPr>
          <a:xfrm>
            <a:off x="1362456" y="200253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32"/>
          <p:cNvSpPr/>
          <p:nvPr/>
        </p:nvSpPr>
        <p:spPr>
          <a:xfrm>
            <a:off x="1883664" y="2002536"/>
            <a:ext cx="59436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2"/>
          <p:cNvSpPr/>
          <p:nvPr/>
        </p:nvSpPr>
        <p:spPr>
          <a:xfrm>
            <a:off x="1883664" y="2002536"/>
            <a:ext cx="5943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2"/>
          <p:cNvSpPr/>
          <p:nvPr/>
        </p:nvSpPr>
        <p:spPr>
          <a:xfrm>
            <a:off x="2496312" y="2002536"/>
            <a:ext cx="137160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32"/>
          <p:cNvSpPr/>
          <p:nvPr/>
        </p:nvSpPr>
        <p:spPr>
          <a:xfrm>
            <a:off x="2496312" y="2002536"/>
            <a:ext cx="13716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32"/>
          <p:cNvSpPr/>
          <p:nvPr/>
        </p:nvSpPr>
        <p:spPr>
          <a:xfrm>
            <a:off x="320040" y="2185416"/>
            <a:ext cx="50292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32"/>
          <p:cNvSpPr/>
          <p:nvPr/>
        </p:nvSpPr>
        <p:spPr>
          <a:xfrm>
            <a:off x="320040" y="218541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32"/>
          <p:cNvSpPr/>
          <p:nvPr/>
        </p:nvSpPr>
        <p:spPr>
          <a:xfrm>
            <a:off x="841248" y="2185416"/>
            <a:ext cx="50292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32"/>
          <p:cNvSpPr/>
          <p:nvPr/>
        </p:nvSpPr>
        <p:spPr>
          <a:xfrm>
            <a:off x="841248" y="218541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2"/>
          <p:cNvSpPr/>
          <p:nvPr/>
        </p:nvSpPr>
        <p:spPr>
          <a:xfrm>
            <a:off x="1362456" y="2185416"/>
            <a:ext cx="50292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32"/>
          <p:cNvSpPr/>
          <p:nvPr/>
        </p:nvSpPr>
        <p:spPr>
          <a:xfrm>
            <a:off x="1362456" y="218541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2"/>
          <p:cNvSpPr/>
          <p:nvPr/>
        </p:nvSpPr>
        <p:spPr>
          <a:xfrm>
            <a:off x="1883664" y="2185416"/>
            <a:ext cx="59436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32"/>
          <p:cNvSpPr/>
          <p:nvPr/>
        </p:nvSpPr>
        <p:spPr>
          <a:xfrm>
            <a:off x="1883664" y="2185416"/>
            <a:ext cx="5943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32"/>
          <p:cNvSpPr/>
          <p:nvPr/>
        </p:nvSpPr>
        <p:spPr>
          <a:xfrm>
            <a:off x="2496312" y="2185416"/>
            <a:ext cx="137160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32"/>
          <p:cNvSpPr/>
          <p:nvPr/>
        </p:nvSpPr>
        <p:spPr>
          <a:xfrm>
            <a:off x="2496312" y="2185416"/>
            <a:ext cx="13716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32"/>
          <p:cNvSpPr/>
          <p:nvPr/>
        </p:nvSpPr>
        <p:spPr>
          <a:xfrm>
            <a:off x="320040" y="2368296"/>
            <a:ext cx="50292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32"/>
          <p:cNvSpPr/>
          <p:nvPr/>
        </p:nvSpPr>
        <p:spPr>
          <a:xfrm>
            <a:off x="320040" y="236829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32"/>
          <p:cNvSpPr/>
          <p:nvPr/>
        </p:nvSpPr>
        <p:spPr>
          <a:xfrm>
            <a:off x="841248" y="2368296"/>
            <a:ext cx="50292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32"/>
          <p:cNvSpPr/>
          <p:nvPr/>
        </p:nvSpPr>
        <p:spPr>
          <a:xfrm>
            <a:off x="841248" y="236829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32"/>
          <p:cNvSpPr/>
          <p:nvPr/>
        </p:nvSpPr>
        <p:spPr>
          <a:xfrm>
            <a:off x="1362456" y="2368296"/>
            <a:ext cx="50292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32"/>
          <p:cNvSpPr/>
          <p:nvPr/>
        </p:nvSpPr>
        <p:spPr>
          <a:xfrm>
            <a:off x="1362456" y="236829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32"/>
          <p:cNvSpPr/>
          <p:nvPr/>
        </p:nvSpPr>
        <p:spPr>
          <a:xfrm>
            <a:off x="1883664" y="2368296"/>
            <a:ext cx="59436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32"/>
          <p:cNvSpPr/>
          <p:nvPr/>
        </p:nvSpPr>
        <p:spPr>
          <a:xfrm>
            <a:off x="1883664" y="2368296"/>
            <a:ext cx="5943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32"/>
          <p:cNvSpPr/>
          <p:nvPr/>
        </p:nvSpPr>
        <p:spPr>
          <a:xfrm>
            <a:off x="2496312" y="2368296"/>
            <a:ext cx="137160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32"/>
          <p:cNvSpPr/>
          <p:nvPr/>
        </p:nvSpPr>
        <p:spPr>
          <a:xfrm>
            <a:off x="2496312" y="2368296"/>
            <a:ext cx="13716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32"/>
          <p:cNvSpPr/>
          <p:nvPr/>
        </p:nvSpPr>
        <p:spPr>
          <a:xfrm>
            <a:off x="320040" y="2551176"/>
            <a:ext cx="50292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32"/>
          <p:cNvSpPr/>
          <p:nvPr/>
        </p:nvSpPr>
        <p:spPr>
          <a:xfrm>
            <a:off x="320040" y="255117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32"/>
          <p:cNvSpPr/>
          <p:nvPr/>
        </p:nvSpPr>
        <p:spPr>
          <a:xfrm>
            <a:off x="841248" y="2551176"/>
            <a:ext cx="50292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32"/>
          <p:cNvSpPr/>
          <p:nvPr/>
        </p:nvSpPr>
        <p:spPr>
          <a:xfrm>
            <a:off x="841248" y="255117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2"/>
          <p:cNvSpPr/>
          <p:nvPr/>
        </p:nvSpPr>
        <p:spPr>
          <a:xfrm>
            <a:off x="1362456" y="2551176"/>
            <a:ext cx="50292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32"/>
          <p:cNvSpPr/>
          <p:nvPr/>
        </p:nvSpPr>
        <p:spPr>
          <a:xfrm>
            <a:off x="1362456" y="255117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32"/>
          <p:cNvSpPr/>
          <p:nvPr/>
        </p:nvSpPr>
        <p:spPr>
          <a:xfrm>
            <a:off x="1883664" y="2551176"/>
            <a:ext cx="59436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32"/>
          <p:cNvSpPr/>
          <p:nvPr/>
        </p:nvSpPr>
        <p:spPr>
          <a:xfrm>
            <a:off x="1883664" y="2551176"/>
            <a:ext cx="5943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32"/>
          <p:cNvSpPr/>
          <p:nvPr/>
        </p:nvSpPr>
        <p:spPr>
          <a:xfrm>
            <a:off x="2496312" y="2551176"/>
            <a:ext cx="137160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32"/>
          <p:cNvSpPr/>
          <p:nvPr/>
        </p:nvSpPr>
        <p:spPr>
          <a:xfrm>
            <a:off x="2496312" y="2551176"/>
            <a:ext cx="13716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32"/>
          <p:cNvSpPr/>
          <p:nvPr/>
        </p:nvSpPr>
        <p:spPr>
          <a:xfrm>
            <a:off x="320040" y="2734056"/>
            <a:ext cx="50292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32"/>
          <p:cNvSpPr/>
          <p:nvPr/>
        </p:nvSpPr>
        <p:spPr>
          <a:xfrm>
            <a:off x="320040" y="273405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32"/>
          <p:cNvSpPr/>
          <p:nvPr/>
        </p:nvSpPr>
        <p:spPr>
          <a:xfrm>
            <a:off x="841248" y="2734056"/>
            <a:ext cx="50292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32"/>
          <p:cNvSpPr/>
          <p:nvPr/>
        </p:nvSpPr>
        <p:spPr>
          <a:xfrm>
            <a:off x="841248" y="273405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32"/>
          <p:cNvSpPr/>
          <p:nvPr/>
        </p:nvSpPr>
        <p:spPr>
          <a:xfrm>
            <a:off x="1362456" y="2734056"/>
            <a:ext cx="50292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32"/>
          <p:cNvSpPr/>
          <p:nvPr/>
        </p:nvSpPr>
        <p:spPr>
          <a:xfrm>
            <a:off x="1362456" y="2734056"/>
            <a:ext cx="5029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32"/>
          <p:cNvSpPr/>
          <p:nvPr/>
        </p:nvSpPr>
        <p:spPr>
          <a:xfrm>
            <a:off x="1883664" y="2734056"/>
            <a:ext cx="594360" cy="17373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32"/>
          <p:cNvSpPr/>
          <p:nvPr/>
        </p:nvSpPr>
        <p:spPr>
          <a:xfrm>
            <a:off x="1883664" y="2734056"/>
            <a:ext cx="5943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32"/>
          <p:cNvSpPr/>
          <p:nvPr/>
        </p:nvSpPr>
        <p:spPr>
          <a:xfrm>
            <a:off x="2496312" y="2734056"/>
            <a:ext cx="1371600" cy="173736"/>
          </a:xfrm>
          <a:prstGeom prst="rect">
            <a:avLst/>
          </a:prstGeom>
          <a:solidFill>
            <a:srgbClr val="CCFBF1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32"/>
          <p:cNvSpPr/>
          <p:nvPr/>
        </p:nvSpPr>
        <p:spPr>
          <a:xfrm>
            <a:off x="2496312" y="2734056"/>
            <a:ext cx="13716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2"/>
          <p:cNvSpPr/>
          <p:nvPr/>
        </p:nvSpPr>
        <p:spPr>
          <a:xfrm>
            <a:off x="320040" y="294436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Only FALSE when P=T, Q=T, R=F (true premise, false conclusion)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32"/>
          <p:cNvSpPr/>
          <p:nvPr/>
        </p:nvSpPr>
        <p:spPr>
          <a:xfrm>
            <a:off x="5669280" y="914400"/>
            <a:ext cx="3200400" cy="301752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32"/>
          <p:cNvSpPr/>
          <p:nvPr/>
        </p:nvSpPr>
        <p:spPr>
          <a:xfrm>
            <a:off x="5669280" y="914400"/>
            <a:ext cx="3200400" cy="25603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32"/>
          <p:cNvSpPr/>
          <p:nvPr/>
        </p:nvSpPr>
        <p:spPr>
          <a:xfrm>
            <a:off x="5669280" y="9144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 3: Hypothetical Syllogism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32"/>
          <p:cNvSpPr/>
          <p:nvPr/>
        </p:nvSpPr>
        <p:spPr>
          <a:xfrm>
            <a:off x="5760720" y="1207008"/>
            <a:ext cx="3017520" cy="2688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(P→Q) AND (Q→R) → (P→R)</a:t>
            </a:r>
            <a:br>
              <a:rPr lang="en-US" sz="13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TAUTOLOGY — all 8 rows are TRUE.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Plain English: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A→B and B→C, then A→C directly. The Chain Rule of logic.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Why it matters: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This is the basis of multi-step inference chains. If Rain→Flood and Flood→Evacuate, then Rain→Evacuate works directly.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2"/>
          <p:cNvSpPr/>
          <p:nvPr/>
        </p:nvSpPr>
        <p:spPr>
          <a:xfrm>
            <a:off x="274320" y="4041648"/>
            <a:ext cx="8595360" cy="914400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32"/>
          <p:cNvSpPr/>
          <p:nvPr/>
        </p:nvSpPr>
        <p:spPr>
          <a:xfrm>
            <a:off x="274320" y="4041648"/>
            <a:ext cx="8595360" cy="25603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32"/>
          <p:cNvSpPr/>
          <p:nvPr/>
        </p:nvSpPr>
        <p:spPr>
          <a:xfrm>
            <a:off x="274320" y="404164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Limitation of Propositional Logic — Why We Need First Order Logic Next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2"/>
          <p:cNvSpPr/>
          <p:nvPr/>
        </p:nvSpPr>
        <p:spPr>
          <a:xfrm>
            <a:off x="411480" y="4334256"/>
            <a:ext cx="832104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To say 'All students need a student ID', propositional logic requires: NeedsID_Ali=TRUE, NeedsID_Sara=TRUE, ... (one per student!)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We CANNOT write a single general rule 'for all students...' → This is exactly why First Order Logic exists.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3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33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Questions — Part 3: Propositional Logic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33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3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Think carefully and write your answers before turning to the next slide.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33"/>
          <p:cNvSpPr/>
          <p:nvPr/>
        </p:nvSpPr>
        <p:spPr>
          <a:xfrm>
            <a:off x="274320" y="960120"/>
            <a:ext cx="8595360" cy="1115568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1" name="Google Shape;1171;p33"/>
          <p:cNvSpPr/>
          <p:nvPr/>
        </p:nvSpPr>
        <p:spPr>
          <a:xfrm>
            <a:off x="274320" y="960120"/>
            <a:ext cx="54864" cy="111556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33"/>
          <p:cNvSpPr/>
          <p:nvPr/>
        </p:nvSpPr>
        <p:spPr>
          <a:xfrm>
            <a:off x="411480" y="1033272"/>
            <a:ext cx="8321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Q8. Which of these are valid propositions? For each, state TRUE, FALSE, or INVALID and explain: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The speed of light is 300,000 km/s   (b) Can AI think?   (c) Pakistan won the 1992 Cricket World Cup   (d) Close the textbook.   (e) This statement is false.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33"/>
          <p:cNvSpPr/>
          <p:nvPr/>
        </p:nvSpPr>
        <p:spPr>
          <a:xfrm>
            <a:off x="274320" y="2130552"/>
            <a:ext cx="8595360" cy="7498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p33"/>
          <p:cNvSpPr/>
          <p:nvPr/>
        </p:nvSpPr>
        <p:spPr>
          <a:xfrm>
            <a:off x="274320" y="2130552"/>
            <a:ext cx="54864" cy="74980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33"/>
          <p:cNvSpPr/>
          <p:nvPr/>
        </p:nvSpPr>
        <p:spPr>
          <a:xfrm>
            <a:off x="411480" y="2203704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Q9. Build the full truth table for:  (P OR Q)  AND  (NOT P)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For which combination(s) of P and Q is this formula TRUE?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33"/>
          <p:cNvSpPr/>
          <p:nvPr/>
        </p:nvSpPr>
        <p:spPr>
          <a:xfrm>
            <a:off x="274320" y="2935224"/>
            <a:ext cx="8595360" cy="749808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33"/>
          <p:cNvSpPr/>
          <p:nvPr/>
        </p:nvSpPr>
        <p:spPr>
          <a:xfrm>
            <a:off x="274320" y="2935224"/>
            <a:ext cx="54864" cy="74980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8" name="Google Shape;1178;p33"/>
          <p:cNvSpPr/>
          <p:nvPr/>
        </p:nvSpPr>
        <p:spPr>
          <a:xfrm>
            <a:off x="411480" y="3008376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Q10. Apply Modus Ponens step by step to derive all conclusions: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(1) Rain → Flood   (2) Flood → Evacuate   (3) Evacuate → CallArmy   Given: Rain = TRUE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33"/>
          <p:cNvSpPr/>
          <p:nvPr/>
        </p:nvSpPr>
        <p:spPr>
          <a:xfrm>
            <a:off x="274320" y="3739896"/>
            <a:ext cx="8595360" cy="7498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33"/>
          <p:cNvSpPr/>
          <p:nvPr/>
        </p:nvSpPr>
        <p:spPr>
          <a:xfrm>
            <a:off x="274320" y="3739896"/>
            <a:ext cx="54864" cy="74980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33"/>
          <p:cNvSpPr/>
          <p:nvPr/>
        </p:nvSpPr>
        <p:spPr>
          <a:xfrm>
            <a:off x="411480" y="3813048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Q11. Create your own small Knowledge Base with 3 rules and 2 facts for a LIBRARY SYSTEM. Show one complete inference using Modus Ponens.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33"/>
          <p:cNvSpPr/>
          <p:nvPr/>
        </p:nvSpPr>
        <p:spPr>
          <a:xfrm>
            <a:off x="274320" y="4544568"/>
            <a:ext cx="8595360" cy="749808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33"/>
          <p:cNvSpPr/>
          <p:nvPr/>
        </p:nvSpPr>
        <p:spPr>
          <a:xfrm>
            <a:off x="274320" y="4544568"/>
            <a:ext cx="54864" cy="74980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33"/>
          <p:cNvSpPr/>
          <p:nvPr/>
        </p:nvSpPr>
        <p:spPr>
          <a:xfrm>
            <a:off x="411480" y="461772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Q12. CHALLENGE: Is the formula  P → (Q → P)  a tautology? Build the full truth table and justify your answer. What is this axiom called?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3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34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Questions — Part 3: Answers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34"/>
          <p:cNvSpPr/>
          <p:nvPr/>
        </p:nvSpPr>
        <p:spPr>
          <a:xfrm>
            <a:off x="274320" y="950976"/>
            <a:ext cx="8595360" cy="768096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DDD6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34"/>
          <p:cNvSpPr/>
          <p:nvPr/>
        </p:nvSpPr>
        <p:spPr>
          <a:xfrm>
            <a:off x="274320" y="950976"/>
            <a:ext cx="54864" cy="76809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34"/>
          <p:cNvSpPr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Q8. Valid propositions?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4"/>
          <p:cNvSpPr/>
          <p:nvPr/>
        </p:nvSpPr>
        <p:spPr>
          <a:xfrm>
            <a:off x="411480" y="1225296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Valid → TRUE (factual &amp; verifiable). (b) INVALID — it's a question, no truth value. (c) Valid → TRUE (historical fact). (d) INVALID — command, not a proposition. (e) The Liar Paradox → leads to contradiction, not a valid proposition in classical logic.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34"/>
          <p:cNvSpPr/>
          <p:nvPr/>
        </p:nvSpPr>
        <p:spPr>
          <a:xfrm>
            <a:off x="274320" y="1773936"/>
            <a:ext cx="8595360" cy="768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D6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34"/>
          <p:cNvSpPr/>
          <p:nvPr/>
        </p:nvSpPr>
        <p:spPr>
          <a:xfrm>
            <a:off x="274320" y="1773936"/>
            <a:ext cx="54864" cy="76809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34"/>
          <p:cNvSpPr/>
          <p:nvPr/>
        </p:nvSpPr>
        <p:spPr>
          <a:xfrm>
            <a:off x="411480" y="181051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Q9. Truth table for (P OR Q) AND (NOT P)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34"/>
          <p:cNvSpPr/>
          <p:nvPr/>
        </p:nvSpPr>
        <p:spPr>
          <a:xfrm>
            <a:off x="411480" y="2048256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T|T: T AND F = F   |   T|F: T AND F = F   |   F|T: T AND T = T  ← ONLY TRUE ROW   |   F|F: F AND T = 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This expression is TRUE only when P=FALSE and Q=TRUE.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34"/>
          <p:cNvSpPr/>
          <p:nvPr/>
        </p:nvSpPr>
        <p:spPr>
          <a:xfrm>
            <a:off x="274320" y="2596896"/>
            <a:ext cx="8595360" cy="768096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DDD6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34"/>
          <p:cNvSpPr/>
          <p:nvPr/>
        </p:nvSpPr>
        <p:spPr>
          <a:xfrm>
            <a:off x="274320" y="2596896"/>
            <a:ext cx="54864" cy="76809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2" name="Google Shape;1202;p34"/>
          <p:cNvSpPr/>
          <p:nvPr/>
        </p:nvSpPr>
        <p:spPr>
          <a:xfrm>
            <a:off x="411480" y="263347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Q10. Modus Ponens chain: Rain→Flood→Evacuate→CallArmy, Rain=TRUE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4"/>
          <p:cNvSpPr/>
          <p:nvPr/>
        </p:nvSpPr>
        <p:spPr>
          <a:xfrm>
            <a:off x="411480" y="2871216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Step 1: Rain=T + Rule (1) Rain→Flood ⇒ Flood=T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Step 2: Flood=T + Rule (2) Flood→Evacuate ⇒ Evacuate=T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Step 3: Evacuate=T + Rule (3) Evacuate→CallArmy ⇒ CallArmy=T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All conclusions: Flood=TRUE, Evacuate=TRUE, CallArmy=TRUE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34"/>
          <p:cNvSpPr/>
          <p:nvPr/>
        </p:nvSpPr>
        <p:spPr>
          <a:xfrm>
            <a:off x="274320" y="3419856"/>
            <a:ext cx="8595360" cy="7680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D6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34"/>
          <p:cNvSpPr/>
          <p:nvPr/>
        </p:nvSpPr>
        <p:spPr>
          <a:xfrm>
            <a:off x="274320" y="3419856"/>
            <a:ext cx="54864" cy="76809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34"/>
          <p:cNvSpPr/>
          <p:nvPr/>
        </p:nvSpPr>
        <p:spPr>
          <a:xfrm>
            <a:off x="411480" y="345643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Q11. Library System KB + Modus Ponens inference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34"/>
          <p:cNvSpPr/>
          <p:nvPr/>
        </p:nvSpPr>
        <p:spPr>
          <a:xfrm>
            <a:off x="411480" y="3694176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Fact 1: BookOverdue(Ali)=T   Fact 2: FineUnpaid(Ali)=T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Rule 1: BookOverdue(x)→ChargeFine(x)   Rule 2: FineUnpaid(x) AND BookOverdue(x)→BlockBorrowing(x)   Rule 3: BlockBorrowing(x)→SendReminder(x)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Inference: BookOverdue(Ali)=T + R1 ⇒ ChargeFine(Ali)=T;  Both facts + R2 ⇒ BlockBorrowing(Ali)=T + R3 ⇒ SendReminder(Ali)=T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34"/>
          <p:cNvSpPr/>
          <p:nvPr/>
        </p:nvSpPr>
        <p:spPr>
          <a:xfrm>
            <a:off x="274320" y="4242816"/>
            <a:ext cx="8595360" cy="768096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DDD6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34"/>
          <p:cNvSpPr/>
          <p:nvPr/>
        </p:nvSpPr>
        <p:spPr>
          <a:xfrm>
            <a:off x="274320" y="4242816"/>
            <a:ext cx="54864" cy="76809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p34"/>
          <p:cNvSpPr/>
          <p:nvPr/>
        </p:nvSpPr>
        <p:spPr>
          <a:xfrm>
            <a:off x="411480" y="427939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Q12. Is P → (Q → P) a tautology?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4"/>
          <p:cNvSpPr/>
          <p:nvPr/>
        </p:nvSpPr>
        <p:spPr>
          <a:xfrm>
            <a:off x="411480" y="4517136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P=T,Q=T: Q→P=T, P→T=T  |  P=T,Q=F: Q→P=T, P→T=T  |  P=F,Q=T: Q→P=F, F→F=T  |  P=F,Q=F: Q→P=T, F→T=T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YES — all rows TRUE. This is the 'Weakening' (or Absorption) axiom: if P is true, then knowing Q doesn't change that P is true.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35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34E4A"/>
          </a:solidFill>
          <a:ln w="12700" cap="flat" cmpd="sng">
            <a:solidFill>
              <a:srgbClr val="134E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p35"/>
          <p:cNvSpPr/>
          <p:nvPr/>
        </p:nvSpPr>
        <p:spPr>
          <a:xfrm>
            <a:off x="0" y="73152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5"/>
          <p:cNvSpPr/>
          <p:nvPr/>
        </p:nvSpPr>
        <p:spPr>
          <a:xfrm>
            <a:off x="3383280" y="109728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Order Logic (FOL)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5"/>
          <p:cNvSpPr/>
          <p:nvPr/>
        </p:nvSpPr>
        <p:spPr>
          <a:xfrm>
            <a:off x="3383280" y="22860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Also called Predicate Logic or First Order Predicate Calculus.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Variables • Constants • Predicates • Functions • Quantifiers ∀ ∃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The most widely used formal language for representing knowledge in AI. 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3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8" name="Google Shape;1228;p36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4.1 &amp; 4.2 — Why FOL? Building Blocks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36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36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FOL extends propositional logic with variables, predicates, and quantifiers.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6"/>
          <p:cNvSpPr/>
          <p:nvPr/>
        </p:nvSpPr>
        <p:spPr>
          <a:xfrm>
            <a:off x="274320" y="914400"/>
            <a:ext cx="8595360" cy="1298448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36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36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 Propositional Logic CANNOT Solve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36"/>
          <p:cNvSpPr/>
          <p:nvPr/>
        </p:nvSpPr>
        <p:spPr>
          <a:xfrm>
            <a:off x="411480" y="1234440"/>
            <a:ext cx="832104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'Every student who passes all courses gets a degree.'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Propositional Logic: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Ali_passed_CS101 AND Ali_passed_CS201 AND... → Ali_gets_degree   THEN   Sara_passed_CS101 AND... → Sara_gets_degree   (One rule per student — impossible for thousands!)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FOL — ONE rule covers ALL students: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∀x: Student(x) AND PassedAll(x) → GetsDegree(x)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36"/>
          <p:cNvSpPr/>
          <p:nvPr/>
        </p:nvSpPr>
        <p:spPr>
          <a:xfrm>
            <a:off x="274320" y="2331720"/>
            <a:ext cx="2011680" cy="263347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36"/>
          <p:cNvSpPr/>
          <p:nvPr/>
        </p:nvSpPr>
        <p:spPr>
          <a:xfrm>
            <a:off x="274320" y="2331720"/>
            <a:ext cx="2011680" cy="2743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36"/>
          <p:cNvSpPr/>
          <p:nvPr/>
        </p:nvSpPr>
        <p:spPr>
          <a:xfrm>
            <a:off x="274320" y="2331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CONSTANTS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36"/>
          <p:cNvSpPr/>
          <p:nvPr/>
        </p:nvSpPr>
        <p:spPr>
          <a:xfrm>
            <a:off x="365760" y="2670048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Socrates — A specific Greek philosopher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36"/>
          <p:cNvSpPr/>
          <p:nvPr/>
        </p:nvSpPr>
        <p:spPr>
          <a:xfrm>
            <a:off x="365760" y="320040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Lahore — A specific city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6"/>
          <p:cNvSpPr/>
          <p:nvPr/>
        </p:nvSpPr>
        <p:spPr>
          <a:xfrm>
            <a:off x="365760" y="373075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CS301 — A specific course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36"/>
          <p:cNvSpPr/>
          <p:nvPr/>
        </p:nvSpPr>
        <p:spPr>
          <a:xfrm>
            <a:off x="365760" y="4261104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Pakistan — A specific country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36"/>
          <p:cNvSpPr/>
          <p:nvPr/>
        </p:nvSpPr>
        <p:spPr>
          <a:xfrm>
            <a:off x="2450592" y="2331720"/>
            <a:ext cx="2011680" cy="263347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36"/>
          <p:cNvSpPr/>
          <p:nvPr/>
        </p:nvSpPr>
        <p:spPr>
          <a:xfrm>
            <a:off x="2450592" y="2331720"/>
            <a:ext cx="2011680" cy="27432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36"/>
          <p:cNvSpPr/>
          <p:nvPr/>
        </p:nvSpPr>
        <p:spPr>
          <a:xfrm>
            <a:off x="2450592" y="2331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36"/>
          <p:cNvSpPr/>
          <p:nvPr/>
        </p:nvSpPr>
        <p:spPr>
          <a:xfrm>
            <a:off x="2542032" y="2670048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x — Could refer to any person or object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36"/>
          <p:cNvSpPr/>
          <p:nvPr/>
        </p:nvSpPr>
        <p:spPr>
          <a:xfrm>
            <a:off x="2542032" y="320040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y — Could refer to any student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36"/>
          <p:cNvSpPr/>
          <p:nvPr/>
        </p:nvSpPr>
        <p:spPr>
          <a:xfrm>
            <a:off x="2542032" y="373075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course — Could refer to any course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36"/>
          <p:cNvSpPr/>
          <p:nvPr/>
        </p:nvSpPr>
        <p:spPr>
          <a:xfrm>
            <a:off x="4626864" y="2331720"/>
            <a:ext cx="2011680" cy="263347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36"/>
          <p:cNvSpPr/>
          <p:nvPr/>
        </p:nvSpPr>
        <p:spPr>
          <a:xfrm>
            <a:off x="4626864" y="2331720"/>
            <a:ext cx="2011680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36"/>
          <p:cNvSpPr/>
          <p:nvPr/>
        </p:nvSpPr>
        <p:spPr>
          <a:xfrm>
            <a:off x="4626864" y="2331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PREDICATES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36"/>
          <p:cNvSpPr/>
          <p:nvPr/>
        </p:nvSpPr>
        <p:spPr>
          <a:xfrm>
            <a:off x="4718304" y="2670048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Human(Socrates) — Unary (1 arg)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6"/>
          <p:cNvSpPr/>
          <p:nvPr/>
        </p:nvSpPr>
        <p:spPr>
          <a:xfrm>
            <a:off x="4718304" y="320040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Enrolled(Ali, CS301) — Binary (2 args)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36"/>
          <p:cNvSpPr/>
          <p:nvPr/>
        </p:nvSpPr>
        <p:spPr>
          <a:xfrm>
            <a:off x="4718304" y="373075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Scored(Ali, CS301, 88) — Ternary (3 </a:t>
            </a:r>
            <a:r>
              <a:rPr lang="en-US" sz="900" b="0" i="0" u="none" strike="noStrike" cap="none" dirty="0" err="1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args</a:t>
            </a:r>
            <a:r>
              <a:rPr lang="en-US" sz="900" b="0" i="0" u="none" strike="noStrike" cap="none" dirty="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36"/>
          <p:cNvSpPr/>
          <p:nvPr/>
        </p:nvSpPr>
        <p:spPr>
          <a:xfrm>
            <a:off x="4718304" y="4261104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Teaches(DrAhmed, CS301) — Binary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6"/>
          <p:cNvSpPr/>
          <p:nvPr/>
        </p:nvSpPr>
        <p:spPr>
          <a:xfrm>
            <a:off x="6803136" y="2331720"/>
            <a:ext cx="2011680" cy="263347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36"/>
          <p:cNvSpPr/>
          <p:nvPr/>
        </p:nvSpPr>
        <p:spPr>
          <a:xfrm>
            <a:off x="6803136" y="2331720"/>
            <a:ext cx="2011680" cy="2743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36"/>
          <p:cNvSpPr/>
          <p:nvPr/>
        </p:nvSpPr>
        <p:spPr>
          <a:xfrm>
            <a:off x="6803136" y="2331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36"/>
          <p:cNvSpPr/>
          <p:nvPr/>
        </p:nvSpPr>
        <p:spPr>
          <a:xfrm>
            <a:off x="6894576" y="2670048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FatherOf(Ali) → returns Ali's father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36"/>
          <p:cNvSpPr/>
          <p:nvPr/>
        </p:nvSpPr>
        <p:spPr>
          <a:xfrm>
            <a:off x="6894576" y="320040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AgeOf(Sara) → returns Sara's 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36"/>
          <p:cNvSpPr/>
          <p:nvPr/>
        </p:nvSpPr>
        <p:spPr>
          <a:xfrm>
            <a:off x="6894576" y="373075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CapitalOf(Pakistan) → returns 'Islamabad'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36"/>
          <p:cNvSpPr/>
          <p:nvPr/>
        </p:nvSpPr>
        <p:spPr>
          <a:xfrm>
            <a:off x="6894576" y="4261104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Note: Functions return objects, not T/F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3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37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4.3 Quantifiers — ∀ Universal and ∃ Existential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37"/>
          <p:cNvSpPr/>
          <p:nvPr/>
        </p:nvSpPr>
        <p:spPr>
          <a:xfrm>
            <a:off x="274320" y="914400"/>
            <a:ext cx="4160520" cy="4041648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p37"/>
          <p:cNvSpPr/>
          <p:nvPr/>
        </p:nvSpPr>
        <p:spPr>
          <a:xfrm>
            <a:off x="274320" y="914400"/>
            <a:ext cx="4160520" cy="38404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37"/>
          <p:cNvSpPr/>
          <p:nvPr/>
        </p:nvSpPr>
        <p:spPr>
          <a:xfrm>
            <a:off x="274320" y="914400"/>
            <a:ext cx="4160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∀ Universal Quantifier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37"/>
          <p:cNvSpPr/>
          <p:nvPr/>
        </p:nvSpPr>
        <p:spPr>
          <a:xfrm>
            <a:off x="274320" y="1115568"/>
            <a:ext cx="4160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For All / For Every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37"/>
          <p:cNvSpPr/>
          <p:nvPr/>
        </p:nvSpPr>
        <p:spPr>
          <a:xfrm>
            <a:off x="411480" y="1344168"/>
            <a:ext cx="3886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 Human(x) → Mortal(x)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= 'For every x, if x is Human, then x is Mortal.' = 'All humans are mortal.'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More Examples: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7"/>
          <p:cNvSpPr/>
          <p:nvPr/>
        </p:nvSpPr>
        <p:spPr>
          <a:xfrm>
            <a:off x="411480" y="2176272"/>
            <a:ext cx="3886200" cy="603504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37"/>
          <p:cNvSpPr/>
          <p:nvPr/>
        </p:nvSpPr>
        <p:spPr>
          <a:xfrm>
            <a:off x="502920" y="2194560"/>
            <a:ext cx="3703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 Student(x) → HasStudentID(x)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[Every student has a student ID]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7"/>
          <p:cNvSpPr/>
          <p:nvPr/>
        </p:nvSpPr>
        <p:spPr>
          <a:xfrm>
            <a:off x="411480" y="2834640"/>
            <a:ext cx="3886200" cy="603504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37"/>
          <p:cNvSpPr/>
          <p:nvPr/>
        </p:nvSpPr>
        <p:spPr>
          <a:xfrm>
            <a:off x="502920" y="2852928"/>
            <a:ext cx="3703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 Bird(x) ∧ ¬Penguin(x) → CanFly(x)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[All non-penguin birds can fly]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7"/>
          <p:cNvSpPr/>
          <p:nvPr/>
        </p:nvSpPr>
        <p:spPr>
          <a:xfrm>
            <a:off x="411480" y="3493008"/>
            <a:ext cx="3886200" cy="603504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37"/>
          <p:cNvSpPr/>
          <p:nvPr/>
        </p:nvSpPr>
        <p:spPr>
          <a:xfrm>
            <a:off x="502920" y="3511296"/>
            <a:ext cx="3703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 ∀y Married(x,y) → Married(y,x)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[Marriage is symmetric]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37"/>
          <p:cNvSpPr/>
          <p:nvPr/>
        </p:nvSpPr>
        <p:spPr>
          <a:xfrm>
            <a:off x="411480" y="4151376"/>
            <a:ext cx="3886200" cy="603504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37"/>
          <p:cNvSpPr/>
          <p:nvPr/>
        </p:nvSpPr>
        <p:spPr>
          <a:xfrm>
            <a:off x="502920" y="4169664"/>
            <a:ext cx="3703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 Employee(x) → HasSalary(x)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[Every employee has a salary]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37"/>
          <p:cNvSpPr/>
          <p:nvPr/>
        </p:nvSpPr>
        <p:spPr>
          <a:xfrm>
            <a:off x="4709160" y="914400"/>
            <a:ext cx="4160520" cy="4041648"/>
          </a:xfrm>
          <a:prstGeom prst="rect">
            <a:avLst/>
          </a:prstGeom>
          <a:solidFill>
            <a:srgbClr val="ECFDF5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37"/>
          <p:cNvSpPr/>
          <p:nvPr/>
        </p:nvSpPr>
        <p:spPr>
          <a:xfrm>
            <a:off x="4709160" y="914400"/>
            <a:ext cx="4160520" cy="38404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37"/>
          <p:cNvSpPr/>
          <p:nvPr/>
        </p:nvSpPr>
        <p:spPr>
          <a:xfrm>
            <a:off x="4709160" y="914400"/>
            <a:ext cx="4160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∃ Existential Quantifier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37"/>
          <p:cNvSpPr/>
          <p:nvPr/>
        </p:nvSpPr>
        <p:spPr>
          <a:xfrm>
            <a:off x="4709160" y="1115568"/>
            <a:ext cx="4160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A7F3D0"/>
                </a:solidFill>
                <a:latin typeface="Calibri"/>
                <a:ea typeface="Calibri"/>
                <a:cs typeface="Calibri"/>
                <a:sym typeface="Calibri"/>
              </a:rPr>
              <a:t>There Exists / For Some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37"/>
          <p:cNvSpPr/>
          <p:nvPr/>
        </p:nvSpPr>
        <p:spPr>
          <a:xfrm>
            <a:off x="4846320" y="1344168"/>
            <a:ext cx="3886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∃x Student(x) ∧ CGPA(x) &gt; 3.9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= 'There exists at least one student whose CGPA is above 3.9.'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More Examples: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37"/>
          <p:cNvSpPr/>
          <p:nvPr/>
        </p:nvSpPr>
        <p:spPr>
          <a:xfrm>
            <a:off x="4846320" y="2176272"/>
            <a:ext cx="3886200" cy="603504"/>
          </a:xfrm>
          <a:prstGeom prst="rect">
            <a:avLst/>
          </a:prstGeom>
          <a:solidFill>
            <a:srgbClr val="F0FDF4"/>
          </a:solidFill>
          <a:ln w="952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37"/>
          <p:cNvSpPr/>
          <p:nvPr/>
        </p:nvSpPr>
        <p:spPr>
          <a:xfrm>
            <a:off x="4937760" y="2194560"/>
            <a:ext cx="3703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∃x Doctor(x) ∧ Female(x)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[There exists at least one female doctor]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7"/>
          <p:cNvSpPr/>
          <p:nvPr/>
        </p:nvSpPr>
        <p:spPr>
          <a:xfrm>
            <a:off x="4846320" y="2834640"/>
            <a:ext cx="3886200" cy="603504"/>
          </a:xfrm>
          <a:prstGeom prst="rect">
            <a:avLst/>
          </a:prstGeom>
          <a:solidFill>
            <a:srgbClr val="F0FDF4"/>
          </a:solidFill>
          <a:ln w="952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37"/>
          <p:cNvSpPr/>
          <p:nvPr/>
        </p:nvSpPr>
        <p:spPr>
          <a:xfrm>
            <a:off x="4937760" y="2852928"/>
            <a:ext cx="3703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∃x Course(x) ∧ Credits(x) = 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[Some course has 4 credit hours]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37"/>
          <p:cNvSpPr/>
          <p:nvPr/>
        </p:nvSpPr>
        <p:spPr>
          <a:xfrm>
            <a:off x="4846320" y="3493008"/>
            <a:ext cx="3886200" cy="603504"/>
          </a:xfrm>
          <a:prstGeom prst="rect">
            <a:avLst/>
          </a:prstGeom>
          <a:solidFill>
            <a:srgbClr val="F0FDF4"/>
          </a:solidFill>
          <a:ln w="952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37"/>
          <p:cNvSpPr/>
          <p:nvPr/>
        </p:nvSpPr>
        <p:spPr>
          <a:xfrm>
            <a:off x="4937760" y="3511296"/>
            <a:ext cx="3703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∃x City(x) ∧ Capital(x, Pakistan)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[There is a city that is Pakistan's capital]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7"/>
          <p:cNvSpPr/>
          <p:nvPr/>
        </p:nvSpPr>
        <p:spPr>
          <a:xfrm>
            <a:off x="4846320" y="4151376"/>
            <a:ext cx="3886200" cy="603504"/>
          </a:xfrm>
          <a:prstGeom prst="rect">
            <a:avLst/>
          </a:prstGeom>
          <a:solidFill>
            <a:srgbClr val="F0FDF4"/>
          </a:solidFill>
          <a:ln w="952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37"/>
          <p:cNvSpPr/>
          <p:nvPr/>
        </p:nvSpPr>
        <p:spPr>
          <a:xfrm>
            <a:off x="4937760" y="4169664"/>
            <a:ext cx="3703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∃x Student(x) ∧ CGPA(x) = 4.0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[At least one student has a perfect GPA]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3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38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4.4 Complete Reasoning — The Socrates Proof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38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38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Universal Instantiation + Modus Ponens — the foundation of all FOL reasoning.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8"/>
          <p:cNvSpPr/>
          <p:nvPr/>
        </p:nvSpPr>
        <p:spPr>
          <a:xfrm>
            <a:off x="274320" y="914400"/>
            <a:ext cx="4160520" cy="320040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38"/>
          <p:cNvSpPr/>
          <p:nvPr/>
        </p:nvSpPr>
        <p:spPr>
          <a:xfrm>
            <a:off x="274320" y="914400"/>
            <a:ext cx="4160520" cy="2743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38"/>
          <p:cNvSpPr/>
          <p:nvPr/>
        </p:nvSpPr>
        <p:spPr>
          <a:xfrm>
            <a:off x="274320" y="91440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Socrates Syllogism — Full FOL Proof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38"/>
          <p:cNvSpPr/>
          <p:nvPr/>
        </p:nvSpPr>
        <p:spPr>
          <a:xfrm>
            <a:off x="411480" y="1234440"/>
            <a:ext cx="388620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KNOWLEDGE BASE:</a:t>
            </a:r>
            <a:b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KB1: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 Human(x) → Mortal(x)  [All humans are mortal]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KB2: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Human(Socrates)  [Socrates is human]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PROVE: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Mortal(Socrates)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Step 1 — Universal Instantiation:</a:t>
            </a:r>
            <a:b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Take KB1: ∀x Human(x) → Mortal(x)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Substitute x = Socrates: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Human(Socrates) → Mortal(Socrates)</a:t>
            </a:r>
            <a:b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Step 2 — Modus Ponens:</a:t>
            </a:r>
            <a:b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Human(Socrates) → Mortal(Socrates)  [Step 1]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Human(Socrates)  [KB2]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────────────────────────────────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Mortal(Socrates) ← PROVED! 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38"/>
          <p:cNvSpPr/>
          <p:nvPr/>
        </p:nvSpPr>
        <p:spPr>
          <a:xfrm>
            <a:off x="4709160" y="914400"/>
            <a:ext cx="4160520" cy="320040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38"/>
          <p:cNvSpPr/>
          <p:nvPr/>
        </p:nvSpPr>
        <p:spPr>
          <a:xfrm>
            <a:off x="4709160" y="914400"/>
            <a:ext cx="4160520" cy="27432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38"/>
          <p:cNvSpPr/>
          <p:nvPr/>
        </p:nvSpPr>
        <p:spPr>
          <a:xfrm>
            <a:off x="4709160" y="91440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6 — FOL Translation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38"/>
          <p:cNvSpPr/>
          <p:nvPr/>
        </p:nvSpPr>
        <p:spPr>
          <a:xfrm>
            <a:off x="4828032" y="1234440"/>
            <a:ext cx="393192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Translate the following UNIVERSITY sentences into First Order Logic. Define your predicates before writing the formula.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1. All FAST students study computer science.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2. Some teachers teach more than one course.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3. Every course has at least one student enrolled.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4. No student can enroll without passing its prerequisite.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5. There exists a student who passed all 4-year courses.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6. If a student fails more than 3 courses, they are placed on probation.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7. All professors who publish research get a salary increment.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8. Every student on probation has a counselor assigned.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38"/>
          <p:cNvSpPr/>
          <p:nvPr/>
        </p:nvSpPr>
        <p:spPr>
          <a:xfrm>
            <a:off x="274320" y="4206240"/>
            <a:ext cx="8595360" cy="777240"/>
          </a:xfrm>
          <a:prstGeom prst="rect">
            <a:avLst/>
          </a:prstGeom>
          <a:solidFill>
            <a:srgbClr val="ECFDF5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38"/>
          <p:cNvSpPr/>
          <p:nvPr/>
        </p:nvSpPr>
        <p:spPr>
          <a:xfrm>
            <a:off x="274320" y="4206240"/>
            <a:ext cx="8595360" cy="2560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38"/>
          <p:cNvSpPr/>
          <p:nvPr/>
        </p:nvSpPr>
        <p:spPr>
          <a:xfrm>
            <a:off x="274320" y="42062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7 — Build a Hospital Patient Management KB (Group Project, 4 students)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38"/>
          <p:cNvSpPr/>
          <p:nvPr/>
        </p:nvSpPr>
        <p:spPr>
          <a:xfrm>
            <a:off x="411480" y="4498848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Define 6+ predicates  •  Write 4+ facts (specific patients/doctors/diseases)  •  Write 4+ rules using ∀ or ∃  •  Write 3 queries and answer them from your KB  •  Think about: Patients, Doctors, Diseases, Symptoms, Prescriptions, Allergies, Tests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3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39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6 — Solution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39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39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FOL Translation — University Domain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39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Predicates: Student(x), Teacher(t), Course(c), StudiesCS(x), Teaches(t,c), Enrolled(s,c), Prerequisite(p,c), Passed(s,c), FailCount(s,n), OnProbation(s), Professor(p), Publishes(p), GetsIncrement(p), Counselor(c,s)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39"/>
          <p:cNvSpPr/>
          <p:nvPr/>
        </p:nvSpPr>
        <p:spPr>
          <a:xfrm>
            <a:off x="274320" y="1463040"/>
            <a:ext cx="8595360" cy="393192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39"/>
          <p:cNvSpPr/>
          <p:nvPr/>
        </p:nvSpPr>
        <p:spPr>
          <a:xfrm>
            <a:off x="274320" y="1463040"/>
            <a:ext cx="640080" cy="39319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39"/>
          <p:cNvSpPr/>
          <p:nvPr/>
        </p:nvSpPr>
        <p:spPr>
          <a:xfrm>
            <a:off x="274320" y="1463040"/>
            <a:ext cx="6400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39"/>
          <p:cNvSpPr/>
          <p:nvPr/>
        </p:nvSpPr>
        <p:spPr>
          <a:xfrm>
            <a:off x="987552" y="1517904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∀x: Student(x) AND AtFAST(x) → StudiesCS(x)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39"/>
          <p:cNvSpPr/>
          <p:nvPr/>
        </p:nvSpPr>
        <p:spPr>
          <a:xfrm>
            <a:off x="274320" y="1901952"/>
            <a:ext cx="8595360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39"/>
          <p:cNvSpPr/>
          <p:nvPr/>
        </p:nvSpPr>
        <p:spPr>
          <a:xfrm>
            <a:off x="274320" y="1901952"/>
            <a:ext cx="640080" cy="39319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39"/>
          <p:cNvSpPr/>
          <p:nvPr/>
        </p:nvSpPr>
        <p:spPr>
          <a:xfrm>
            <a:off x="274320" y="1901952"/>
            <a:ext cx="6400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39"/>
          <p:cNvSpPr/>
          <p:nvPr/>
        </p:nvSpPr>
        <p:spPr>
          <a:xfrm>
            <a:off x="987552" y="1956816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∃t: Teacher(t) AND ∃c1,c2: Teaches(t,c1) AND Teaches(t,c2) AND c1≠c2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39"/>
          <p:cNvSpPr/>
          <p:nvPr/>
        </p:nvSpPr>
        <p:spPr>
          <a:xfrm>
            <a:off x="274320" y="2340864"/>
            <a:ext cx="8595360" cy="393192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39"/>
          <p:cNvSpPr/>
          <p:nvPr/>
        </p:nvSpPr>
        <p:spPr>
          <a:xfrm>
            <a:off x="274320" y="2340864"/>
            <a:ext cx="640080" cy="39319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39"/>
          <p:cNvSpPr/>
          <p:nvPr/>
        </p:nvSpPr>
        <p:spPr>
          <a:xfrm>
            <a:off x="274320" y="2340864"/>
            <a:ext cx="6400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39"/>
          <p:cNvSpPr/>
          <p:nvPr/>
        </p:nvSpPr>
        <p:spPr>
          <a:xfrm>
            <a:off x="987552" y="2395728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∀c: Course(c) → ∃s: Student(s) AND Enrolled(s,c)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39"/>
          <p:cNvSpPr/>
          <p:nvPr/>
        </p:nvSpPr>
        <p:spPr>
          <a:xfrm>
            <a:off x="274320" y="2779776"/>
            <a:ext cx="8595360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39"/>
          <p:cNvSpPr/>
          <p:nvPr/>
        </p:nvSpPr>
        <p:spPr>
          <a:xfrm>
            <a:off x="274320" y="2779776"/>
            <a:ext cx="640080" cy="39319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39"/>
          <p:cNvSpPr/>
          <p:nvPr/>
        </p:nvSpPr>
        <p:spPr>
          <a:xfrm>
            <a:off x="274320" y="2779776"/>
            <a:ext cx="6400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39"/>
          <p:cNvSpPr/>
          <p:nvPr/>
        </p:nvSpPr>
        <p:spPr>
          <a:xfrm>
            <a:off x="987552" y="2834640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∀s,c: Enroll(s,c) → ∀p: Prerequisite(p,c) → Passed(s,p)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39"/>
          <p:cNvSpPr/>
          <p:nvPr/>
        </p:nvSpPr>
        <p:spPr>
          <a:xfrm>
            <a:off x="274320" y="3218688"/>
            <a:ext cx="8595360" cy="393192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39"/>
          <p:cNvSpPr/>
          <p:nvPr/>
        </p:nvSpPr>
        <p:spPr>
          <a:xfrm>
            <a:off x="274320" y="3218688"/>
            <a:ext cx="640080" cy="39319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39"/>
          <p:cNvSpPr/>
          <p:nvPr/>
        </p:nvSpPr>
        <p:spPr>
          <a:xfrm>
            <a:off x="274320" y="3218688"/>
            <a:ext cx="6400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39"/>
          <p:cNvSpPr/>
          <p:nvPr/>
        </p:nvSpPr>
        <p:spPr>
          <a:xfrm>
            <a:off x="987552" y="3273552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∀s: Student(s) AND FailCount(s)&gt;3 → OnProbation(s)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39"/>
          <p:cNvSpPr/>
          <p:nvPr/>
        </p:nvSpPr>
        <p:spPr>
          <a:xfrm>
            <a:off x="274320" y="3657600"/>
            <a:ext cx="8595360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39"/>
          <p:cNvSpPr/>
          <p:nvPr/>
        </p:nvSpPr>
        <p:spPr>
          <a:xfrm>
            <a:off x="274320" y="3657600"/>
            <a:ext cx="640080" cy="39319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39"/>
          <p:cNvSpPr/>
          <p:nvPr/>
        </p:nvSpPr>
        <p:spPr>
          <a:xfrm>
            <a:off x="274320" y="3657600"/>
            <a:ext cx="6400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39"/>
          <p:cNvSpPr/>
          <p:nvPr/>
        </p:nvSpPr>
        <p:spPr>
          <a:xfrm>
            <a:off x="987552" y="3712464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∀p: Professor(p) AND Publishes(p) → GetsIncrement(p)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39"/>
          <p:cNvSpPr/>
          <p:nvPr/>
        </p:nvSpPr>
        <p:spPr>
          <a:xfrm>
            <a:off x="274320" y="4096512"/>
            <a:ext cx="8595360" cy="393192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39"/>
          <p:cNvSpPr/>
          <p:nvPr/>
        </p:nvSpPr>
        <p:spPr>
          <a:xfrm>
            <a:off x="274320" y="4096512"/>
            <a:ext cx="640080" cy="39319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39"/>
          <p:cNvSpPr/>
          <p:nvPr/>
        </p:nvSpPr>
        <p:spPr>
          <a:xfrm>
            <a:off x="274320" y="4096512"/>
            <a:ext cx="6400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39"/>
          <p:cNvSpPr/>
          <p:nvPr/>
        </p:nvSpPr>
        <p:spPr>
          <a:xfrm>
            <a:off x="987552" y="4151376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∀s: OnProbation(s) → ∃c: Counselor(c,s)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39"/>
          <p:cNvSpPr/>
          <p:nvPr/>
        </p:nvSpPr>
        <p:spPr>
          <a:xfrm>
            <a:off x="274320" y="4535424"/>
            <a:ext cx="8595360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39"/>
          <p:cNvSpPr/>
          <p:nvPr/>
        </p:nvSpPr>
        <p:spPr>
          <a:xfrm>
            <a:off x="274320" y="4535424"/>
            <a:ext cx="640080" cy="39319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39"/>
          <p:cNvSpPr/>
          <p:nvPr/>
        </p:nvSpPr>
        <p:spPr>
          <a:xfrm>
            <a:off x="274320" y="4535424"/>
            <a:ext cx="6400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Neg.1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39"/>
          <p:cNvSpPr/>
          <p:nvPr/>
        </p:nvSpPr>
        <p:spPr>
          <a:xfrm>
            <a:off x="987552" y="4590288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∃x: Student(x) AND AtFAST(x) AND NOT StudiesCS(x)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4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40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7 — Solution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40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6" name="Google Shape;1366;p40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Hospital Patient Management KB — Sample Reference Answer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40"/>
          <p:cNvSpPr/>
          <p:nvPr/>
        </p:nvSpPr>
        <p:spPr>
          <a:xfrm>
            <a:off x="274320" y="932688"/>
            <a:ext cx="4160520" cy="4041648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40"/>
          <p:cNvSpPr/>
          <p:nvPr/>
        </p:nvSpPr>
        <p:spPr>
          <a:xfrm>
            <a:off x="274320" y="932688"/>
            <a:ext cx="4160520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9" name="Google Shape;1369;p40"/>
          <p:cNvSpPr/>
          <p:nvPr/>
        </p:nvSpPr>
        <p:spPr>
          <a:xfrm>
            <a:off x="274320" y="932688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Predicates + Facts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40"/>
          <p:cNvSpPr/>
          <p:nvPr/>
        </p:nvSpPr>
        <p:spPr>
          <a:xfrm>
            <a:off x="411480" y="1234440"/>
            <a:ext cx="388620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Predicates:</a:t>
            </a:r>
            <a:b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Patient(p), Doctor(d), Disease(dis), HasSymptom(p,sym), Diagnosed(p,dis), Prescribes(d,p,med), AllergicTo(p,med), Specialist(d,dis)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Facts:</a:t>
            </a:r>
            <a:b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Patient(Ali)  Doctor(DrSara)  Disease(Flu)  Disease(Malaria)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HasSymptom(Ali,Fever)  HasSymptom(Ali,Cough)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Specialist(DrSara,Flu)  AllergicTo(Ali,Penicillin)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40"/>
          <p:cNvSpPr/>
          <p:nvPr/>
        </p:nvSpPr>
        <p:spPr>
          <a:xfrm>
            <a:off x="4709160" y="932688"/>
            <a:ext cx="4160520" cy="4041648"/>
          </a:xfrm>
          <a:prstGeom prst="rect">
            <a:avLst/>
          </a:prstGeom>
          <a:solidFill>
            <a:srgbClr val="ECFDF5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40"/>
          <p:cNvSpPr/>
          <p:nvPr/>
        </p:nvSpPr>
        <p:spPr>
          <a:xfrm>
            <a:off x="4709160" y="932688"/>
            <a:ext cx="4160520" cy="2560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40"/>
          <p:cNvSpPr/>
          <p:nvPr/>
        </p:nvSpPr>
        <p:spPr>
          <a:xfrm>
            <a:off x="4709160" y="932688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Rules + Queries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40"/>
          <p:cNvSpPr/>
          <p:nvPr/>
        </p:nvSpPr>
        <p:spPr>
          <a:xfrm>
            <a:off x="4846320" y="1234440"/>
            <a:ext cx="388620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Rules:</a:t>
            </a:r>
            <a:br>
              <a:rPr lang="en-US" sz="95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R1: ∀p: Patient(p) AND HasSymptom(p,Fever) AND HasSymptom(p,Cough) → SuspectedFlu(p)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R2: ∀p,d,m: Prescribes(d,p,m) AND AllergicTo(p,m) → DangerousAllergy(p)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R3: ∀p: SuspectedFlu(p) → NeedsBloodTest(p)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R4: ∀p,dis,d: Patient(p) AND Diagnosed(p,dis) AND Specialist(d,dis) → ReferTo(p,d)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Queries:</a:t>
            </a:r>
            <a:br>
              <a:rPr lang="en-US" sz="95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Q1: Ali suspected flu? HasSymptom(Ali,Fever)=T AND HasSymptom(Ali,Cough)=T ⇒ SuspectedFlu(Ali)=T ✓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Q2: Ali needs blood test? SuspectedFlu(Ali)=T + R3 ⇒ NeedsBloodTest(Ali)=T ✓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Q3: If Diagnosed(Ali,Flu), who to refer? + R4 ⇒ ReferTo(Ali,DrSara) ✓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4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4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Questions — Part 4: First Order Logic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41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41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Think carefully and write your answers before turning to the next slide.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41"/>
          <p:cNvSpPr/>
          <p:nvPr/>
        </p:nvSpPr>
        <p:spPr>
          <a:xfrm>
            <a:off x="274320" y="950976"/>
            <a:ext cx="8595360" cy="950976"/>
          </a:xfrm>
          <a:prstGeom prst="rect">
            <a:avLst/>
          </a:prstGeom>
          <a:solidFill>
            <a:srgbClr val="FFF5F5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41"/>
          <p:cNvSpPr/>
          <p:nvPr/>
        </p:nvSpPr>
        <p:spPr>
          <a:xfrm>
            <a:off x="274320" y="950976"/>
            <a:ext cx="54864" cy="95097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6" name="Google Shape;1386;p41"/>
          <p:cNvSpPr/>
          <p:nvPr/>
        </p:nvSpPr>
        <p:spPr>
          <a:xfrm>
            <a:off x="411480" y="1024128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Q13. Translate each sentence into FOL. Define your predicates first: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All birds can fly.   (b) Some birds cannot fly.   (c) Penguins are birds that cannot fly.   (d) Every animal that cannot fly still lives somewhere.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41"/>
          <p:cNvSpPr/>
          <p:nvPr/>
        </p:nvSpPr>
        <p:spPr>
          <a:xfrm>
            <a:off x="274320" y="1956816"/>
            <a:ext cx="8595360" cy="9509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8" name="Google Shape;1388;p41"/>
          <p:cNvSpPr/>
          <p:nvPr/>
        </p:nvSpPr>
        <p:spPr>
          <a:xfrm>
            <a:off x="274320" y="1956816"/>
            <a:ext cx="54864" cy="95097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9" name="Google Shape;1389;p41"/>
          <p:cNvSpPr/>
          <p:nvPr/>
        </p:nvSpPr>
        <p:spPr>
          <a:xfrm>
            <a:off x="411480" y="2029968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Q14. Given this FOL KB, answer each query with a full inference trace: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 Pakistani(x)→SpeaksUrdu(x)  /  ∀x Lahori(x)→Pakistani(x)  /  Lahori(Ali)  /  Pakistani(Sara)  /  NOT Lahori(Sara)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Is Ali Pakistani?   (b) Does Ali speak Urdu?   (c) Does Sara speak Urdu?   (d) Is Sara Lahori?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41"/>
          <p:cNvSpPr/>
          <p:nvPr/>
        </p:nvSpPr>
        <p:spPr>
          <a:xfrm>
            <a:off x="274320" y="2962656"/>
            <a:ext cx="8595360" cy="950976"/>
          </a:xfrm>
          <a:prstGeom prst="rect">
            <a:avLst/>
          </a:prstGeom>
          <a:solidFill>
            <a:srgbClr val="FFF5F5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1" name="Google Shape;1391;p41"/>
          <p:cNvSpPr/>
          <p:nvPr/>
        </p:nvSpPr>
        <p:spPr>
          <a:xfrm>
            <a:off x="274320" y="2962656"/>
            <a:ext cx="54864" cy="95097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2" name="Google Shape;1392;p41"/>
          <p:cNvSpPr/>
          <p:nvPr/>
        </p:nvSpPr>
        <p:spPr>
          <a:xfrm>
            <a:off x="411480" y="3035808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Q15. Write FOL sentences for a BANKING SYSTEM. Define predicates first: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Every account holder must have a valid ID.   (b) Some transactions are flagged.   (c) No minor can open a savings account without a guardian.   (d) All flagged transactions notify the account owner.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41"/>
          <p:cNvSpPr/>
          <p:nvPr/>
        </p:nvSpPr>
        <p:spPr>
          <a:xfrm>
            <a:off x="274320" y="3968496"/>
            <a:ext cx="8595360" cy="9509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41"/>
          <p:cNvSpPr/>
          <p:nvPr/>
        </p:nvSpPr>
        <p:spPr>
          <a:xfrm>
            <a:off x="274320" y="3968496"/>
            <a:ext cx="54864" cy="95097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41"/>
          <p:cNvSpPr/>
          <p:nvPr/>
        </p:nvSpPr>
        <p:spPr>
          <a:xfrm>
            <a:off x="411480" y="4041648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Q16. CHALLENGE KB: ∀x Employee(x) AND YearsExp(x)≥5→Senior(x)  /  ∀x Senior(x) AND HasProject(x)→GetsBonus(x)  /  ∀x GetsBonus(x)→TaxDeducted(x)  /  Employee(Zara) YearsExp(Zara)=7 HasProject(Zara)  /  Employee(Bilal) YearsExp(Bilal)=3 HasProject(Bilal)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Does Zara get a bonus?   (b) Is Zara's tax deducted?   (c) Does Bilal get a bonus? Why?   (d) Write a new rule so Bilal also gets a benefit.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4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2" name="Google Shape;1402;p4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Questions — Part 4: Answers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42"/>
          <p:cNvSpPr/>
          <p:nvPr/>
        </p:nvSpPr>
        <p:spPr>
          <a:xfrm>
            <a:off x="274320" y="950976"/>
            <a:ext cx="8595360" cy="950976"/>
          </a:xfrm>
          <a:prstGeom prst="rect">
            <a:avLst/>
          </a:prstGeom>
          <a:solidFill>
            <a:srgbClr val="FFF5F5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42"/>
          <p:cNvSpPr/>
          <p:nvPr/>
        </p:nvSpPr>
        <p:spPr>
          <a:xfrm>
            <a:off x="274320" y="950976"/>
            <a:ext cx="54864" cy="95097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42"/>
          <p:cNvSpPr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Q13. FOL translations (Birds)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42"/>
          <p:cNvSpPr/>
          <p:nvPr/>
        </p:nvSpPr>
        <p:spPr>
          <a:xfrm>
            <a:off x="411480" y="1243584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∀x: Bird(x) → CanFly(x)   (b) ∃x: Bird(x) AND NOT CanFly(x)   (c) ∀x: Penguin(x) → Bird(x) AND NOT CanFly(x)   (d) ∀x: Animal(x) AND NOT CanFly(x) → ∃p: LivesAt(x,p)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42"/>
          <p:cNvSpPr/>
          <p:nvPr/>
        </p:nvSpPr>
        <p:spPr>
          <a:xfrm>
            <a:off x="274320" y="1956816"/>
            <a:ext cx="8595360" cy="9509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p42"/>
          <p:cNvSpPr/>
          <p:nvPr/>
        </p:nvSpPr>
        <p:spPr>
          <a:xfrm>
            <a:off x="274320" y="1956816"/>
            <a:ext cx="54864" cy="95097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9" name="Google Shape;1409;p42"/>
          <p:cNvSpPr/>
          <p:nvPr/>
        </p:nvSpPr>
        <p:spPr>
          <a:xfrm>
            <a:off x="411480" y="199339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Q14. KB inference — Pakistani / Lahori domain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42"/>
          <p:cNvSpPr/>
          <p:nvPr/>
        </p:nvSpPr>
        <p:spPr>
          <a:xfrm>
            <a:off x="411480" y="2249424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Lahori(Ali)=T + Rule(Lahori→Pakistani) ⇒ Pakistani(Ali)=T  YES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(b) Pakistani(Ali)=T + Rule(Pakistani→SpeaksUrdu) ⇒ SpeaksUrdu(Ali)=T  YES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(c) Pakistani(Sara)=T + Rule ⇒ SpeaksUrdu(Sara)=T  YES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(d) NOT Lahori(Sara) is stated directly in the KB ⇒ NO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42"/>
          <p:cNvSpPr/>
          <p:nvPr/>
        </p:nvSpPr>
        <p:spPr>
          <a:xfrm>
            <a:off x="274320" y="2962656"/>
            <a:ext cx="8595360" cy="950976"/>
          </a:xfrm>
          <a:prstGeom prst="rect">
            <a:avLst/>
          </a:prstGeom>
          <a:solidFill>
            <a:srgbClr val="FFF5F5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42"/>
          <p:cNvSpPr/>
          <p:nvPr/>
        </p:nvSpPr>
        <p:spPr>
          <a:xfrm>
            <a:off x="274320" y="2962656"/>
            <a:ext cx="54864" cy="95097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42"/>
          <p:cNvSpPr/>
          <p:nvPr/>
        </p:nvSpPr>
        <p:spPr>
          <a:xfrm>
            <a:off x="411480" y="299923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Q15. Banking System FOL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42"/>
          <p:cNvSpPr/>
          <p:nvPr/>
        </p:nvSpPr>
        <p:spPr>
          <a:xfrm>
            <a:off x="411480" y="3255264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∀x: AccountHolder(x) → HasValidID(x)   (b) ∃t: Transaction(t) AND Flagged(t)   (c) ∀x: Minor(x) → (CanOpenSavings(x) → ∃g: Guardian(x,g))   (d) ∀t,x: Transaction(t) AND Flagged(t) AND Owner(x,t) → Notifies(t,x)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42"/>
          <p:cNvSpPr/>
          <p:nvPr/>
        </p:nvSpPr>
        <p:spPr>
          <a:xfrm>
            <a:off x="274320" y="3968496"/>
            <a:ext cx="8595360" cy="9509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6" name="Google Shape;1416;p42"/>
          <p:cNvSpPr/>
          <p:nvPr/>
        </p:nvSpPr>
        <p:spPr>
          <a:xfrm>
            <a:off x="274320" y="3968496"/>
            <a:ext cx="54864" cy="95097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7" name="Google Shape;1417;p42"/>
          <p:cNvSpPr/>
          <p:nvPr/>
        </p:nvSpPr>
        <p:spPr>
          <a:xfrm>
            <a:off x="411480" y="400507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Q16. CHALLENGE — Employee KB (Zara &amp; Bilal)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42"/>
          <p:cNvSpPr/>
          <p:nvPr/>
        </p:nvSpPr>
        <p:spPr>
          <a:xfrm>
            <a:off x="411480" y="4261104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(a) YearsExp(Zara)=7≥5 ⇒ Senior(Zara)=T. Senior+HasProject ⇒ GetsBonus(Zara)=T  YES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(b) GetsBonus(Zara)=T ⇒ TaxDeducted(Zara)=T  YES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(c) YearsExp(Bilal)=3&lt;5 ⇒ Senior=FALSE ⇒ Rule cannot fire ⇒ NO BONUS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(d) New rule: ∀x: Employee(x) AND HasProject(x) → GetsProjectAllowance(x) ⇒ Bilal qualifies!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43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34E4A"/>
          </a:solidFill>
          <a:ln w="12700" cap="flat" cmpd="sng">
            <a:solidFill>
              <a:srgbClr val="134E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6" name="Google Shape;1426;p43"/>
          <p:cNvSpPr/>
          <p:nvPr/>
        </p:nvSpPr>
        <p:spPr>
          <a:xfrm>
            <a:off x="0" y="73152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43"/>
          <p:cNvSpPr/>
          <p:nvPr/>
        </p:nvSpPr>
        <p:spPr>
          <a:xfrm>
            <a:off x="3383280" y="109728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Wumpus World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43"/>
          <p:cNvSpPr/>
          <p:nvPr/>
        </p:nvSpPr>
        <p:spPr>
          <a:xfrm>
            <a:off x="3383280" y="22860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Putting It All Together — Knowledge + Reasoning in Action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The most famous teaching example in AI. All concepts from Parts 1–4 appear simultaneously in one coherent problem.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5" name="Google Shape;1435;p44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5.1 &amp; 5.2 — The Wumpus World Setup &amp; Percepts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44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44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Introduced by Gregory Yob (1973), adopted by Russell &amp; Norvig. A 4×4 grid cave with hidden dangers.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44"/>
          <p:cNvSpPr/>
          <p:nvPr/>
        </p:nvSpPr>
        <p:spPr>
          <a:xfrm>
            <a:off x="274320" y="914400"/>
            <a:ext cx="3840480" cy="2743200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44"/>
          <p:cNvSpPr/>
          <p:nvPr/>
        </p:nvSpPr>
        <p:spPr>
          <a:xfrm>
            <a:off x="274320" y="914400"/>
            <a:ext cx="3840480" cy="274320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44"/>
          <p:cNvSpPr/>
          <p:nvPr/>
        </p:nvSpPr>
        <p:spPr>
          <a:xfrm>
            <a:off x="274320" y="914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Setup — 4×4 Grid Cave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44"/>
          <p:cNvSpPr/>
          <p:nvPr/>
        </p:nvSpPr>
        <p:spPr>
          <a:xfrm>
            <a:off x="411480" y="1243584"/>
            <a:ext cx="914400" cy="34747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44"/>
          <p:cNvSpPr/>
          <p:nvPr/>
        </p:nvSpPr>
        <p:spPr>
          <a:xfrm>
            <a:off x="411480" y="124358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☠ WUMPUS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44"/>
          <p:cNvSpPr/>
          <p:nvPr/>
        </p:nvSpPr>
        <p:spPr>
          <a:xfrm>
            <a:off x="1371600" y="1261872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 terrible monster. Walk into its room = you die.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44"/>
          <p:cNvSpPr/>
          <p:nvPr/>
        </p:nvSpPr>
        <p:spPr>
          <a:xfrm>
            <a:off x="411480" y="1627632"/>
            <a:ext cx="914400" cy="34747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5" name="Google Shape;1445;p44"/>
          <p:cNvSpPr/>
          <p:nvPr/>
        </p:nvSpPr>
        <p:spPr>
          <a:xfrm>
            <a:off x="411480" y="162763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PITS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44"/>
          <p:cNvSpPr/>
          <p:nvPr/>
        </p:nvSpPr>
        <p:spPr>
          <a:xfrm>
            <a:off x="1371600" y="1645920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Bottomless pits. Fall in = you die.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44"/>
          <p:cNvSpPr/>
          <p:nvPr/>
        </p:nvSpPr>
        <p:spPr>
          <a:xfrm>
            <a:off x="411480" y="2011680"/>
            <a:ext cx="914400" cy="34747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44"/>
          <p:cNvSpPr/>
          <p:nvPr/>
        </p:nvSpPr>
        <p:spPr>
          <a:xfrm>
            <a:off x="411480" y="201168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GOLD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44"/>
          <p:cNvSpPr/>
          <p:nvPr/>
        </p:nvSpPr>
        <p:spPr>
          <a:xfrm>
            <a:off x="1371600" y="2029968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 treasure you are trying to collect.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44"/>
          <p:cNvSpPr/>
          <p:nvPr/>
        </p:nvSpPr>
        <p:spPr>
          <a:xfrm>
            <a:off x="411480" y="2395728"/>
            <a:ext cx="914400" cy="34747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1" name="Google Shape;1451;p44"/>
          <p:cNvSpPr/>
          <p:nvPr/>
        </p:nvSpPr>
        <p:spPr>
          <a:xfrm>
            <a:off x="411480" y="239572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AGENT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44"/>
          <p:cNvSpPr/>
          <p:nvPr/>
        </p:nvSpPr>
        <p:spPr>
          <a:xfrm>
            <a:off x="1371600" y="2414016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You! Start at (1,1) bottom-left, facing right.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44"/>
          <p:cNvSpPr/>
          <p:nvPr/>
        </p:nvSpPr>
        <p:spPr>
          <a:xfrm>
            <a:off x="411480" y="2779776"/>
            <a:ext cx="914400" cy="34747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44"/>
          <p:cNvSpPr/>
          <p:nvPr/>
        </p:nvSpPr>
        <p:spPr>
          <a:xfrm>
            <a:off x="411480" y="277977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BLIND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44"/>
          <p:cNvSpPr/>
          <p:nvPr/>
        </p:nvSpPr>
        <p:spPr>
          <a:xfrm>
            <a:off x="1371600" y="2798064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You CANNOT see neighbouring rooms. Only sense current room.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44"/>
          <p:cNvSpPr/>
          <p:nvPr/>
        </p:nvSpPr>
        <p:spPr>
          <a:xfrm>
            <a:off x="411480" y="3163824"/>
            <a:ext cx="914400" cy="34747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p44"/>
          <p:cNvSpPr/>
          <p:nvPr/>
        </p:nvSpPr>
        <p:spPr>
          <a:xfrm>
            <a:off x="411480" y="316382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44"/>
          <p:cNvSpPr/>
          <p:nvPr/>
        </p:nvSpPr>
        <p:spPr>
          <a:xfrm>
            <a:off x="1371600" y="3182112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Find the gold, pick it up, return to (1,1) alive.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44"/>
          <p:cNvSpPr/>
          <p:nvPr/>
        </p:nvSpPr>
        <p:spPr>
          <a:xfrm>
            <a:off x="4251960" y="914400"/>
            <a:ext cx="4617720" cy="2743200"/>
          </a:xfrm>
          <a:prstGeom prst="rect">
            <a:avLst/>
          </a:prstGeom>
          <a:solidFill>
            <a:srgbClr val="F5FFFE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44"/>
          <p:cNvSpPr/>
          <p:nvPr/>
        </p:nvSpPr>
        <p:spPr>
          <a:xfrm>
            <a:off x="4251960" y="914400"/>
            <a:ext cx="4617720" cy="27432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44"/>
          <p:cNvSpPr/>
          <p:nvPr/>
        </p:nvSpPr>
        <p:spPr>
          <a:xfrm>
            <a:off x="4251960" y="91440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5.2 Percepts — What the Agent Can Sense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44"/>
          <p:cNvSpPr/>
          <p:nvPr/>
        </p:nvSpPr>
        <p:spPr>
          <a:xfrm>
            <a:off x="4389120" y="1243584"/>
            <a:ext cx="1005840" cy="40233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3" name="Google Shape;1463;p44"/>
          <p:cNvSpPr/>
          <p:nvPr/>
        </p:nvSpPr>
        <p:spPr>
          <a:xfrm>
            <a:off x="4389120" y="124358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STENCH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44"/>
          <p:cNvSpPr/>
          <p:nvPr/>
        </p:nvSpPr>
        <p:spPr>
          <a:xfrm>
            <a:off x="5458968" y="126187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You smell something awful.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44"/>
          <p:cNvSpPr/>
          <p:nvPr/>
        </p:nvSpPr>
        <p:spPr>
          <a:xfrm>
            <a:off x="7150608" y="1261872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 Wumpus is ADJACENT to you (but not here).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44"/>
          <p:cNvSpPr/>
          <p:nvPr/>
        </p:nvSpPr>
        <p:spPr>
          <a:xfrm>
            <a:off x="4389120" y="1700784"/>
            <a:ext cx="1005840" cy="40233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7" name="Google Shape;1467;p44"/>
          <p:cNvSpPr/>
          <p:nvPr/>
        </p:nvSpPr>
        <p:spPr>
          <a:xfrm>
            <a:off x="4389120" y="170078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BREEZE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44"/>
          <p:cNvSpPr/>
          <p:nvPr/>
        </p:nvSpPr>
        <p:spPr>
          <a:xfrm>
            <a:off x="5458968" y="171907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You feel a draft.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44"/>
          <p:cNvSpPr/>
          <p:nvPr/>
        </p:nvSpPr>
        <p:spPr>
          <a:xfrm>
            <a:off x="7150608" y="1719072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 A Pit is ADJACENT to you.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44"/>
          <p:cNvSpPr/>
          <p:nvPr/>
        </p:nvSpPr>
        <p:spPr>
          <a:xfrm>
            <a:off x="4389120" y="2157984"/>
            <a:ext cx="1005840" cy="40233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1" name="Google Shape;1471;p44"/>
          <p:cNvSpPr/>
          <p:nvPr/>
        </p:nvSpPr>
        <p:spPr>
          <a:xfrm>
            <a:off x="4389120" y="215798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GLITTER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44"/>
          <p:cNvSpPr/>
          <p:nvPr/>
        </p:nvSpPr>
        <p:spPr>
          <a:xfrm>
            <a:off x="5458968" y="217627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Something shines.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44"/>
          <p:cNvSpPr/>
          <p:nvPr/>
        </p:nvSpPr>
        <p:spPr>
          <a:xfrm>
            <a:off x="7150608" y="2176272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 Gold is in THIS EXACT room — grab it!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44"/>
          <p:cNvSpPr/>
          <p:nvPr/>
        </p:nvSpPr>
        <p:spPr>
          <a:xfrm>
            <a:off x="4389120" y="2615184"/>
            <a:ext cx="1005840" cy="40233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5" name="Google Shape;1475;p44"/>
          <p:cNvSpPr/>
          <p:nvPr/>
        </p:nvSpPr>
        <p:spPr>
          <a:xfrm>
            <a:off x="4389120" y="261518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BUMP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44"/>
          <p:cNvSpPr/>
          <p:nvPr/>
        </p:nvSpPr>
        <p:spPr>
          <a:xfrm>
            <a:off x="5458968" y="263347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You hit a wall.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44"/>
          <p:cNvSpPr/>
          <p:nvPr/>
        </p:nvSpPr>
        <p:spPr>
          <a:xfrm>
            <a:off x="7150608" y="2633472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 You tried to step outside the grid.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44"/>
          <p:cNvSpPr/>
          <p:nvPr/>
        </p:nvSpPr>
        <p:spPr>
          <a:xfrm>
            <a:off x="4389120" y="3072384"/>
            <a:ext cx="1005840" cy="40233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9" name="Google Shape;1479;p44"/>
          <p:cNvSpPr/>
          <p:nvPr/>
        </p:nvSpPr>
        <p:spPr>
          <a:xfrm>
            <a:off x="4389120" y="307238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SCREAM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44"/>
          <p:cNvSpPr/>
          <p:nvPr/>
        </p:nvSpPr>
        <p:spPr>
          <a:xfrm>
            <a:off x="5458968" y="309067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 terrible shriek.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44"/>
          <p:cNvSpPr/>
          <p:nvPr/>
        </p:nvSpPr>
        <p:spPr>
          <a:xfrm>
            <a:off x="7150608" y="3090672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 Your arrow killed the Wumpus.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44"/>
          <p:cNvSpPr/>
          <p:nvPr/>
        </p:nvSpPr>
        <p:spPr>
          <a:xfrm>
            <a:off x="274320" y="3749040"/>
            <a:ext cx="8595360" cy="123444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3" name="Google Shape;1483;p44"/>
          <p:cNvSpPr/>
          <p:nvPr/>
        </p:nvSpPr>
        <p:spPr>
          <a:xfrm>
            <a:off x="274320" y="3749040"/>
            <a:ext cx="8595360" cy="25603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44"/>
          <p:cNvSpPr/>
          <p:nvPr/>
        </p:nvSpPr>
        <p:spPr>
          <a:xfrm>
            <a:off x="274320" y="3749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5.3 World Rules (Fixed Knowledge Base)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44"/>
          <p:cNvSpPr/>
          <p:nvPr/>
        </p:nvSpPr>
        <p:spPr>
          <a:xfrm>
            <a:off x="411480" y="4041648"/>
            <a:ext cx="8321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W1: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Stench(x,y) ↔ Wumpus adjacent to (x,y)   </a:t>
            </a: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W2: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Breeze(x,y) ↔ Pit adjacent to (x,y)   </a:t>
            </a: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W3: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Glitter(x,y) ↔ Gold(x,y)   </a:t>
            </a:r>
            <a:r>
              <a:rPr lang="en-US" sz="10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W4: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Agent dies if at (x,y) AND [Wumpus(x,y) OR Pit(x,y)]   </a:t>
            </a: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W5: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OK(x,y) ↔ NOT Pit(x,y) AND NOT Wumpus(x,y)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4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45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5.4 The Standard Wumpus World Map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45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4" name="Google Shape;1494;p45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Standard configuration: Wumpus at (1,4) | Pit at (3,1), (3,3), (3,4) | Gold at (2,4). Agent starts at (1,1).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45"/>
          <p:cNvSpPr/>
          <p:nvPr/>
        </p:nvSpPr>
        <p:spPr>
          <a:xfrm>
            <a:off x="274320" y="960120"/>
            <a:ext cx="1975104" cy="1014984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45"/>
          <p:cNvSpPr/>
          <p:nvPr/>
        </p:nvSpPr>
        <p:spPr>
          <a:xfrm>
            <a:off x="329184" y="996696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(1,4)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45"/>
          <p:cNvSpPr/>
          <p:nvPr/>
        </p:nvSpPr>
        <p:spPr>
          <a:xfrm>
            <a:off x="347472" y="1197864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Wumpus ☠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[Stench nearby]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45"/>
          <p:cNvSpPr/>
          <p:nvPr/>
        </p:nvSpPr>
        <p:spPr>
          <a:xfrm>
            <a:off x="2304288" y="960120"/>
            <a:ext cx="1975104" cy="1014984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9" name="Google Shape;1499;p45"/>
          <p:cNvSpPr/>
          <p:nvPr/>
        </p:nvSpPr>
        <p:spPr>
          <a:xfrm>
            <a:off x="2359152" y="996696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(2,4)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45"/>
          <p:cNvSpPr/>
          <p:nvPr/>
        </p:nvSpPr>
        <p:spPr>
          <a:xfrm>
            <a:off x="2377440" y="1197864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GOLD ★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[Stench + Breeze]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45"/>
          <p:cNvSpPr/>
          <p:nvPr/>
        </p:nvSpPr>
        <p:spPr>
          <a:xfrm>
            <a:off x="4334256" y="960120"/>
            <a:ext cx="1975104" cy="1014984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45"/>
          <p:cNvSpPr/>
          <p:nvPr/>
        </p:nvSpPr>
        <p:spPr>
          <a:xfrm>
            <a:off x="4389120" y="996696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(3,4)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45"/>
          <p:cNvSpPr/>
          <p:nvPr/>
        </p:nvSpPr>
        <p:spPr>
          <a:xfrm>
            <a:off x="4407408" y="1197864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PIT ⚠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[Breeze nearby]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45"/>
          <p:cNvSpPr/>
          <p:nvPr/>
        </p:nvSpPr>
        <p:spPr>
          <a:xfrm>
            <a:off x="6364224" y="960120"/>
            <a:ext cx="1975104" cy="1014984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p45"/>
          <p:cNvSpPr/>
          <p:nvPr/>
        </p:nvSpPr>
        <p:spPr>
          <a:xfrm>
            <a:off x="6419088" y="996696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(4,4)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45"/>
          <p:cNvSpPr/>
          <p:nvPr/>
        </p:nvSpPr>
        <p:spPr>
          <a:xfrm>
            <a:off x="6437376" y="1197864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[Breeze]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45"/>
          <p:cNvSpPr/>
          <p:nvPr/>
        </p:nvSpPr>
        <p:spPr>
          <a:xfrm>
            <a:off x="274320" y="2020824"/>
            <a:ext cx="1975104" cy="1014984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8" name="Google Shape;1508;p45"/>
          <p:cNvSpPr/>
          <p:nvPr/>
        </p:nvSpPr>
        <p:spPr>
          <a:xfrm>
            <a:off x="329184" y="20574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(1,3)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45"/>
          <p:cNvSpPr/>
          <p:nvPr/>
        </p:nvSpPr>
        <p:spPr>
          <a:xfrm>
            <a:off x="347472" y="2258568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[Stench]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45"/>
          <p:cNvSpPr/>
          <p:nvPr/>
        </p:nvSpPr>
        <p:spPr>
          <a:xfrm>
            <a:off x="2304288" y="2020824"/>
            <a:ext cx="1975104" cy="1014984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45"/>
          <p:cNvSpPr/>
          <p:nvPr/>
        </p:nvSpPr>
        <p:spPr>
          <a:xfrm>
            <a:off x="2359152" y="20574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(2,3)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45"/>
          <p:cNvSpPr/>
          <p:nvPr/>
        </p:nvSpPr>
        <p:spPr>
          <a:xfrm>
            <a:off x="2377440" y="2258568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[Breeze]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45"/>
          <p:cNvSpPr/>
          <p:nvPr/>
        </p:nvSpPr>
        <p:spPr>
          <a:xfrm>
            <a:off x="4334256" y="2020824"/>
            <a:ext cx="1975104" cy="1014984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4" name="Google Shape;1514;p45"/>
          <p:cNvSpPr/>
          <p:nvPr/>
        </p:nvSpPr>
        <p:spPr>
          <a:xfrm>
            <a:off x="4389120" y="20574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(3,3)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45"/>
          <p:cNvSpPr/>
          <p:nvPr/>
        </p:nvSpPr>
        <p:spPr>
          <a:xfrm>
            <a:off x="4407408" y="2258568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PIT ⚠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[Breeze nearby]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45"/>
          <p:cNvSpPr/>
          <p:nvPr/>
        </p:nvSpPr>
        <p:spPr>
          <a:xfrm>
            <a:off x="6364224" y="2020824"/>
            <a:ext cx="1975104" cy="1014984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7" name="Google Shape;1517;p45"/>
          <p:cNvSpPr/>
          <p:nvPr/>
        </p:nvSpPr>
        <p:spPr>
          <a:xfrm>
            <a:off x="6419088" y="20574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(4,3)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45"/>
          <p:cNvSpPr/>
          <p:nvPr/>
        </p:nvSpPr>
        <p:spPr>
          <a:xfrm>
            <a:off x="6437376" y="2258568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[Breeze]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45"/>
          <p:cNvSpPr/>
          <p:nvPr/>
        </p:nvSpPr>
        <p:spPr>
          <a:xfrm>
            <a:off x="274320" y="3081528"/>
            <a:ext cx="1975104" cy="1014984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0" name="Google Shape;1520;p45"/>
          <p:cNvSpPr/>
          <p:nvPr/>
        </p:nvSpPr>
        <p:spPr>
          <a:xfrm>
            <a:off x="329184" y="311810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(1,2)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45"/>
          <p:cNvSpPr/>
          <p:nvPr/>
        </p:nvSpPr>
        <p:spPr>
          <a:xfrm>
            <a:off x="347472" y="3319272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[Stench]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45"/>
          <p:cNvSpPr/>
          <p:nvPr/>
        </p:nvSpPr>
        <p:spPr>
          <a:xfrm>
            <a:off x="2304288" y="3081528"/>
            <a:ext cx="1975104" cy="1014984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3" name="Google Shape;1523;p45"/>
          <p:cNvSpPr/>
          <p:nvPr/>
        </p:nvSpPr>
        <p:spPr>
          <a:xfrm>
            <a:off x="2359152" y="311810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(2,2)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45"/>
          <p:cNvSpPr/>
          <p:nvPr/>
        </p:nvSpPr>
        <p:spPr>
          <a:xfrm>
            <a:off x="2377440" y="3319272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[Nothing]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45"/>
          <p:cNvSpPr/>
          <p:nvPr/>
        </p:nvSpPr>
        <p:spPr>
          <a:xfrm>
            <a:off x="4334256" y="3081528"/>
            <a:ext cx="1975104" cy="1014984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p45"/>
          <p:cNvSpPr/>
          <p:nvPr/>
        </p:nvSpPr>
        <p:spPr>
          <a:xfrm>
            <a:off x="4389120" y="311810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(3,2)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45"/>
          <p:cNvSpPr/>
          <p:nvPr/>
        </p:nvSpPr>
        <p:spPr>
          <a:xfrm>
            <a:off x="4407408" y="3319272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[Breeze]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45"/>
          <p:cNvSpPr/>
          <p:nvPr/>
        </p:nvSpPr>
        <p:spPr>
          <a:xfrm>
            <a:off x="6364224" y="3081528"/>
            <a:ext cx="1975104" cy="1014984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45"/>
          <p:cNvSpPr/>
          <p:nvPr/>
        </p:nvSpPr>
        <p:spPr>
          <a:xfrm>
            <a:off x="6419088" y="311810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(4,2)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45"/>
          <p:cNvSpPr/>
          <p:nvPr/>
        </p:nvSpPr>
        <p:spPr>
          <a:xfrm>
            <a:off x="6437376" y="3319272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[Nothing]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45"/>
          <p:cNvSpPr/>
          <p:nvPr/>
        </p:nvSpPr>
        <p:spPr>
          <a:xfrm>
            <a:off x="274320" y="4142232"/>
            <a:ext cx="1975104" cy="1014984"/>
          </a:xfrm>
          <a:prstGeom prst="rect">
            <a:avLst/>
          </a:prstGeom>
          <a:solidFill>
            <a:srgbClr val="ECFDF5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45"/>
          <p:cNvSpPr/>
          <p:nvPr/>
        </p:nvSpPr>
        <p:spPr>
          <a:xfrm>
            <a:off x="329184" y="417880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(1,1)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45"/>
          <p:cNvSpPr/>
          <p:nvPr/>
        </p:nvSpPr>
        <p:spPr>
          <a:xfrm>
            <a:off x="347472" y="4379976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AGENT ▶ START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[Nothing]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45"/>
          <p:cNvSpPr/>
          <p:nvPr/>
        </p:nvSpPr>
        <p:spPr>
          <a:xfrm>
            <a:off x="2304288" y="4142232"/>
            <a:ext cx="1975104" cy="1014984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5" name="Google Shape;1535;p45"/>
          <p:cNvSpPr/>
          <p:nvPr/>
        </p:nvSpPr>
        <p:spPr>
          <a:xfrm>
            <a:off x="2359152" y="417880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(2,1)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45"/>
          <p:cNvSpPr/>
          <p:nvPr/>
        </p:nvSpPr>
        <p:spPr>
          <a:xfrm>
            <a:off x="2377440" y="4379976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[Breeze]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45"/>
          <p:cNvSpPr/>
          <p:nvPr/>
        </p:nvSpPr>
        <p:spPr>
          <a:xfrm>
            <a:off x="4334256" y="4142232"/>
            <a:ext cx="1975104" cy="1014984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8" name="Google Shape;1538;p45"/>
          <p:cNvSpPr/>
          <p:nvPr/>
        </p:nvSpPr>
        <p:spPr>
          <a:xfrm>
            <a:off x="4389120" y="417880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(3,1)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45"/>
          <p:cNvSpPr/>
          <p:nvPr/>
        </p:nvSpPr>
        <p:spPr>
          <a:xfrm>
            <a:off x="4407408" y="4379976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PIT ⚠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[Breeze nearby]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45"/>
          <p:cNvSpPr/>
          <p:nvPr/>
        </p:nvSpPr>
        <p:spPr>
          <a:xfrm>
            <a:off x="6364224" y="4142232"/>
            <a:ext cx="1975104" cy="1014984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1" name="Google Shape;1541;p45"/>
          <p:cNvSpPr/>
          <p:nvPr/>
        </p:nvSpPr>
        <p:spPr>
          <a:xfrm>
            <a:off x="6419088" y="417880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(4,1)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45"/>
          <p:cNvSpPr/>
          <p:nvPr/>
        </p:nvSpPr>
        <p:spPr>
          <a:xfrm>
            <a:off x="6437376" y="4379976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[Nothing]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45"/>
          <p:cNvSpPr/>
          <p:nvPr/>
        </p:nvSpPr>
        <p:spPr>
          <a:xfrm>
            <a:off x="8229600" y="1115568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Row 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45"/>
          <p:cNvSpPr/>
          <p:nvPr/>
        </p:nvSpPr>
        <p:spPr>
          <a:xfrm>
            <a:off x="8229600" y="2176272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Row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45"/>
          <p:cNvSpPr/>
          <p:nvPr/>
        </p:nvSpPr>
        <p:spPr>
          <a:xfrm>
            <a:off x="8229600" y="3236976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Row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45"/>
          <p:cNvSpPr/>
          <p:nvPr/>
        </p:nvSpPr>
        <p:spPr>
          <a:xfrm>
            <a:off x="8229600" y="429768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Row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45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4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46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5.5 The Agent Reasons — Step by Step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46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6" name="Google Shape;1556;p46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Agent starts at (1,1) with empty KB. Sense → Update KB → Infer → Decide → Move.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46"/>
          <p:cNvSpPr/>
          <p:nvPr/>
        </p:nvSpPr>
        <p:spPr>
          <a:xfrm>
            <a:off x="274320" y="914400"/>
            <a:ext cx="8595360" cy="1298448"/>
          </a:xfrm>
          <a:prstGeom prst="rect">
            <a:avLst/>
          </a:prstGeom>
          <a:solidFill>
            <a:srgbClr val="ECFDF5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46"/>
          <p:cNvSpPr/>
          <p:nvPr/>
        </p:nvSpPr>
        <p:spPr>
          <a:xfrm>
            <a:off x="274320" y="914400"/>
            <a:ext cx="2011680" cy="129844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46"/>
          <p:cNvSpPr/>
          <p:nvPr/>
        </p:nvSpPr>
        <p:spPr>
          <a:xfrm>
            <a:off x="274320" y="96926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 — Agent at (1,1)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46"/>
          <p:cNvSpPr/>
          <p:nvPr/>
        </p:nvSpPr>
        <p:spPr>
          <a:xfrm>
            <a:off x="274320" y="13716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Percept: [Nothing — No Stench, No Breeze, No Glitter]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46"/>
          <p:cNvSpPr/>
          <p:nvPr/>
        </p:nvSpPr>
        <p:spPr>
          <a:xfrm>
            <a:off x="274320" y="1737360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7FA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E0F7FA"/>
                </a:solidFill>
                <a:latin typeface="Calibri"/>
                <a:ea typeface="Calibri"/>
                <a:cs typeface="Calibri"/>
                <a:sym typeface="Calibri"/>
              </a:rPr>
              <a:t>Decision: Move to (2,1) — confirmed safe.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46"/>
          <p:cNvSpPr/>
          <p:nvPr/>
        </p:nvSpPr>
        <p:spPr>
          <a:xfrm>
            <a:off x="2377440" y="960120"/>
            <a:ext cx="48463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Rule W2: NOT Breeze(1,1) → NOT Pit(1,2) AND NOT Pit(2,1)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Rule W1: NOT Stench(1,1) → NOT Wumpus(1,2) AND NOT Wumpus(2,1)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46"/>
          <p:cNvSpPr/>
          <p:nvPr/>
        </p:nvSpPr>
        <p:spPr>
          <a:xfrm>
            <a:off x="7269480" y="960120"/>
            <a:ext cx="1554480" cy="1207008"/>
          </a:xfrm>
          <a:prstGeom prst="rect">
            <a:avLst/>
          </a:prstGeom>
          <a:solidFill>
            <a:srgbClr val="059669">
              <a:alpha val="14901"/>
            </a:srgbClr>
          </a:soli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46"/>
          <p:cNvSpPr/>
          <p:nvPr/>
        </p:nvSpPr>
        <p:spPr>
          <a:xfrm>
            <a:off x="7333488" y="1005840"/>
            <a:ext cx="1444752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KB Update: OK(1,2)=TRUE, OK(2,1)=TRUE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46"/>
          <p:cNvSpPr/>
          <p:nvPr/>
        </p:nvSpPr>
        <p:spPr>
          <a:xfrm>
            <a:off x="274320" y="2286000"/>
            <a:ext cx="8595360" cy="1298448"/>
          </a:xfrm>
          <a:prstGeom prst="rect">
            <a:avLst/>
          </a:prstGeom>
          <a:solidFill>
            <a:srgbClr val="F0FDFA"/>
          </a:solidFill>
          <a:ln w="1905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6" name="Google Shape;1566;p46"/>
          <p:cNvSpPr/>
          <p:nvPr/>
        </p:nvSpPr>
        <p:spPr>
          <a:xfrm>
            <a:off x="274320" y="2286000"/>
            <a:ext cx="2011680" cy="129844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7" name="Google Shape;1567;p46"/>
          <p:cNvSpPr/>
          <p:nvPr/>
        </p:nvSpPr>
        <p:spPr>
          <a:xfrm>
            <a:off x="274320" y="234086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 — Agent at (2,1)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46"/>
          <p:cNvSpPr/>
          <p:nvPr/>
        </p:nvSpPr>
        <p:spPr>
          <a:xfrm>
            <a:off x="274320" y="27432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Percept: [No Stench, BREEZE, No Glitter]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46"/>
          <p:cNvSpPr/>
          <p:nvPr/>
        </p:nvSpPr>
        <p:spPr>
          <a:xfrm>
            <a:off x="274320" y="3108960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7FA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E0F7FA"/>
                </a:solidFill>
                <a:latin typeface="Calibri"/>
                <a:ea typeface="Calibri"/>
                <a:cs typeface="Calibri"/>
                <a:sym typeface="Calibri"/>
              </a:rPr>
              <a:t>Decision: Go BACK to (1,1). Don't risk (3,1) or (2,2) yet.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46"/>
          <p:cNvSpPr/>
          <p:nvPr/>
        </p:nvSpPr>
        <p:spPr>
          <a:xfrm>
            <a:off x="2377440" y="2331720"/>
            <a:ext cx="48463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Rule W2: Breeze(2,1)=TRUE → Pit adjacent to (2,1)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Adjacent: (1,1), (3,1), (2,2). We know OK(1,1)=TRUE.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Therefore: Pit(3,1) OR Pit(2,2) — uncertain!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46"/>
          <p:cNvSpPr/>
          <p:nvPr/>
        </p:nvSpPr>
        <p:spPr>
          <a:xfrm>
            <a:off x="7269480" y="2331720"/>
            <a:ext cx="1554480" cy="1207008"/>
          </a:xfrm>
          <a:prstGeom prst="rect">
            <a:avLst/>
          </a:prstGeom>
          <a:solidFill>
            <a:srgbClr val="7C3AED">
              <a:alpha val="14901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46"/>
          <p:cNvSpPr/>
          <p:nvPr/>
        </p:nvSpPr>
        <p:spPr>
          <a:xfrm>
            <a:off x="7333488" y="2377440"/>
            <a:ext cx="1444752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KB Update: PitPossible(3,1)=TRUE, PitPossible(2,2)=TRUE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46"/>
          <p:cNvSpPr/>
          <p:nvPr/>
        </p:nvSpPr>
        <p:spPr>
          <a:xfrm>
            <a:off x="274320" y="3657600"/>
            <a:ext cx="8595360" cy="1298448"/>
          </a:xfrm>
          <a:prstGeom prst="rect">
            <a:avLst/>
          </a:prstGeom>
          <a:solidFill>
            <a:srgbClr val="FFF7ED"/>
          </a:solidFill>
          <a:ln w="1905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46"/>
          <p:cNvSpPr/>
          <p:nvPr/>
        </p:nvSpPr>
        <p:spPr>
          <a:xfrm>
            <a:off x="274320" y="3657600"/>
            <a:ext cx="2011680" cy="1298448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46"/>
          <p:cNvSpPr/>
          <p:nvPr/>
        </p:nvSpPr>
        <p:spPr>
          <a:xfrm>
            <a:off x="274320" y="371246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 — Agent at (1,2)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46"/>
          <p:cNvSpPr/>
          <p:nvPr/>
        </p:nvSpPr>
        <p:spPr>
          <a:xfrm>
            <a:off x="274320" y="41148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Percept: [STENCH, No Breeze, No Glitter]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46"/>
          <p:cNvSpPr/>
          <p:nvPr/>
        </p:nvSpPr>
        <p:spPr>
          <a:xfrm>
            <a:off x="274320" y="4480560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7FA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E0F7FA"/>
                </a:solidFill>
                <a:latin typeface="Calibri"/>
                <a:ea typeface="Calibri"/>
                <a:cs typeface="Calibri"/>
                <a:sym typeface="Calibri"/>
              </a:rPr>
              <a:t>Decision: Move to (2,2) — confirmed safe! Agent never SAW Pit or Wumpus. It DEDUCED their locations.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46"/>
          <p:cNvSpPr/>
          <p:nvPr/>
        </p:nvSpPr>
        <p:spPr>
          <a:xfrm>
            <a:off x="2377440" y="3703320"/>
            <a:ext cx="48463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Rule W1: Stench(1,2)=TRUE → Wumpus adjacent. Options: (2,2) or (1,3) or (1,1)✗ → Wumpus(2,2) OR Wumpus(1,3).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Rule W2: NOT Breeze(1,2) → NOT Pit(2,2).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COMBINE: Pit(3,1) OR Pit(2,2) AND NOT Pit(2,2) ⇒ Pit(3,1)=CONFIRMED!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Stench(2,1) → NOT Wumpus(2,2). From (1,2): Wumpus in (1,3). From (1,3): Stench→Wumpus in (1,4) or (2,3). (2,3) has no stench → Wumpus(1,4)=CONFIRMED!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46"/>
          <p:cNvSpPr/>
          <p:nvPr/>
        </p:nvSpPr>
        <p:spPr>
          <a:xfrm>
            <a:off x="7269480" y="3703320"/>
            <a:ext cx="1554480" cy="1207008"/>
          </a:xfrm>
          <a:prstGeom prst="rect">
            <a:avLst/>
          </a:prstGeom>
          <a:solidFill>
            <a:srgbClr val="EA580C">
              <a:alpha val="14901"/>
            </a:srgbClr>
          </a:solidFill>
          <a:ln w="9525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0" name="Google Shape;1580;p46"/>
          <p:cNvSpPr/>
          <p:nvPr/>
        </p:nvSpPr>
        <p:spPr>
          <a:xfrm>
            <a:off x="7333488" y="3749040"/>
            <a:ext cx="1444752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KB Update: Pit(3,1)=CONFIRMED, Wumpus tentative at (1,3)/(1,4), OK(2,2)=TRUE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46"/>
          <p:cNvSpPr/>
          <p:nvPr/>
        </p:nvSpPr>
        <p:spPr>
          <a:xfrm>
            <a:off x="274320" y="5010912"/>
            <a:ext cx="8595360" cy="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4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8" name="Google Shape;1588;p47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 Solution — Steps 4 &amp; 5: Safe at (2,2), Shooting Wumpus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47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0" name="Google Shape;1590;p47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KB so far: Pit(3,1)=✓  Wumpus tentative(1,4)  |  Each step: Percept → Prop. Sentence → Modus Ponens → FOL equivalent → Decision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47"/>
          <p:cNvSpPr/>
          <p:nvPr/>
        </p:nvSpPr>
        <p:spPr>
          <a:xfrm>
            <a:off x="274320" y="932688"/>
            <a:ext cx="8595360" cy="1975104"/>
          </a:xfrm>
          <a:prstGeom prst="rect">
            <a:avLst/>
          </a:prstGeom>
          <a:solidFill>
            <a:srgbClr val="ECFDF5"/>
          </a:solidFill>
          <a:ln w="1905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2" name="Google Shape;1592;p47"/>
          <p:cNvSpPr/>
          <p:nvPr/>
        </p:nvSpPr>
        <p:spPr>
          <a:xfrm>
            <a:off x="274320" y="932688"/>
            <a:ext cx="1261872" cy="1975104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47"/>
          <p:cNvSpPr/>
          <p:nvPr/>
        </p:nvSpPr>
        <p:spPr>
          <a:xfrm>
            <a:off x="274320" y="987552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47"/>
          <p:cNvSpPr/>
          <p:nvPr/>
        </p:nvSpPr>
        <p:spPr>
          <a:xfrm>
            <a:off x="274320" y="1353312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Room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(2,2)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47"/>
          <p:cNvSpPr/>
          <p:nvPr/>
        </p:nvSpPr>
        <p:spPr>
          <a:xfrm>
            <a:off x="274320" y="1828800"/>
            <a:ext cx="12618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Percept: NOTHING — No Stench, No Breeze, No Glitter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47"/>
          <p:cNvSpPr/>
          <p:nvPr/>
        </p:nvSpPr>
        <p:spPr>
          <a:xfrm>
            <a:off x="274320" y="2322576"/>
            <a:ext cx="12618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7FA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E0F7FA"/>
                </a:solidFill>
                <a:latin typeface="Calibri"/>
                <a:ea typeface="Calibri"/>
                <a:cs typeface="Calibri"/>
                <a:sym typeface="Calibri"/>
              </a:rPr>
              <a:t>→ OK(2,3) confirmed safe. But to reach (2,4) we need to pass (2,3). Must also confirm Wumpus(1,4) before approaching (2,4).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47"/>
          <p:cNvSpPr/>
          <p:nvPr/>
        </p:nvSpPr>
        <p:spPr>
          <a:xfrm>
            <a:off x="1627632" y="987552"/>
            <a:ext cx="4663440" cy="1865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Prop. Sentences:</a:t>
            </a:r>
            <a:br>
              <a:rPr lang="en-US" sz="8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S[2][2]=TRUE  ↔  NOT (W[1][2] OR W[3][2] OR W[2][1] OR W[2][3])  → No Wumpus adjacent</a:t>
            </a:r>
            <a:b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B[2][2]=TRUE  ↔  NOT (P[1][2] OR P[3][2] OR P[2][1] OR P[2][3])  → No Pit adjacent</a:t>
            </a:r>
            <a:b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Modus Ponens:</a:t>
            </a:r>
            <a:br>
              <a:rPr lang="en-US" sz="8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S[2][2]=TRUE + Rule W1 → NOT Wumpus adjacent to (2,2) ✓  [Wumpus at (1,4) confirmed — NOT adjacent to (2,2)]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B[2][2]=TRUE + Rule W2 → NOT Pit in ANY adjacent room → NOT Pit(1,2) ✓  NOT Pit(3,2) ✓  NOT Pit(2,1) ✓  NOT Pit(2,3) 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Therefore: OK(1,2)=TRUE, OK(3,2)=TRUE, OK(2,1)=TRUE, OK(2,3)=TRUE — ALL four neighbours confirmed safe!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47"/>
          <p:cNvSpPr/>
          <p:nvPr/>
        </p:nvSpPr>
        <p:spPr>
          <a:xfrm>
            <a:off x="6382512" y="978408"/>
            <a:ext cx="2423160" cy="1883664"/>
          </a:xfrm>
          <a:prstGeom prst="rect">
            <a:avLst/>
          </a:prstGeom>
          <a:solidFill>
            <a:srgbClr val="0F766E">
              <a:alpha val="12156"/>
            </a:srgbClr>
          </a:solidFill>
          <a:ln w="9525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47"/>
          <p:cNvSpPr/>
          <p:nvPr/>
        </p:nvSpPr>
        <p:spPr>
          <a:xfrm>
            <a:off x="6437376" y="1024128"/>
            <a:ext cx="231343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FOL:</a:t>
            </a:r>
            <a:br>
              <a:rPr lang="en-US" sz="8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∀x∀y: Stench(x,y) ↔ ∃a∃b: Adjacent(x,y,a,b) ∧ Wumpus(a,b)</a:t>
            </a:r>
            <a:b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Instantiate at (2,2): NOT Stench(2,2) → ¬∃ Wumpus adjacent ✓</a:t>
            </a:r>
            <a:b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∀x∀y: Breeze(x,y) ↔ ∃a∃b: Adjacent(x,y,a,b) ∧ Pit(a,b)</a:t>
            </a:r>
            <a:b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Instantiate at (2,2): NOT Breeze(2,2) → ¬∃ Pit adjacent → OK(2,3)=CONFIRMED SAFE ✓</a:t>
            </a:r>
            <a:b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KB State:</a:t>
            </a:r>
            <a:br>
              <a:rPr lang="en-US" sz="8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OK(2,2)=TRUE ✓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OK(2,3)=TRUE ✓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OK(3,2)=TRUE ✓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Wumpus(1,4) tentative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Gold at (2,4)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47"/>
          <p:cNvSpPr/>
          <p:nvPr/>
        </p:nvSpPr>
        <p:spPr>
          <a:xfrm>
            <a:off x="274320" y="2980944"/>
            <a:ext cx="8595360" cy="1975104"/>
          </a:xfrm>
          <a:prstGeom prst="rect">
            <a:avLst/>
          </a:prstGeom>
          <a:solidFill>
            <a:srgbClr val="FFF7ED"/>
          </a:solidFill>
          <a:ln w="1905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1" name="Google Shape;1601;p47"/>
          <p:cNvSpPr/>
          <p:nvPr/>
        </p:nvSpPr>
        <p:spPr>
          <a:xfrm>
            <a:off x="274320" y="2980944"/>
            <a:ext cx="1261872" cy="1975104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2" name="Google Shape;1602;p47"/>
          <p:cNvSpPr/>
          <p:nvPr/>
        </p:nvSpPr>
        <p:spPr>
          <a:xfrm>
            <a:off x="274320" y="3035808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47"/>
          <p:cNvSpPr/>
          <p:nvPr/>
        </p:nvSpPr>
        <p:spPr>
          <a:xfrm>
            <a:off x="274320" y="3401568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Room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SHOOT ARROW → (1,4)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47"/>
          <p:cNvSpPr/>
          <p:nvPr/>
        </p:nvSpPr>
        <p:spPr>
          <a:xfrm>
            <a:off x="274320" y="3877056"/>
            <a:ext cx="12618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Percept: ACTION: Fire arrow toward (1,4). SCREAM heard!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47"/>
          <p:cNvSpPr/>
          <p:nvPr/>
        </p:nvSpPr>
        <p:spPr>
          <a:xfrm>
            <a:off x="274320" y="4370832"/>
            <a:ext cx="12618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7FA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E0F7FA"/>
                </a:solidFill>
                <a:latin typeface="Calibri"/>
                <a:ea typeface="Calibri"/>
                <a:cs typeface="Calibri"/>
                <a:sym typeface="Calibri"/>
              </a:rPr>
              <a:t>→ Move (2,2)→(2,3)→(2,4). Wumpus dead, OK(2,3) confirmed, Gold at (2,4).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47"/>
          <p:cNvSpPr/>
          <p:nvPr/>
        </p:nvSpPr>
        <p:spPr>
          <a:xfrm>
            <a:off x="1627632" y="3035808"/>
            <a:ext cx="4663440" cy="1865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Prop. Sentences:</a:t>
            </a:r>
            <a:br>
              <a:rPr lang="en-US" sz="85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Scream=TRUE  →  WumpusDead=TRUE</a:t>
            </a:r>
            <a:b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WumpusDead=TRUE  →  Wumpus(1,4) eliminated — no more death threat from Wumpus</a:t>
            </a:r>
            <a:b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Modus Ponens:</a:t>
            </a:r>
            <a:br>
              <a:rPr lang="en-US" sz="8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Scream=TRUE + Rule W [Scream → WumpusDead] ⇒ Wumpus(1,4)=DEAD ✓  [Modus Ponens]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WumpusDead=TRUE → Wumpus(1,4) dead; (1,4) still has stench residue but no live threat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Breeze(2,2)=TRUE → NOT Pit(2,3)=TRUE ✓  [established in Step 4]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Path to Gold: (2,2)→(2,3)→(2,4). OK(2,3)=TRUE ✓. OK(2,4)? Breeze at (2,3) means Pit adj to (2,3) — Pit(3,3) [confirmed from map]. NOT Pit(2,4)=safe to enter.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47"/>
          <p:cNvSpPr/>
          <p:nvPr/>
        </p:nvSpPr>
        <p:spPr>
          <a:xfrm>
            <a:off x="6382512" y="3026664"/>
            <a:ext cx="2423160" cy="1883664"/>
          </a:xfrm>
          <a:prstGeom prst="rect">
            <a:avLst/>
          </a:prstGeom>
          <a:solidFill>
            <a:srgbClr val="EA580C">
              <a:alpha val="12156"/>
            </a:srgbClr>
          </a:solidFill>
          <a:ln w="9525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47"/>
          <p:cNvSpPr/>
          <p:nvPr/>
        </p:nvSpPr>
        <p:spPr>
          <a:xfrm>
            <a:off x="6437376" y="3072384"/>
            <a:ext cx="231343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FOL:</a:t>
            </a:r>
            <a:br>
              <a:rPr lang="en-US" sz="8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∀x∀y: Scream → ¬∃a∃b: LiveWumpus(a,b)  [after arrow fired at (1,4)]</a:t>
            </a:r>
            <a:b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Instantiate: Scream=TRUE → WumpusDead=TRUE</a:t>
            </a:r>
            <a:b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W5 FOL: OK(2,3) ↔ ¬Pit(2,3) ∧ ¬Wumpus(2,3)</a:t>
            </a:r>
            <a:b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¬Pit(2,3)=TRUE [NOT Breeze(2,2)]; ¬Wumpus(2,3)=TRUE [Wumpus at (1,4), now dead] → OK(2,3)=TRUE ✓</a:t>
            </a:r>
            <a:b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KB State:</a:t>
            </a:r>
            <a:br>
              <a:rPr lang="en-US" sz="8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WumpusDead=TRUE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OK(2,3)=TRUE ✓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OK(2,4) assessed: ¬Wumpus(2,4) [dead]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Gold at (2,4) — advance!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4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5" name="Google Shape;1615;p48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Steps 6-7: Via (2,3) to (2,4) and Grabbing the Gold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48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7" name="Google Shape;1617;p48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The agent reaches the gold room — propositional proof, Modus Ponens chain, and FOL inference all shown.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48"/>
          <p:cNvSpPr/>
          <p:nvPr/>
        </p:nvSpPr>
        <p:spPr>
          <a:xfrm>
            <a:off x="274320" y="932688"/>
            <a:ext cx="8595360" cy="1938528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9" name="Google Shape;1619;p48"/>
          <p:cNvSpPr/>
          <p:nvPr/>
        </p:nvSpPr>
        <p:spPr>
          <a:xfrm>
            <a:off x="274320" y="932688"/>
            <a:ext cx="8595360" cy="2743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0" name="Google Shape;1620;p48"/>
          <p:cNvSpPr/>
          <p:nvPr/>
        </p:nvSpPr>
        <p:spPr>
          <a:xfrm>
            <a:off x="274320" y="93268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6 — Agent at (2,3) → Breeze=TRUE [Pit(3,3) adj]. Then (2,4): Stench=TRUE [Wumpus adj,dead], Breeze=TRUE [Pit(3,4)], GLITTER=TRUE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48"/>
          <p:cNvSpPr/>
          <p:nvPr/>
        </p:nvSpPr>
        <p:spPr>
          <a:xfrm>
            <a:off x="411480" y="12618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Propositional Sentences: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48"/>
          <p:cNvSpPr/>
          <p:nvPr/>
        </p:nvSpPr>
        <p:spPr>
          <a:xfrm>
            <a:off x="411480" y="150876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Glitter[2][3] = TRUE  ↔  Gold[2][3] = TRUE  [World Rule W3]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48"/>
          <p:cNvSpPr/>
          <p:nvPr/>
        </p:nvSpPr>
        <p:spPr>
          <a:xfrm>
            <a:off x="411480" y="176479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Breeze[2][3] = TRUE  →  Pit adjacent to (2,3): Pit(3,3)=confirmed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48"/>
          <p:cNvSpPr/>
          <p:nvPr/>
        </p:nvSpPr>
        <p:spPr>
          <a:xfrm>
            <a:off x="411480" y="2020824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Glitter[2][4] = TRUE  ↔  Gold[2][4] = TRUE  [World Rule W3]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48"/>
          <p:cNvSpPr/>
          <p:nvPr/>
        </p:nvSpPr>
        <p:spPr>
          <a:xfrm>
            <a:off x="411480" y="227685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Stench[2][4]=TRUE → Wumpus adjacent (1,4)=DEAD ✓, Breeze[2][4]=TRUE → Pit(3,4) confirmed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48"/>
          <p:cNvSpPr/>
          <p:nvPr/>
        </p:nvSpPr>
        <p:spPr>
          <a:xfrm>
            <a:off x="411480" y="2532888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(* Pit(3,4) confirmed from map; ** (2,4) IS the gold room = this room)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48"/>
          <p:cNvSpPr/>
          <p:nvPr/>
        </p:nvSpPr>
        <p:spPr>
          <a:xfrm>
            <a:off x="4663440" y="12618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Modus Ponens Chain: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48"/>
          <p:cNvSpPr/>
          <p:nvPr/>
        </p:nvSpPr>
        <p:spPr>
          <a:xfrm>
            <a:off x="4663440" y="15087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Glitter(2,4)=TRUE + Rule W3 [Glitter(x,y)↔Gold(x,y)]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48"/>
          <p:cNvSpPr/>
          <p:nvPr/>
        </p:nvSpPr>
        <p:spPr>
          <a:xfrm>
            <a:off x="4663440" y="1746504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⇒  Gold(2,4) = TRUE  [Modus Ponens]  ★ GRAB IT!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48"/>
          <p:cNvSpPr/>
          <p:nvPr/>
        </p:nvSpPr>
        <p:spPr>
          <a:xfrm>
            <a:off x="4663440" y="1984248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48"/>
          <p:cNvSpPr/>
          <p:nvPr/>
        </p:nvSpPr>
        <p:spPr>
          <a:xfrm>
            <a:off x="4663440" y="222199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Breeze(2,3)=TRUE + Rule W2 → Pit adj to (2,3) → Pit(3,3)=CONFIRMED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48"/>
          <p:cNvSpPr/>
          <p:nvPr/>
        </p:nvSpPr>
        <p:spPr>
          <a:xfrm>
            <a:off x="4663440" y="245973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⇒  Pit(3,3)=CONFIRMED [only unconfirmed adjacent pit]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48"/>
          <p:cNvSpPr/>
          <p:nvPr/>
        </p:nvSpPr>
        <p:spPr>
          <a:xfrm>
            <a:off x="4663440" y="269748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48"/>
          <p:cNvSpPr/>
          <p:nvPr/>
        </p:nvSpPr>
        <p:spPr>
          <a:xfrm>
            <a:off x="4663440" y="2935224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At (2,4): Glitter(2,4)=TRUE + Rule W3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48"/>
          <p:cNvSpPr/>
          <p:nvPr/>
        </p:nvSpPr>
        <p:spPr>
          <a:xfrm>
            <a:off x="4663440" y="3172968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⇒  Gold(2,4)=TRUE ✓  GRAB IT!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48"/>
          <p:cNvSpPr/>
          <p:nvPr/>
        </p:nvSpPr>
        <p:spPr>
          <a:xfrm>
            <a:off x="274320" y="2944368"/>
            <a:ext cx="8595360" cy="1115568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p48"/>
          <p:cNvSpPr/>
          <p:nvPr/>
        </p:nvSpPr>
        <p:spPr>
          <a:xfrm>
            <a:off x="274320" y="2944368"/>
            <a:ext cx="8595360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8" name="Google Shape;1638;p48"/>
          <p:cNvSpPr/>
          <p:nvPr/>
        </p:nvSpPr>
        <p:spPr>
          <a:xfrm>
            <a:off x="274320" y="2944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Order Logic — Generalised Rules Applied at (2,3)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48"/>
          <p:cNvSpPr/>
          <p:nvPr/>
        </p:nvSpPr>
        <p:spPr>
          <a:xfrm>
            <a:off x="411480" y="3236976"/>
            <a:ext cx="83210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W3 FOL: </a:t>
            </a: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 ∀y: Glitter(x,y) ↔ Gold(x,y)  →  Instantiate x=2,y=4:  Glitter(2,4)=TRUE ⇒ Gold(2,4)=TRUE  ✓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W2 FOL: </a:t>
            </a: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 ∀y: Breeze(x,y) ↔ ∃a∃b: Adjacent(x,y,a,b) ∧ Pit(a,b)  →  Instantiate x=2,y=3:  Breeze(2,3)=TRUE ⇒ ∃ Pit adjacent  → Pit(3,3)=CONFIRMED ✓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W2 FOL: </a:t>
            </a: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 ∀y: Glitter(x,y) ↔ Gold(x,y)  →  Instantiate x=2,y=4:  Glitter(2,4)=TRUE ⇒ Gold(2,4)=TRUE ✓  GRAB IT!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48"/>
          <p:cNvSpPr/>
          <p:nvPr/>
        </p:nvSpPr>
        <p:spPr>
          <a:xfrm>
            <a:off x="274320" y="4133088"/>
            <a:ext cx="8595360" cy="80467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48"/>
          <p:cNvSpPr/>
          <p:nvPr/>
        </p:nvSpPr>
        <p:spPr>
          <a:xfrm>
            <a:off x="274320" y="4133088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 GOLD GRABBED!  Agent now holds the Gold at (2,4)  ★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48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DE68A"/>
                </a:solidFill>
                <a:latin typeface="Calibri"/>
                <a:ea typeface="Calibri"/>
                <a:cs typeface="Calibri"/>
                <a:sym typeface="Calibri"/>
              </a:rPr>
              <a:t>KB State: Gold=GRABBED  |  OK(2,4)=TRUE  |  Wumpus(1,4)=DEAD  |  Pit(3,1)=CONFIRMED  |  Pit(3,3)=CONFIRMED  |  Pit(3,4)=CONFIRMED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4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9" name="Google Shape;1649;p49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 Solution — Step 7: Safe Return Path to (1,1)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49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1" name="Google Shape;1651;p49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Agent has Gold. Confirmed safe path: (2,4)→(2,3)→(2,2)→(1,2)→(1,1). Each step verified by OK() reasoning.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49"/>
          <p:cNvSpPr/>
          <p:nvPr/>
        </p:nvSpPr>
        <p:spPr>
          <a:xfrm>
            <a:off x="274320" y="932688"/>
            <a:ext cx="8595360" cy="621792"/>
          </a:xfrm>
          <a:prstGeom prst="rect">
            <a:avLst/>
          </a:prstGeom>
          <a:solidFill>
            <a:srgbClr val="ECFDF5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3" name="Google Shape;1653;p49"/>
          <p:cNvSpPr/>
          <p:nvPr/>
        </p:nvSpPr>
        <p:spPr>
          <a:xfrm>
            <a:off x="274320" y="932688"/>
            <a:ext cx="1371600" cy="62179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4" name="Google Shape;1654;p49"/>
          <p:cNvSpPr/>
          <p:nvPr/>
        </p:nvSpPr>
        <p:spPr>
          <a:xfrm>
            <a:off x="274320" y="932688"/>
            <a:ext cx="13716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49"/>
          <p:cNvSpPr/>
          <p:nvPr/>
        </p:nvSpPr>
        <p:spPr>
          <a:xfrm>
            <a:off x="1737360" y="987552"/>
            <a:ext cx="70408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Confirmed SAFE: (1,1) (2,1) (1,2) (2,2) (2,3) (2,4)   Confirmed DEADLY: Pit(3,1) Pit(3,3) Pit(3,4) Wumpus(1,4)[dead]   Gold: GRABBED ★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49"/>
          <p:cNvSpPr/>
          <p:nvPr/>
        </p:nvSpPr>
        <p:spPr>
          <a:xfrm>
            <a:off x="274320" y="1627632"/>
            <a:ext cx="8595360" cy="10515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7" name="Google Shape;1657;p49"/>
          <p:cNvSpPr/>
          <p:nvPr/>
        </p:nvSpPr>
        <p:spPr>
          <a:xfrm>
            <a:off x="274320" y="1627632"/>
            <a:ext cx="1207008" cy="105156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8" name="Google Shape;1658;p49"/>
          <p:cNvSpPr/>
          <p:nvPr/>
        </p:nvSpPr>
        <p:spPr>
          <a:xfrm>
            <a:off x="274320" y="1627632"/>
            <a:ext cx="120700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(2,4)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(2,3)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49"/>
          <p:cNvSpPr/>
          <p:nvPr/>
        </p:nvSpPr>
        <p:spPr>
          <a:xfrm>
            <a:off x="1554480" y="1673352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Prop: </a:t>
            </a: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OK[2][3] = TRUE  [NOT Breeze(2,2)=TRUE → NOT Pit adjacent to (2,2) → NOT Pit(2,3)]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Pit(2,3)=TRUE  AND  NOT Wumpus(2,3)=TRUE [Wumpus at (1,4), not (2,3)]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49"/>
          <p:cNvSpPr/>
          <p:nvPr/>
        </p:nvSpPr>
        <p:spPr>
          <a:xfrm>
            <a:off x="5029200" y="1673352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MP: </a:t>
            </a: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Breeze(2,2)=TRUE + Rule W2 → ¬∃Pit adj(2,2) → NOT Pit(2,3)=TRUE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Wumpus(1,4)=DEAD, not at (2,3) → NOT Wumpus(2,3)=TRUE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→ OK(2,3)=TRUE 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49"/>
          <p:cNvSpPr/>
          <p:nvPr/>
        </p:nvSpPr>
        <p:spPr>
          <a:xfrm>
            <a:off x="5029200" y="2157984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FOL: </a:t>
            </a: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W2 FOL at (2,2): ¬Breeze(2,2) → ¬∃a∃b: Adjacent(2,2,a,b)∧Pit(a,b) → ¬Pit(2,3) ✓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W5 FOL: ¬Pit(2,3) ∧ ¬Wumpus(2,3) → OK(2,3)=TRUE ✓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49"/>
          <p:cNvSpPr/>
          <p:nvPr/>
        </p:nvSpPr>
        <p:spPr>
          <a:xfrm>
            <a:off x="274320" y="2743200"/>
            <a:ext cx="8595360" cy="1051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49"/>
          <p:cNvSpPr/>
          <p:nvPr/>
        </p:nvSpPr>
        <p:spPr>
          <a:xfrm>
            <a:off x="274320" y="2743200"/>
            <a:ext cx="1207008" cy="10515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p49"/>
          <p:cNvSpPr/>
          <p:nvPr/>
        </p:nvSpPr>
        <p:spPr>
          <a:xfrm>
            <a:off x="274320" y="2743200"/>
            <a:ext cx="120700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(2,3)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(2,2)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49"/>
          <p:cNvSpPr/>
          <p:nvPr/>
        </p:nvSpPr>
        <p:spPr>
          <a:xfrm>
            <a:off x="1554480" y="2788920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Prop: </a:t>
            </a: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OK[2][2] = TRUE  [percept at (2,2) = Nothing → NOT Pit AND NOT Wumpus adjacent]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Pit(2,2)=TRUE  AND  NOT Wumpus(2,2)=TRUE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49"/>
          <p:cNvSpPr/>
          <p:nvPr/>
        </p:nvSpPr>
        <p:spPr>
          <a:xfrm>
            <a:off x="5029200" y="2788920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MP: </a:t>
            </a: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Breeze(2,2)=TRUE + Rule W2 → NOT Pit adj to (2,2) → NOT Pit(2,2)=TRUE 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Stench(2,2)=TRUE → NOT Wumpus adj → NOT Wumpus(2,2)=TRUE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→ OK(2,2)=TRUE 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49"/>
          <p:cNvSpPr/>
          <p:nvPr/>
        </p:nvSpPr>
        <p:spPr>
          <a:xfrm>
            <a:off x="5029200" y="3273552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FOL: </a:t>
            </a: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W1+W2 FOL at (2,2): ¬Stench(2,2) ∧ ¬Breeze(2,2) → ¬∃Wumpus adj ∧ ¬∃Pit adj ✓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W5 FOL: ¬Pit(2,2) ∧ ¬Wumpus(2,2) → OK(2,2)=TRUE ✓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49"/>
          <p:cNvSpPr/>
          <p:nvPr/>
        </p:nvSpPr>
        <p:spPr>
          <a:xfrm>
            <a:off x="274320" y="3858768"/>
            <a:ext cx="8595360" cy="105156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9" name="Google Shape;1669;p49"/>
          <p:cNvSpPr/>
          <p:nvPr/>
        </p:nvSpPr>
        <p:spPr>
          <a:xfrm>
            <a:off x="274320" y="3858768"/>
            <a:ext cx="1207008" cy="105156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0" name="Google Shape;1670;p49"/>
          <p:cNvSpPr/>
          <p:nvPr/>
        </p:nvSpPr>
        <p:spPr>
          <a:xfrm>
            <a:off x="274320" y="3858768"/>
            <a:ext cx="120700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(2,2)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(1,2)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49"/>
          <p:cNvSpPr/>
          <p:nvPr/>
        </p:nvSpPr>
        <p:spPr>
          <a:xfrm>
            <a:off x="1554480" y="3904488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Prop: </a:t>
            </a: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OK[1][2] = TRUE  [NOT Breeze(1,2) → NOT Pit adjacent. Stench(1,2)=TRUE but Wumpus at (1,4) not (1,2)]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Pit(1,2)=TRUE  AND  NOT Wumpus(1,2)=TRUE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49"/>
          <p:cNvSpPr/>
          <p:nvPr/>
        </p:nvSpPr>
        <p:spPr>
          <a:xfrm>
            <a:off x="5029200" y="3904488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MP: </a:t>
            </a: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Breeze(1,2)=TRUE + Rule W2 → NOT Pit adj to (1,2) → NOT Pit(1,2)=TRUE 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Stench(1,2)=TRUE; Wumpus confirmed at (1,4) not (1,2) → NOT Wumpus(1,2)=TRUE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→ OK(1,2)=TRUE 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49"/>
          <p:cNvSpPr/>
          <p:nvPr/>
        </p:nvSpPr>
        <p:spPr>
          <a:xfrm>
            <a:off x="5029200" y="4389120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FOL: </a:t>
            </a: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W2 FOL at (1,2): ¬Breeze(1,2) → ¬∃Pit adj(1,2) → ¬Pit(1,2) ✓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W5 FOL: ¬Pit(1,2) ∧ ¬Wumpus(1,2) [Wumpus at (1,4)] → OK(1,2)=TRUE ✓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49"/>
          <p:cNvSpPr/>
          <p:nvPr/>
        </p:nvSpPr>
        <p:spPr>
          <a:xfrm>
            <a:off x="274320" y="4974336"/>
            <a:ext cx="8595360" cy="1051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5" name="Google Shape;1675;p49"/>
          <p:cNvSpPr/>
          <p:nvPr/>
        </p:nvSpPr>
        <p:spPr>
          <a:xfrm>
            <a:off x="274320" y="4974336"/>
            <a:ext cx="1207008" cy="105156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6" name="Google Shape;1676;p49"/>
          <p:cNvSpPr/>
          <p:nvPr/>
        </p:nvSpPr>
        <p:spPr>
          <a:xfrm>
            <a:off x="274320" y="4974336"/>
            <a:ext cx="120700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(1,2)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(1,1)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49"/>
          <p:cNvSpPr/>
          <p:nvPr/>
        </p:nvSpPr>
        <p:spPr>
          <a:xfrm>
            <a:off x="1554480" y="5020056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Prop: </a:t>
            </a: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OK[1][1] = TRUE  [starting room — agent was alive here at Step 1]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Pit(1,1)=TRUE  AND  NOT Wumpus(1,1)=TRUE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49"/>
          <p:cNvSpPr/>
          <p:nvPr/>
        </p:nvSpPr>
        <p:spPr>
          <a:xfrm>
            <a:off x="5029200" y="5020056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MP: </a:t>
            </a: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Step 1: NOT Breeze(1,1) → NOT Pit(1,2) AND NOT Pit(2,1)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Step 1: NOT Stench(1,1) → NOT Wumpus(1,2) AND NOT Wumpus(2,1)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→ OK(1,1)=TRUE ✓ [agent was alive there — trivially safe]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49"/>
          <p:cNvSpPr/>
          <p:nvPr/>
        </p:nvSpPr>
        <p:spPr>
          <a:xfrm>
            <a:off x="5029200" y="5504688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FOL: </a:t>
            </a: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W5 FOL: ¬Pit(1,1) ∧ ¬Wumpus(1,1)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Instantiate x=1,y=1: Agent alive at start → both confirmed TRUE → OK(1,1)=TRUE ✓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49"/>
          <p:cNvSpPr/>
          <p:nvPr/>
        </p:nvSpPr>
        <p:spPr>
          <a:xfrm>
            <a:off x="274320" y="4983480"/>
            <a:ext cx="8595360" cy="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5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7" name="Google Shape;1687;p50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 Solution — Mission Summary: Full Path with Logic at Every Step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50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9" name="Google Shape;1689;p50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Standard map: Wumpus(1,4) | Pit(3,1) | Pit(3,3) | Pit(3,4) | Gold(2,4). Agent starts at (1,1).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50"/>
          <p:cNvSpPr/>
          <p:nvPr/>
        </p:nvSpPr>
        <p:spPr>
          <a:xfrm>
            <a:off x="256032" y="960120"/>
            <a:ext cx="1353312" cy="1261872"/>
          </a:xfrm>
          <a:prstGeom prst="rect">
            <a:avLst/>
          </a:prstGeom>
          <a:solidFill>
            <a:srgbClr val="F8FAFB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1" name="Google Shape;1691;p50"/>
          <p:cNvSpPr/>
          <p:nvPr/>
        </p:nvSpPr>
        <p:spPr>
          <a:xfrm>
            <a:off x="256032" y="960120"/>
            <a:ext cx="1353312" cy="2560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50"/>
          <p:cNvSpPr/>
          <p:nvPr/>
        </p:nvSpPr>
        <p:spPr>
          <a:xfrm>
            <a:off x="256032" y="96012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50"/>
          <p:cNvSpPr/>
          <p:nvPr/>
        </p:nvSpPr>
        <p:spPr>
          <a:xfrm>
            <a:off x="256032" y="123444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(1,1)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50"/>
          <p:cNvSpPr/>
          <p:nvPr/>
        </p:nvSpPr>
        <p:spPr>
          <a:xfrm>
            <a:off x="301752" y="1554480"/>
            <a:ext cx="12618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Nothing → OK(2,1) OK(1,2)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50"/>
          <p:cNvSpPr/>
          <p:nvPr/>
        </p:nvSpPr>
        <p:spPr>
          <a:xfrm>
            <a:off x="1581912" y="1399032"/>
            <a:ext cx="1645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50"/>
          <p:cNvSpPr/>
          <p:nvPr/>
        </p:nvSpPr>
        <p:spPr>
          <a:xfrm>
            <a:off x="1719072" y="960120"/>
            <a:ext cx="1353312" cy="1261872"/>
          </a:xfrm>
          <a:prstGeom prst="rect">
            <a:avLst/>
          </a:prstGeom>
          <a:solidFill>
            <a:srgbClr val="F8FAFB"/>
          </a:solidFill>
          <a:ln w="1905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50"/>
          <p:cNvSpPr/>
          <p:nvPr/>
        </p:nvSpPr>
        <p:spPr>
          <a:xfrm>
            <a:off x="1719072" y="960120"/>
            <a:ext cx="1353312" cy="25603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50"/>
          <p:cNvSpPr/>
          <p:nvPr/>
        </p:nvSpPr>
        <p:spPr>
          <a:xfrm>
            <a:off x="1719072" y="96012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50"/>
          <p:cNvSpPr/>
          <p:nvPr/>
        </p:nvSpPr>
        <p:spPr>
          <a:xfrm>
            <a:off x="1719072" y="123444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(2,1)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50"/>
          <p:cNvSpPr/>
          <p:nvPr/>
        </p:nvSpPr>
        <p:spPr>
          <a:xfrm>
            <a:off x="1764792" y="1554480"/>
            <a:ext cx="12618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Breeze → Pit(3,1) or (2,2)?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50"/>
          <p:cNvSpPr/>
          <p:nvPr/>
        </p:nvSpPr>
        <p:spPr>
          <a:xfrm>
            <a:off x="3044952" y="1399032"/>
            <a:ext cx="1645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50"/>
          <p:cNvSpPr/>
          <p:nvPr/>
        </p:nvSpPr>
        <p:spPr>
          <a:xfrm>
            <a:off x="3182112" y="960120"/>
            <a:ext cx="1353312" cy="1261872"/>
          </a:xfrm>
          <a:prstGeom prst="rect">
            <a:avLst/>
          </a:prstGeom>
          <a:solidFill>
            <a:srgbClr val="F8FAFB"/>
          </a:solidFill>
          <a:ln w="1905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50"/>
          <p:cNvSpPr/>
          <p:nvPr/>
        </p:nvSpPr>
        <p:spPr>
          <a:xfrm>
            <a:off x="3182112" y="960120"/>
            <a:ext cx="1353312" cy="256032"/>
          </a:xfrm>
          <a:prstGeom prst="rect">
            <a:avLst/>
          </a:prstGeom>
          <a:solidFill>
            <a:srgbClr val="6B7280"/>
          </a:solidFill>
          <a:ln w="1270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4" name="Google Shape;1704;p50"/>
          <p:cNvSpPr/>
          <p:nvPr/>
        </p:nvSpPr>
        <p:spPr>
          <a:xfrm>
            <a:off x="3182112" y="96012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50"/>
          <p:cNvSpPr/>
          <p:nvPr/>
        </p:nvSpPr>
        <p:spPr>
          <a:xfrm>
            <a:off x="3182112" y="123444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(1,1)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50"/>
          <p:cNvSpPr/>
          <p:nvPr/>
        </p:nvSpPr>
        <p:spPr>
          <a:xfrm>
            <a:off x="3227832" y="1554480"/>
            <a:ext cx="12618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Uncertain — retreat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50"/>
          <p:cNvSpPr/>
          <p:nvPr/>
        </p:nvSpPr>
        <p:spPr>
          <a:xfrm>
            <a:off x="4507992" y="1399032"/>
            <a:ext cx="1645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50"/>
          <p:cNvSpPr/>
          <p:nvPr/>
        </p:nvSpPr>
        <p:spPr>
          <a:xfrm>
            <a:off x="4645152" y="960120"/>
            <a:ext cx="1353312" cy="1261872"/>
          </a:xfrm>
          <a:prstGeom prst="rect">
            <a:avLst/>
          </a:prstGeom>
          <a:solidFill>
            <a:srgbClr val="F8FAFB"/>
          </a:solidFill>
          <a:ln w="1905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50"/>
          <p:cNvSpPr/>
          <p:nvPr/>
        </p:nvSpPr>
        <p:spPr>
          <a:xfrm>
            <a:off x="4645152" y="960120"/>
            <a:ext cx="1353312" cy="25603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p50"/>
          <p:cNvSpPr/>
          <p:nvPr/>
        </p:nvSpPr>
        <p:spPr>
          <a:xfrm>
            <a:off x="4645152" y="96012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50"/>
          <p:cNvSpPr/>
          <p:nvPr/>
        </p:nvSpPr>
        <p:spPr>
          <a:xfrm>
            <a:off x="4645152" y="123444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(1,2)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50"/>
          <p:cNvSpPr/>
          <p:nvPr/>
        </p:nvSpPr>
        <p:spPr>
          <a:xfrm>
            <a:off x="4690872" y="1554480"/>
            <a:ext cx="12618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Stench+¬Breeze → Pit(3,1)✓ Wumpus(1,4)✓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50"/>
          <p:cNvSpPr/>
          <p:nvPr/>
        </p:nvSpPr>
        <p:spPr>
          <a:xfrm>
            <a:off x="5971032" y="1399032"/>
            <a:ext cx="1645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50"/>
          <p:cNvSpPr/>
          <p:nvPr/>
        </p:nvSpPr>
        <p:spPr>
          <a:xfrm>
            <a:off x="6108192" y="960120"/>
            <a:ext cx="1353312" cy="1261872"/>
          </a:xfrm>
          <a:prstGeom prst="rect">
            <a:avLst/>
          </a:prstGeom>
          <a:solidFill>
            <a:srgbClr val="F8FAFB"/>
          </a:solidFill>
          <a:ln w="1905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p50"/>
          <p:cNvSpPr/>
          <p:nvPr/>
        </p:nvSpPr>
        <p:spPr>
          <a:xfrm>
            <a:off x="6108192" y="960120"/>
            <a:ext cx="1353312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6" name="Google Shape;1716;p50"/>
          <p:cNvSpPr/>
          <p:nvPr/>
        </p:nvSpPr>
        <p:spPr>
          <a:xfrm>
            <a:off x="6108192" y="96012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50"/>
          <p:cNvSpPr/>
          <p:nvPr/>
        </p:nvSpPr>
        <p:spPr>
          <a:xfrm>
            <a:off x="6108192" y="123444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(2,2)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50"/>
          <p:cNvSpPr/>
          <p:nvPr/>
        </p:nvSpPr>
        <p:spPr>
          <a:xfrm>
            <a:off x="6153912" y="1554480"/>
            <a:ext cx="12618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Nothing → OK(2,3)✓ all safe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50"/>
          <p:cNvSpPr/>
          <p:nvPr/>
        </p:nvSpPr>
        <p:spPr>
          <a:xfrm>
            <a:off x="7434072" y="1399032"/>
            <a:ext cx="1645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50"/>
          <p:cNvSpPr/>
          <p:nvPr/>
        </p:nvSpPr>
        <p:spPr>
          <a:xfrm>
            <a:off x="7571232" y="960120"/>
            <a:ext cx="1353312" cy="1261872"/>
          </a:xfrm>
          <a:prstGeom prst="rect">
            <a:avLst/>
          </a:prstGeom>
          <a:solidFill>
            <a:srgbClr val="F8FAFB"/>
          </a:solidFill>
          <a:ln w="1905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1" name="Google Shape;1721;p50"/>
          <p:cNvSpPr/>
          <p:nvPr/>
        </p:nvSpPr>
        <p:spPr>
          <a:xfrm>
            <a:off x="7571232" y="960120"/>
            <a:ext cx="1353312" cy="25603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2" name="Google Shape;1722;p50"/>
          <p:cNvSpPr/>
          <p:nvPr/>
        </p:nvSpPr>
        <p:spPr>
          <a:xfrm>
            <a:off x="7571232" y="96012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 SHOOT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50"/>
          <p:cNvSpPr/>
          <p:nvPr/>
        </p:nvSpPr>
        <p:spPr>
          <a:xfrm>
            <a:off x="7571232" y="123444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↑(1,4)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50"/>
          <p:cNvSpPr/>
          <p:nvPr/>
        </p:nvSpPr>
        <p:spPr>
          <a:xfrm>
            <a:off x="7616952" y="1554480"/>
            <a:ext cx="12618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Arrow→(1,4) → Scream heard → Wumpus(1,4) DEAD!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50"/>
          <p:cNvSpPr/>
          <p:nvPr/>
        </p:nvSpPr>
        <p:spPr>
          <a:xfrm>
            <a:off x="256032" y="2377440"/>
            <a:ext cx="1353312" cy="1261872"/>
          </a:xfrm>
          <a:prstGeom prst="rect">
            <a:avLst/>
          </a:prstGeom>
          <a:solidFill>
            <a:srgbClr val="F8FAFB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6" name="Google Shape;1726;p50"/>
          <p:cNvSpPr/>
          <p:nvPr/>
        </p:nvSpPr>
        <p:spPr>
          <a:xfrm>
            <a:off x="256032" y="2377440"/>
            <a:ext cx="1353312" cy="2560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7" name="Google Shape;1727;p50"/>
          <p:cNvSpPr/>
          <p:nvPr/>
        </p:nvSpPr>
        <p:spPr>
          <a:xfrm>
            <a:off x="256032" y="237744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50"/>
          <p:cNvSpPr/>
          <p:nvPr/>
        </p:nvSpPr>
        <p:spPr>
          <a:xfrm>
            <a:off x="256032" y="265176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(2,3)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50"/>
          <p:cNvSpPr/>
          <p:nvPr/>
        </p:nvSpPr>
        <p:spPr>
          <a:xfrm>
            <a:off x="301752" y="2971800"/>
            <a:ext cx="12618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Breeze → Pit(3,3). Path to (2,4) clear.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50"/>
          <p:cNvSpPr/>
          <p:nvPr/>
        </p:nvSpPr>
        <p:spPr>
          <a:xfrm>
            <a:off x="1581912" y="2816352"/>
            <a:ext cx="1645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50"/>
          <p:cNvSpPr/>
          <p:nvPr/>
        </p:nvSpPr>
        <p:spPr>
          <a:xfrm>
            <a:off x="1719072" y="2377440"/>
            <a:ext cx="1353312" cy="1261872"/>
          </a:xfrm>
          <a:prstGeom prst="rect">
            <a:avLst/>
          </a:prstGeom>
          <a:solidFill>
            <a:srgbClr val="F8FAFB"/>
          </a:solidFill>
          <a:ln w="1905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2" name="Google Shape;1732;p50"/>
          <p:cNvSpPr/>
          <p:nvPr/>
        </p:nvSpPr>
        <p:spPr>
          <a:xfrm>
            <a:off x="1719072" y="2377440"/>
            <a:ext cx="1353312" cy="25603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3" name="Google Shape;1733;p50"/>
          <p:cNvSpPr/>
          <p:nvPr/>
        </p:nvSpPr>
        <p:spPr>
          <a:xfrm>
            <a:off x="1719072" y="237744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7 ★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50"/>
          <p:cNvSpPr/>
          <p:nvPr/>
        </p:nvSpPr>
        <p:spPr>
          <a:xfrm>
            <a:off x="1719072" y="265176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(2,4)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50"/>
          <p:cNvSpPr/>
          <p:nvPr/>
        </p:nvSpPr>
        <p:spPr>
          <a:xfrm>
            <a:off x="1764792" y="2971800"/>
            <a:ext cx="12618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Glitter=TRUE → GOLD GRABBED!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50"/>
          <p:cNvSpPr/>
          <p:nvPr/>
        </p:nvSpPr>
        <p:spPr>
          <a:xfrm>
            <a:off x="3044952" y="2816352"/>
            <a:ext cx="1645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50"/>
          <p:cNvSpPr/>
          <p:nvPr/>
        </p:nvSpPr>
        <p:spPr>
          <a:xfrm>
            <a:off x="3182112" y="2377440"/>
            <a:ext cx="1353312" cy="1261872"/>
          </a:xfrm>
          <a:prstGeom prst="rect">
            <a:avLst/>
          </a:prstGeom>
          <a:solidFill>
            <a:srgbClr val="F8FAFB"/>
          </a:solidFill>
          <a:ln w="1905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8" name="Google Shape;1738;p50"/>
          <p:cNvSpPr/>
          <p:nvPr/>
        </p:nvSpPr>
        <p:spPr>
          <a:xfrm>
            <a:off x="3182112" y="2377440"/>
            <a:ext cx="1353312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50"/>
          <p:cNvSpPr/>
          <p:nvPr/>
        </p:nvSpPr>
        <p:spPr>
          <a:xfrm>
            <a:off x="3182112" y="237744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50"/>
          <p:cNvSpPr/>
          <p:nvPr/>
        </p:nvSpPr>
        <p:spPr>
          <a:xfrm>
            <a:off x="3182112" y="265176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(2,3)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50"/>
          <p:cNvSpPr/>
          <p:nvPr/>
        </p:nvSpPr>
        <p:spPr>
          <a:xfrm>
            <a:off x="3227832" y="2971800"/>
            <a:ext cx="12618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OK(2,3)=TRUE ✓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50"/>
          <p:cNvSpPr/>
          <p:nvPr/>
        </p:nvSpPr>
        <p:spPr>
          <a:xfrm>
            <a:off x="4507992" y="2816352"/>
            <a:ext cx="1645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50"/>
          <p:cNvSpPr/>
          <p:nvPr/>
        </p:nvSpPr>
        <p:spPr>
          <a:xfrm>
            <a:off x="4645152" y="2377440"/>
            <a:ext cx="1353312" cy="1261872"/>
          </a:xfrm>
          <a:prstGeom prst="rect">
            <a:avLst/>
          </a:prstGeom>
          <a:solidFill>
            <a:srgbClr val="F8FAFB"/>
          </a:solidFill>
          <a:ln w="1905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4" name="Google Shape;1744;p50"/>
          <p:cNvSpPr/>
          <p:nvPr/>
        </p:nvSpPr>
        <p:spPr>
          <a:xfrm>
            <a:off x="4645152" y="2377440"/>
            <a:ext cx="1353312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5" name="Google Shape;1745;p50"/>
          <p:cNvSpPr/>
          <p:nvPr/>
        </p:nvSpPr>
        <p:spPr>
          <a:xfrm>
            <a:off x="4645152" y="237744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50"/>
          <p:cNvSpPr/>
          <p:nvPr/>
        </p:nvSpPr>
        <p:spPr>
          <a:xfrm>
            <a:off x="4645152" y="265176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(2,2)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50"/>
          <p:cNvSpPr/>
          <p:nvPr/>
        </p:nvSpPr>
        <p:spPr>
          <a:xfrm>
            <a:off x="4690872" y="2971800"/>
            <a:ext cx="12618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OK(2,2)=TRUE ✓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50"/>
          <p:cNvSpPr/>
          <p:nvPr/>
        </p:nvSpPr>
        <p:spPr>
          <a:xfrm>
            <a:off x="5971032" y="2816352"/>
            <a:ext cx="1645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50"/>
          <p:cNvSpPr/>
          <p:nvPr/>
        </p:nvSpPr>
        <p:spPr>
          <a:xfrm>
            <a:off x="6108192" y="2377440"/>
            <a:ext cx="1353312" cy="1261872"/>
          </a:xfrm>
          <a:prstGeom prst="rect">
            <a:avLst/>
          </a:prstGeom>
          <a:solidFill>
            <a:srgbClr val="F8FAFB"/>
          </a:solidFill>
          <a:ln w="1905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0" name="Google Shape;1750;p50"/>
          <p:cNvSpPr/>
          <p:nvPr/>
        </p:nvSpPr>
        <p:spPr>
          <a:xfrm>
            <a:off x="6108192" y="2377440"/>
            <a:ext cx="1353312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1" name="Google Shape;1751;p50"/>
          <p:cNvSpPr/>
          <p:nvPr/>
        </p:nvSpPr>
        <p:spPr>
          <a:xfrm>
            <a:off x="6108192" y="237744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50"/>
          <p:cNvSpPr/>
          <p:nvPr/>
        </p:nvSpPr>
        <p:spPr>
          <a:xfrm>
            <a:off x="6108192" y="265176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(1,2)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50"/>
          <p:cNvSpPr/>
          <p:nvPr/>
        </p:nvSpPr>
        <p:spPr>
          <a:xfrm>
            <a:off x="6153912" y="2971800"/>
            <a:ext cx="12618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OK(1,2)=TRUE ✓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50"/>
          <p:cNvSpPr/>
          <p:nvPr/>
        </p:nvSpPr>
        <p:spPr>
          <a:xfrm>
            <a:off x="7434072" y="2816352"/>
            <a:ext cx="1645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50"/>
          <p:cNvSpPr/>
          <p:nvPr/>
        </p:nvSpPr>
        <p:spPr>
          <a:xfrm>
            <a:off x="7571232" y="2377440"/>
            <a:ext cx="1353312" cy="1261872"/>
          </a:xfrm>
          <a:prstGeom prst="rect">
            <a:avLst/>
          </a:prstGeom>
          <a:solidFill>
            <a:srgbClr val="F8FAFB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6" name="Google Shape;1756;p50"/>
          <p:cNvSpPr/>
          <p:nvPr/>
        </p:nvSpPr>
        <p:spPr>
          <a:xfrm>
            <a:off x="7571232" y="2377440"/>
            <a:ext cx="1353312" cy="2560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7" name="Google Shape;1757;p50"/>
          <p:cNvSpPr/>
          <p:nvPr/>
        </p:nvSpPr>
        <p:spPr>
          <a:xfrm>
            <a:off x="7571232" y="237744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 ✓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50"/>
          <p:cNvSpPr/>
          <p:nvPr/>
        </p:nvSpPr>
        <p:spPr>
          <a:xfrm>
            <a:off x="7571232" y="2651760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(1,1)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50"/>
          <p:cNvSpPr/>
          <p:nvPr/>
        </p:nvSpPr>
        <p:spPr>
          <a:xfrm>
            <a:off x="7616952" y="2971800"/>
            <a:ext cx="12618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MISSION COMPLETE!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50"/>
          <p:cNvSpPr/>
          <p:nvPr/>
        </p:nvSpPr>
        <p:spPr>
          <a:xfrm>
            <a:off x="274320" y="3858768"/>
            <a:ext cx="8595360" cy="11155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1" name="Google Shape;1761;p50"/>
          <p:cNvSpPr/>
          <p:nvPr/>
        </p:nvSpPr>
        <p:spPr>
          <a:xfrm>
            <a:off x="274320" y="38587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Made This Possible — The Three Layers of Logic Used at Every Step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50"/>
          <p:cNvSpPr/>
          <p:nvPr/>
        </p:nvSpPr>
        <p:spPr>
          <a:xfrm>
            <a:off x="347472" y="4169664"/>
            <a:ext cx="2743200" cy="74980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3" name="Google Shape;1763;p50"/>
          <p:cNvSpPr/>
          <p:nvPr/>
        </p:nvSpPr>
        <p:spPr>
          <a:xfrm>
            <a:off x="347472" y="41879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Propositional Logic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50"/>
          <p:cNvSpPr/>
          <p:nvPr/>
        </p:nvSpPr>
        <p:spPr>
          <a:xfrm>
            <a:off x="402336" y="4407408"/>
            <a:ext cx="26334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B[2][1]=TRUE, S[1][2]=TRUE, OK[2][2]=TRUE — each room state stored as a T/F symbol. The language of the KB.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50"/>
          <p:cNvSpPr/>
          <p:nvPr/>
        </p:nvSpPr>
        <p:spPr>
          <a:xfrm>
            <a:off x="3200400" y="4169664"/>
            <a:ext cx="2743200" cy="74980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6" name="Google Shape;1766;p50"/>
          <p:cNvSpPr/>
          <p:nvPr/>
        </p:nvSpPr>
        <p:spPr>
          <a:xfrm>
            <a:off x="3200400" y="41879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Modus Ponens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50"/>
          <p:cNvSpPr/>
          <p:nvPr/>
        </p:nvSpPr>
        <p:spPr>
          <a:xfrm>
            <a:off x="3255264" y="4407408"/>
            <a:ext cx="26334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rule AND observed fact THEN conclusion. Applied at every single step to chain sensory input into safe decisions.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50"/>
          <p:cNvSpPr/>
          <p:nvPr/>
        </p:nvSpPr>
        <p:spPr>
          <a:xfrm>
            <a:off x="6053328" y="4169664"/>
            <a:ext cx="2743200" cy="74980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9" name="Google Shape;1769;p50"/>
          <p:cNvSpPr/>
          <p:nvPr/>
        </p:nvSpPr>
        <p:spPr>
          <a:xfrm>
            <a:off x="6053328" y="41879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First Order Logic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50"/>
          <p:cNvSpPr/>
          <p:nvPr/>
        </p:nvSpPr>
        <p:spPr>
          <a:xfrm>
            <a:off x="6108192" y="4407408"/>
            <a:ext cx="26334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∀x∀y + ∃a∃b: ONE universal rule replaces 16 propositional rules. Scales to any grid. Enables proof by Universal Instantiation.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5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7" name="Google Shape;1777;p5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5.5 Core Insight + 5.6 Propositional Logic Encoding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51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9" name="Google Shape;1779;p51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The agent stays alive because it REASONS before it acts — not because it was lucky.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51"/>
          <p:cNvSpPr/>
          <p:nvPr/>
        </p:nvSpPr>
        <p:spPr>
          <a:xfrm>
            <a:off x="274320" y="914400"/>
            <a:ext cx="8595360" cy="126187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51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CORE INSIGHT — Reasoning Without Direct Observation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51"/>
          <p:cNvSpPr/>
          <p:nvPr/>
        </p:nvSpPr>
        <p:spPr>
          <a:xfrm>
            <a:off x="411480" y="1225296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 Step 3, the agent NEVER SAW the Pit at (3,1) or the Wumpus at (1,4). It DEDUCED both locations by combining observations across multiple rooms.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Store what you observe as T/F propositions in your KB   • Apply fixed world rules as logical sentences   • Use Modus Ponens + Resolution to derive new facts   • The agent stays alive because it REASONS before it acts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51"/>
          <p:cNvSpPr/>
          <p:nvPr/>
        </p:nvSpPr>
        <p:spPr>
          <a:xfrm>
            <a:off x="274320" y="2267712"/>
            <a:ext cx="4160520" cy="272491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4" name="Google Shape;1784;p51"/>
          <p:cNvSpPr/>
          <p:nvPr/>
        </p:nvSpPr>
        <p:spPr>
          <a:xfrm>
            <a:off x="274320" y="2267712"/>
            <a:ext cx="4160520" cy="25603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5" name="Google Shape;1785;p51"/>
          <p:cNvSpPr/>
          <p:nvPr/>
        </p:nvSpPr>
        <p:spPr>
          <a:xfrm>
            <a:off x="274320" y="2267712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5.6 Propositional Symbols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51"/>
          <p:cNvSpPr/>
          <p:nvPr/>
        </p:nvSpPr>
        <p:spPr>
          <a:xfrm>
            <a:off x="411480" y="2560320"/>
            <a:ext cx="3886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B[c][r]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 = Breeze at column c, row r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S[c][r]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 = Stench at column c, row r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P[c][r]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 = Pit at column c, row r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W[c][r]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 = Wumpus at column c, row r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OK[c][r]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 = Safe to visit column c, row 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51"/>
          <p:cNvSpPr/>
          <p:nvPr/>
        </p:nvSpPr>
        <p:spPr>
          <a:xfrm>
            <a:off x="4709160" y="2267712"/>
            <a:ext cx="4160520" cy="2724912"/>
          </a:xfrm>
          <a:prstGeom prst="rect">
            <a:avLst/>
          </a:prstGeom>
          <a:solidFill>
            <a:srgbClr val="F5FFFE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8" name="Google Shape;1788;p51"/>
          <p:cNvSpPr/>
          <p:nvPr/>
        </p:nvSpPr>
        <p:spPr>
          <a:xfrm>
            <a:off x="4709160" y="2267712"/>
            <a:ext cx="4160520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9" name="Google Shape;1789;p51"/>
          <p:cNvSpPr/>
          <p:nvPr/>
        </p:nvSpPr>
        <p:spPr>
          <a:xfrm>
            <a:off x="4709160" y="2267712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World Rules as Propositions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51"/>
          <p:cNvSpPr/>
          <p:nvPr/>
        </p:nvSpPr>
        <p:spPr>
          <a:xfrm>
            <a:off x="4846320" y="2560320"/>
            <a:ext cx="3886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B[1][1] ↔ (P[1][2] OR P[2][1])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B[2][1] ↔ (P[1][1] OR P[3][1] OR P[2][2])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B[1][2] ↔ (P[1][1] OR P[2][2] OR P[1][3])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S[1][2] ↔ (W[1][1] OR W[2][2] OR W[1][3])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OK[c][r] ↔ NOT P[c][r] AND NOT W[c][r]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Observed Facts:</a:t>
            </a:r>
            <a:br>
              <a:rPr lang="en-US" sz="95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B[1][1]=T, NOT S[1][1]=T  |  B[2][1]=T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S[1][2]=T, NOT B[1][2]=T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51"/>
          <p:cNvSpPr/>
          <p:nvPr/>
        </p:nvSpPr>
        <p:spPr>
          <a:xfrm>
            <a:off x="274320" y="5074920"/>
            <a:ext cx="8595360" cy="0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5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8" name="Google Shape;1798;p5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5.7a — From Propositional Logic to First Order Logic in Wumpus World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52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0" name="Google Shape;1800;p5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Why propositional logic alone is not enough — and how FOL solves it.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52"/>
          <p:cNvSpPr/>
          <p:nvPr/>
        </p:nvSpPr>
        <p:spPr>
          <a:xfrm>
            <a:off x="274320" y="932688"/>
            <a:ext cx="8595360" cy="1389888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2" name="Google Shape;1802;p52"/>
          <p:cNvSpPr/>
          <p:nvPr/>
        </p:nvSpPr>
        <p:spPr>
          <a:xfrm>
            <a:off x="274320" y="932688"/>
            <a:ext cx="8595360" cy="274320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3" name="Google Shape;1803;p52"/>
          <p:cNvSpPr/>
          <p:nvPr/>
        </p:nvSpPr>
        <p:spPr>
          <a:xfrm>
            <a:off x="274320" y="93268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 with Propositional Logic for Wumpus World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52"/>
          <p:cNvSpPr/>
          <p:nvPr/>
        </p:nvSpPr>
        <p:spPr>
          <a:xfrm>
            <a:off x="411480" y="1243584"/>
            <a:ext cx="832104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In a 4×4 grid we wrote ONE rule per room:</a:t>
            </a:r>
            <a:b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B[1][1] ↔ (P[1][2] OR P[2][1])   B[2][1] ↔ (P[1][1] OR P[3][1] OR P[2][2])   B[1][2] ↔ ...   (16 separate rules, one per cell!)</a:t>
            </a:r>
            <a:br>
              <a:rPr lang="en-US" sz="1000" b="0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What if the grid were 100×100? We would need 10,000 separate propositional rules. And the rules for a 4×4 grid cannot be reused for ANY other grid size.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52"/>
          <p:cNvSpPr/>
          <p:nvPr/>
        </p:nvSpPr>
        <p:spPr>
          <a:xfrm>
            <a:off x="274320" y="2414016"/>
            <a:ext cx="8595360" cy="1389888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6" name="Google Shape;1806;p52"/>
          <p:cNvSpPr/>
          <p:nvPr/>
        </p:nvSpPr>
        <p:spPr>
          <a:xfrm>
            <a:off x="274320" y="2414016"/>
            <a:ext cx="8595360" cy="2743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7" name="Google Shape;1807;p52"/>
          <p:cNvSpPr/>
          <p:nvPr/>
        </p:nvSpPr>
        <p:spPr>
          <a:xfrm>
            <a:off x="274320" y="2414016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FOL Solution — ONE Rule Covers ALL Rooms in ANY Grid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52"/>
          <p:cNvSpPr/>
          <p:nvPr/>
        </p:nvSpPr>
        <p:spPr>
          <a:xfrm>
            <a:off x="411480" y="2724912"/>
            <a:ext cx="832104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Instead of writing B[1][1] ↔ ..., B[2][1] ↔ ..., B[1][2] ↔ ... separately, FOL lets us write: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∀x ∀y: Breeze(x,y) ↔ ∃a ∃b: Adjacent(x,y,a,b) ∧ Pit(a,b)</a:t>
            </a:r>
            <a:b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Meaning: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For ALL rooms (x,y): there is a Breeze at (x,y) IF AND ONLY IF there EXISTS some adjacent room (a,b) that contains a Pit.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This ONE sentence replaces ALL 16 propositional rules and works for any grid size.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52"/>
          <p:cNvSpPr/>
          <p:nvPr/>
        </p:nvSpPr>
        <p:spPr>
          <a:xfrm>
            <a:off x="274320" y="3886200"/>
            <a:ext cx="2011680" cy="107899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0" name="Google Shape;1810;p52"/>
          <p:cNvSpPr/>
          <p:nvPr/>
        </p:nvSpPr>
        <p:spPr>
          <a:xfrm>
            <a:off x="274320" y="3886200"/>
            <a:ext cx="2011680" cy="29260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1" name="Google Shape;1811;p52"/>
          <p:cNvSpPr/>
          <p:nvPr/>
        </p:nvSpPr>
        <p:spPr>
          <a:xfrm>
            <a:off x="274320" y="388620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∀  Universal Quantifier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52"/>
          <p:cNvSpPr/>
          <p:nvPr/>
        </p:nvSpPr>
        <p:spPr>
          <a:xfrm>
            <a:off x="365760" y="42062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Speaks about ALL rooms at once — not just (1,1), (2,1), (1,2) etc. one by one.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52"/>
          <p:cNvSpPr/>
          <p:nvPr/>
        </p:nvSpPr>
        <p:spPr>
          <a:xfrm>
            <a:off x="2450592" y="3886200"/>
            <a:ext cx="2011680" cy="107899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4" name="Google Shape;1814;p52"/>
          <p:cNvSpPr/>
          <p:nvPr/>
        </p:nvSpPr>
        <p:spPr>
          <a:xfrm>
            <a:off x="2450592" y="3886200"/>
            <a:ext cx="2011680" cy="29260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5" name="Google Shape;1815;p52"/>
          <p:cNvSpPr/>
          <p:nvPr/>
        </p:nvSpPr>
        <p:spPr>
          <a:xfrm>
            <a:off x="2450592" y="388620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∃  Existential Quantifier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52"/>
          <p:cNvSpPr/>
          <p:nvPr/>
        </p:nvSpPr>
        <p:spPr>
          <a:xfrm>
            <a:off x="2542032" y="42062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Says there EXISTS some adjacent room with a Pit — we don't need to name each room.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52"/>
          <p:cNvSpPr/>
          <p:nvPr/>
        </p:nvSpPr>
        <p:spPr>
          <a:xfrm>
            <a:off x="4626864" y="3886200"/>
            <a:ext cx="2011680" cy="107899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8" name="Google Shape;1818;p52"/>
          <p:cNvSpPr/>
          <p:nvPr/>
        </p:nvSpPr>
        <p:spPr>
          <a:xfrm>
            <a:off x="4626864" y="3886200"/>
            <a:ext cx="2011680" cy="29260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9" name="Google Shape;1819;p52"/>
          <p:cNvSpPr/>
          <p:nvPr/>
        </p:nvSpPr>
        <p:spPr>
          <a:xfrm>
            <a:off x="4626864" y="388620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Variables x,y,a,b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52"/>
          <p:cNvSpPr/>
          <p:nvPr/>
        </p:nvSpPr>
        <p:spPr>
          <a:xfrm>
            <a:off x="4718304" y="42062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Placeholders for any room coordinates — the rule generalises to any grid, any map.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52"/>
          <p:cNvSpPr/>
          <p:nvPr/>
        </p:nvSpPr>
        <p:spPr>
          <a:xfrm>
            <a:off x="6803136" y="3886200"/>
            <a:ext cx="2011680" cy="107899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2" name="Google Shape;1822;p52"/>
          <p:cNvSpPr/>
          <p:nvPr/>
        </p:nvSpPr>
        <p:spPr>
          <a:xfrm>
            <a:off x="6803136" y="3886200"/>
            <a:ext cx="2011680" cy="292608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3" name="Google Shape;1823;p52"/>
          <p:cNvSpPr/>
          <p:nvPr/>
        </p:nvSpPr>
        <p:spPr>
          <a:xfrm>
            <a:off x="6803136" y="388620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 Predicates &amp; Relations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52"/>
          <p:cNvSpPr/>
          <p:nvPr/>
        </p:nvSpPr>
        <p:spPr>
          <a:xfrm>
            <a:off x="6894576" y="42062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Adjacent(x,y,a,b) is a relationship — something impossible to express in propositional logic.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5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1" name="Google Shape;1831;p53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5.7b — All Wumpus World Rules in First Order Logic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53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3" name="Google Shape;1833;p5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The complete FOL knowledge base — one sentence per rule, valid for any grid size.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53"/>
          <p:cNvSpPr/>
          <p:nvPr/>
        </p:nvSpPr>
        <p:spPr>
          <a:xfrm>
            <a:off x="274320" y="932688"/>
            <a:ext cx="8595360" cy="768096"/>
          </a:xfrm>
          <a:prstGeom prst="rect">
            <a:avLst/>
          </a:prstGeom>
          <a:solidFill>
            <a:srgbClr val="F8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5" name="Google Shape;1835;p53"/>
          <p:cNvSpPr/>
          <p:nvPr/>
        </p:nvSpPr>
        <p:spPr>
          <a:xfrm>
            <a:off x="274320" y="932688"/>
            <a:ext cx="54864" cy="76809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6" name="Google Shape;1836;p53"/>
          <p:cNvSpPr/>
          <p:nvPr/>
        </p:nvSpPr>
        <p:spPr>
          <a:xfrm>
            <a:off x="365760" y="987552"/>
            <a:ext cx="1371600" cy="25603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53"/>
          <p:cNvSpPr/>
          <p:nvPr/>
        </p:nvSpPr>
        <p:spPr>
          <a:xfrm>
            <a:off x="365760" y="98755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W1 — Stench Rule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53"/>
          <p:cNvSpPr/>
          <p:nvPr/>
        </p:nvSpPr>
        <p:spPr>
          <a:xfrm>
            <a:off x="1828800" y="969264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Prop: </a:t>
            </a: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S[x][y] ↔ (W[x-1][y] OR W[x+1][y] OR W[x][y-1] OR W[x][y+1])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53"/>
          <p:cNvSpPr/>
          <p:nvPr/>
        </p:nvSpPr>
        <p:spPr>
          <a:xfrm>
            <a:off x="1828800" y="1207008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FOL:  ∀x ∀y: Stench(x,y) ↔ ∃a ∃b: Adjacent(x,y,a,b) ∧ Wumpus(a,b)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53"/>
          <p:cNvSpPr/>
          <p:nvPr/>
        </p:nvSpPr>
        <p:spPr>
          <a:xfrm>
            <a:off x="1828800" y="1444752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There is a stench at (x,y) if and only if the Wumpus is in SOME adjacent room (a,b). The ∃ quantifier handles all 4 neighbours at once without naming them.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53"/>
          <p:cNvSpPr/>
          <p:nvPr/>
        </p:nvSpPr>
        <p:spPr>
          <a:xfrm>
            <a:off x="274320" y="1755648"/>
            <a:ext cx="8595360" cy="7680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2" name="Google Shape;1842;p53"/>
          <p:cNvSpPr/>
          <p:nvPr/>
        </p:nvSpPr>
        <p:spPr>
          <a:xfrm>
            <a:off x="274320" y="1755648"/>
            <a:ext cx="54864" cy="76809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3" name="Google Shape;1843;p53"/>
          <p:cNvSpPr/>
          <p:nvPr/>
        </p:nvSpPr>
        <p:spPr>
          <a:xfrm>
            <a:off x="365760" y="1810512"/>
            <a:ext cx="1371600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4" name="Google Shape;1844;p53"/>
          <p:cNvSpPr/>
          <p:nvPr/>
        </p:nvSpPr>
        <p:spPr>
          <a:xfrm>
            <a:off x="365760" y="181051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W2 — Breeze Rule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53"/>
          <p:cNvSpPr/>
          <p:nvPr/>
        </p:nvSpPr>
        <p:spPr>
          <a:xfrm>
            <a:off x="1828800" y="1792224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Prop: </a:t>
            </a: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B[x][y] ↔ (P[x-1][y] OR P[x+1][y] OR P[x][y-1] OR P[x][y+1])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53"/>
          <p:cNvSpPr/>
          <p:nvPr/>
        </p:nvSpPr>
        <p:spPr>
          <a:xfrm>
            <a:off x="1828800" y="2029968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FOL:  ∀x ∀y: Breeze(x,y) ↔ ∃a ∃b: Adjacent(x,y,a,b) ∧ Pit(a,b)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53"/>
          <p:cNvSpPr/>
          <p:nvPr/>
        </p:nvSpPr>
        <p:spPr>
          <a:xfrm>
            <a:off x="1828800" y="2267712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There is a breeze at (x,y) if and only if SOME adjacent room (a,b) contains a Pit. Same pattern as W1 — one formula covers all grid positions.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53"/>
          <p:cNvSpPr/>
          <p:nvPr/>
        </p:nvSpPr>
        <p:spPr>
          <a:xfrm>
            <a:off x="274320" y="2578608"/>
            <a:ext cx="8595360" cy="768096"/>
          </a:xfrm>
          <a:prstGeom prst="rect">
            <a:avLst/>
          </a:prstGeom>
          <a:solidFill>
            <a:srgbClr val="F8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9" name="Google Shape;1849;p53"/>
          <p:cNvSpPr/>
          <p:nvPr/>
        </p:nvSpPr>
        <p:spPr>
          <a:xfrm>
            <a:off x="274320" y="2578608"/>
            <a:ext cx="54864" cy="768096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0" name="Google Shape;1850;p53"/>
          <p:cNvSpPr/>
          <p:nvPr/>
        </p:nvSpPr>
        <p:spPr>
          <a:xfrm>
            <a:off x="365760" y="2633472"/>
            <a:ext cx="1371600" cy="2560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53"/>
          <p:cNvSpPr/>
          <p:nvPr/>
        </p:nvSpPr>
        <p:spPr>
          <a:xfrm>
            <a:off x="365760" y="263347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W3 — Glitter Rule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53"/>
          <p:cNvSpPr/>
          <p:nvPr/>
        </p:nvSpPr>
        <p:spPr>
          <a:xfrm>
            <a:off x="1828800" y="2615184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Prop: </a:t>
            </a: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Glitter[x][y] ↔ Gold[x][y]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53"/>
          <p:cNvSpPr/>
          <p:nvPr/>
        </p:nvSpPr>
        <p:spPr>
          <a:xfrm>
            <a:off x="1828800" y="2852928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FOL:  ∀x ∀y: Glitter(x,y) ↔ Gold(x,y)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53"/>
          <p:cNvSpPr/>
          <p:nvPr/>
        </p:nvSpPr>
        <p:spPr>
          <a:xfrm>
            <a:off x="1828800" y="3090672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Gold glitters exactly where it sits. Both propositional and FOL versions are similar — but FOL version scales to any room without listing each cell.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53"/>
          <p:cNvSpPr/>
          <p:nvPr/>
        </p:nvSpPr>
        <p:spPr>
          <a:xfrm>
            <a:off x="274320" y="3401568"/>
            <a:ext cx="8595360" cy="7680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6" name="Google Shape;1856;p53"/>
          <p:cNvSpPr/>
          <p:nvPr/>
        </p:nvSpPr>
        <p:spPr>
          <a:xfrm>
            <a:off x="274320" y="3401568"/>
            <a:ext cx="54864" cy="76809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7" name="Google Shape;1857;p53"/>
          <p:cNvSpPr/>
          <p:nvPr/>
        </p:nvSpPr>
        <p:spPr>
          <a:xfrm>
            <a:off x="365760" y="3456432"/>
            <a:ext cx="1371600" cy="25603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8" name="Google Shape;1858;p53"/>
          <p:cNvSpPr/>
          <p:nvPr/>
        </p:nvSpPr>
        <p:spPr>
          <a:xfrm>
            <a:off x="365760" y="345643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W4 — Death Rule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53"/>
          <p:cNvSpPr/>
          <p:nvPr/>
        </p:nvSpPr>
        <p:spPr>
          <a:xfrm>
            <a:off x="1828800" y="3438144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Prop: </a:t>
            </a: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Dies ↔ (Agent at same room as Wumpus OR Pit)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53"/>
          <p:cNvSpPr/>
          <p:nvPr/>
        </p:nvSpPr>
        <p:spPr>
          <a:xfrm>
            <a:off x="1828800" y="3675888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FOL:  ∀x ∀y: Agent(x,y) ∧ (Wumpus(x,y) ∨ Pit(x,y)) → Dies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53"/>
          <p:cNvSpPr/>
          <p:nvPr/>
        </p:nvSpPr>
        <p:spPr>
          <a:xfrm>
            <a:off x="1828800" y="3913632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If the agent is at (x,y) AND either the Wumpus OR a Pit is also at (x,y), then the agent dies. The ∀ universally covers every possible room location.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53"/>
          <p:cNvSpPr/>
          <p:nvPr/>
        </p:nvSpPr>
        <p:spPr>
          <a:xfrm>
            <a:off x="274320" y="4224528"/>
            <a:ext cx="8595360" cy="768096"/>
          </a:xfrm>
          <a:prstGeom prst="rect">
            <a:avLst/>
          </a:prstGeom>
          <a:solidFill>
            <a:srgbClr val="F8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3" name="Google Shape;1863;p53"/>
          <p:cNvSpPr/>
          <p:nvPr/>
        </p:nvSpPr>
        <p:spPr>
          <a:xfrm>
            <a:off x="274320" y="4224528"/>
            <a:ext cx="54864" cy="76809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4" name="Google Shape;1864;p53"/>
          <p:cNvSpPr/>
          <p:nvPr/>
        </p:nvSpPr>
        <p:spPr>
          <a:xfrm>
            <a:off x="365760" y="4279392"/>
            <a:ext cx="1371600" cy="25603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5" name="Google Shape;1865;p53"/>
          <p:cNvSpPr/>
          <p:nvPr/>
        </p:nvSpPr>
        <p:spPr>
          <a:xfrm>
            <a:off x="365760" y="42793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W5 — Safety Rule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53"/>
          <p:cNvSpPr/>
          <p:nvPr/>
        </p:nvSpPr>
        <p:spPr>
          <a:xfrm>
            <a:off x="1828800" y="4261104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Prop: </a:t>
            </a: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OK[x][y] ↔ NOT P[x][y] AND NOT W[x][y]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53"/>
          <p:cNvSpPr/>
          <p:nvPr/>
        </p:nvSpPr>
        <p:spPr>
          <a:xfrm>
            <a:off x="1828800" y="4498848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FOL:  ∀x ∀y: OK(x,y) ↔ ¬Pit(x,y) ∧ ¬Wumpus(x,y)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53"/>
          <p:cNvSpPr/>
          <p:nvPr/>
        </p:nvSpPr>
        <p:spPr>
          <a:xfrm>
            <a:off x="1828800" y="4736592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Room (x,y) is safe to enter if and only if it contains neither a Pit nor the Wumpus. This rule is used at every move decision.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5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5" name="Google Shape;1875;p54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5.7c — FOL Inference in Action: Proving Pit(3,1)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54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7" name="Google Shape;1877;p54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Applying Universal Instantiation + Modus Ponens using the FOL encoding of Wumpus World.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54"/>
          <p:cNvSpPr/>
          <p:nvPr/>
        </p:nvSpPr>
        <p:spPr>
          <a:xfrm>
            <a:off x="274320" y="932688"/>
            <a:ext cx="8595360" cy="96012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p54"/>
          <p:cNvSpPr/>
          <p:nvPr/>
        </p:nvSpPr>
        <p:spPr>
          <a:xfrm>
            <a:off x="274320" y="932688"/>
            <a:ext cx="8595360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p54"/>
          <p:cNvSpPr/>
          <p:nvPr/>
        </p:nvSpPr>
        <p:spPr>
          <a:xfrm>
            <a:off x="274320" y="93268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 — Start with the Universal FOL Rule (W2)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54"/>
          <p:cNvSpPr/>
          <p:nvPr/>
        </p:nvSpPr>
        <p:spPr>
          <a:xfrm>
            <a:off x="411480" y="1225296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FOL Rule W2: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 ∀y: Breeze(x,y) ↔ ∃a ∃b: Adjacent(x,y,a,b) ∧ Pit(a,b)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Translation: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For EVERY room (x,y) in the grid — if there is a Breeze there, then SOME adjacent room has a Pit, and vice versa.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54"/>
          <p:cNvSpPr/>
          <p:nvPr/>
        </p:nvSpPr>
        <p:spPr>
          <a:xfrm>
            <a:off x="274320" y="1965960"/>
            <a:ext cx="8595360" cy="914400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3" name="Google Shape;1883;p54"/>
          <p:cNvSpPr/>
          <p:nvPr/>
        </p:nvSpPr>
        <p:spPr>
          <a:xfrm>
            <a:off x="274320" y="1965960"/>
            <a:ext cx="8595360" cy="25603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4" name="Google Shape;1884;p54"/>
          <p:cNvSpPr/>
          <p:nvPr/>
        </p:nvSpPr>
        <p:spPr>
          <a:xfrm>
            <a:off x="274320" y="196596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 — Universal Instantiation: substitute x=2, y=1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54"/>
          <p:cNvSpPr/>
          <p:nvPr/>
        </p:nvSpPr>
        <p:spPr>
          <a:xfrm>
            <a:off x="411480" y="2258568"/>
            <a:ext cx="832104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Substitute x=2, y=1 into the universal rule: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Breeze(2,1) ↔ ∃a ∃b: Adjacent(2,1,a,b) ∧ Pit(a,b)</a:t>
            </a:r>
            <a:b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 Adjacent predicate for room (2,1) holds for: (1,1), (3,1), (2,2)  — these are its three neighbours.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54"/>
          <p:cNvSpPr/>
          <p:nvPr/>
        </p:nvSpPr>
        <p:spPr>
          <a:xfrm>
            <a:off x="274320" y="2944368"/>
            <a:ext cx="8595360" cy="914400"/>
          </a:xfrm>
          <a:prstGeom prst="rect">
            <a:avLst/>
          </a:prstGeom>
          <a:solidFill>
            <a:srgbClr val="ECFDF5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7" name="Google Shape;1887;p54"/>
          <p:cNvSpPr/>
          <p:nvPr/>
        </p:nvSpPr>
        <p:spPr>
          <a:xfrm>
            <a:off x="274320" y="2944368"/>
            <a:ext cx="8595360" cy="2560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8" name="Google Shape;1888;p54"/>
          <p:cNvSpPr/>
          <p:nvPr/>
        </p:nvSpPr>
        <p:spPr>
          <a:xfrm>
            <a:off x="274320" y="2944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 — Apply Modus Ponens with observed fact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54"/>
          <p:cNvSpPr/>
          <p:nvPr/>
        </p:nvSpPr>
        <p:spPr>
          <a:xfrm>
            <a:off x="411480" y="3236976"/>
            <a:ext cx="832104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Observed fact: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Breeze(2,1) = TRUE  [agent sensed breeze at room (2,1)]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Apply Modus Ponens: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Breeze(2,1)=TRUE + Rule W2 instantiated at (2,1)  ⇒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∃a ∃b: Adjacent(2,1,a,b) ∧ Pit(a,b) = TRUE</a:t>
            </a:r>
            <a:b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Conclusion: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Pit(1,1) OR Pit(3,1) OR Pit(2,2) — at least one of the three adjacent rooms contains a Pit.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54"/>
          <p:cNvSpPr/>
          <p:nvPr/>
        </p:nvSpPr>
        <p:spPr>
          <a:xfrm>
            <a:off x="274320" y="3913632"/>
            <a:ext cx="8595360" cy="1024128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1" name="Google Shape;1891;p54"/>
          <p:cNvSpPr/>
          <p:nvPr/>
        </p:nvSpPr>
        <p:spPr>
          <a:xfrm>
            <a:off x="274320" y="3913632"/>
            <a:ext cx="8595360" cy="25603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2" name="Google Shape;1892;p54"/>
          <p:cNvSpPr/>
          <p:nvPr/>
        </p:nvSpPr>
        <p:spPr>
          <a:xfrm>
            <a:off x="274320" y="391363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 — Combine with evidence from room (1,2): Resolution ⇒ Pit(3,1) CONFIRMED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54"/>
          <p:cNvSpPr/>
          <p:nvPr/>
        </p:nvSpPr>
        <p:spPr>
          <a:xfrm>
            <a:off x="411480" y="4206240"/>
            <a:ext cx="832104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Instantiate W2 at (1,2):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Breeze(1,2) = TRUE  ⇒  NOT (Pit(1,1) OR Pit(2,2) OR Pit(1,3))  ⇒  NOT Pit(2,2) = TRUE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From Step 3: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Pit(1,1) OR Pit(3,1) OR Pit(2,2).   NOT Pit(1,1) [came from (1,1), safe].   NOT Pit(2,2) [from above].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Resolution: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 only remaining option is  </a:t>
            </a:r>
            <a:r>
              <a:rPr lang="en-US" sz="10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Pit(3,1) = TRUE  ✓  CONFIRMED!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5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0" name="Google Shape;1900;p55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5.7 — Why Wumpus World Ties the Whole Course Together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55"/>
          <p:cNvSpPr/>
          <p:nvPr/>
        </p:nvSpPr>
        <p:spPr>
          <a:xfrm>
            <a:off x="274320" y="960120"/>
            <a:ext cx="8595360" cy="402336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2" name="Google Shape;1902;p55"/>
          <p:cNvSpPr/>
          <p:nvPr/>
        </p:nvSpPr>
        <p:spPr>
          <a:xfrm>
            <a:off x="274320" y="960120"/>
            <a:ext cx="2103120" cy="40233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55"/>
          <p:cNvSpPr/>
          <p:nvPr/>
        </p:nvSpPr>
        <p:spPr>
          <a:xfrm>
            <a:off x="274320" y="960120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DIKW Pyramid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55"/>
          <p:cNvSpPr/>
          <p:nvPr/>
        </p:nvSpPr>
        <p:spPr>
          <a:xfrm>
            <a:off x="2468880" y="100584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Percept data → room info → pit/wumpus locations (knowledge) → safe path home (wisdom)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55"/>
          <p:cNvSpPr/>
          <p:nvPr/>
        </p:nvSpPr>
        <p:spPr>
          <a:xfrm>
            <a:off x="274320" y="1399032"/>
            <a:ext cx="8595360" cy="40233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6" name="Google Shape;1906;p55"/>
          <p:cNvSpPr/>
          <p:nvPr/>
        </p:nvSpPr>
        <p:spPr>
          <a:xfrm>
            <a:off x="274320" y="1399032"/>
            <a:ext cx="2103120" cy="40233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7" name="Google Shape;1907;p55"/>
          <p:cNvSpPr/>
          <p:nvPr/>
        </p:nvSpPr>
        <p:spPr>
          <a:xfrm>
            <a:off x="274320" y="1399032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Declarative Knowledge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55"/>
          <p:cNvSpPr/>
          <p:nvPr/>
        </p:nvSpPr>
        <p:spPr>
          <a:xfrm>
            <a:off x="2468880" y="1444752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Rules W1–W5 are stored facts in the KB — pure declarative knowledge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55"/>
          <p:cNvSpPr/>
          <p:nvPr/>
        </p:nvSpPr>
        <p:spPr>
          <a:xfrm>
            <a:off x="274320" y="1837944"/>
            <a:ext cx="8595360" cy="402336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0" name="Google Shape;1910;p55"/>
          <p:cNvSpPr/>
          <p:nvPr/>
        </p:nvSpPr>
        <p:spPr>
          <a:xfrm>
            <a:off x="274320" y="1837944"/>
            <a:ext cx="2103120" cy="40233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1" name="Google Shape;1911;p55"/>
          <p:cNvSpPr/>
          <p:nvPr/>
        </p:nvSpPr>
        <p:spPr>
          <a:xfrm>
            <a:off x="274320" y="1837944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Procedural Knowledge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55"/>
          <p:cNvSpPr/>
          <p:nvPr/>
        </p:nvSpPr>
        <p:spPr>
          <a:xfrm>
            <a:off x="2468880" y="1883664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 agent's exploration strategy is a procedure: sense → infer → act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55"/>
          <p:cNvSpPr/>
          <p:nvPr/>
        </p:nvSpPr>
        <p:spPr>
          <a:xfrm>
            <a:off x="274320" y="2276856"/>
            <a:ext cx="8595360" cy="40233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4" name="Google Shape;1914;p55"/>
          <p:cNvSpPr/>
          <p:nvPr/>
        </p:nvSpPr>
        <p:spPr>
          <a:xfrm>
            <a:off x="274320" y="2276856"/>
            <a:ext cx="2103120" cy="40233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55"/>
          <p:cNvSpPr/>
          <p:nvPr/>
        </p:nvSpPr>
        <p:spPr>
          <a:xfrm>
            <a:off x="274320" y="2276856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Propositional Logic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55"/>
          <p:cNvSpPr/>
          <p:nvPr/>
        </p:nvSpPr>
        <p:spPr>
          <a:xfrm>
            <a:off x="2468880" y="2322576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Every percept and room status is a T/F proposition (B[2][1]=TRUE, etc.)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55"/>
          <p:cNvSpPr/>
          <p:nvPr/>
        </p:nvSpPr>
        <p:spPr>
          <a:xfrm>
            <a:off x="274320" y="2715768"/>
            <a:ext cx="8595360" cy="402336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8" name="Google Shape;1918;p55"/>
          <p:cNvSpPr/>
          <p:nvPr/>
        </p:nvSpPr>
        <p:spPr>
          <a:xfrm>
            <a:off x="274320" y="2715768"/>
            <a:ext cx="2103120" cy="40233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9" name="Google Shape;1919;p55"/>
          <p:cNvSpPr/>
          <p:nvPr/>
        </p:nvSpPr>
        <p:spPr>
          <a:xfrm>
            <a:off x="274320" y="271576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Base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55"/>
          <p:cNvSpPr/>
          <p:nvPr/>
        </p:nvSpPr>
        <p:spPr>
          <a:xfrm>
            <a:off x="2468880" y="2761488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 agent builds and updates its KB as it explores each room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55"/>
          <p:cNvSpPr/>
          <p:nvPr/>
        </p:nvSpPr>
        <p:spPr>
          <a:xfrm>
            <a:off x="274320" y="3154680"/>
            <a:ext cx="8595360" cy="40233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2" name="Google Shape;1922;p55"/>
          <p:cNvSpPr/>
          <p:nvPr/>
        </p:nvSpPr>
        <p:spPr>
          <a:xfrm>
            <a:off x="274320" y="3154680"/>
            <a:ext cx="2103120" cy="40233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3" name="Google Shape;1923;p55"/>
          <p:cNvSpPr/>
          <p:nvPr/>
        </p:nvSpPr>
        <p:spPr>
          <a:xfrm>
            <a:off x="274320" y="3154680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Modus Ponens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55"/>
          <p:cNvSpPr/>
          <p:nvPr/>
        </p:nvSpPr>
        <p:spPr>
          <a:xfrm>
            <a:off x="2468880" y="320040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Used at every step: IF world rule AND percept THEN derive conclusion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55"/>
          <p:cNvSpPr/>
          <p:nvPr/>
        </p:nvSpPr>
        <p:spPr>
          <a:xfrm>
            <a:off x="274320" y="3593592"/>
            <a:ext cx="8595360" cy="402336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6" name="Google Shape;1926;p55"/>
          <p:cNvSpPr/>
          <p:nvPr/>
        </p:nvSpPr>
        <p:spPr>
          <a:xfrm>
            <a:off x="274320" y="3593592"/>
            <a:ext cx="2103120" cy="40233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7" name="Google Shape;1927;p55"/>
          <p:cNvSpPr/>
          <p:nvPr/>
        </p:nvSpPr>
        <p:spPr>
          <a:xfrm>
            <a:off x="274320" y="3593592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Entailment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55"/>
          <p:cNvSpPr/>
          <p:nvPr/>
        </p:nvSpPr>
        <p:spPr>
          <a:xfrm>
            <a:off x="2468880" y="3639312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 agent asks: does my KB entail that room X is safe to enter?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55"/>
          <p:cNvSpPr/>
          <p:nvPr/>
        </p:nvSpPr>
        <p:spPr>
          <a:xfrm>
            <a:off x="274320" y="4032504"/>
            <a:ext cx="8595360" cy="40233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0" name="Google Shape;1930;p55"/>
          <p:cNvSpPr/>
          <p:nvPr/>
        </p:nvSpPr>
        <p:spPr>
          <a:xfrm>
            <a:off x="274320" y="4032504"/>
            <a:ext cx="2103120" cy="40233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1" name="Google Shape;1931;p55"/>
          <p:cNvSpPr/>
          <p:nvPr/>
        </p:nvSpPr>
        <p:spPr>
          <a:xfrm>
            <a:off x="274320" y="4032504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Resolution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55"/>
          <p:cNvSpPr/>
          <p:nvPr/>
        </p:nvSpPr>
        <p:spPr>
          <a:xfrm>
            <a:off x="2468880" y="4078224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Used in Step 3 to eliminate Pit possibilities across multiple rooms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55"/>
          <p:cNvSpPr/>
          <p:nvPr/>
        </p:nvSpPr>
        <p:spPr>
          <a:xfrm>
            <a:off x="274320" y="4471416"/>
            <a:ext cx="8595360" cy="402336"/>
          </a:xfrm>
          <a:prstGeom prst="rect">
            <a:avLst/>
          </a:prstGeom>
          <a:solidFill>
            <a:srgbClr val="F0FDFA"/>
          </a:solidFill>
          <a:ln w="9525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4" name="Google Shape;1934;p55"/>
          <p:cNvSpPr/>
          <p:nvPr/>
        </p:nvSpPr>
        <p:spPr>
          <a:xfrm>
            <a:off x="274320" y="4471416"/>
            <a:ext cx="2103120" cy="402336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5" name="Google Shape;1935;p55"/>
          <p:cNvSpPr/>
          <p:nvPr/>
        </p:nvSpPr>
        <p:spPr>
          <a:xfrm>
            <a:off x="274320" y="4471416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 Extension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55"/>
          <p:cNvSpPr/>
          <p:nvPr/>
        </p:nvSpPr>
        <p:spPr>
          <a:xfrm>
            <a:off x="2468880" y="4517136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∀x ∀y: Breeze(x,y) ↔ ∃a ∃b: Adjacent(x,y,a,b) ∧ Pit(a,b)  — ONE rule replaces all 16 propositional breeze rules. See slides 5.7a–5.7c for the full FOL treatment.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5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3" name="Google Shape;1943;p56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8 — Wumpus World Reasoning Challenge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56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5" name="Google Shape;1945;p56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Standard map: Pit(3,1), Pit(3,3), Pit(3,4), Wumpus(1,4), Gold(2,4). Group of 4 students.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56"/>
          <p:cNvSpPr/>
          <p:nvPr/>
        </p:nvSpPr>
        <p:spPr>
          <a:xfrm>
            <a:off x="274320" y="914400"/>
            <a:ext cx="8595360" cy="4041648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p56"/>
          <p:cNvSpPr/>
          <p:nvPr/>
        </p:nvSpPr>
        <p:spPr>
          <a:xfrm>
            <a:off x="274320" y="914400"/>
            <a:ext cx="8595360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8" name="Google Shape;1948;p56"/>
          <p:cNvSpPr/>
          <p:nvPr/>
        </p:nvSpPr>
        <p:spPr>
          <a:xfrm>
            <a:off x="274320" y="91440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56"/>
          <p:cNvSpPr/>
          <p:nvPr/>
        </p:nvSpPr>
        <p:spPr>
          <a:xfrm>
            <a:off x="411480" y="1216152"/>
            <a:ext cx="8321040" cy="370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TASK 1: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List what percepts the agent receives at each room: (1,1), (2,1), (1,2), (2,2)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TASK 2: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After visiting (1,1) → (2,1) → (1,2) in that order: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a) What can the agent conclude about Pit locations?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b) What can the agent conclude about the Wumpus location?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c) Which rooms are confirmed SAFE? Which are DANGEROUS?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d) Is it safe to move to (2,2)? Write the propositional logic justification.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TASK 3: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Agent enters (2,2). Percept = [Stench=FALSE, Breeze=FALSE, Glitter=FALSE, Bump=FALSE, Scream=FALSE]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e) What new information does this add to the KB?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f) Is the Wumpus location now confirmed? How?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g) What is the safest path from (2,2) to the Gold at (2,4)? Justify by checking OK() for each room.</a:t>
            </a: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BONUS: </a:t>
            </a: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Write 3 propositional logic sentences that together prove NOT Pit(2,2) is TRUE.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5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p57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 8 — Solution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57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8" name="Google Shape;1958;p57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Wumpus World Reasoning Challenge — Teacher Guide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57"/>
          <p:cNvSpPr/>
          <p:nvPr/>
        </p:nvSpPr>
        <p:spPr>
          <a:xfrm>
            <a:off x="274320" y="914400"/>
            <a:ext cx="4160520" cy="4041648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0" name="Google Shape;1960;p57"/>
          <p:cNvSpPr/>
          <p:nvPr/>
        </p:nvSpPr>
        <p:spPr>
          <a:xfrm>
            <a:off x="274320" y="914400"/>
            <a:ext cx="4160520" cy="25603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1" name="Google Shape;1961;p57"/>
          <p:cNvSpPr/>
          <p:nvPr/>
        </p:nvSpPr>
        <p:spPr>
          <a:xfrm>
            <a:off x="274320" y="914400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Tasks 1 &amp;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57"/>
          <p:cNvSpPr/>
          <p:nvPr/>
        </p:nvSpPr>
        <p:spPr>
          <a:xfrm>
            <a:off x="411480" y="1216152"/>
            <a:ext cx="3886200" cy="370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Task 1 Percepts:</a:t>
            </a:r>
            <a:br>
              <a:rPr lang="en-US" sz="950" b="1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(1,1): Nothing  |  (2,1): Breeze  |  (1,2): Stench  |  (2,2): NOTHING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a) Pit:</a:t>
            </a:r>
            <a:br>
              <a:rPr lang="en-US" sz="9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B[2][1]=T ⇒ Pit in {(3,1),(2,2)}.  NOT B[1][2]=T ⇒ NOT Pit(2,2)  ⇒  Pit(3,1) = CONFIRMED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b) Wumpus:</a:t>
            </a:r>
            <a:br>
              <a:rPr lang="en-US" sz="9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S[1][2]=T ⇒ Wumpus in {(2,2),(1,3)}.  NOT S[2][1]=T ⇒ NOT Wumpus(2,2)  ⇒  Wumpus tentative at (1,3)/(1,4). More steps needed → Wumpus(1,4) CONFIRMED via (1,3) Stench.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c) Safe: (1,1),(2,1),(1,2),(2,2).  Dangerous: (3,1)=PIT  (1,4)=WUMPUS  (3,3)=PIT  (3,4)=PIT</a:t>
            </a: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d) NOT Pit(2,2)=TRUE AND NOT Wumpus(2,2)=TRUE ⇒ OK(2,2)=TRUE by Rule W5.  </a:t>
            </a:r>
            <a:r>
              <a:rPr lang="en-US" sz="9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SAFE TO ENTER.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57"/>
          <p:cNvSpPr/>
          <p:nvPr/>
        </p:nvSpPr>
        <p:spPr>
          <a:xfrm>
            <a:off x="4709160" y="914400"/>
            <a:ext cx="4160520" cy="4041648"/>
          </a:xfrm>
          <a:prstGeom prst="rect">
            <a:avLst/>
          </a:prstGeom>
          <a:solidFill>
            <a:srgbClr val="ECFDF5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4" name="Google Shape;1964;p57"/>
          <p:cNvSpPr/>
          <p:nvPr/>
        </p:nvSpPr>
        <p:spPr>
          <a:xfrm>
            <a:off x="4709160" y="914400"/>
            <a:ext cx="4160520" cy="2560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5" name="Google Shape;1965;p57"/>
          <p:cNvSpPr/>
          <p:nvPr/>
        </p:nvSpPr>
        <p:spPr>
          <a:xfrm>
            <a:off x="4709160" y="914400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 &amp; Bonus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57"/>
          <p:cNvSpPr/>
          <p:nvPr/>
        </p:nvSpPr>
        <p:spPr>
          <a:xfrm>
            <a:off x="4846320" y="1216152"/>
            <a:ext cx="3886200" cy="370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e) Nothing at (2,2):</a:t>
            </a:r>
            <a:br>
              <a:rPr lang="en-US" sz="9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Stench(2,2) → Wumpus NOT adjacent to (2,2) ✓ [Wumpus at (1,4) is not adjacent]</a:t>
            </a:r>
            <a:b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Breeze(2,2) → NO Pit in ANY adjacent room → NOT Pit(2,3)=TRUE, NOT Pit(3,2)=TRUE ✓</a:t>
            </a:r>
            <a:b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→ OK(2,3)=TRUE, OK(3,2)=TRUE, OK(2,1)=TRUE, OK(1,2)=TRUE — ALL neighbours safe!</a:t>
            </a:r>
            <a:b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f) Wumpus(1,4) = CONFIRMED:</a:t>
            </a:r>
            <a:br>
              <a:rPr lang="en-US" sz="9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Stench(1,2)=T → Wumpus in {(2,2),(1,3)}. NOT Stench(2,1)→NOT Wumpus(2,2). Visit (1,3): Stench(1,3)=T → Wumpus in (1,4) or (2,3). NOT Stench(2,3) → Wumpus(1,4) = CONFIRMED ✓</a:t>
            </a:r>
            <a:b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g) Safest path (2,2)→Gold(2,4):</a:t>
            </a:r>
            <a:br>
              <a:rPr lang="en-US" sz="9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OK(2,3)=TRUE [NOT Breeze(2,2)]. Shoot arrow at (1,4) → Scream → Wumpus DEAD.</a:t>
            </a:r>
            <a:b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Move (2,2)→(2,3)→(2,4) grab Gold. Return: (2,4)→(2,3)→(2,2)→(1,2)→(1,1). DONE!</a:t>
            </a:r>
            <a:b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BONUS — 3 sentences proving NOT Pit(2,2):</a:t>
            </a:r>
            <a:br>
              <a:rPr lang="en-US" sz="9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1. B[1][2] ↔ (P[1][1] OR P[2][2] OR P[1][3])  [World Rule W2]</a:t>
            </a:r>
            <a:b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2. NOT B[1][2] = TRUE  [observed: no breeze at (1,2)]</a:t>
            </a:r>
            <a:b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3. Contrapositive: NOT B[1][2] → NOT P[1][1] AND NOT P[2][2] AND NOT P[1][3]</a:t>
            </a:r>
            <a:b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Apply Modus Ponens on 2+3 ⇒ NOT Pit(2,2)=TRUE. PROVED. 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5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3" name="Google Shape;1973;p58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Questions — Part 5: Wumpus World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58"/>
          <p:cNvSpPr/>
          <p:nvPr/>
        </p:nvSpPr>
        <p:spPr>
          <a:xfrm>
            <a:off x="0" y="658368"/>
            <a:ext cx="9144000" cy="256032"/>
          </a:xfrm>
          <a:prstGeom prst="rect">
            <a:avLst/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5" name="Google Shape;1975;p58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Think carefully and write your answers before turning to the next slide.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p58"/>
          <p:cNvSpPr/>
          <p:nvPr/>
        </p:nvSpPr>
        <p:spPr>
          <a:xfrm>
            <a:off x="274320" y="950976"/>
            <a:ext cx="8595360" cy="950976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7" name="Google Shape;1977;p58"/>
          <p:cNvSpPr/>
          <p:nvPr/>
        </p:nvSpPr>
        <p:spPr>
          <a:xfrm>
            <a:off x="274320" y="950976"/>
            <a:ext cx="54864" cy="95097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8" name="Google Shape;1978;p58"/>
          <p:cNvSpPr/>
          <p:nvPr/>
        </p:nvSpPr>
        <p:spPr>
          <a:xfrm>
            <a:off x="411480" y="1042416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Q17. The agent is at (1,1) and detects a Breeze. Write the full propositional sentence for this percept, apply Modus Ponens, and state exactly what the agent should NOT do and why.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58"/>
          <p:cNvSpPr/>
          <p:nvPr/>
        </p:nvSpPr>
        <p:spPr>
          <a:xfrm>
            <a:off x="274320" y="1956816"/>
            <a:ext cx="8595360" cy="9509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0" name="Google Shape;1980;p58"/>
          <p:cNvSpPr/>
          <p:nvPr/>
        </p:nvSpPr>
        <p:spPr>
          <a:xfrm>
            <a:off x="274320" y="1956816"/>
            <a:ext cx="54864" cy="95097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1" name="Google Shape;1981;p58"/>
          <p:cNvSpPr/>
          <p:nvPr/>
        </p:nvSpPr>
        <p:spPr>
          <a:xfrm>
            <a:off x="411480" y="2048256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Q18. The agent is at (2,2). The percept is [Nothing — Stench=FALSE, Breeze=FALSE]. List all 4 adjacent rooms, and for each room state whether it is SAFE, RISKY, or UNKNOWN — with full propositional justification.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58"/>
          <p:cNvSpPr/>
          <p:nvPr/>
        </p:nvSpPr>
        <p:spPr>
          <a:xfrm>
            <a:off x="274320" y="2962656"/>
            <a:ext cx="8595360" cy="950976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3" name="Google Shape;1983;p58"/>
          <p:cNvSpPr/>
          <p:nvPr/>
        </p:nvSpPr>
        <p:spPr>
          <a:xfrm>
            <a:off x="274320" y="2962656"/>
            <a:ext cx="54864" cy="95097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4" name="Google Shape;1984;p58"/>
          <p:cNvSpPr/>
          <p:nvPr/>
        </p:nvSpPr>
        <p:spPr>
          <a:xfrm>
            <a:off x="411480" y="3054096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Q19. Why is the Wumpus World called a 'knowledge-based agent' problem? In what specific ways is it different from a robot that simply follows a fixed set of programmed instructions?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58"/>
          <p:cNvSpPr/>
          <p:nvPr/>
        </p:nvSpPr>
        <p:spPr>
          <a:xfrm>
            <a:off x="274320" y="3968496"/>
            <a:ext cx="859536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6" name="Google Shape;1986;p58"/>
          <p:cNvSpPr/>
          <p:nvPr/>
        </p:nvSpPr>
        <p:spPr>
          <a:xfrm>
            <a:off x="274320" y="3968496"/>
            <a:ext cx="54864" cy="117043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7" name="Google Shape;1987;p58"/>
          <p:cNvSpPr/>
          <p:nvPr/>
        </p:nvSpPr>
        <p:spPr>
          <a:xfrm>
            <a:off x="411480" y="4059936"/>
            <a:ext cx="832104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Q20. CHALLENGE: The agent has reached (2,4) and found the Gold. The following facts are confirmed in the KB: Wumpus(1,4)=TRUE[dead], Pit(3,1)=TRUE, Pit(3,3)=TRUE, Pit(3,4)=TRUE.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Plan the complete safe return path back to (1,1). Justify every single step by checking the OK() condition for each room visited.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5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4" name="Google Shape;1994;p59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Questions — Part 5: Answers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59"/>
          <p:cNvSpPr/>
          <p:nvPr/>
        </p:nvSpPr>
        <p:spPr>
          <a:xfrm>
            <a:off x="274320" y="950976"/>
            <a:ext cx="8595360" cy="950976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6" name="Google Shape;1996;p59"/>
          <p:cNvSpPr/>
          <p:nvPr/>
        </p:nvSpPr>
        <p:spPr>
          <a:xfrm>
            <a:off x="274320" y="950976"/>
            <a:ext cx="54864" cy="95097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7" name="Google Shape;1997;p59"/>
          <p:cNvSpPr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Q17. Breeze at (1,1) — propositional reasoning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59"/>
          <p:cNvSpPr/>
          <p:nvPr/>
        </p:nvSpPr>
        <p:spPr>
          <a:xfrm>
            <a:off x="411480" y="1225296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Rule: B[1][1] ↔ (P[1][2] OR P[2][1]).  Fact: B[1][1]=TRUE.  Apply Modus Ponens: TRUE ⇒ P[1][2] OR P[2][1]=TRUE [at least one is a Pit].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Do NOT move to (1,2) or (2,1) until more evidence eliminates one. Safest: stay put and seek info via another route.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59"/>
          <p:cNvSpPr/>
          <p:nvPr/>
        </p:nvSpPr>
        <p:spPr>
          <a:xfrm>
            <a:off x="274320" y="1956816"/>
            <a:ext cx="8595360" cy="9509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0" name="Google Shape;2000;p59"/>
          <p:cNvSpPr/>
          <p:nvPr/>
        </p:nvSpPr>
        <p:spPr>
          <a:xfrm>
            <a:off x="274320" y="1956816"/>
            <a:ext cx="54864" cy="95097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1" name="Google Shape;2001;p59"/>
          <p:cNvSpPr/>
          <p:nvPr/>
        </p:nvSpPr>
        <p:spPr>
          <a:xfrm>
            <a:off x="411480" y="199339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Q18. Agent at (2,2), Percept=Nothing [Stench=F, Breeze=F]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59"/>
          <p:cNvSpPr/>
          <p:nvPr/>
        </p:nvSpPr>
        <p:spPr>
          <a:xfrm>
            <a:off x="411480" y="2231136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Adjacent: (1,2), (3,2), (2,1), (2,3).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Breeze(2,2)=TRUE + Rule W2 → NO Pit adjacent → NOT Pit(1,2) ✓ NOT Pit(3,2) ✓ NOT Pit(2,1) ✓ NOT Pit(2,3) 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 Stench(2,2)=TRUE + Rule W1 → NO Wumpus adjacent → NOT Wumpus in any of them.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→ ALL FOUR rooms: pit-free AND wumpus-free → OK(1,2)=SAFE ✓  OK(3,2)=SAFE ✓  OK(2,1)=SAFE ✓  OK(2,3)=SAFE 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59"/>
          <p:cNvSpPr/>
          <p:nvPr/>
        </p:nvSpPr>
        <p:spPr>
          <a:xfrm>
            <a:off x="274320" y="2962656"/>
            <a:ext cx="8595360" cy="1078992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4" name="Google Shape;2004;p59"/>
          <p:cNvSpPr/>
          <p:nvPr/>
        </p:nvSpPr>
        <p:spPr>
          <a:xfrm>
            <a:off x="274320" y="2962656"/>
            <a:ext cx="54864" cy="107899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5" name="Google Shape;2005;p59"/>
          <p:cNvSpPr/>
          <p:nvPr/>
        </p:nvSpPr>
        <p:spPr>
          <a:xfrm>
            <a:off x="411480" y="299923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Q19. KB agent vs fixed-instruction robot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59"/>
          <p:cNvSpPr/>
          <p:nvPr/>
        </p:nvSpPr>
        <p:spPr>
          <a:xfrm>
            <a:off x="411480" y="3236976"/>
            <a:ext cx="83210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KB Agent: BUILDS and UPDATES a world model. Collects percepts as logical facts. Applies inference rules to derive facts never directly observed. Makes rational decisions based on accumulated knowledge.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Fixed-instruction robot: follows pre-programmed responses. Cannot adapt — if never told 'pit at (3,1)', cannot know. Cannot reason from combinations of observations.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The KRR difference: the Wumpus agent KNOWS (pit at 3,1 confirmed by logic) and plans accordingly. A reactive robot cannot do this.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59"/>
          <p:cNvSpPr/>
          <p:nvPr/>
        </p:nvSpPr>
        <p:spPr>
          <a:xfrm>
            <a:off x="274320" y="4096512"/>
            <a:ext cx="8595360" cy="9509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8" name="Google Shape;2008;p59"/>
          <p:cNvSpPr/>
          <p:nvPr/>
        </p:nvSpPr>
        <p:spPr>
          <a:xfrm>
            <a:off x="274320" y="4096512"/>
            <a:ext cx="54864" cy="95097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9" name="Google Shape;2009;p59"/>
          <p:cNvSpPr/>
          <p:nvPr/>
        </p:nvSpPr>
        <p:spPr>
          <a:xfrm>
            <a:off x="411480" y="4133088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Q20. CHALLENGE — Safe return path from (2,3) to (1,1)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59"/>
          <p:cNvSpPr/>
          <p:nvPr/>
        </p:nvSpPr>
        <p:spPr>
          <a:xfrm>
            <a:off x="411480" y="4370832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Confirmed safe rooms: (1,1),(2,1),(1,2),(2,2),(2,3) [arrived here alive].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Return path: (2,3) → (2,2) → (1,2) → (1,1)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(2,4)→(2,3): OK(2,3)=TRUE [NOT Breeze at (2,2) → no pit adj to (2,2) → NOT Pit(2,3)]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(2,2)→(1,2): OK(1,2)=TRUE [no pit from Step 3; Wumpus confirmed at (1,4) not (1,2)]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• (1,2)→(1,1): OK(1,1)=TRUE [starting room, always safe]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Avoid: (1,4)=WUMPUS[dead but risky], (3,1)=PIT DEADLY, (3,3)=PIT DEADLY, (3,4)=PIT DEADLY.  MISSION COMPLETE.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5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6" name="Google Shape;1726;p53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Summary — Knowledge Representation &amp; Reasoning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53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53"/>
          <p:cNvSpPr/>
          <p:nvPr/>
        </p:nvSpPr>
        <p:spPr>
          <a:xfrm>
            <a:off x="274320" y="960120"/>
            <a:ext cx="1920240" cy="621792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9" name="Google Shape;1729;p53"/>
          <p:cNvSpPr/>
          <p:nvPr/>
        </p:nvSpPr>
        <p:spPr>
          <a:xfrm>
            <a:off x="274320" y="960120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 Overview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53"/>
          <p:cNvSpPr/>
          <p:nvPr/>
        </p:nvSpPr>
        <p:spPr>
          <a:xfrm>
            <a:off x="2286000" y="1014984"/>
            <a:ext cx="6492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KRR bridges raw data and intelligent action. Powers Google, Siri, medical AI, robotics, Prolog. Foundation of explainable and neuro-symbolic AI.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53"/>
          <p:cNvSpPr/>
          <p:nvPr/>
        </p:nvSpPr>
        <p:spPr>
          <a:xfrm>
            <a:off x="274320" y="1627632"/>
            <a:ext cx="859536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2" name="Google Shape;1732;p53"/>
          <p:cNvSpPr/>
          <p:nvPr/>
        </p:nvSpPr>
        <p:spPr>
          <a:xfrm>
            <a:off x="274320" y="1627632"/>
            <a:ext cx="1920240" cy="621792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3" name="Google Shape;1733;p53"/>
          <p:cNvSpPr/>
          <p:nvPr/>
        </p:nvSpPr>
        <p:spPr>
          <a:xfrm>
            <a:off x="274320" y="1627632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1: Intro to KR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53"/>
          <p:cNvSpPr/>
          <p:nvPr/>
        </p:nvSpPr>
        <p:spPr>
          <a:xfrm>
            <a:off x="2286000" y="1682496"/>
            <a:ext cx="6492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DIKW: Data→Info→Knowledge→Wisdom. Real World→KB→Reasoning→Action. Representation Hypothesis: symbols + rules = intelligence.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53"/>
          <p:cNvSpPr/>
          <p:nvPr/>
        </p:nvSpPr>
        <p:spPr>
          <a:xfrm>
            <a:off x="274320" y="2295144"/>
            <a:ext cx="8595360" cy="62179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53"/>
          <p:cNvSpPr/>
          <p:nvPr/>
        </p:nvSpPr>
        <p:spPr>
          <a:xfrm>
            <a:off x="274320" y="2295144"/>
            <a:ext cx="1920240" cy="62179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53"/>
          <p:cNvSpPr/>
          <p:nvPr/>
        </p:nvSpPr>
        <p:spPr>
          <a:xfrm>
            <a:off x="274320" y="2295144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2: Types of Knowledge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53"/>
          <p:cNvSpPr/>
          <p:nvPr/>
        </p:nvSpPr>
        <p:spPr>
          <a:xfrm>
            <a:off x="2286000" y="2350008"/>
            <a:ext cx="6492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Declarative (WHAT), Procedural (HOW), Heuristic (USUALLY WORKS), Meta (ABOUT KNOWLEDGE). Choosing the right type shapes the whole system design.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53"/>
          <p:cNvSpPr/>
          <p:nvPr/>
        </p:nvSpPr>
        <p:spPr>
          <a:xfrm>
            <a:off x="274320" y="2962656"/>
            <a:ext cx="859536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53"/>
          <p:cNvSpPr/>
          <p:nvPr/>
        </p:nvSpPr>
        <p:spPr>
          <a:xfrm>
            <a:off x="274320" y="2962656"/>
            <a:ext cx="1920240" cy="62179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53"/>
          <p:cNvSpPr/>
          <p:nvPr/>
        </p:nvSpPr>
        <p:spPr>
          <a:xfrm>
            <a:off x="274320" y="2962656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3: Propositional Logic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53"/>
          <p:cNvSpPr/>
          <p:nvPr/>
        </p:nvSpPr>
        <p:spPr>
          <a:xfrm>
            <a:off x="2286000" y="3017520"/>
            <a:ext cx="6492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T/F propositions. Five connectives (∧∨¬→↔). Knowledge Bases. Modus Ponens inference. Limitation: cannot generalise over categories.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53"/>
          <p:cNvSpPr/>
          <p:nvPr/>
        </p:nvSpPr>
        <p:spPr>
          <a:xfrm>
            <a:off x="274320" y="3630168"/>
            <a:ext cx="8595360" cy="621792"/>
          </a:xfrm>
          <a:prstGeom prst="rect">
            <a:avLst/>
          </a:prstGeom>
          <a:solidFill>
            <a:srgbClr val="F8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4" name="Google Shape;1744;p53"/>
          <p:cNvSpPr/>
          <p:nvPr/>
        </p:nvSpPr>
        <p:spPr>
          <a:xfrm>
            <a:off x="274320" y="3630168"/>
            <a:ext cx="1920240" cy="621792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5" name="Google Shape;1745;p53"/>
          <p:cNvSpPr/>
          <p:nvPr/>
        </p:nvSpPr>
        <p:spPr>
          <a:xfrm>
            <a:off x="274320" y="363016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4: First Order Logic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53"/>
          <p:cNvSpPr/>
          <p:nvPr/>
        </p:nvSpPr>
        <p:spPr>
          <a:xfrm>
            <a:off x="2286000" y="3685032"/>
            <a:ext cx="6492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Variables, constants, predicates, functions. ∀ and ∃ quantifiers. Universal Instantiation + Modus Ponens. One rule covers all cases. Language of Prolog and ontologies.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53"/>
          <p:cNvSpPr/>
          <p:nvPr/>
        </p:nvSpPr>
        <p:spPr>
          <a:xfrm>
            <a:off x="274320" y="4297680"/>
            <a:ext cx="859536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8" name="Google Shape;1748;p53"/>
          <p:cNvSpPr/>
          <p:nvPr/>
        </p:nvSpPr>
        <p:spPr>
          <a:xfrm>
            <a:off x="274320" y="4297680"/>
            <a:ext cx="1920240" cy="62179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9" name="Google Shape;1749;p53"/>
          <p:cNvSpPr/>
          <p:nvPr/>
        </p:nvSpPr>
        <p:spPr>
          <a:xfrm>
            <a:off x="274320" y="4297680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5: Wumpus World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53"/>
          <p:cNvSpPr/>
          <p:nvPr/>
        </p:nvSpPr>
        <p:spPr>
          <a:xfrm>
            <a:off x="2286000" y="4352544"/>
            <a:ext cx="6492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All concepts combined. KB built step by step from percepts. Modus Ponens + Resolution derive hidden truths. Agent stays alive by reasoning, not luck.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53"/>
          <p:cNvSpPr/>
          <p:nvPr/>
        </p:nvSpPr>
        <p:spPr>
          <a:xfrm>
            <a:off x="274320" y="4983480"/>
            <a:ext cx="8595360" cy="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14704</Words>
  <Application>Microsoft Office PowerPoint</Application>
  <PresentationFormat>On-screen Show (16:9)</PresentationFormat>
  <Paragraphs>1165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Toshiba</dc:creator>
  <cp:lastModifiedBy>Husnain Ashfaq</cp:lastModifiedBy>
  <cp:revision>7</cp:revision>
  <dcterms:modified xsi:type="dcterms:W3CDTF">2026-04-04T10:45:18Z</dcterms:modified>
</cp:coreProperties>
</file>