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290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4231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Inference</a:t>
            </a:r>
            <a:endParaRPr lang="en-US" sz="4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&amp; Backward Chaining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320040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1: Logic &amp; Entailment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46504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 : Reasoning Types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72968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72968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 : Expert Systems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99432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E85D20"/>
          </a:solidFill>
          <a:ln w="12700">
            <a:solidFill>
              <a:srgbClr val="E85D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 : FOL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25896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25896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 : Forward Chaining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2578608"/>
            <a:ext cx="1389888" cy="475488"/>
          </a:xfrm>
          <a:prstGeom prst="roundRect">
            <a:avLst>
              <a:gd name="adj" fmla="val 15385"/>
            </a:avLst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2578608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 : Backward Chaining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 |  Dr. Husnain Ashfaq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418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41832"/>
            <a:ext cx="109728" cy="109728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618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033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Inference &amp; Entailment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Propositions, Connectives, Modus Ponens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76272"/>
            <a:ext cx="109728" cy="10972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Reasoning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79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Deductive, Inductive, Abductive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4107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10712"/>
            <a:ext cx="109728" cy="1097280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307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502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Components, Production Rules, Real-World Systems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94183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941832"/>
            <a:ext cx="109728" cy="1097280"/>
          </a:xfrm>
          <a:prstGeom prst="rect">
            <a:avLst/>
          </a:prstGeom>
          <a:solidFill>
            <a:srgbClr val="E85D20"/>
          </a:solidFill>
          <a:ln w="12700">
            <a:solidFill>
              <a:srgbClr val="E85D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26187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5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10332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Logic (FOL)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32120" y="1444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Quantifiers, Horn Clauses, Translation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17627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176272"/>
            <a:ext cx="109728" cy="109728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4963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9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32120" y="22677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32120" y="26791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Reasoning — 5 Full Examples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410712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410712"/>
            <a:ext cx="109728" cy="1097280"/>
          </a:xfrm>
          <a:prstGeom prst="rect">
            <a:avLst/>
          </a:prstGeom>
          <a:solidFill>
            <a:srgbClr val="1D7A8A"/>
          </a:solidFill>
          <a:ln w="12700">
            <a:solidFill>
              <a:srgbClr val="1D7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73075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532120" y="35021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39136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Reasoning — 5 Full Examples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Inference</a:t>
            </a:r>
            <a:endParaRPr lang="en-US" sz="4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Entailment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 •  Connectives  •  Modus Ponens  •  Entailment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Logical Inference?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everyday life we constantly draw conclusions from available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353312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69848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clouds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9848" y="1810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 will rain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72968" y="1353312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82696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 🔋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922776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at 2%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22776" y="1810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Phone will die soon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25896" y="1353312"/>
            <a:ext cx="272491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35624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75704" y="146304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75704" y="1810512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Must reason the same way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2679192"/>
            <a:ext cx="8503920" cy="171907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679192"/>
            <a:ext cx="164592" cy="17190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5234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Logic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821131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is the formal science of correct reasoning. It provides a precise language for expressing knowledge and rules for deriving new true statements from existing ones. In AI, the machine can reason step by step — just like a human expert.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Propositions: The Building Blocks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005840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00584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Proposition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proposition is any declarative sentence that is either TRUE or FALSE — never both, never neither. A question, command, or opinion is NOT a proposition.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11680"/>
            <a:ext cx="41148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11680"/>
            <a:ext cx="109728" cy="2697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11680"/>
            <a:ext cx="411480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039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Valid Propositions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496312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is raining today"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TRUE or FALSE. This is a proposition.
</a:t>
            </a: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"Ahmed has a fever"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TRUE or FALSE. This is a proposition.
</a:t>
            </a: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 + 2 = 4"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TRUE. This is a proposition.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425196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011680"/>
            <a:ext cx="109728" cy="2697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011680"/>
            <a:ext cx="42519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1728" y="2039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NOT Propositions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2496312"/>
            <a:ext cx="39776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time is it?"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question — no truth value.
</a:t>
            </a: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"Please close the door"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command — no truth value.
</a:t>
            </a:r>
            <a:r>
              <a:rPr lang="en-US" sz="1300" b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statement is false"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paradox — violates TRUE/FALSE rule.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Connectives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097280" cy="5791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00584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17320" y="896112"/>
            <a:ext cx="1097280" cy="5791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2184" y="923544"/>
            <a:ext cx="100584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14600" y="896112"/>
            <a:ext cx="2103120" cy="5791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9464" y="923544"/>
            <a:ext cx="201168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896112"/>
            <a:ext cx="4206240" cy="5791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923544"/>
            <a:ext cx="4114800" cy="542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47523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50266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147523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150266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14600" y="1475232"/>
            <a:ext cx="210312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1502664"/>
            <a:ext cx="199339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475232"/>
            <a:ext cx="420624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502664"/>
            <a:ext cx="409651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false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054352"/>
            <a:ext cx="109728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08178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∧ Q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417320" y="2054352"/>
            <a:ext cx="109728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208178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14600" y="2054352"/>
            <a:ext cx="210312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78608" y="2081784"/>
            <a:ext cx="199339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Q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2054352"/>
            <a:ext cx="420624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081784"/>
            <a:ext cx="409651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 and Q are true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63347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6090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∨ Q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17320" y="263347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266090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514600" y="2633472"/>
            <a:ext cx="210312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78608" y="2660904"/>
            <a:ext cx="199339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OR Q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617720" y="2633472"/>
            <a:ext cx="420624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2660904"/>
            <a:ext cx="409651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of P, Q is true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212592"/>
            <a:ext cx="109728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24002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17320" y="3212592"/>
            <a:ext cx="109728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481328" y="324002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IF…THEN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14600" y="3212592"/>
            <a:ext cx="210312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78608" y="3240024"/>
            <a:ext cx="199339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THEN Q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17720" y="3212592"/>
            <a:ext cx="4206240" cy="5791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3240024"/>
            <a:ext cx="409651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only when P=true but Q=false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379171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" y="381914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↔ Q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417320" y="3791712"/>
            <a:ext cx="109728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81328" y="3819144"/>
            <a:ext cx="98755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IFF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14600" y="3791712"/>
            <a:ext cx="210312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8608" y="3819144"/>
            <a:ext cx="199339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if and only if Q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617720" y="3791712"/>
            <a:ext cx="420624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81728" y="3819144"/>
            <a:ext cx="4096512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and Q have the same truth value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480560"/>
            <a:ext cx="8503920" cy="256032"/>
          </a:xfrm>
          <a:prstGeom prst="rect">
            <a:avLst/>
          </a:prstGeom>
          <a:solidFill>
            <a:srgbClr val="FFF3CD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11480" y="4498848"/>
            <a:ext cx="8339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9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Implication (P → Q) is the MOST IMPORTANT connective — every rule in an expert system is an implication!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Implication P → Q (Most Important!)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implication P → Q is read: "IF P THEN Q". Every rule in an expert system is an implication. Understanding when it is true or false is critical.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1417320" cy="603504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51790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(Condition)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490472"/>
            <a:ext cx="1417320" cy="603504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51790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(Conclusion)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1490472"/>
            <a:ext cx="1417320" cy="603504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1517904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→ Q Result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490472"/>
            <a:ext cx="4251960" cy="603504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51790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093976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121408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7360" y="2093976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01368" y="2121408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2093976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18688" y="2121408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2093976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121408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held — condition met, conclusion followed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2697480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724912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37360" y="2697480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01368" y="2724912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2697480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724912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697480"/>
            <a:ext cx="425196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36008" y="2724912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VIOLATED — condition met but conclusion did NOT follow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300984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328416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37360" y="3300984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01368" y="3328416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54680" y="3300984"/>
            <a:ext cx="1417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18688" y="3328416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3300984"/>
            <a:ext cx="42519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3328416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not triggered — does not apply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" y="3904488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393192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737360" y="3904488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01368" y="393192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154680" y="3904488"/>
            <a:ext cx="141732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18688" y="3931920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✓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0" y="3904488"/>
            <a:ext cx="4251960" cy="603504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36008" y="393192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not triggered — same as above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20040" y="4599432"/>
            <a:ext cx="8503920" cy="137160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4617720"/>
            <a:ext cx="83393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Only FALSE when condition fires (P=true) but conclusion fails (Q=false). All other cases are TRUE.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Entailment &amp; Key Inference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14400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9144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Entailment (KB ⊨ α)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entails α if and only if in EVERY possible world where all facts in KB are true, α is also true. α cannot possibly be false if KB is true.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27249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920240"/>
            <a:ext cx="109728" cy="27889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20240"/>
            <a:ext cx="2724912" cy="38404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938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Ponens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359152"/>
            <a:ext cx="2450592" cy="43891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3774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Q , P ⊢ 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286207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"IF it rains THEN ground is wet" is true, and "It is raining" is true → "The ground is wet". Core of forward chaining.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172968" y="1920240"/>
            <a:ext cx="27249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72968" y="1920240"/>
            <a:ext cx="109728" cy="278892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72968" y="1920240"/>
            <a:ext cx="2724912" cy="38404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938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Modus Tollens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359152"/>
            <a:ext cx="2450592" cy="43891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23774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Q , ¬Q ⊢ ¬P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286207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it rains THEN ground is wet". "Ground is NOT wet". Therefore: "It is NOT raining". The Contrapositive.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25896" y="1920240"/>
            <a:ext cx="2724912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1920240"/>
            <a:ext cx="109728" cy="2788920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25896" y="1920240"/>
            <a:ext cx="2724912" cy="384048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0488" y="193852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Syllogism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163056" y="2359152"/>
            <a:ext cx="2450592" cy="43891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90488" y="2377440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P→Q , Q→R ⊢ P→R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90488" y="2862072"/>
            <a:ext cx="24688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smoke THEN fire" and "IF fire THEN alarm". Therefore: "IF smoke THEN alarm". Chains rules together.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1.1 — Identify the Propositions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of the following are valid propositions and which are not. Explain why for each one.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"All computers in Lab 3 are connected to the internet."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"Is the printer working?"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"Please restart the server."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"If temperature exceeds 100°C, the system shuts down."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"This statement is false."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1.1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VALID PROPOSITION — It is a declarative sentence: either True or False.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NOT a proposition — It is a question; questions have no truth value.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NOT a proposition — It is a command; commands cannot be True or False.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VALID PROPOSITION — It is a declarative conditional with a clear truth value.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NOT a standard proposition — It is the "Liar Paradox". If it is true it is false, and vice versa — it violates the rule that a proposition must be unambiguously True or False.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Activity 1.2 — Calculate Truth Values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 P = TRUE   and   Q = FALSE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truth value of each expression and explain your reasoning: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¬P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P ∧ 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P ∨ 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P → Q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Q → P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Solution — Activity 1.2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¬P  =  ¬TRUE  =  FALSE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P ∧ Q  =  TRUE ∧ FALSE  =  FALSE    (both must be true; Q is false)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P ∨ Q  =  TRUE ∨ FALSE  =  TRUE     (at least one is true; P is true)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P → Q  =  TRUE → FALSE  =  FALSE    (condition TRUE but conclusion FALSE — rule VIOLATED)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Q → P  =  FALSE → TRUE  =  TRUE     (condition is FALSE — rule is never triggered, so it holds)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Insight: (d) is FALSE but (e) is TRUE. The DIRECTION of an implication matters enormously!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1.3 — Apply Modus Ponens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inference rules step by step: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 IF a vehicle has no fuel  THEN  it will not start.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 IF a vehicle will not start  THEN  the driver will be late.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Fact:    Sara's car has no fuel.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Hypothetical Syllogism followed by Modus Ponens, what can you conclude about Sara?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1.3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Apply Hypothetical Syllogism: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Rule 1:   NoFuel  →  WillNotStart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Rule 2:   WillNotStart  →  DriverLate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Combined: NoFuel  →  DriverLate        (new derived rule)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Apply Modus Ponens: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We have:  NoFuel  →  DriverLate        (from Step 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We know:  NoFuel(Sara) is TRUE          (given fact)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Therefore: DriverLate(Sara) is TRUE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 Sara will be late.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Reasoning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  •  Inductive  •  Abductive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Three Types of Reasoning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72491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2219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2724912" cy="4572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Deductive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" y="14264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rules + specific facts → Guaranteed specific conclusion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313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2560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humans are mortal. Socrates is human. ∴ Socrates is mortal.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35935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Expert systems, logic engines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Certainty: 100% guaranteed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172968" y="896112"/>
            <a:ext cx="272491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896112"/>
            <a:ext cx="109728" cy="382219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72968" y="896112"/>
            <a:ext cx="2724912" cy="4572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Inductive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4264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specific observations → Probable general rule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2313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560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1000 white swans → concluded all swans are white (then found a black one!)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5935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Machine learning, neural nets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Certainty: Probable only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25896" y="896112"/>
            <a:ext cx="2724912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896112"/>
            <a:ext cx="109728" cy="3822192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896112"/>
            <a:ext cx="2724912" cy="457200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93268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Abductive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90488" y="1426464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Most likely explanation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0488" y="2313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0488" y="2560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 is wet → It probably rained (could be a sprinkler — best guess only)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0488" y="35935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Use: Medical diagnosis, NLP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Certainty: Best guess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 Table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92024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40280" y="896112"/>
            <a:ext cx="187452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923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896112"/>
            <a:ext cx="187452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923544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896112"/>
            <a:ext cx="2834640" cy="676656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9235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Abductive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572768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00200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1572768"/>
            <a:ext cx="1874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04288" y="1600200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1572768"/>
            <a:ext cx="1874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8808" y="1600200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89320" y="1572768"/>
            <a:ext cx="2834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600200"/>
            <a:ext cx="2724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observation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249424"/>
            <a:ext cx="192024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276856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40280" y="2249424"/>
            <a:ext cx="187452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22768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conclusion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2249424"/>
            <a:ext cx="187452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8808" y="2276856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249424"/>
            <a:ext cx="283464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2276856"/>
            <a:ext cx="2724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explanation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926080"/>
            <a:ext cx="1920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953512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Certainty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40280" y="2926080"/>
            <a:ext cx="1874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04288" y="295351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guaranteed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14800" y="2926080"/>
            <a:ext cx="18745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78808" y="2953512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Probable only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89320" y="2926080"/>
            <a:ext cx="28346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53328" y="2953512"/>
            <a:ext cx="2724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guess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20040" y="3602736"/>
            <a:ext cx="192024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3630168"/>
            <a:ext cx="1810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240280" y="3602736"/>
            <a:ext cx="187452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04288" y="3630168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systems, logic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0" y="3602736"/>
            <a:ext cx="187452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78808" y="3630168"/>
            <a:ext cx="1764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ML, neural nets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3602736"/>
            <a:ext cx="2834640" cy="676656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53328" y="3630168"/>
            <a:ext cx="27249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NLP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2.1 — Classify the Reasoning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scenario as Deductive, Inductive, or Abductive. Give a one-sentence justification.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A student observes that every time he studies the night before, he fails the test.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He concludes: "Studying the night before causes failure."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The rule says: "All students who miss 3 or more classes are barred from the exam."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Zara has missed 4 classes. Therefore Zara is barred.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The server response time is 8 seconds (normally 0.2 seconds).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You conclude: "The database must be overloaded."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2.1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INDUCTIVE — He is observing repeated specific instances and forming a general rule. The conclusion is probable, not certain.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DEDUCTIVE — He is applying a known general rule to a specific verified fact. The conclusion is 100% guaranteed.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ABDUCTIVE — He is given an observation (slow response) and proposing the BEST EXPLANATION (overloaded database). Other explanations exist but this is most plausible.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2.2 — Traffic System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city traffic system has the rule: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"IF road_blocked AND alternative_route_available THEN divert_traffic."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observes: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Road_A is blocked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No alternative route is available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Which reasoning type does this system use?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Does the rule fire? Construct the truth table for this implication.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What is the LIMITATION of abductive reasoning compared to this system?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Activity 2.2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DEDUCTIVE reasoning — the system applies a known IF-THEN rule to specific facts.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Road_Blocked(A) = TRUE,   AlternativeRoute =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TRUE ∧ FALSE = FALSE — the conjunction is FALSE, so the rule does NOT fire.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system does NOT divert traffic because no alternative is available.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Abductive reasoning gives the BEST GUESS, not a guaranteed conclusion.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Deductive reasoning gives CERTAIN outcomes given verified facts.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 •  Production Rules  •  Real-World Applications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is an Expert System?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051560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0515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Expert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expert system is an AI program that captures the knowledge and reasoning ability of a human expert in a specific domain. It uses a Knowledge Base (what the expert knows) and an Inference Engine (how the expert thinks) to answer questions — even without the human expert present.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66544"/>
            <a:ext cx="27249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66544"/>
            <a:ext cx="109728" cy="26517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066544"/>
            <a:ext cx="2724912" cy="43891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848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11226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2578608"/>
            <a:ext cx="24505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FACTS (known truths) and RULES (IF-THEN expert knowledge). Also maintains Working Memory — a dynamic store of everything currently known.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72968" y="2066544"/>
            <a:ext cx="27249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066544"/>
            <a:ext cx="109728" cy="26517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2968" y="2066544"/>
            <a:ext cx="2724912" cy="43891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0848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30168" y="211226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37560" y="2578608"/>
            <a:ext cx="24505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"thinking" part. Scans the KB for rules whose conditions are satisfied, fires them to derive new facts, and repeats until a goal is reached.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25896" y="2066544"/>
            <a:ext cx="2724912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25896" y="2066544"/>
            <a:ext cx="109728" cy="2651760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25896" y="2066544"/>
            <a:ext cx="2724912" cy="438912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17336" y="208483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83096" y="2112264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Module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90488" y="2578608"/>
            <a:ext cx="2450592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the system reached a conclusion by tracing which rules fired. Critical in medicine, law, and finance — accountability matters.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Production Rules &amp; Famous Expert Systems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60120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96012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Rule Format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 &lt;condition1&gt;  AND  &lt;condition2&gt;  AND  …  THEN  &lt;conclusion&gt;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standard format for encoding expert knowledge as machine-executable rules.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118872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2002536"/>
            <a:ext cx="1097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1975104"/>
            <a:ext cx="86868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2002536"/>
            <a:ext cx="777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975104"/>
            <a:ext cx="132588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2002536"/>
            <a:ext cx="12344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03320" y="1975104"/>
            <a:ext cx="512064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2002536"/>
            <a:ext cx="5029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660904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688336"/>
            <a:ext cx="1078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508760" y="2660904"/>
            <a:ext cx="868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2688336"/>
            <a:ext cx="758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1976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2660904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41448" y="2688336"/>
            <a:ext cx="1216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03320" y="2660904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7328" y="2688336"/>
            <a:ext cx="5010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blood infections using 600 rules. Performed as well as specialist physicians.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3346704"/>
            <a:ext cx="1188720" cy="68580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374136"/>
            <a:ext cx="1078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508760" y="3346704"/>
            <a:ext cx="868680" cy="68580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72768" y="3374136"/>
            <a:ext cx="758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3346704"/>
            <a:ext cx="1325880" cy="68580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41448" y="3374136"/>
            <a:ext cx="1216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703320" y="3346704"/>
            <a:ext cx="5120640" cy="68580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67328" y="3374136"/>
            <a:ext cx="5010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DEC VAX computers using 10,000+ rules. Saved $40 million per year.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0040" y="4032504"/>
            <a:ext cx="11887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059936"/>
            <a:ext cx="10789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DENDRAL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08760" y="4032504"/>
            <a:ext cx="8686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72768" y="4059936"/>
            <a:ext cx="758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377440" y="4032504"/>
            <a:ext cx="1325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41448" y="4059936"/>
            <a:ext cx="12161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03320" y="4032504"/>
            <a:ext cx="5120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67328" y="4059936"/>
            <a:ext cx="5010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molecular structures from spectrometer data. First major AI success story.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3.1 — Academic Probation Expert 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expert system decides if a student should be placed on academic probation: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R1: IF GPA &lt; 2.0 AND FailedSubjects &gt; 2  THEN  OnProbation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R2: IF OnProbation AND MissedOrientation  THEN  Expelled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Record:  GPA = 1.7  |  Failed subjects = 3  |  Attended orientation = NO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production rules in FOL, list the facts, then trace what conclusions the inference engine reaches.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3.1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R1:  IF LowGPA(x) ∧ FailedMultiple(x)           →  OnProbation(x)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R2:  IF OnProbation(x) ∧ MissedOrientation(x)   →  Expelled(x)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FACTS:  LowGPA(student)  |  FailedMultiple(student)  |  MissedOrientation(student)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1: R1 checks — LowGPA ✓  AND  FailedMultiple ✓  →  R1 FIRES  →  OnProbation(student) added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2: R2 checks — OnProbation ✓  AND  MissedOrientation ✓  →  R2 FIRES  →  Expelled(student) added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Pass 3: No more rules can fire. STOP.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student is EXPELLED.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Activity 3.2 — Expert System vs Neural Network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expert system is MORE SUITABLE than a neural network for a hospital medication approval system.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3 components of an expert system in your answer.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(Think about when you NEED to explain WHY a decision was made — accountability and auditability are key.)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 — Activity 3.2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Knowledge Base: Rules written explicitly by medical experts (e.g., "IF drug A AND drug B THEN fatal_interaction").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Doctors can review, verify, and update the exact rules being used.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Inference Engine: Each decision is traced through specific rules. If the system says "Do not prescribe X",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it is because Rule 7 fired, requiring condition Y and Z.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Explanation Module: Tells the pharmacist EXACTLY why it flagged an interaction. A neural network outputs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 probability but CANNOT explain.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neural networks are unsuitable: (a) black boxes — no explanation, (b) may lack training data for rare interactions,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a wrong decision cannot be easily corrected.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In life-critical domains, expert systems are the correct choice.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Logic (FOL)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Quantifiers  •  Predicates  •  Horn Clauses  •  Translation Practice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Why FOL? Core Components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simple propositional logic, you need separate statements per person: "Ahmed-has-fever", "Sara-has-fever". With FOL, write Fever(x) once — x stands for any person.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90472"/>
            <a:ext cx="1417320" cy="5410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1517904"/>
            <a:ext cx="132588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490472"/>
            <a:ext cx="2286000" cy="5410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2224" y="1517904"/>
            <a:ext cx="219456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490472"/>
            <a:ext cx="4800600" cy="5410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224" y="1517904"/>
            <a:ext cx="4709160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031492"/>
            <a:ext cx="141732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058924"/>
            <a:ext cx="130759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2031492"/>
            <a:ext cx="22860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01368" y="2058924"/>
            <a:ext cx="21762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Ahmed, London, 42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2031492"/>
            <a:ext cx="48006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2058924"/>
            <a:ext cx="46908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named objects in the world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572512"/>
            <a:ext cx="141732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599944"/>
            <a:ext cx="130759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737360" y="2572512"/>
            <a:ext cx="228600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01368" y="2599944"/>
            <a:ext cx="21762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2572512"/>
            <a:ext cx="480060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87368" y="2599944"/>
            <a:ext cx="46908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Placeholders — can stand for any object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113532"/>
            <a:ext cx="141732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40964"/>
            <a:ext cx="130759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37360" y="3113532"/>
            <a:ext cx="22860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3140964"/>
            <a:ext cx="21762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Fever(x), Loves(x,y)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023360" y="3113532"/>
            <a:ext cx="48006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87368" y="3140964"/>
            <a:ext cx="46908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objects, or relationships between them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20040" y="3654552"/>
            <a:ext cx="141732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81984"/>
            <a:ext cx="130759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 (For All)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37360" y="3654552"/>
            <a:ext cx="228600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01368" y="3681984"/>
            <a:ext cx="21762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Human(x)→Mortal(x)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0" y="3654552"/>
            <a:ext cx="4800600" cy="5410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87368" y="3681984"/>
            <a:ext cx="46908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is true for EVERY object x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195572"/>
            <a:ext cx="141732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" y="4223004"/>
            <a:ext cx="130759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∃x  (There Exists)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737360" y="4195572"/>
            <a:ext cx="22860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01368" y="4223004"/>
            <a:ext cx="21762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∃x Student(x)∧Smart(x)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023360" y="4195572"/>
            <a:ext cx="4800600" cy="5410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87368" y="4223004"/>
            <a:ext cx="4690872" cy="486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AT LEAST ONE object x satisfying this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Critical Quantifier Rule (MEMORISE)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371600"/>
          </a:xfrm>
          <a:prstGeom prst="rect">
            <a:avLst/>
          </a:prstGeom>
          <a:solidFill>
            <a:srgbClr val="FFF8E6"/>
          </a:solidFill>
          <a:ln w="25400">
            <a:solidFill>
              <a:srgbClr val="D490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37160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69264"/>
            <a:ext cx="8174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9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MEMORISE THIS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" y="1316736"/>
            <a:ext cx="8174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∀ (for all)  with  → (implication)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∃ (there exists)  with  ∧ (AND)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common mistake students make in exams.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404872"/>
            <a:ext cx="272491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04872"/>
            <a:ext cx="109728" cy="23042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4688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8620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∀x Human(x) → Mortal(x)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" y="338328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human is mortal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172968" y="2404872"/>
            <a:ext cx="272491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72968" y="2404872"/>
            <a:ext cx="109728" cy="23042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4688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CORRECT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8620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∃x Student(x) ∧ Smart(x)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338328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student is smart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25896" y="2404872"/>
            <a:ext cx="2724912" cy="23042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25896" y="2404872"/>
            <a:ext cx="109728" cy="23042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246888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WRONG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90488" y="286207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7F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∀x Human(x) ∧ Mortal(x)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0488" y="3383280"/>
            <a:ext cx="24871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 is BOTH human AND mortal — incorrect!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English → FOL Translation Practice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834640" cy="637032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274320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Sentence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896112"/>
            <a:ext cx="3337560" cy="637032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9544" y="923544"/>
            <a:ext cx="324612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Formula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896112"/>
            <a:ext cx="2331720" cy="637032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47104" y="923544"/>
            <a:ext cx="2240280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33144"/>
            <a:ext cx="283464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60576"/>
            <a:ext cx="272491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studies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54680" y="1533144"/>
            <a:ext cx="333756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560576"/>
            <a:ext cx="322783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Student(x) → Studies(x)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1533144"/>
            <a:ext cx="23317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560576"/>
            <a:ext cx="222199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with 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170176"/>
            <a:ext cx="283464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97608"/>
            <a:ext cx="272491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students are hardworking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2170176"/>
            <a:ext cx="333756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18688" y="2197608"/>
            <a:ext cx="322783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∃x Student(x) ∧ Hardworking(x)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170176"/>
            <a:ext cx="233172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6248" y="2197608"/>
            <a:ext cx="222199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with ∧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807208"/>
            <a:ext cx="283464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834640"/>
            <a:ext cx="272491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dog can fly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154680" y="2807208"/>
            <a:ext cx="333756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18688" y="2834640"/>
            <a:ext cx="322783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Dog(x) → ¬CanFly(x)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92240" y="2807208"/>
            <a:ext cx="23317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56248" y="2834640"/>
            <a:ext cx="222199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+ NOT in conclusion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444240"/>
            <a:ext cx="283464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71672"/>
            <a:ext cx="272491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patient with fever &amp; cough has flu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54680" y="3444240"/>
            <a:ext cx="333756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18688" y="3471672"/>
            <a:ext cx="322783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[Fever(x) ∧ Cough(x)] → Flu(x)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92240" y="3444240"/>
            <a:ext cx="2331720" cy="637032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56248" y="3471672"/>
            <a:ext cx="222199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+ compound condition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081272"/>
            <a:ext cx="283464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108704"/>
            <a:ext cx="272491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doctors can prescribe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154680" y="4081272"/>
            <a:ext cx="333756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18688" y="4108704"/>
            <a:ext cx="322783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∀x Prescribes(x) → Doctor(x)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92240" y="4081272"/>
            <a:ext cx="2331720" cy="637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56248" y="4108704"/>
            <a:ext cx="222199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A does B" = If B then A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Horn Clauses: FOL in Rule Engines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7043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17043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Horn Clause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Horn Clause has at most ONE positive conclusion (the head) and any number of conditions (the body).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  Head ← Body1 ∧ Body2 ∧ … ∧ BodyN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Prolog and CLIPS use Horn Clauses because they make reasoning efficient and decidable.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194560"/>
            <a:ext cx="41148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194560"/>
            <a:ext cx="109728" cy="248716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226771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(unconditionally true)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" y="2651760"/>
            <a:ext cx="3858768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Employed(Ahmed)  ←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 body — always true regardless of situation)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17720" y="2194560"/>
            <a:ext cx="42062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194560"/>
            <a:ext cx="109728" cy="2487168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2677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(head ← body)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51760"/>
            <a:ext cx="397764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EligibleForLoan(x) 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Employed(x)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∧ AgeOver21(x)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∧ GoodCredit(x)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Activity 4.1 — English to FOL Translation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each sentence into a correct FOL formula. State which quantifier you used and why.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Every registered voter must be over 18.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Some employees earn a bonus.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No machine can think.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Every employee who works overtime and has good reviews gets a raise.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At least one student passed all 5 subjects.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4.1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∀x RegisteredVoter(x) → Over18(x)      Used ∀ with → : IF registered voter THEN over 18.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∃x Employee(x) ∧ EarnsBonus(x)          Used ∃ with ∧ : "some" means at least one.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∀x Machine(x) → ¬CanThink(x)            Used ∀ with → and negation. "No machine" = "every machine does NOT".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∀x [Employee(x) ∧ WorksOvertime(x) ∧ GoodReviews(x)] → GetsRaise(x)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Used ∀ with compound condition — multiple conditions joined with ∧.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 ∃x Student(x) ∧ PassedAll5(x)            Used ∃ with ∧. "At least one" is existential.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Activity 4.2 — Smart Home Horn Clauses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BF0"/>
          </a:solidFill>
          <a:ln w="12700">
            <a:solidFill>
              <a:srgbClr val="E8D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following in Horn Clause format: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"If motion is detected and it is night time and the alarm is armed, then trigger the alarm."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"The alarm is armed."   (a fixed fact)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"It is night time."      (a fixed fact)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show how the inference engine derives new facts when MotionDetected(Room3) is received.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 — Activity 4.2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3FBF7"/>
          </a:solidFill>
          <a:ln w="12700">
            <a:solidFill>
              <a:srgbClr val="B0DEC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96112"/>
            <a:ext cx="164592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005840"/>
            <a:ext cx="8156448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HORN CLAUSES: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 1:  AlarmArmed  ←                          (no body — unconditionally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Fact 2:  NightTime   ←                          (no body — unconditionally true)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Rule:    TriggerAlarm(r) ← MotionDetected(r) ∧ NightTime ∧ AlarmArmed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TRACE: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WM starts: { AlarmArmed, NightTime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Sensor sends: MotionDetected(Room3)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WM becomes:  { AlarmArmed, NightTime, MotionDetected(Room3)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Rule check: MotionDetected(Room3) ✓  NightTime ✓  AlarmArmed ✓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All 3 met → Rule FIRES → TriggerAlarm(Room3) added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alarm is triggered for Room 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Chaining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Reasoning  •  5 Full Examples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Forward Chaining: Definition &amp;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07899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07899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Forward Chaining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KNOWN FACTS and keeps applying rules to derive NEW facts, until either a goal is reached or no more rules can fire. It asks: "Given what I already know, what NEW things can I figure out?" Works forward from DATA to CONCLUSIONS.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84832"/>
            <a:ext cx="109728" cy="1261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" y="2468880"/>
            <a:ext cx="530352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688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848" y="21579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52374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every rule. Check whether ALL conditions of that rule are currently in Working Memory.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4564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456432"/>
            <a:ext cx="109728" cy="1261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" y="3840480"/>
            <a:ext cx="530352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840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69848" y="35295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389534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rules whose conditions are all satisfied (the conflict set), pick one to fire.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0848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2084832"/>
            <a:ext cx="109728" cy="1261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27448" y="2468880"/>
            <a:ext cx="530352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27448" y="24688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67528" y="21579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67528" y="252374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selected rule. Write its conclusion as a NEW FACT in Working Memory.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3456432"/>
            <a:ext cx="40233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456432"/>
            <a:ext cx="109728" cy="1261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27448" y="3840480"/>
            <a:ext cx="530352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840480"/>
            <a:ext cx="530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352958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TERMINATE?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67528" y="3895344"/>
            <a:ext cx="31546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reached → STOP. No new facts added → FIXPOINT → STOP. Otherwise go to Step 1.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Critical Skill: Identifying Rules vs Facts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98448"/>
          </a:xfrm>
          <a:prstGeom prst="rect">
            <a:avLst/>
          </a:prstGeom>
          <a:solidFill>
            <a:srgbClr val="FFF8E6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298448"/>
          </a:xfrm>
          <a:prstGeom prst="rect">
            <a:avLst/>
          </a:prstGeom>
          <a:solidFill>
            <a:srgbClr val="D4900A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969264"/>
            <a:ext cx="8174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9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SKILL 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" y="1353312"/>
            <a:ext cx="8174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can do forward or backward chaining, you must know HOW to extract rules and facts from a real-world description.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13432"/>
            <a:ext cx="41148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313432"/>
            <a:ext cx="109728" cy="239572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13432"/>
            <a:ext cx="4114800" cy="41148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340864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RULE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" y="2779776"/>
            <a:ext cx="38404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conditional relationship between two or more things. Applies to CATEGORIES of objects — uses VARIABLES (x).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"Does this apply to EVERY X in a category?" → RULE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"IF an animal has fur AND gives milk THEN it is a mammal"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17720" y="2313432"/>
            <a:ext cx="420624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313432"/>
            <a:ext cx="109728" cy="239572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313432"/>
            <a:ext cx="4206240" cy="41148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340864"/>
            <a:ext cx="4005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FACT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2779776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piece of known information about a specific individual. Uses CONSTANTS (specific names). Facts are GIVEN — not derived.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"Is this about a specific NAMED individual?" → FACT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"The animal has fur" (about THIS animal specifically)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5.1: Animal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 an unknown animal. The animal has fur on its body, produces milk to feed its young, and has black and orange stripes on its body.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biological classification knowledge, determine what type of animal this 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Step 1: Extract Facts &amp;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874520" cy="62484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78308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896112"/>
            <a:ext cx="1051560" cy="62484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923544"/>
            <a:ext cx="96012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5577840" cy="62484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923544"/>
            <a:ext cx="5486400" cy="588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20952"/>
            <a:ext cx="187452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548384"/>
            <a:ext cx="17647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has fur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520952"/>
            <a:ext cx="105156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548384"/>
            <a:ext cx="94183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520952"/>
            <a:ext cx="557784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548384"/>
            <a:ext cx="546811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observation about THIS animal. Describes a concrete property of one individual.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145792"/>
            <a:ext cx="187452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173224"/>
            <a:ext cx="17647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produces milk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2145792"/>
            <a:ext cx="105156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2173224"/>
            <a:ext cx="94183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145792"/>
            <a:ext cx="557784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173224"/>
            <a:ext cx="546811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observation about this specific individual animal. Directly given.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770632"/>
            <a:ext cx="187452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798064"/>
            <a:ext cx="17647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has stripes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770632"/>
            <a:ext cx="105156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798064"/>
            <a:ext cx="94183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2770632"/>
            <a:ext cx="557784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798064"/>
            <a:ext cx="546811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observed property of this specific animal. Given, not derived.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395472"/>
            <a:ext cx="187452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422904"/>
            <a:ext cx="17647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HasFur AND GivesMilk THEN Mammal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3395472"/>
            <a:ext cx="105156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3422904"/>
            <a:ext cx="94183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3395472"/>
            <a:ext cx="5577840" cy="62484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3422904"/>
            <a:ext cx="546811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biological principle applying to ALL animals — uses variable x.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4020312"/>
            <a:ext cx="187452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4047744"/>
            <a:ext cx="176479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Mammal AND HasStripes THEN Tiger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4020312"/>
            <a:ext cx="105156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8568" y="4047744"/>
            <a:ext cx="94183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4020312"/>
            <a:ext cx="5577840" cy="62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4047744"/>
            <a:ext cx="5468112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biological rule applicable to any mammal with stripes. Category-level conditional.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Step 2: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HasFur(x) ∧ GivesMilk(x)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Mammal(x)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 every animal x: if x has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fur AND gives milk → mammal"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Mammal(x) ∧ HasStripes(x)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→ Tiger(x)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 every animal x: if x is 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mammal AND has stripes → tiger"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Initial WM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HasFur(animal)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GivesMilk(animal)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HasStripes(animal)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WM: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HasFur, GivesMilk, HasStripes }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HasFur(animal) ✓  GivesMilk(animal)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satisfied. R1 FIRES.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FACT: Mammal(animal) added.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= { HasFur, GivesMilk, HasStripes, Mammal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3852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Mammal(animal) ✓ (just derived)   HasStripes(animal)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satisfied. R2 FIRES.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NEW FACT: Tiger(animal) added.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= { HasFur, GivesMilk, HasStripes, Mammal, Tiger }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71216"/>
            <a:ext cx="109728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1371600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16936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92608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Rescan all rules: R1 → Mammal already in WM. R2 → Tiger already in WM.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can add any new fact. FIXPOINT REACHED. STOP.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 is a TIGER.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 HasFur + GivesMilk → Mammal  (Pass 1, R1 fires)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Mammal + HasStripes → Tiger  (Pass 2, R2 fires)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R2 could NOT fire until R1 first derived "Mammal". Derived facts unlock further rules — that is the essence of forward chaining.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Forward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5.1 (Animal) — Forward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5.2: Medical Diagnosis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named Ahmed visits a clinic. The doctor observes: high fever, coughing, and sharp chest pain.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Any patient with fever and cough has an infection.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 patient has an infection and also chest pain, the infection is serious.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Any patient with a serious infection must be hospitalized.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a patient has fever and a rash, that indicates an allergy.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Step 1: Extract Facts &amp;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87452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7830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896112"/>
            <a:ext cx="105156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923544"/>
            <a:ext cx="9601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557784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923544"/>
            <a:ext cx="54864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7617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0360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has a high fever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37617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40360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617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40360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observed about this specific patient. Uses the constant 'Ahmed'.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85623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88366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is coughing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185623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88366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85623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88366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clinical observation about Ahmed. Given, not derived.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33629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6372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has chest pain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33629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36372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233629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36372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symptom observed in this specific patient. Given.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81635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84378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fever AND cough THEN infection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81635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84378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281635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84378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medical principle applying to ANY patient. Uses variable p.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29641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32384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infection AND chest pain THEN serious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329641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8568" y="332384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29641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32384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medical rule applicable to any patient with these conditions.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77647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80390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serious infection THEN hospitalize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94560" y="377647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8568" y="380390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377647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80390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medical protocol for any patient with a serious infection.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425653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28396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fever AND rash THEN allergy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94560" y="425653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58568" y="428396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46120" y="425653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428396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 — Ahmed has NO rash, so this will NOT fire.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Step 2: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∀p Fever(p) ∧ Cough(p)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Infection(p)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∀p Infection(p) ∧ ChestPain(p)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SeriousInfection(p)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∀p SeriousInfection(p)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Hospitalize(p)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∀p Fever(p) ∧ Rash(p)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Allergy(p)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Initial WM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Fever(Ahmed)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Cough(Ahmed)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ChestPain(Ahmed)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(Rash — NOT given, R4 won't fire)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WM: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Fever, Cough, ChestPain }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Fever(Ahmed) ✓  Cough(Ahmed)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→ NEW FACT: Infection(Ahmed) added.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 = { Fever, Cough, ChestPain, Infection 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R2,R3,R4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Infection not yet in WM at start of pass. CANNOT FIRE.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SeriousInfection not in WM. Cannot fire.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Rash(Ahmed) not in WM. Cannot fire.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Infection(Ahmed) ✓ (derived in Pass 1)  ChestPain(Ahmed)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→ NEW FACT: SeriousInfection(Ahmed) added.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SeriousInfection(Ahmed) ✓ (derived in Pass 2)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FIRES. → NEW FACT: Hospitalize(Ahmed) added.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rescanned. No rule can add any new fact. R4 still cannot fire.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 REACHED. STOP.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must be HOSPITALIZED.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 Fever + Cough → Infection  (Pass 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Infection + ChestPain → SeriousInfection  (Pass 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SeriousInfection → Hospitalize  (Pass 3)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R4 (Allergy rule) was in the Knowledge Base but NEVER fired — no Rash fact existed.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Forward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5.2 (Medical) — Forward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5.3: Loan Eligibility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processes a loan application for Sara. Sara is employed, 27 years old (over 21), has good credit, and earns PKR 1,800,000 annually (above the PKR 600,000 threshold).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policy: employed + over21 → basically eligible. basically eligible + good credit → fully eligible. fully eligible + high income → premium loan. basically eligible + NO good credit → micro loan only.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Step 1: Extract Facts &amp;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87452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783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896112"/>
            <a:ext cx="105156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923544"/>
            <a:ext cx="960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557784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923544"/>
            <a:ext cx="5486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2283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35026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is employed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32283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35026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32283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5026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verified information about the individual Sara. Named constant.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74955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77698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is over 21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174955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77698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74955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77698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verified for this specific person. Given evidence.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17627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20370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has good credit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17627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20370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217627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20370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verified credit record attribute for Sara.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60299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3042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earns over threshold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60299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63042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260299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63042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financial fact about Sara. Verified income figure.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02971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05714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Employed AND AgeOver21 THEN BasicEligible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302971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8568" y="305714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02971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05714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policy applying to ANY applicant. Uses variable x.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45643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48386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BasicEligible AND GoodCredit THEN FullEligible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94560" y="345643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8568" y="348386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345643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48386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bank policy applicable to any applicant.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388315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91058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FullEligible AND HighIncome THEN PremiumLoan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94560" y="388315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58568" y="391058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46120" y="388315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391058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eligibility tier rule for any customer.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30987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33730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BasicEligible AND NOT GoodCredit THEN MicroLoan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194560" y="430987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58568" y="433730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46120" y="430987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33730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pathway — will NOT fire because Sara HAS good credit.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Step 2: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Employed(x) ∧ AgeOver21(x)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BasicEligible(x)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BasicEligible(x) ∧ GoodCredit(x)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FullEligible(x)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∀x FullEligible(x) ∧ IncomeHigh(x)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PremiumLoan(x)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∀x BasicEligible(x) ∧ ¬GoodCredit(x)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MicroLoanOnly(x)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Initial WM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Employed(Sara)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AgeOver21(Sara)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GoodCredit(Sara)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F4: IncomeHigh(Sara)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(GoodCredit present → R4 blocked)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WM: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Employed, AgeOver21,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GoodCredit, IncomeHigh }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Employed(Sara) ✓  AgeOver21(Sara)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→ NEW FACT: BasicEligible(Sara) added.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BasicEligible(Sara) ✓ (derived)  GoodCredit(Sara)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→ NEW FACT: FullEligible(Sara) added.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BasicEligible ✓  BUT ¬GoodCredit(Sara) is FALSE (Sara HAS good credit).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Negation condition fails. R4 CANNOT FIRE.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FullEligible(Sara) ✓ (derived)  IncomeHigh(Sara)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FIRES. → NEW FACT: PremiumLoan(Sara) added.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facts can be derived. FIXPOINT REACHED. STOP.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qualifies for a PREMIUM LOAN.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 Employed + AgeOver21 → BasicEligible  (R1)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BasicEligible + GoodCredit → FullEligible  (R2)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FullEligible + IncomeHigh → PremiumLoan  (R3)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was blocked because Sara has good credit — the negation ¬GoodCredit was false.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Forward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19991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5.3 (Loan) — Forward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5.4: Student Scholarship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evaluates student Ali. Ali scored 91 in his final exam and has good attendance.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policy: score ≥ 85 → high achiever. high achiever + good attendance → distinction. distinction + needs-based → scholarship. distinction + NOT needs-based → merit award.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has NOT applied for needs-based support.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Step 1: Extract Facts &amp;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87452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78308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896112"/>
            <a:ext cx="105156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923544"/>
            <a:ext cx="96012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5577840" cy="48006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923544"/>
            <a:ext cx="5486400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7617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0360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scored 91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37617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40360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37617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40360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 result for Ali. A concrete measured value. Given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85623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88366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has good attendance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185623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88366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85623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88366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attendance record for Ali. A named individual's attribute.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33629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36372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is NOT needs-based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33629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36372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233629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36372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needs-based application for this specific student.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81635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84378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score ≥ 85 THEN HighAchiever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81635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84378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281635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84378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university policy for ALL students. Uses variable x and a threshold.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29641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32384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HighAchiever AND GoodAttendance THEN Distinction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329641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8568" y="332384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29641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32384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general policy applying to any student. Uses a variable.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776472"/>
            <a:ext cx="187452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80390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Distinction AND NeedsBased THEN Scholarship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94560" y="3776472"/>
            <a:ext cx="105156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8568" y="380390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3776472"/>
            <a:ext cx="5577840" cy="48006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80390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award rule — NeedsBased must be a fact for this student.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4256532"/>
            <a:ext cx="187452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4283964"/>
            <a:ext cx="176479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Distinction AND NOT NeedsBased THEN MeritAward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94560" y="4256532"/>
            <a:ext cx="105156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58568" y="4283964"/>
            <a:ext cx="94183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46120" y="4256532"/>
            <a:ext cx="5577840" cy="4800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4283964"/>
            <a:ext cx="5468112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award rule. The negation ¬NeedsBased will be satisfied for Ali.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Step 2: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Score(x,s) ∧ s≥85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HighAchiever(x)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HighAchiever(x) ∧ GoodAttend(x)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Distinction(x)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∀x Distinction(x) ∧ NeedsBased(x)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Scholarship(x)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∀x Distinction(x) ∧ ¬NeedsBased(x)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MeritAward(x)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Initial WM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Score(Ali, 91)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GoodAttend(Ali)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NeedsBased(Ali) NOT in WM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WM: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Score(Ali,91), GoodAttend(Ali) }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Score(Ali,91) ✓  AND  91≥85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→ NEW FACT: HighAchiever(Ali) added.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HighAchiever(Ali) ✓ (derived)  GoodAttend(Ali)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→ NEW FACT: Distinction(Ali) added.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vs R4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Distinction(Ali) ✓  NeedsBased(Ali) ✗ — NOT in WM. R3 CANNOT FIRE.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Distinction(Ali) ✓  ¬NeedsBased(Ali) ✓ (absent → negation TRUE)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FIRES. → NEW FACT: MeritAward(Ali) added.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rules can fire. FIXPOINT REACHED. STOP.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receives a MERIT AWARD (not a scholarship).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Chain:  Score(91) ≥ 85 → HighAchiever  (R1)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HighAchiever + GoodAttend → Distinction  (R2)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Distinction + ¬NeedsBased → MeritAward  (R4)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was blocked because NeedsBased was never a fact for Ali. R4 fired instead.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Forward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5.4 (Scholarship) — Forward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5.5: Network Intrusion Detection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security system monitors traffic from source IP-X.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report:  traffic volume is unusually high  |  IP-X is not in the registered database (unknown)  |  IP-X is scanning multiple ports  |  data payload contains a known malicious signature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policy: high traffic + unknown IP → suspicious. suspicious + port scan → attacker. attacker + malicious payload → active threat. active threat → block and alert.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Step 1: Extract Facts &amp; Rules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87452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" y="923544"/>
            <a:ext cx="178308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896112"/>
            <a:ext cx="105156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923544"/>
            <a:ext cx="9601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896112"/>
            <a:ext cx="5577840" cy="426720"/>
          </a:xfrm>
          <a:prstGeom prst="rect">
            <a:avLst/>
          </a:prstGeom>
          <a:solidFill>
            <a:srgbClr val="2A7F6F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00984" y="923544"/>
            <a:ext cx="5486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for Classification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32283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35026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IP-X has high traffic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194560" y="132283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58568" y="135026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132283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5026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real-time sensor reading about this IP. Observed data point.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174955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77698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IP-X is an unknown IP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194560" y="174955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58568" y="177698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174955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177698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lookup result about this specific IP. Concrete fact.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217627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20370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IP-X is doing port scanning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194560" y="217627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58568" y="220370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217627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20370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behavior of this specific IP. Observed and verified.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60299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263042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IP-X has a malicious payload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194560" y="260299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58568" y="263042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260299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0128" y="263042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result about this specific IP's data. Direct observation.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302971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305714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HighTraffic AND UnknownIP THEN SuspiciousSource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94560" y="302971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8568" y="305714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02971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05714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security policy for any source. Uses variable 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" y="345643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48386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SuspiciousSource AND PortScan THEN Attacker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194560" y="345643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258568" y="348386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46120" y="345643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10128" y="348386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threat escalation rule for any suspicious source.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" y="3883152"/>
            <a:ext cx="187452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" y="391058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Attacker AND MaliciousPayload THEN ActiveThreat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194560" y="3883152"/>
            <a:ext cx="105156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258568" y="391058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46120" y="3883152"/>
            <a:ext cx="5577840" cy="42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10128" y="391058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rule for any attacker with payload evidence.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20040" y="4309872"/>
            <a:ext cx="187452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4048" y="4337304"/>
            <a:ext cx="176479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ActiveThreat THEN BlockAndAlert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194560" y="4309872"/>
            <a:ext cx="105156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58568" y="4337304"/>
            <a:ext cx="94183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246120" y="4309872"/>
            <a:ext cx="5577840" cy="426720"/>
          </a:xfrm>
          <a:prstGeom prst="rect">
            <a:avLst/>
          </a:prstGeom>
          <a:solidFill>
            <a:srgbClr val="F0F8F6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310128" y="4337304"/>
            <a:ext cx="5468112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response protocol for any confirmed active threat.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Step 2: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∀s HighTraffic(s) ∧ UnknownIP(s)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SuspiciousSource(s)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∀s SuspiciousSource(s) ∧ PortScan(s)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Attacker(s)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R3: ∀s Attacker(s) ∧ MaliciousPayload(s)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ActiveThreat(s)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R4: ∀s ActiveThreat(s)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BlockAndAlert(s)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Initial WM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HighTraffic(IP-X)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UnknownIP(IP-X)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PortScan(IP-X)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F4: MaliciousPayload(IP-X)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WM: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HighTraffic, UnknownIP,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PortScan, MaliciousPayload }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R1: HighTraffic(IP-X) ✓  UnknownIP(IP-X)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→ SuspiciousSource(IP-X) added.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R2: SuspiciousSource(IP-X) ✓ (derived)  PortScan(IP-X)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→ Attacker(IP-X) added.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R3: Attacker(IP-X) ✓ (derived)  MaliciousPayload(IP-X)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FIRES. → ActiveThreat(IP-X) added.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R4: ActiveThreat(IP-X) ✓ (derived)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FIRES. → BlockAndAlert(IP-X) added.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Forward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rules have fired. No rule uses BlockAndAlert as a condition.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FIXPOINT REACHED. STOP.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CONCLUSION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IP-X is BLOCKED and an alert is sent.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4-rule chain: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HighTraffic + UnknownIP → SuspiciousSource  (R1)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SuspiciousSource + PortScan → Attacker  (R2)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Attacker + MaliciousPayload → ActiveThreat  (R3)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ActiveThreat → BlockAndAlert  (R4)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in the Knowledge Base contributed. This is a COMPLETE forward chain.</a:t>
            </a:r>
            <a:endParaRPr lang="en-US" sz="14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Forward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5.5 (Network) — Forward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A7F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49808" y="173736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49808" y="3200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0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Goal-Driven Reasoning  •  5 Full Examples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Backward Chaining: Definition &amp; Algorithm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078992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96112"/>
            <a:ext cx="164592" cy="107899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9264"/>
            <a:ext cx="8211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— Backward Chaining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8211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GOAL (the conclusion we want to prove) and works BACKWARDS to find whether the facts support it. It asks: "In order to prove this goal, what conditions do I need? Can I prove those conditions?" It is goal-driven — only explores rules relevant to the goal.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84832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" y="226771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2267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130552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GOAL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45059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top-level question/goal and place it on the goal stack.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98094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80944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3163824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02666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46704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current goal already a known fact? If YES → PROVED. Move to next sub-goal.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77056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877056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4059936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4059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" y="392277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4281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KB for any rule whose HEAD matches the current goal.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2084832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084832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90872" y="226771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2677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2130552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45059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all CONDITIONS of that matching rule and push them as new sub-goals.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2980944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2980944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90872" y="3163824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316382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3026664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303520" y="3346704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Step 2 for each sub-goal. Sub-goals may generate their own sub-goals.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17720" y="3877056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17720" y="3877056"/>
            <a:ext cx="109728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90872" y="4059936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90872" y="40599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3922776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303520" y="424281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sub-goals proved → goal PROVED. No rule found AND not a fact → goal FAILS.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Forward vs Backward Chaining: Key Insight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404164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54787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4041648" cy="438912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50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Forward Chaining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1426464"/>
            <a:ext cx="374904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ALL known facts in WM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Fire all applicable rules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Data → Conclusions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"What can I discover?"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A doctor running all possible tests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When you want ALL possible conclusions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at: Fixpoint (no new facts)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896112"/>
            <a:ext cx="4251960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896112"/>
            <a:ext cx="109728" cy="354787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896112"/>
            <a:ext cx="4251960" cy="438912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950976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Backward Chaining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1426464"/>
            <a:ext cx="4041648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ONE specific goal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Find rules with head = goal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Direction: Goal → Required conditions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Asks: "Can I prove THIS specific thing?"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A lawyer proving one specific case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When you have ONE question to answer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at: Goal proved or goal fails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4553712"/>
            <a:ext cx="8503920" cy="164592"/>
          </a:xfrm>
          <a:prstGeom prst="rect">
            <a:avLst/>
          </a:prstGeom>
          <a:solidFill>
            <a:srgbClr val="FFF8E6"/>
          </a:solidFill>
          <a:ln w="12700">
            <a:solidFill>
              <a:srgbClr val="D49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553712"/>
            <a:ext cx="8339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9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Knowledge Base. SAME Facts. SAME Rules. The only difference is the DIRECTION of reasoning.</a:t>
            </a:r>
            <a:endParaRPr lang="en-US" sz="12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6.1: Animal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observe an animal that has fur, gives milk, and has stripes.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QUESTION: "Is this animal a Tiger?"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backward chaining to prove or disprove this goal.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 (Backward)) —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HasFur(x) ∧ GivesMilk(x)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Mammal(x)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Mammal(x) ∧ HasStripes(x)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Tiger(x)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HasFur(animal)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GivesMilk(animal)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HasStripes(animal)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WM: { HasFur, GivesMilk, HasStripes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Tiger(animal)</a:t>
            </a:r>
            <a:endParaRPr lang="en-US" sz="1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Tiger(x)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Tiger(x)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KB for HEAD = Tiger(x). Found R2.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Mammal(x), HasStripes(x)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Mammal(x)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Mammal(x)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KB for HEAD = Mammal(x). Found R1.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HasFur(x), GivesMilk(x)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HasFur(x)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HasFur(x)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 from facts.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GivesMilk(x)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GivesMilk(x)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 from facts.</a:t>
            </a:r>
            <a:endParaRPr lang="en-US" sz="12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Mammal(x)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of R1 proved: HasFur ✓  GivesMilk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MAMMAL(x) is PROVED.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HasStripes(x)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3852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HasStripes(x)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 from facts.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71216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16936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Tiger(x)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92608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of R2 proved: Mammal ✓  HasStripes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TIGER(x) is PROVED. ✓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GOAL PROVED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animal is confirmed to be a TIGER.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Tiger(x) ← R2 ← [ Mammal(x), HasStripes(x)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Sub-Goal Mammal(x) ← R1 ← [ HasFur ✓, GivesMilk ✓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HasStripes ✓ (found directly in WM)</a:t>
            </a:r>
            <a:endParaRPr lang="en-US" sz="14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(Animal) — Backward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6.1 (Animal) — Backward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6.2: Loan Eligibility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 AI system receives a query: "Is Ahmed's loan approved?"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facts: Ahmed is employed | Ahmed is 25 years old (over 21) | Ahmed has a good credit score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policy: any employed person over 21 is basically eligible. Any basically eligible person with good credit gets their loan approved.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 (Backward)) —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Employed(x) ∧ AgeOver21(x)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BasicEligible(x)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BasicEligible(x) ∧ GoodCredit(x)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LoanApproved(x)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Employed(Ahmed)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AgeOver21(Ahmed)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GoodCredit(Ahmed)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WM: { Employed, AgeOver21, GoodCredit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LoanApproved(Ahmed)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LoanApproved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LoanApproved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R2. Conditions: BasicEligible(Ahmed) AND GoodCredit(Ahmed).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BasicEligible(Ahmed), GoodCredit(Ahmed)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BasicEligible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BasicEligible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R1. Conditions: Employed(Ahmed) AND AgeOver21(Ahmed).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Employed(Ahmed), AgeOver21(Ahmed)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Employed(Ahmed)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Employed(Ahmed)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AgeOver21(Ahmed)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AgeOver21(Ahmed)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BasicEligible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R1 conditions proved: Employed ✓  AgeOver21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BASICELIGIBLE(Ahmed) PROVED.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GoodCredit(Ahmed)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3852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GoodCredit(Ahmed)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71216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16936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LoanApproved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92608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R2 conditions proved: BasicEligible ✓  GoodCredit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LOANAPPROVED(Ahmed) PROVED. ✓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GOAL PROVED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Ahmed's loan is APPROVED.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LoanApproved(Ahmed) ← R2 ← [ BasicEligible, GoodCredit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Sub-Goal BasicEligible(Ahmed) ← R1 ← [ Employed ✓, AgeOver21 ✓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GoodCredit directly found in WM ✓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(Loan) — Backward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6.2 (Loan) — Backward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6.3: Medical Diagnosis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medical system is asked: "Does Sara need antibiotics?"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Sara's record: fever | coughing | fatigue | symptoms lasted more than 3 days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knowledge: fever + cough + fatigue → flu. flu + symptoms &gt;3 days → needs antibiotics.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 (Backward)) — FOL Representation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∀p Fever(p) ∧ Cough(p) ∧ Fatigue(p)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HasFlu(p)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∀p HasFlu(p) ∧ DurationOver3Days(p)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NeedsAntibiotics(p)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Fever(Sara)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Cough(Sara)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F3: Fatigue(Sara)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F4: DurationOver3Days(Sara)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WM: { Fever, Cough, Fatigue,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DurationOver3Days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NeedsAntibiotics(Sara)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NeedsAntibiotics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NeedsAntibiotics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R2. Conditions: HasFlu(Sara) AND DurationOver3Days(Sara).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HasFlu(Sara), DurationOver3Days(Sara)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HasFlu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HasFlu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R1. Conditions: Fever, Cough, Fatigue.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Fever(Sara), Cough(Sara), Fatigue(Sara)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Fever,Cough,Fatigue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Fever(Sara)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Cough(Sara)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Fatigue(Sara)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PROVED directly from facts.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HasFlu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conditions of R1 proved: Fever ✓  Cough ✓  Fatigue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HASFLU(Sara) PROVED. ✓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DurationOver3Days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DurationOver3Days(Sara)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NeedsAntibiotics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3852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R2 conditions proved: HasFlu ✓  DurationOver3Days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NEEDSANTIBIOTICS(Sara) PROVED. ✓</a:t>
            </a:r>
            <a:endParaRPr lang="en-US" sz="12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GOAL PROVED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Sara NEEDS ANTIBIOTICS.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NeedsAntibiotics ← R2 ← [ HasFlu, DurationOver3Days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Sub-Goal HasFlu ← R1 ← [ Fever ✓, Cough ✓, Fatigue ✓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DurationOver3Days ✓ (found directly in WM)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R1 required THREE sub-goals to be proved — all found directly in WM.</a:t>
            </a:r>
            <a:endParaRPr lang="en-US" sz="14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(Medical) — Backward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6.3 (Medical) — Backward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6.4: Scholarship Award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university system is asked: "Is Omar a scholarship winner?"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Omar's record: scored 88 in exams | recognized as a student leader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policy: score ≥ 80 → academic excellence. academic excellence + leader → scholarship winner.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 (Backward)) —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∀x Score(x,s) ∧ s≥80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AcademicExcellence(x)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∀x AcademicExcellence(x) ∧ Leader(x)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ScholarshipWinner(x)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Score(Omar, 88)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Leader(Omar)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WM: { Score(Omar,88), Leader(Omar)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ScholarshipWinner(Omar)</a:t>
            </a:r>
            <a:endParaRPr lang="en-US" sz="12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ScholarshipWinner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ScholarshipWinner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R2. Conditions: AcademicExcellence(Omar) AND Leader(Omar).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AcademicExcellence(Omar), Leader(Omar)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AcademicExcellence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AcademicExcellence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R1. Conditions: Score(Omar,s) AND s≥80.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Score(Omar,88), 88≥80 ]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Score(Omar,88)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Score(Omar,88)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 from facts.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≥ 80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check: 88 ≥ 80 → TRUE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by numerical verification.</a:t>
            </a:r>
            <a:endParaRPr lang="en-US" sz="1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AcademicExcellence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R1 conditions proved: Score ✓  Threshold 88≥80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fires. ACADEMICEXCELLENCE(Omar) PROVED. 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83664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29384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Leader(Omar)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38528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Leader(Omar)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71216"/>
            <a:ext cx="109728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71216"/>
            <a:ext cx="1371600" cy="95097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16936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ScholarshipWinner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926080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R2 conditions proved: AcademicExcellence ✓  Leader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fires. SCHOLARSHIPWINNER(Omar) PROVED. ✓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GOAL PROVED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Omar WINS the scholarship.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chain: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Goal: ScholarshipWinner ← R2 ← [ AcademicExcellence, Leader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Sub-Goal AcademicExcellence ← R1 ← [ Score(88) ✓, 88≥80 ✓ 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Leader ✓ (found directly in WM)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arithmetic check (88≥80) is a SPECIAL TYPE of sub-goal — proved by computation, not by finding it in WM.</a:t>
            </a:r>
            <a:endParaRPr lang="en-US" sz="14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(Scholarship) — Backward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6.4 (Scholarship) — Backward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Example 6.5: Device Troubleshooting (GOAL FAILS)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2560320" cy="365760"/>
          </a:xfrm>
          <a:prstGeom prst="roundRect">
            <a:avLst>
              <a:gd name="adj" fmla="val 20000"/>
            </a:avLst>
          </a:prstGeom>
          <a:solidFill>
            <a:srgbClr val="3A9E8A"/>
          </a:solidFill>
          <a:ln w="12700">
            <a:solidFill>
              <a:srgbClr val="3A9E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961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PROBLEM STATEMENT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335024"/>
            <a:ext cx="8503920" cy="3374136"/>
          </a:xfrm>
          <a:prstGeom prst="rect">
            <a:avLst/>
          </a:prstGeom>
          <a:solidFill>
            <a:srgbClr val="E8F5F2"/>
          </a:solidFill>
          <a:ln w="12700">
            <a:solidFill>
              <a:srgbClr val="C5D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26464"/>
            <a:ext cx="8247888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device management system is asked: "Does Device1 need an OS reinstall?"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facts: Device1 is powered on | Device1 has error logs with warning messages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MISSING: NO crash loop has been observed for Device1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knowledge: device ON + crash loop → software fault. software fault + error logs → OS reinstall needed.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 (Backward)) — FOL Representation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502920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875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7F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371600"/>
            <a:ext cx="4736592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R1: ∀d DeviceOn(d) ∧ CrashLoop(d)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SoftwareFault(d)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R2: ∀d SoftwareFault(d) ∧ LogError(d)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NeedsOSReinstall(d)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40680" y="896112"/>
            <a:ext cx="338328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40680" y="896112"/>
            <a:ext cx="109728" cy="3877056"/>
          </a:xfrm>
          <a:prstGeom prst="rect">
            <a:avLst/>
          </a:prstGeom>
          <a:solidFill>
            <a:srgbClr val="7B4EA0"/>
          </a:solidFill>
          <a:ln w="12700">
            <a:solidFill>
              <a:srgbClr val="7B4E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4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&amp;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371600"/>
            <a:ext cx="315468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F1: DeviceOn(Device1)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F2: LogError(Device1)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MISSING: CrashLoop(Device1)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WM, no rule derives it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WM: { DeviceOn, LogError 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D5C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NeedsOSReinstall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NeedsOSReinstall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NeedsOSReinstall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R2. Conditions: SoftwareFault(Device1) AND LogError(Device1).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SoftwareFault(Device1), LogError(Device1)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65376"/>
            <a:ext cx="109728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65376"/>
            <a:ext cx="1371600" cy="932688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911096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Sub-Goal: SoftwareFault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01368" y="1920240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SoftwareFault in WM? NO.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R1. Conditions: DeviceOn(Device1) AND CrashLoop(Device1).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SUB-GOALS: [ DeviceOn(Device1), CrashLoop(Device1) 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34640"/>
            <a:ext cx="109728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834640"/>
            <a:ext cx="1371600" cy="932688"/>
          </a:xfrm>
          <a:prstGeom prst="rect">
            <a:avLst/>
          </a:prstGeom>
          <a:solidFill>
            <a:srgbClr val="3CB371"/>
          </a:solidFill>
          <a:ln w="12700">
            <a:solidFill>
              <a:srgbClr val="3CB3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DeviceOn(Device1)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2889504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DeviceOn(Device1) in WM? YES ✓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CB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 directly.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03904"/>
            <a:ext cx="85039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803904"/>
            <a:ext cx="109728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803904"/>
            <a:ext cx="1371600" cy="9326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49624"/>
            <a:ext cx="12984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CrashLoop(Device1)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01368" y="3858768"/>
            <a:ext cx="6931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CrashLoop(Device1) in WM? NO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KB for any rule with HEAD = CrashLoop... NONE FOUND.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 SUB-GOAL FAILS ✗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(Device) — Backward Chaining Trace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9509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96112"/>
            <a:ext cx="1371600" cy="9509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2984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 Failure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01368" y="950976"/>
            <a:ext cx="6931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CrashLoop FAILED → R1 cannot fire → SoftwareFault FAILS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SoftwareFault FAILED → R2 cannot fire → NeedsOSReinstall FAILS 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propagates all the way up the goal tree.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7F6F"/>
          </a:solidFill>
          <a:ln w="12700">
            <a:solidFill>
              <a:srgbClr val="2A7F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(Device) —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3877056"/>
          </a:xfrm>
          <a:prstGeom prst="rect">
            <a:avLst/>
          </a:prstGeom>
          <a:solidFill>
            <a:srgbClr val="FFFFFF"/>
          </a:solidFill>
          <a:ln w="12700">
            <a:solidFill>
              <a:srgbClr val="C5DDD9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109728" cy="38770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GOAL FAILED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1490472"/>
            <a:ext cx="822960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we CANNOT conclude that Device1 needs an OS reinstall. GOAL FAILED.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broke at: CrashLoop(Device1) — not in WM, and no rule can derive it.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propagation: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CrashLoop FAILED → SoftwareFault FAILED → NeedsOSReinstall FAILED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B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Lesson: A FAILED GOAL is useful information! It tells us EXACTLY what evidence is missing. A technician should check whether Device1 is actually in a crash loop.</a:t>
            </a:r>
            <a:endParaRPr lang="en-US" sz="14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20"/>
          </a:solidFill>
          <a:ln w="12700">
            <a:solidFill>
              <a:srgbClr val="E85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(Device) — Backward Chaining Diagram  (Part 1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D5C50"/>
          </a:solidFill>
          <a:ln w="12700">
            <a:solidFill>
              <a:srgbClr val="1D5C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1888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Logical Inference, Forward &amp; Backward Chaining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85D20"/>
          </a:solidFill>
          <a:ln w="12700">
            <a:solidFill>
              <a:srgbClr val="E85D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6.5 (Device) — Backward Chaining Diagram  (Part 2 of 2)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49808"/>
            <a:ext cx="8686800" cy="43159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10572</Words>
  <Application>Microsoft Office PowerPoint</Application>
  <PresentationFormat>On-screen Show (16:9)</PresentationFormat>
  <Paragraphs>1470</Paragraphs>
  <Slides>116</Slides>
  <Notes>116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Inference, Forward &amp; Backward Chaining</dc:title>
  <dc:subject>PptxGenJS Presentation</dc:subject>
  <dc:creator>PptxGenJS</dc:creator>
  <cp:lastModifiedBy>Husnain Ashfaq</cp:lastModifiedBy>
  <cp:revision>4</cp:revision>
  <dcterms:created xsi:type="dcterms:W3CDTF">2026-04-18T06:20:37Z</dcterms:created>
  <dcterms:modified xsi:type="dcterms:W3CDTF">2026-04-18T06:57:03Z</dcterms:modified>
</cp:coreProperties>
</file>