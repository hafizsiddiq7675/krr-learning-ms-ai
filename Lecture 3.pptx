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6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3" r:id="rId6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D7718E-501C-44D5-B62B-0DF8384CE79E}">
  <a:tblStyle styleId="{80D7718E-501C-44D5-B62B-0DF8384CE7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" name="Google Shape;71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" name="Google Shape;80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4" name="Google Shape;87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8" name="Google Shape;96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7" name="Google Shape;104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5" name="Google Shape;110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0" name="Google Shape;115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7" name="Google Shape;117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5" name="Google Shape;122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3" name="Google Shape;126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4" name="Google Shape;142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5" name="Google Shape;143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6" name="Google Shape;147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2" name="Google Shape;153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9" name="Google Shape;157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9" name="Google Shape;161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6" name="Google Shape;164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7" name="Google Shape;166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2" name="Google Shape;170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1" name="Google Shape;173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9" name="Google Shape;175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1" name="Google Shape;183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9" name="Google Shape;185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3" name="Google Shape;189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4" name="Google Shape;19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4" name="Google Shape;193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9" name="Google Shape;198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9" name="Google Shape;2029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0" name="Google Shape;2030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" name="Google Shape;2049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6" name="Google Shape;207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1" name="Google Shape;210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2" name="Google Shape;211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3" name="Google Shape;2113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6" name="Google Shape;213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7" name="Google Shape;214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1" name="Google Shape;2181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2" name="Google Shape;2182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7" name="Google Shape;2227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1" name="Google Shape;228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4" name="Google Shape;230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2" name="Google Shape;2332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9" name="Google Shape;2479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0" name="Google Shape;2480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&amp; Reasoning in AI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3200400"/>
            <a:ext cx="1965960" cy="822960"/>
          </a:xfrm>
          <a:prstGeom prst="rect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94360" y="321868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4360" y="35478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Why Rules Fail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788920" y="3200400"/>
            <a:ext cx="1965960" cy="8229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788920" y="321868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788920" y="35478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Semantic Networks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983480" y="3200400"/>
            <a:ext cx="196596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983480" y="321868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983480" y="35478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Hierarchies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178040" y="3200400"/>
            <a:ext cx="1965960" cy="8229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178040" y="321868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178040" y="35478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372600" y="3200400"/>
            <a:ext cx="1965960" cy="82296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9372600" y="321868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372600" y="35478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Ontologies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Lecture 1  |  Dr. Husnain Ashfaq  |  MS Graduate Level  |  6-Hour Session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Why Do We Need Better Knowledge Representation?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Limitations of Forward &amp; Backward Chaining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of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 What Are Rule-Based Systems?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65760" y="914400"/>
            <a:ext cx="5120640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02920" y="10058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Rule-Based AI stores knowledge as: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" y="1463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  (condition)  →  THEN  (action)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2057400"/>
            <a:ext cx="4754880" cy="50292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02920" y="205740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 Chaining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260604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Start from known FACTS → keep applying rules → arrive at GOAL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Data-driven. Used in business rule engines and expert systems.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3703320"/>
            <a:ext cx="47548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02920" y="37033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Backward Chaining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425196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Start from a GOAL → work backwards → find what facts prove 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Goal-driven. Used in Prolog and medical diagnosis systems.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760720" y="1505243"/>
            <a:ext cx="6035040" cy="3203917"/>
          </a:xfrm>
          <a:prstGeom prst="rect">
            <a:avLst/>
          </a:prstGeom>
          <a:solidFill>
            <a:srgbClr val="1A2B2A"/>
          </a:solidFill>
          <a:ln>
            <a:noFill/>
          </a:ln>
          <a:effectLst>
            <a:outerShdw blurRad="635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897880" y="100584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CLASSIC EXAMPLE — MYCIN Expert System (Stanford, 1970s)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897880" y="3017520"/>
            <a:ext cx="5760720" cy="36576"/>
          </a:xfrm>
          <a:prstGeom prst="rect">
            <a:avLst/>
          </a:prstGeom>
          <a:solidFill>
            <a:srgbClr val="3A5A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897880" y="1005840"/>
            <a:ext cx="576072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6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C8E6E0"/>
                </a:solidFill>
                <a:latin typeface="Calibri"/>
                <a:ea typeface="Calibri"/>
                <a:cs typeface="Calibri"/>
                <a:sym typeface="Calibri"/>
              </a:rPr>
              <a:t>~600 production rules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6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C8E6E0"/>
                </a:solidFill>
                <a:latin typeface="Calibri"/>
                <a:ea typeface="Calibri"/>
                <a:cs typeface="Calibri"/>
                <a:sym typeface="Calibri"/>
              </a:rPr>
              <a:t>✔  65–80% diagnostic accuracy — impressive for its era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6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C8E6E0"/>
                </a:solidFill>
                <a:latin typeface="Calibri"/>
                <a:ea typeface="Calibri"/>
                <a:cs typeface="Calibri"/>
                <a:sym typeface="Calibri"/>
              </a:rPr>
              <a:t>✔  Used by real doctors at Stanford Medical Center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6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C8E6E0"/>
                </a:solidFill>
                <a:latin typeface="Calibri"/>
                <a:ea typeface="Calibri"/>
                <a:cs typeface="Calibri"/>
                <a:sym typeface="Calibri"/>
              </a:rPr>
              <a:t>But it exposed fundamental limits that FORCED the field to evolve into better knowledge representation systems.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 The 5 Fundamental Problems with Rule-Based AI (1/2)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118872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43000" y="960120"/>
            <a:ext cx="10607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143000" y="960120"/>
            <a:ext cx="109728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371600" y="1033272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Knowledge Acquisition Bottleneck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371600" y="141732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600 rules = 3 years of expert interviews. 6,000 rules = 30 years.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Every new disease requires manually writing new rules.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There is NO way to scale this.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5760" y="2880360"/>
            <a:ext cx="640080" cy="640080"/>
          </a:xfrm>
          <a:prstGeom prst="ellipse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65760" y="2880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43000" y="2651760"/>
            <a:ext cx="10607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143000" y="2651760"/>
            <a:ext cx="109728" cy="1554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371600" y="2724912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 Structural Knowledge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371600" y="310896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MYCIN matched patterns but had NO idea what 'bacteria' IS.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It could not answer: 'Is bacteria related to viruses?'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Every fact was isolated — zero connections between concepts.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65760" y="4572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6576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43000" y="4343400"/>
            <a:ext cx="10607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143000" y="4343400"/>
            <a:ext cx="109728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371600" y="4416552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Brittleness with Missing Data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371600" y="480060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 ONE condition in a rule was missing, the ENTIRE chain BROKE.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patients forget symptoms. Real doctors have incomplete records.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 partial reasoning — all or nothing.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 The 5 Fundamental Problems with Rule-Based AI (2/2)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5760" y="1325880"/>
            <a:ext cx="731520" cy="73152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6576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280160" y="1005840"/>
            <a:ext cx="104241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1280160" y="1005840"/>
            <a:ext cx="109728" cy="16916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508760" y="10972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 Reuse Across Systems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50876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MYCIN's rules worked ONLY for MYCIN. A botany AI had to start from scratch.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 shared vocabulary. No interoperability.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Every system reinvented the wheel.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5760" y="3246120"/>
            <a:ext cx="731520" cy="73152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65760" y="32461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280160" y="2926080"/>
            <a:ext cx="104241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280160" y="2926080"/>
            <a:ext cx="109728" cy="16916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1508760" y="30175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Combinatorial Explosion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508760" y="34747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50 diseases × 30 symptoms = 1,500 minimum rules.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With symptom combinations: MILLIONS of rules needed.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Forward chaining generates thousands of useless intermediate facts.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5760" y="4983480"/>
            <a:ext cx="11430000" cy="10058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65760" y="4983480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50292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KEY INSIGHT: Rule-based AI fails to SCALE, CONNECT, SHARE, or TOLERATE missing data. We need a fundamentally different way to represent knowledge — one that captures STRUCTURE, not just isolated facts.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1.1: Diagnosing the Limits of Rule-Based Systems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914400"/>
            <a:ext cx="1143000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65760" y="914400"/>
            <a:ext cx="109728" cy="96012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9436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94360" y="126187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 hospital's backward-chaining AI has 200 rules. It breaks every time a new virus appears and took 3 years to build. Diagnose WHY this keeps happening.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65760" y="201168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2920" y="2542032"/>
            <a:ext cx="33832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3 specific patient scenarios where backward chaining FAILS.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For each, name which of the 5 problems caused the failure.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206240" y="201168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206240" y="2011680"/>
            <a:ext cx="3657600" cy="4572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20624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343400" y="2542032"/>
            <a:ext cx="33832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MATH: The hospital has 50 diseases and 30 symptoms.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many rules are needed at minimum? Show your calculation.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046720" y="201168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183880" y="2542032"/>
            <a:ext cx="33832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 2–3 sentences, propose what structure would fix this.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(Use intuition — no technical terms needed yet!)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1.1: Diagnosing the Limits of Rule-Based Systems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65760" y="96012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960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 1 — New Virus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75488" y="1417320"/>
            <a:ext cx="3438144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Patient has a new virus not in the rule database.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BC has no matching rule → chain never fires → no diagnosis.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CAUSE: Problem 1 (Bottleneck) + Problem 2 (no structural knowledge — can't infer 'similar to known virus').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206240" y="96012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206240" y="960120"/>
            <a:ext cx="365760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297680" y="960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 2 — Missing Symptom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315968" y="1417320"/>
            <a:ext cx="3438144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Patient forgets to mention fatigue.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BC rule requires fever AND cough AND fatigue → fails silently.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CAUSE: Problem 3 (Brittleness with missing data).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046720" y="96012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8046720" y="960120"/>
            <a:ext cx="36576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8138160" y="960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 3 — Vocabulary Mismatch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156448" y="1417320"/>
            <a:ext cx="3438144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Hospital B calls it 'Heart Attack', ours calls it 'MI'.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System cannot match despite being the same condition.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CAUSE: Problem 4 (No reuse / no shared vocabulary).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65760" y="4343400"/>
            <a:ext cx="5486400" cy="169164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365760" y="4343400"/>
            <a:ext cx="548640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65760" y="434340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02920" y="4773168"/>
            <a:ext cx="5212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50 diseases × 30 symptoms = 1,500 minimum rules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 each disease needs rules for symptom combinations: 2³⁰ = ~1 billion theoretically.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is Problem 5: Combinatorial Explosion.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080760" y="4343400"/>
            <a:ext cx="5715000" cy="1691640"/>
          </a:xfrm>
          <a:prstGeom prst="rect">
            <a:avLst/>
          </a:prstGeom>
          <a:solidFill>
            <a:srgbClr val="E0F2F1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080760" y="4343400"/>
            <a:ext cx="571500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080760" y="4343400"/>
            <a:ext cx="5715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INSTRUCTOR REVEAL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17920" y="4773168"/>
            <a:ext cx="5440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Student intuition typically produces: 'A MAP that groups diseases by family'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That IS exactly a semantic network — what we study next!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You just reinvented the concept from first principles.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1.1-B: Real-World Case: Netflix Recommendation Engine Failure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365760" y="914400"/>
            <a:ext cx="109728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SCENARIO: Netflix's early system used IF-THEN rules: 'IF user watched Action THEN recommend Action'. It failed spectacularly. A user who watched Schindler's List (Drama/War) got recommended Die Hard (Action). Why?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6576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548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a rule-based system with 5 IF-THEN rules for movie recommendation.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Then trace why 'IF watched-war-documentary THEN recommend comedy' could fire incorrectly.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20040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31012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List 3 TYPES of relationships a movie has that pure rules miss: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e.g. mood, time-period, director-style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each as a node-edge pair.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03504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14476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REDESIGN: Propose a semantic graph for ONE movie (your choice).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Include: genre, mood, era, actors, similar-to, director — connect with labeled edges.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86968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869680" y="182880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86968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97940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REAL-WORLD LINK: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does Spotify's Discover Weekly solve this same problem with graphs?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Name 2 edge types Spotify likely uses in their knowledge graph.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5760" y="6263640"/>
            <a:ext cx="11430000" cy="384048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65760" y="6263640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 12 minutes | Real company examples score extra marks in your final project!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1.1-B: Movie Knowledge Graph vs Rule-Based System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274320" y="914400"/>
            <a:ext cx="530352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274320" y="9144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Rule-Based System — Fails on Nuance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74320" y="1280160"/>
            <a:ext cx="5303520" cy="347472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411480" y="128016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3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36"/>
                </a:solidFill>
                <a:latin typeface="Consolas"/>
                <a:ea typeface="Consolas"/>
                <a:cs typeface="Consolas"/>
                <a:sym typeface="Consolas"/>
              </a:rPr>
              <a:t>IF watched[Action] → recommend[Action]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74320" y="1664208"/>
            <a:ext cx="5303520" cy="347472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11480" y="1664208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3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36"/>
                </a:solidFill>
                <a:latin typeface="Consolas"/>
                <a:ea typeface="Consolas"/>
                <a:cs typeface="Consolas"/>
                <a:sym typeface="Consolas"/>
              </a:rPr>
              <a:t>IF watched[Drama] → recommend[Drama]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74320" y="2048256"/>
            <a:ext cx="5303520" cy="347472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11480" y="2048256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3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36"/>
                </a:solidFill>
                <a:latin typeface="Consolas"/>
                <a:ea typeface="Consolas"/>
                <a:cs typeface="Consolas"/>
                <a:sym typeface="Consolas"/>
              </a:rPr>
              <a:t>IF watched[Comedy] → recommend[Comedy]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274320" y="2432304"/>
            <a:ext cx="5303520" cy="34747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411480" y="24323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FAILS: Schindler's List is War+Drama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74320" y="2816352"/>
            <a:ext cx="5303520" cy="34747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411480" y="281635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→ gets Rule 2 → recommends Titanic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274320" y="3200400"/>
            <a:ext cx="5303520" cy="34747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11480" y="320040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BUT user wanted Historical depth, NOT romance!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852160" y="914400"/>
            <a:ext cx="5943600" cy="3200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852160" y="9144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Semantic Graph — Captures Real Relationships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8138160" y="141732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8138160" y="14173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Schindler's List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035040" y="132588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035040" y="132588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852160" y="214884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852160" y="21488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943600" y="292608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943600" y="29260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Historical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8412480" y="23774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412480" y="23774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Spielberg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0241280" y="13258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0241280" y="13258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Thought-Provoking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0332720" y="214884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10332720" y="21488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7863840" y="30175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863840" y="30175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Grave of Fireflies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943600" y="3749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5943600" y="37490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Pianist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2"/>
          <p:cNvCxnSpPr/>
          <p:nvPr/>
        </p:nvCxnSpPr>
        <p:spPr>
          <a:xfrm rot="10800000">
            <a:off x="7315200" y="1536192"/>
            <a:ext cx="822960" cy="109728"/>
          </a:xfrm>
          <a:prstGeom prst="straightConnector1">
            <a:avLst/>
          </a:prstGeom>
          <a:noFill/>
          <a:ln w="17775" cap="flat" cmpd="sng">
            <a:solidFill>
              <a:srgbClr val="5B21B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4" name="Google Shape;294;p12"/>
          <p:cNvSpPr/>
          <p:nvPr/>
        </p:nvSpPr>
        <p:spPr>
          <a:xfrm>
            <a:off x="7420356" y="1468526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420356" y="146852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2"/>
          <p:cNvCxnSpPr/>
          <p:nvPr/>
        </p:nvCxnSpPr>
        <p:spPr>
          <a:xfrm flipH="1">
            <a:off x="7040880" y="1645920"/>
            <a:ext cx="1097280" cy="713232"/>
          </a:xfrm>
          <a:prstGeom prst="straightConnector1">
            <a:avLst/>
          </a:prstGeom>
          <a:noFill/>
          <a:ln w="17775" cap="flat" cmpd="sng">
            <a:solidFill>
              <a:srgbClr val="DC262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7" name="Google Shape;297;p12"/>
          <p:cNvSpPr/>
          <p:nvPr/>
        </p:nvSpPr>
        <p:spPr>
          <a:xfrm>
            <a:off x="7296912" y="1838858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7296912" y="183885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2"/>
          <p:cNvCxnSpPr/>
          <p:nvPr/>
        </p:nvCxnSpPr>
        <p:spPr>
          <a:xfrm flipH="1">
            <a:off x="7315200" y="1645920"/>
            <a:ext cx="822960" cy="1508760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0" name="Google Shape;300;p12"/>
          <p:cNvSpPr/>
          <p:nvPr/>
        </p:nvSpPr>
        <p:spPr>
          <a:xfrm>
            <a:off x="7420356" y="2196846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7420356" y="219684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era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2"/>
          <p:cNvCxnSpPr/>
          <p:nvPr/>
        </p:nvCxnSpPr>
        <p:spPr>
          <a:xfrm rot="10800000">
            <a:off x="9235440" y="1536192"/>
            <a:ext cx="731520" cy="109728"/>
          </a:xfrm>
          <a:prstGeom prst="straightConnector1">
            <a:avLst/>
          </a:prstGeom>
          <a:noFill/>
          <a:ln w="17775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3" name="Google Shape;303;p12"/>
          <p:cNvSpPr/>
          <p:nvPr/>
        </p:nvSpPr>
        <p:spPr>
          <a:xfrm>
            <a:off x="9290304" y="1468526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9290304" y="146852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mood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2"/>
          <p:cNvCxnSpPr/>
          <p:nvPr/>
        </p:nvCxnSpPr>
        <p:spPr>
          <a:xfrm>
            <a:off x="9966960" y="1645920"/>
            <a:ext cx="640080" cy="502920"/>
          </a:xfrm>
          <a:prstGeom prst="straightConnector1">
            <a:avLst/>
          </a:prstGeom>
          <a:noFill/>
          <a:ln w="17775" cap="flat" cmpd="sng">
            <a:solidFill>
              <a:srgbClr val="455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6" name="Google Shape;306;p12"/>
          <p:cNvSpPr/>
          <p:nvPr/>
        </p:nvSpPr>
        <p:spPr>
          <a:xfrm>
            <a:off x="9907524" y="1744218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9907524" y="174421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2"/>
          <p:cNvCxnSpPr/>
          <p:nvPr/>
        </p:nvCxnSpPr>
        <p:spPr>
          <a:xfrm>
            <a:off x="8869680" y="1645920"/>
            <a:ext cx="228600" cy="731520"/>
          </a:xfrm>
          <a:prstGeom prst="straightConnector1">
            <a:avLst/>
          </a:prstGeom>
          <a:noFill/>
          <a:ln w="17775" cap="flat" cmpd="sng">
            <a:solidFill>
              <a:srgbClr val="D4A01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9" name="Google Shape;309;p12"/>
          <p:cNvSpPr/>
          <p:nvPr/>
        </p:nvSpPr>
        <p:spPr>
          <a:xfrm>
            <a:off x="8625078" y="1847088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8625078" y="184708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directed-by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2"/>
          <p:cNvCxnSpPr/>
          <p:nvPr/>
        </p:nvCxnSpPr>
        <p:spPr>
          <a:xfrm flipH="1">
            <a:off x="8732520" y="1874520"/>
            <a:ext cx="228600" cy="1143000"/>
          </a:xfrm>
          <a:prstGeom prst="straightConnector1">
            <a:avLst/>
          </a:prstGeom>
          <a:noFill/>
          <a:ln w="17775" cap="flat" cmpd="sng">
            <a:solidFill>
              <a:srgbClr val="1E8C7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12" name="Google Shape;312;p12"/>
          <p:cNvSpPr/>
          <p:nvPr/>
        </p:nvSpPr>
        <p:spPr>
          <a:xfrm>
            <a:off x="8510778" y="2260854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510778" y="226085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similar-to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2"/>
          <p:cNvCxnSpPr/>
          <p:nvPr/>
        </p:nvCxnSpPr>
        <p:spPr>
          <a:xfrm>
            <a:off x="7315200" y="3154680"/>
            <a:ext cx="320040" cy="594360"/>
          </a:xfrm>
          <a:prstGeom prst="straightConnector1">
            <a:avLst/>
          </a:prstGeom>
          <a:noFill/>
          <a:ln w="17775" cap="flat" cmpd="sng">
            <a:solidFill>
              <a:srgbClr val="1E8C7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15" name="Google Shape;315;p12"/>
          <p:cNvSpPr/>
          <p:nvPr/>
        </p:nvSpPr>
        <p:spPr>
          <a:xfrm>
            <a:off x="7111746" y="3294126"/>
            <a:ext cx="822960" cy="237744"/>
          </a:xfrm>
          <a:prstGeom prst="rect">
            <a:avLst/>
          </a:prstGeom>
          <a:solidFill>
            <a:srgbClr val="F7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111746" y="329412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similar-to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274320" y="4892040"/>
            <a:ext cx="11612880" cy="713232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274320" y="4892040"/>
            <a:ext cx="109728" cy="71323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502920" y="4919472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INSIGHT: Spotify uses 'co-listened-with', 'same-era', 'same-mood' edges. Netflix uses 'similar-emotional-tone' and 'director-style' edges. The GRAPH captures human intuition that rules never could.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Semantic Networks and Graph-Based Knowledge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Directed graphs where structure IS the knowledge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of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 What Is a Semantic Network?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65760" y="914400"/>
            <a:ext cx="11430000" cy="109728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A semantic network is a DIRECTED GRAPH where NODES represent concepts and EDGES represent named relationships.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48640" y="1508760"/>
            <a:ext cx="11064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 key insight: the STRUCTURE of the graph IS the knowledge. You answer questions by traversing edges — no rules required.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365760" y="2240280"/>
            <a:ext cx="365760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365760" y="2240280"/>
            <a:ext cx="3657600" cy="43891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365760" y="224028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NODES (Ovals)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02920" y="272491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Root concept (e.g., Animal)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02920" y="32918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Class level (e.g., Mammal)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02920" y="38587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Sub-class (e.g., Dog)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02920" y="442569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Instance — a real individual [Fido]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02920" y="499262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Property / Action (Breathe, Fly)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206240" y="2240280"/>
            <a:ext cx="365760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206240" y="2240280"/>
            <a:ext cx="3657600" cy="43891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4206240" y="224028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EDGES (Arrows)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4343400" y="272491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is-a  →  subclass relationship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343400" y="32918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instance-of  →  specific individual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343400" y="38587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has-a  →  part/component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343400" y="442569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can  →  capability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343400" y="499262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CANNOT  →  exception override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046720" y="2240280"/>
            <a:ext cx="365760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8046720" y="2240280"/>
            <a:ext cx="3657600" cy="43891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8046720" y="224028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PROPERTIES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183880" y="272491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Inheritance: properties flow upward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8183880" y="32918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Transitivity: A→B, B→C implies A→C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183880" y="38587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Specificity: direct edge beats inherited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183880" y="442569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 rules needed — just traversal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183880" y="499262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Scales to billions of facts (Google KG)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2.2 The Animal Kingdom Semantic Network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166360" y="914400"/>
            <a:ext cx="1554480" cy="548640"/>
          </a:xfrm>
          <a:prstGeom prst="ellipse">
            <a:avLst/>
          </a:prstGeom>
          <a:solidFill>
            <a:srgbClr val="1A3A3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166360" y="9144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645920" y="2011680"/>
            <a:ext cx="1371600" cy="502920"/>
          </a:xfrm>
          <a:prstGeom prst="ellipse">
            <a:avLst/>
          </a:prstGeom>
          <a:solidFill>
            <a:srgbClr val="1A6B6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645920" y="20116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166360" y="2011680"/>
            <a:ext cx="1371600" cy="502920"/>
          </a:xfrm>
          <a:prstGeom prst="ellipse">
            <a:avLst/>
          </a:prstGeom>
          <a:solidFill>
            <a:srgbClr val="1A6B6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166360" y="20116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8686800" y="2011680"/>
            <a:ext cx="1371600" cy="502920"/>
          </a:xfrm>
          <a:prstGeom prst="ellipse">
            <a:avLst/>
          </a:prstGeom>
          <a:solidFill>
            <a:srgbClr val="1A6B6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8686800" y="20116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365760" y="3291840"/>
            <a:ext cx="1371600" cy="502920"/>
          </a:xfrm>
          <a:prstGeom prst="ellipse">
            <a:avLst/>
          </a:prstGeom>
          <a:solidFill>
            <a:srgbClr val="1E8C7E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365760" y="3291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2103120" y="3291840"/>
            <a:ext cx="1371600" cy="502920"/>
          </a:xfrm>
          <a:prstGeom prst="ellipse">
            <a:avLst/>
          </a:prstGeom>
          <a:solidFill>
            <a:srgbClr val="1E8C7E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2103120" y="3291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840480" y="3291840"/>
            <a:ext cx="1371600" cy="502920"/>
          </a:xfrm>
          <a:prstGeom prst="ellipse">
            <a:avLst/>
          </a:prstGeom>
          <a:solidFill>
            <a:srgbClr val="1E8C7E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3840480" y="3291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5577840" y="3291840"/>
            <a:ext cx="1463040" cy="502920"/>
          </a:xfrm>
          <a:prstGeom prst="ellipse">
            <a:avLst/>
          </a:prstGeom>
          <a:solidFill>
            <a:srgbClr val="1E8C7E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577840" y="32918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365760" y="4480560"/>
            <a:ext cx="1463040" cy="502920"/>
          </a:xfrm>
          <a:prstGeom prst="ellipse">
            <a:avLst/>
          </a:prstGeom>
          <a:solidFill>
            <a:srgbClr val="28A084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365760" y="44805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Labrador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365760" y="5532120"/>
            <a:ext cx="1463040" cy="502920"/>
          </a:xfrm>
          <a:prstGeom prst="ellipse">
            <a:avLst/>
          </a:prstGeom>
          <a:solidFill>
            <a:srgbClr val="5B21B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365760" y="5532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[Fido]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8321040" y="914400"/>
            <a:ext cx="1371600" cy="457200"/>
          </a:xfrm>
          <a:prstGeom prst="ellipse">
            <a:avLst/>
          </a:prstGeom>
          <a:solidFill>
            <a:srgbClr val="475569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8321040" y="9144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Breathe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858000" y="2834640"/>
            <a:ext cx="1188720" cy="438912"/>
          </a:xfrm>
          <a:prstGeom prst="ellipse">
            <a:avLst/>
          </a:prstGeom>
          <a:solidFill>
            <a:srgbClr val="475569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6858000" y="283464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8321040" y="3291840"/>
            <a:ext cx="1188720" cy="438912"/>
          </a:xfrm>
          <a:prstGeom prst="ellipse">
            <a:avLst/>
          </a:prstGeom>
          <a:solidFill>
            <a:srgbClr val="475569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8321040" y="329184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5"/>
          <p:cNvCxnSpPr/>
          <p:nvPr/>
        </p:nvCxnSpPr>
        <p:spPr>
          <a:xfrm rot="10800000" flipH="1">
            <a:off x="2331720" y="1463040"/>
            <a:ext cx="3611880" cy="5486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05" name="Google Shape;405;p15"/>
          <p:cNvSpPr/>
          <p:nvPr/>
        </p:nvSpPr>
        <p:spPr>
          <a:xfrm>
            <a:off x="3771900" y="15361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5"/>
          <p:cNvCxnSpPr/>
          <p:nvPr/>
        </p:nvCxnSpPr>
        <p:spPr>
          <a:xfrm rot="10800000" flipH="1">
            <a:off x="5486400" y="1463040"/>
            <a:ext cx="228600" cy="5486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07" name="Google Shape;407;p15"/>
          <p:cNvSpPr/>
          <p:nvPr/>
        </p:nvSpPr>
        <p:spPr>
          <a:xfrm>
            <a:off x="5234940" y="15361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5"/>
          <p:cNvCxnSpPr/>
          <p:nvPr/>
        </p:nvCxnSpPr>
        <p:spPr>
          <a:xfrm rot="10800000">
            <a:off x="6720840" y="1463040"/>
            <a:ext cx="2651760" cy="5486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09" name="Google Shape;409;p15"/>
          <p:cNvSpPr/>
          <p:nvPr/>
        </p:nvSpPr>
        <p:spPr>
          <a:xfrm>
            <a:off x="7680960" y="15361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5"/>
          <p:cNvCxnSpPr/>
          <p:nvPr/>
        </p:nvCxnSpPr>
        <p:spPr>
          <a:xfrm rot="10800000" flipH="1">
            <a:off x="1051560" y="2514600"/>
            <a:ext cx="731520" cy="7772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1" name="Google Shape;411;p15"/>
          <p:cNvSpPr/>
          <p:nvPr/>
        </p:nvSpPr>
        <p:spPr>
          <a:xfrm>
            <a:off x="1051560" y="27020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5"/>
          <p:cNvCxnSpPr/>
          <p:nvPr/>
        </p:nvCxnSpPr>
        <p:spPr>
          <a:xfrm rot="10800000">
            <a:off x="2011680" y="2514600"/>
            <a:ext cx="548640" cy="7772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3" name="Google Shape;413;p15"/>
          <p:cNvSpPr/>
          <p:nvPr/>
        </p:nvSpPr>
        <p:spPr>
          <a:xfrm>
            <a:off x="1920240" y="27020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15"/>
          <p:cNvCxnSpPr/>
          <p:nvPr/>
        </p:nvCxnSpPr>
        <p:spPr>
          <a:xfrm rot="10800000">
            <a:off x="2011680" y="2514600"/>
            <a:ext cx="2514600" cy="7772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5" name="Google Shape;415;p15"/>
          <p:cNvSpPr/>
          <p:nvPr/>
        </p:nvSpPr>
        <p:spPr>
          <a:xfrm>
            <a:off x="2903220" y="27020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5"/>
          <p:cNvCxnSpPr/>
          <p:nvPr/>
        </p:nvCxnSpPr>
        <p:spPr>
          <a:xfrm rot="10800000">
            <a:off x="5486400" y="2514600"/>
            <a:ext cx="822960" cy="77724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7" name="Google Shape;417;p15"/>
          <p:cNvSpPr/>
          <p:nvPr/>
        </p:nvSpPr>
        <p:spPr>
          <a:xfrm>
            <a:off x="5532120" y="27020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p15"/>
          <p:cNvCxnSpPr/>
          <p:nvPr/>
        </p:nvCxnSpPr>
        <p:spPr>
          <a:xfrm rot="10800000">
            <a:off x="1051560" y="3794760"/>
            <a:ext cx="45720" cy="685800"/>
          </a:xfrm>
          <a:prstGeom prst="straightConnector1">
            <a:avLst/>
          </a:prstGeom>
          <a:noFill/>
          <a:ln w="22850" cap="flat" cmpd="sng">
            <a:solidFill>
              <a:srgbClr val="2B7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9" name="Google Shape;419;p15"/>
          <p:cNvSpPr/>
          <p:nvPr/>
        </p:nvSpPr>
        <p:spPr>
          <a:xfrm>
            <a:off x="708660" y="39364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7A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B7A70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5"/>
          <p:cNvCxnSpPr/>
          <p:nvPr/>
        </p:nvCxnSpPr>
        <p:spPr>
          <a:xfrm rot="10800000">
            <a:off x="1097280" y="4983480"/>
            <a:ext cx="0" cy="548640"/>
          </a:xfrm>
          <a:prstGeom prst="straightConnector1">
            <a:avLst/>
          </a:prstGeom>
          <a:noFill/>
          <a:ln w="22850" cap="flat" cmpd="sng">
            <a:solidFill>
              <a:srgbClr val="7C3AED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1" name="Google Shape;421;p15"/>
          <p:cNvSpPr/>
          <p:nvPr/>
        </p:nvSpPr>
        <p:spPr>
          <a:xfrm>
            <a:off x="731520" y="50566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inst-of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5"/>
          <p:cNvCxnSpPr/>
          <p:nvPr/>
        </p:nvCxnSpPr>
        <p:spPr>
          <a:xfrm>
            <a:off x="6766560" y="1188720"/>
            <a:ext cx="1554480" cy="0"/>
          </a:xfrm>
          <a:prstGeom prst="straightConnector1">
            <a:avLst/>
          </a:prstGeom>
          <a:noFill/>
          <a:ln w="2285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3" name="Google Shape;423;p15"/>
          <p:cNvSpPr/>
          <p:nvPr/>
        </p:nvSpPr>
        <p:spPr>
          <a:xfrm>
            <a:off x="7178040" y="9875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5"/>
          <p:cNvCxnSpPr/>
          <p:nvPr/>
        </p:nvCxnSpPr>
        <p:spPr>
          <a:xfrm>
            <a:off x="5943600" y="2267712"/>
            <a:ext cx="1508760" cy="566928"/>
          </a:xfrm>
          <a:prstGeom prst="straightConnector1">
            <a:avLst/>
          </a:prstGeom>
          <a:noFill/>
          <a:ln w="2285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5" name="Google Shape;425;p15"/>
          <p:cNvSpPr/>
          <p:nvPr/>
        </p:nvSpPr>
        <p:spPr>
          <a:xfrm>
            <a:off x="6332220" y="23500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5"/>
          <p:cNvCxnSpPr/>
          <p:nvPr/>
        </p:nvCxnSpPr>
        <p:spPr>
          <a:xfrm flipH="1">
            <a:off x="9006840" y="2267712"/>
            <a:ext cx="411480" cy="1024128"/>
          </a:xfrm>
          <a:prstGeom prst="straightConnector1">
            <a:avLst/>
          </a:prstGeom>
          <a:noFill/>
          <a:ln w="2285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7" name="Google Shape;427;p15"/>
          <p:cNvSpPr/>
          <p:nvPr/>
        </p:nvSpPr>
        <p:spPr>
          <a:xfrm>
            <a:off x="8846820" y="25786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15"/>
          <p:cNvCxnSpPr/>
          <p:nvPr/>
        </p:nvCxnSpPr>
        <p:spPr>
          <a:xfrm rot="10800000" flipH="1">
            <a:off x="6537960" y="3090672"/>
            <a:ext cx="640080" cy="457200"/>
          </a:xfrm>
          <a:prstGeom prst="straightConnector1">
            <a:avLst/>
          </a:prstGeom>
          <a:noFill/>
          <a:ln w="25400" cap="flat" cmpd="sng">
            <a:solidFill>
              <a:srgbClr val="DC2626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429" name="Google Shape;429;p15"/>
          <p:cNvSpPr/>
          <p:nvPr/>
        </p:nvSpPr>
        <p:spPr>
          <a:xfrm>
            <a:off x="6720840" y="30632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5"/>
          <p:cNvCxnSpPr/>
          <p:nvPr/>
        </p:nvCxnSpPr>
        <p:spPr>
          <a:xfrm rot="10800000">
            <a:off x="6812280" y="2926080"/>
            <a:ext cx="365760" cy="594360"/>
          </a:xfrm>
          <a:prstGeom prst="straightConnector1">
            <a:avLst/>
          </a:prstGeom>
          <a:noFill/>
          <a:ln w="95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" name="Google Shape;431;p15"/>
          <p:cNvSpPr/>
          <p:nvPr/>
        </p:nvSpPr>
        <p:spPr>
          <a:xfrm>
            <a:off x="9052560" y="3840480"/>
            <a:ext cx="2743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9052560" y="3840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9052560" y="3840480"/>
            <a:ext cx="2743200" cy="34747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9144000" y="4251960"/>
            <a:ext cx="256032" cy="256032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9491472" y="4224528"/>
            <a:ext cx="2194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Root concept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9144000" y="4581144"/>
            <a:ext cx="256032" cy="256032"/>
          </a:xfrm>
          <a:prstGeom prst="ellipse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9491472" y="4553712"/>
            <a:ext cx="2194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Level 1 class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9144000" y="4910328"/>
            <a:ext cx="256032" cy="256032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9491472" y="4882896"/>
            <a:ext cx="2194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Level 2 class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9144000" y="5239512"/>
            <a:ext cx="256032" cy="256032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9491472" y="5212080"/>
            <a:ext cx="2194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Instance [Fido]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9144000" y="5568696"/>
            <a:ext cx="256032" cy="25603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9491472" y="5541264"/>
            <a:ext cx="2194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Property/Action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2.3 Graph Traversal — How Queries Are Answered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36576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365760" y="914400"/>
            <a:ext cx="3657600" cy="4572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457200" y="9144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1: Can Fido breathe?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TRAVERSAL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502920" y="1828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[Fido] → instance-of → Labrador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02920" y="23957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Labrador → is-a → Dog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02920" y="296265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Dog → is-a → Mammal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02920" y="352958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4. Mammal → is-a → Animal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02920" y="409651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5. Animal → can → Breathe  ✔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57200" y="4617720"/>
            <a:ext cx="347472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457200" y="46177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ANSWER: YES — 4 hops, 0 rules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420624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4206240" y="914400"/>
            <a:ext cx="36576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4297680" y="9144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2: Can Penguin fly?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4343400" y="1463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TRAVERSAL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4343400" y="1828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Penguin node — check direct edges first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4343400" y="23957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FOUND: Penguin → CANNOT → Fly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343400" y="296265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STOP — direct edge found!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4343400" y="352958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4. Specificity rule: Penguin's own edge beats inherited Bird edge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4297680" y="4617720"/>
            <a:ext cx="34747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4297680" y="46177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ANSWER: NO — 1 hop, specificity wins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804672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8046720" y="914400"/>
            <a:ext cx="3657600" cy="4572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8138160" y="9144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3: Is Fido a Mammal?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8183880" y="1463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TRAVERSAL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8183880" y="1828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[Fido] → instance-of → Labrador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8183880" y="23957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Labrador → is-a → Dog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8183880" y="296265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Dog → is-a → Mammal  ✔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8183880" y="352958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4. is-a is TRANSITIVE — chain works!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138160" y="4617720"/>
            <a:ext cx="347472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8138160" y="46177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ANSWER: YES — 3 hops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2.4 Relationship Types Reference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5" name="Google Shape;495;p17"/>
          <p:cNvGraphicFramePr/>
          <p:nvPr/>
        </p:nvGraphicFramePr>
        <p:xfrm>
          <a:off x="457200" y="914400"/>
          <a:ext cx="11247125" cy="4937850"/>
        </p:xfrm>
        <a:graphic>
          <a:graphicData uri="http://schemas.openxmlformats.org/drawingml/2006/table">
            <a:tbl>
              <a:tblPr>
                <a:noFill/>
                <a:tableStyleId>{80D7718E-501C-44D5-B62B-0DF8384CE79E}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Relationship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is-a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Subclass / type of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Dog is-a Mammal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instance-of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 individual (real-world)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[Fido] instance-of Dog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has-a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 / component ownership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Dog has-a Tail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 / ability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Bird can Fly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 override (overrides inherited)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Penguin CANNOT Fly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lives-in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/ habitat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 lives-in Ocean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made-by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Manufacturer / creator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iPhone made-by Apple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compatible-with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with / interoperability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iPhone compatible-with AirPods</a:t>
                      </a:r>
                      <a:endParaRPr sz="13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2.5 Industry: Semantic Networks at Scale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365760" y="9601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365760" y="960120"/>
            <a:ext cx="3657600" cy="50292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457200" y="9601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Knowledge Graph (2012)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502920" y="1536192"/>
            <a:ext cx="3383280" cy="685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502920" y="153619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500B+ facts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5B entities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502920" y="2286000"/>
            <a:ext cx="33832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 Knowledge Panel on the right of search results IS a semantic network rendered live. When you search 'Albert Einstein', Google traverses edges to show: born in, spouse, awards, related topics — all from graph traversal.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4206240" y="9601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4206240" y="960120"/>
            <a:ext cx="3657600" cy="50292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4297680" y="9601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LinkedIn Economic Graph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4343400" y="1536192"/>
            <a:ext cx="3383280" cy="6858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4343400" y="153619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900M people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67M companies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4343400" y="2286000"/>
            <a:ext cx="33832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Maps 41K skills. Job recommendations come from graph traversal — not rules. 'You might know X' uses is-a and has-skill edges. 'Jobs that match you' traverses required-skill and has-skill edges.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8046720" y="96012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8046720" y="960120"/>
            <a:ext cx="365760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8138160" y="9601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 Product Graph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8183880" y="1536192"/>
            <a:ext cx="338328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8183880" y="153619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350M products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27K categories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8183880" y="2286000"/>
            <a:ext cx="33832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Tax calculation, search filters, seller requirements, and 'Frequently Bought Together' all rely on semantic network traversal. A rule-based approach would require billions of explicit rules.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2.1: Build the E-Commerce Knowledge Graph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Design a semantic network for an AI shopping assistant (like Amazon Alexa Shopping).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36576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9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9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47548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a semantic network with: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4+ levels of hierarchy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(Product → Electronics → Phone → iPhone)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8+ nodes total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At least 5 different relationship types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Label EVERY edge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320040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331012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paths for: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a) 'Does iPhone have a battery?'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b) 'Is a Laptop a product?'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c) 'What can a Smartwatch do?'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out every node and edge in the path.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603504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14476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Add an EXCEPTION: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Earbuds are Electronics BUT cannot-make-calls.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the override edge and explain how specificity handles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886968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897940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CHALLENGE: 'What products are compatible with iPhone 15?'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the path. Which type of relationship do you follow?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2.1: E-Commerce Graph — Path Answers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365760" y="96012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457200" y="9601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(a): Does iPhone have a battery?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475488" y="1417320"/>
            <a:ext cx="2432304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[iPhone15] → instance-of → iPhone → is-a → Phone → is-a → Electronics → has-a → Battery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ANSWER: YES (4 hops, 0 rules needed!)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3200400" y="96012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"/>
          <p:cNvSpPr/>
          <p:nvPr/>
        </p:nvSpPr>
        <p:spPr>
          <a:xfrm>
            <a:off x="3200400" y="96012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3291840" y="9601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(b): Is a Laptop a product?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3310128" y="1417320"/>
            <a:ext cx="2432304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Laptop → is-a → Electronics → is-a → Product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ANSWER: YES (2 hops — short chain)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6035040" y="96012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6035040" y="96012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6126480" y="9601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(c): What can a Smartwatch do?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6144768" y="1417320"/>
            <a:ext cx="2432304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Start at Smartwatch, follow ALL outgoing 'can' edges: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can → Track-Health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can → Notify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can → Tell-Time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Return all 3 capabilities.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8869680" y="96012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1"/>
          <p:cNvSpPr/>
          <p:nvPr/>
        </p:nvSpPr>
        <p:spPr>
          <a:xfrm>
            <a:off x="8869680" y="96012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8961120" y="9601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Exception: Earbuds CANNOT make-calls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8979408" y="1417320"/>
            <a:ext cx="2432304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Add direct edge: Earbuds → CANNOT → make-calls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OVERRIDES any inherited call capability.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Specificity wins — direct edge is most specific.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2.1: E-Commerce Knowledge Graph — Full Diagram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274320" y="877824"/>
            <a:ext cx="1161288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457200" y="877824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🟢 Category node   🔵 Sub-type   🟣 Instance   ——▶ is-a (teal)   ··▶ has-a / can (gray/blue)   — —▶ CANNOT exception (red)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5166360" y="1280160"/>
            <a:ext cx="1463040" cy="420624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0"/>
          <p:cNvSpPr/>
          <p:nvPr/>
        </p:nvSpPr>
        <p:spPr>
          <a:xfrm>
            <a:off x="5166360" y="128016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2011680" y="2057400"/>
            <a:ext cx="1600200" cy="420624"/>
          </a:xfrm>
          <a:prstGeom prst="ellipse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2011680" y="205740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Electronics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5166360" y="2057400"/>
            <a:ext cx="1463040" cy="420624"/>
          </a:xfrm>
          <a:prstGeom prst="ellipse">
            <a:avLst/>
          </a:prstGeom>
          <a:solidFill>
            <a:srgbClr val="2D5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5166360" y="205740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Clothing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8229600" y="2057400"/>
            <a:ext cx="1600200" cy="420624"/>
          </a:xfrm>
          <a:prstGeom prst="ellipse">
            <a:avLst/>
          </a:prstGeom>
          <a:solidFill>
            <a:srgbClr val="5B3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0"/>
          <p:cNvSpPr/>
          <p:nvPr/>
        </p:nvSpPr>
        <p:spPr>
          <a:xfrm>
            <a:off x="8229600" y="205740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HomeGoods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320040" y="2880360"/>
            <a:ext cx="1234440" cy="420624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320040" y="288036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1828800" y="2880360"/>
            <a:ext cx="1234440" cy="420624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1828800" y="288036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3337560" y="2880360"/>
            <a:ext cx="1234440" cy="420624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0"/>
          <p:cNvSpPr/>
          <p:nvPr/>
        </p:nvSpPr>
        <p:spPr>
          <a:xfrm>
            <a:off x="3337560" y="288036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4846320" y="2880360"/>
            <a:ext cx="1325880" cy="420624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4846320" y="288036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Earbuds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6446520" y="2880360"/>
            <a:ext cx="1508760" cy="420624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6446520" y="2880360"/>
            <a:ext cx="1508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Smartwatch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320040" y="3703320"/>
            <a:ext cx="123444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320040" y="370332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iPhone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1874520" y="3703320"/>
            <a:ext cx="1417320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1874520" y="3703320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[iPhone15]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8321040" y="3291840"/>
            <a:ext cx="1234440" cy="420624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8321040" y="329184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5029200" y="3703320"/>
            <a:ext cx="1508760" cy="420624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5029200" y="3703320"/>
            <a:ext cx="1508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Track-Health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6675120" y="3703320"/>
            <a:ext cx="1188720" cy="420624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6675120" y="370332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8229600" y="3703320"/>
            <a:ext cx="1325880" cy="420624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8229600" y="370332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Tell-Time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9966960" y="2880360"/>
            <a:ext cx="1463040" cy="42062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9966960" y="288036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make-calls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20"/>
          <p:cNvCxnSpPr/>
          <p:nvPr/>
        </p:nvCxnSpPr>
        <p:spPr>
          <a:xfrm flipH="1">
            <a:off x="2816352" y="1490472"/>
            <a:ext cx="3081528" cy="56692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5" name="Google Shape;595;p20"/>
          <p:cNvSpPr/>
          <p:nvPr/>
        </p:nvSpPr>
        <p:spPr>
          <a:xfrm>
            <a:off x="4098707" y="1634581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0"/>
          <p:cNvSpPr/>
          <p:nvPr/>
        </p:nvSpPr>
        <p:spPr>
          <a:xfrm>
            <a:off x="4098707" y="1634581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20"/>
          <p:cNvCxnSpPr/>
          <p:nvPr/>
        </p:nvCxnSpPr>
        <p:spPr>
          <a:xfrm>
            <a:off x="5897880" y="1490472"/>
            <a:ext cx="0" cy="56692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8" name="Google Shape;598;p20"/>
          <p:cNvSpPr/>
          <p:nvPr/>
        </p:nvSpPr>
        <p:spPr>
          <a:xfrm>
            <a:off x="5577840" y="1634581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0"/>
          <p:cNvSpPr/>
          <p:nvPr/>
        </p:nvSpPr>
        <p:spPr>
          <a:xfrm>
            <a:off x="5577840" y="1634581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20"/>
          <p:cNvCxnSpPr/>
          <p:nvPr/>
        </p:nvCxnSpPr>
        <p:spPr>
          <a:xfrm>
            <a:off x="5897880" y="1490472"/>
            <a:ext cx="3136392" cy="56692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01" name="Google Shape;601;p20"/>
          <p:cNvSpPr/>
          <p:nvPr/>
        </p:nvSpPr>
        <p:spPr>
          <a:xfrm>
            <a:off x="7083308" y="1634581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0"/>
          <p:cNvSpPr/>
          <p:nvPr/>
        </p:nvSpPr>
        <p:spPr>
          <a:xfrm>
            <a:off x="7083308" y="1634581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20"/>
          <p:cNvCxnSpPr/>
          <p:nvPr/>
        </p:nvCxnSpPr>
        <p:spPr>
          <a:xfrm flipH="1">
            <a:off x="941832" y="2267712"/>
            <a:ext cx="1874520" cy="61264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04" name="Google Shape;604;p20"/>
          <p:cNvSpPr/>
          <p:nvPr/>
        </p:nvSpPr>
        <p:spPr>
          <a:xfrm>
            <a:off x="1596542" y="2433767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1596542" y="2433767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20"/>
          <p:cNvCxnSpPr/>
          <p:nvPr/>
        </p:nvCxnSpPr>
        <p:spPr>
          <a:xfrm flipH="1">
            <a:off x="2450592" y="2267712"/>
            <a:ext cx="365760" cy="61264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07" name="Google Shape;607;p20"/>
          <p:cNvSpPr/>
          <p:nvPr/>
        </p:nvSpPr>
        <p:spPr>
          <a:xfrm>
            <a:off x="2320747" y="2433767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0"/>
          <p:cNvSpPr/>
          <p:nvPr/>
        </p:nvSpPr>
        <p:spPr>
          <a:xfrm>
            <a:off x="2320747" y="2433767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Google Shape;609;p20"/>
          <p:cNvCxnSpPr/>
          <p:nvPr/>
        </p:nvCxnSpPr>
        <p:spPr>
          <a:xfrm>
            <a:off x="2816352" y="2267712"/>
            <a:ext cx="1143000" cy="61264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0" name="Google Shape;610;p20"/>
          <p:cNvSpPr/>
          <p:nvPr/>
        </p:nvSpPr>
        <p:spPr>
          <a:xfrm>
            <a:off x="3044952" y="2433767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3044952" y="2433767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20"/>
          <p:cNvCxnSpPr/>
          <p:nvPr/>
        </p:nvCxnSpPr>
        <p:spPr>
          <a:xfrm>
            <a:off x="2816352" y="2267712"/>
            <a:ext cx="2697480" cy="61264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3" name="Google Shape;613;p20"/>
          <p:cNvSpPr/>
          <p:nvPr/>
        </p:nvSpPr>
        <p:spPr>
          <a:xfrm>
            <a:off x="3791102" y="2433767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0"/>
          <p:cNvSpPr/>
          <p:nvPr/>
        </p:nvSpPr>
        <p:spPr>
          <a:xfrm>
            <a:off x="3791102" y="2433767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p20"/>
          <p:cNvCxnSpPr/>
          <p:nvPr/>
        </p:nvCxnSpPr>
        <p:spPr>
          <a:xfrm>
            <a:off x="2816352" y="2267712"/>
            <a:ext cx="4389120" cy="612648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6" name="Google Shape;616;p20"/>
          <p:cNvSpPr/>
          <p:nvPr/>
        </p:nvSpPr>
        <p:spPr>
          <a:xfrm>
            <a:off x="4603090" y="2433767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0"/>
          <p:cNvSpPr/>
          <p:nvPr/>
        </p:nvSpPr>
        <p:spPr>
          <a:xfrm>
            <a:off x="4603090" y="2433767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20"/>
          <p:cNvCxnSpPr/>
          <p:nvPr/>
        </p:nvCxnSpPr>
        <p:spPr>
          <a:xfrm>
            <a:off x="941832" y="3300984"/>
            <a:ext cx="0" cy="402336"/>
          </a:xfrm>
          <a:prstGeom prst="straightConnector1">
            <a:avLst/>
          </a:prstGeom>
          <a:noFill/>
          <a:ln w="17775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9" name="Google Shape;619;p20"/>
          <p:cNvSpPr/>
          <p:nvPr/>
        </p:nvSpPr>
        <p:spPr>
          <a:xfrm>
            <a:off x="621792" y="3366089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621792" y="3366089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20"/>
          <p:cNvCxnSpPr/>
          <p:nvPr/>
        </p:nvCxnSpPr>
        <p:spPr>
          <a:xfrm>
            <a:off x="1554480" y="3913632"/>
            <a:ext cx="1033272" cy="0"/>
          </a:xfrm>
          <a:prstGeom prst="straightConnector1">
            <a:avLst/>
          </a:prstGeom>
          <a:noFill/>
          <a:ln w="17775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22" name="Google Shape;622;p20"/>
          <p:cNvSpPr/>
          <p:nvPr/>
        </p:nvSpPr>
        <p:spPr>
          <a:xfrm>
            <a:off x="1623060" y="3634740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1550623" y="358444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 dirty="0" err="1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inst</a:t>
            </a:r>
            <a:r>
              <a:rPr lang="en-US" sz="850" b="0" i="1" u="none" strike="noStrike" cap="none" dirty="0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-of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20"/>
          <p:cNvCxnSpPr/>
          <p:nvPr/>
        </p:nvCxnSpPr>
        <p:spPr>
          <a:xfrm rot="10800000" flipH="1">
            <a:off x="2450592" y="3291840"/>
            <a:ext cx="6492240" cy="9144"/>
          </a:xfrm>
          <a:prstGeom prst="straightConnector1">
            <a:avLst/>
          </a:prstGeom>
          <a:noFill/>
          <a:ln w="17775" cap="flat" cmpd="sng">
            <a:solidFill>
              <a:srgbClr val="607D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25" name="Google Shape;625;p20"/>
          <p:cNvSpPr/>
          <p:nvPr/>
        </p:nvSpPr>
        <p:spPr>
          <a:xfrm>
            <a:off x="5246827" y="3168579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5246827" y="3168579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has-a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7" name="Google Shape;627;p20"/>
          <p:cNvCxnSpPr/>
          <p:nvPr/>
        </p:nvCxnSpPr>
        <p:spPr>
          <a:xfrm rot="10800000" flipH="1">
            <a:off x="1554480" y="3502152"/>
            <a:ext cx="7388352" cy="411480"/>
          </a:xfrm>
          <a:prstGeom prst="straightConnector1">
            <a:avLst/>
          </a:prstGeom>
          <a:noFill/>
          <a:ln w="17775" cap="flat" cmpd="sng">
            <a:solidFill>
              <a:srgbClr val="607D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28" name="Google Shape;628;p20"/>
          <p:cNvSpPr/>
          <p:nvPr/>
        </p:nvSpPr>
        <p:spPr>
          <a:xfrm>
            <a:off x="4780849" y="3588106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4780849" y="358810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has-a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20"/>
          <p:cNvCxnSpPr/>
          <p:nvPr/>
        </p:nvCxnSpPr>
        <p:spPr>
          <a:xfrm flipH="1">
            <a:off x="5788152" y="3300984"/>
            <a:ext cx="1417320" cy="402336"/>
          </a:xfrm>
          <a:prstGeom prst="straightConnector1">
            <a:avLst/>
          </a:prstGeom>
          <a:noFill/>
          <a:ln w="17775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31" name="Google Shape;631;p20"/>
          <p:cNvSpPr/>
          <p:nvPr/>
        </p:nvSpPr>
        <p:spPr>
          <a:xfrm>
            <a:off x="6205118" y="3366089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0"/>
          <p:cNvSpPr/>
          <p:nvPr/>
        </p:nvSpPr>
        <p:spPr>
          <a:xfrm>
            <a:off x="6205118" y="3366089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20"/>
          <p:cNvCxnSpPr/>
          <p:nvPr/>
        </p:nvCxnSpPr>
        <p:spPr>
          <a:xfrm>
            <a:off x="7205472" y="3300984"/>
            <a:ext cx="64008" cy="402336"/>
          </a:xfrm>
          <a:prstGeom prst="straightConnector1">
            <a:avLst/>
          </a:prstGeom>
          <a:noFill/>
          <a:ln w="17775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34" name="Google Shape;634;p20"/>
          <p:cNvSpPr/>
          <p:nvPr/>
        </p:nvSpPr>
        <p:spPr>
          <a:xfrm>
            <a:off x="6916156" y="3366089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6916156" y="3366089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20"/>
          <p:cNvCxnSpPr/>
          <p:nvPr/>
        </p:nvCxnSpPr>
        <p:spPr>
          <a:xfrm>
            <a:off x="7205472" y="3300984"/>
            <a:ext cx="1691640" cy="402336"/>
          </a:xfrm>
          <a:prstGeom prst="straightConnector1">
            <a:avLst/>
          </a:prstGeom>
          <a:noFill/>
          <a:ln w="17775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37" name="Google Shape;637;p20"/>
          <p:cNvSpPr/>
          <p:nvPr/>
        </p:nvSpPr>
        <p:spPr>
          <a:xfrm>
            <a:off x="7697419" y="3366089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7697419" y="3366089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20"/>
          <p:cNvCxnSpPr/>
          <p:nvPr/>
        </p:nvCxnSpPr>
        <p:spPr>
          <a:xfrm>
            <a:off x="6172200" y="3090672"/>
            <a:ext cx="3794760" cy="0"/>
          </a:xfrm>
          <a:prstGeom prst="straightConnector1">
            <a:avLst/>
          </a:prstGeom>
          <a:noFill/>
          <a:ln w="17775" cap="flat" cmpd="sng">
            <a:solidFill>
              <a:srgbClr val="DC2626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640" name="Google Shape;640;p20"/>
          <p:cNvSpPr/>
          <p:nvPr/>
        </p:nvSpPr>
        <p:spPr>
          <a:xfrm>
            <a:off x="7673645" y="2962656"/>
            <a:ext cx="822960" cy="237744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0"/>
          <p:cNvSpPr/>
          <p:nvPr/>
        </p:nvSpPr>
        <p:spPr>
          <a:xfrm>
            <a:off x="7673645" y="296265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274320" y="4251960"/>
            <a:ext cx="11612880" cy="530352"/>
          </a:xfrm>
          <a:prstGeom prst="rect">
            <a:avLst/>
          </a:prstGeom>
          <a:solidFill>
            <a:srgbClr val="E8F5E9"/>
          </a:solidFill>
          <a:ln w="12700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0"/>
          <p:cNvSpPr/>
          <p:nvPr/>
        </p:nvSpPr>
        <p:spPr>
          <a:xfrm>
            <a:off x="457200" y="4251960"/>
            <a:ext cx="112471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0D5243"/>
                </a:solidFill>
                <a:latin typeface="Consolas"/>
                <a:ea typeface="Consolas"/>
                <a:cs typeface="Consolas"/>
                <a:sym typeface="Consolas"/>
              </a:rPr>
              <a:t>✅  [iPhone15] —inst-of→ iPhone —is-a→ Phone —is-a→ Electronics —has-a→ Battery   (4 hops, ZERO if-then rules)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274320" y="4892040"/>
            <a:ext cx="11612880" cy="77724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0"/>
          <p:cNvSpPr/>
          <p:nvPr/>
        </p:nvSpPr>
        <p:spPr>
          <a:xfrm>
            <a:off x="274320" y="4892040"/>
            <a:ext cx="109728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502920" y="4919472"/>
            <a:ext cx="11247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KEY LEARNING: The graph answered ALL queries with zero IF-THEN rules. The edges ARE the knowledge. This is why graph-based KR scales to 350M+ products when rule-based AI cannot.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2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2.2: Semantic Network Reasoning Race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365760" y="914400"/>
            <a:ext cx="11430000" cy="914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2"/>
          <p:cNvSpPr/>
          <p:nvPr/>
        </p:nvSpPr>
        <p:spPr>
          <a:xfrm>
            <a:off x="548640" y="960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GIVEN NETWORK: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548640" y="128016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Animal→can→Breathe  |  Mammal→is-a→Animal  |  Dog→is-a→Mammal  |  Cat→is-a→Mammal  |  Bird→is-a→Animal  |  Bird→can→Fly  |  Penguin→is-a→Bird  |  Penguin→CANNOT→Fly  |  Whale→is-a→Mammal  |  Whale→lives-in→Ocean  |  Flipper→instance-of→Dolphin  |  Dolphin→is-a→Mammal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365760" y="196596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 Can Flipper breathe?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457200" y="23774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3200400" y="196596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2"/>
          <p:cNvSpPr/>
          <p:nvPr/>
        </p:nvSpPr>
        <p:spPr>
          <a:xfrm>
            <a:off x="3200400" y="196596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2"/>
          <p:cNvSpPr/>
          <p:nvPr/>
        </p:nvSpPr>
        <p:spPr>
          <a:xfrm>
            <a:off x="329184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(b) Does Whale live in Ocean?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3291840" y="23774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6035040" y="196596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2"/>
          <p:cNvSpPr/>
          <p:nvPr/>
        </p:nvSpPr>
        <p:spPr>
          <a:xfrm>
            <a:off x="6035040" y="196596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2"/>
          <p:cNvSpPr/>
          <p:nvPr/>
        </p:nvSpPr>
        <p:spPr>
          <a:xfrm>
            <a:off x="612648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 Can Cat fly?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6126480" y="23774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8869680" y="196596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8869680" y="196596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896112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 Is Penguin an Animal?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8961120" y="237744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365760" y="406908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2"/>
          <p:cNvSpPr/>
          <p:nvPr/>
        </p:nvSpPr>
        <p:spPr>
          <a:xfrm>
            <a:off x="365760" y="406908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2"/>
          <p:cNvSpPr/>
          <p:nvPr/>
        </p:nvSpPr>
        <p:spPr>
          <a:xfrm>
            <a:off x="457200" y="4069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(e) Can Penguin fly?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457200" y="448056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3200400" y="406908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3200400" y="406908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3291840" y="4069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(f) What can Bird do?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3291840" y="448056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6035040" y="406908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2"/>
          <p:cNvSpPr/>
          <p:nvPr/>
        </p:nvSpPr>
        <p:spPr>
          <a:xfrm>
            <a:off x="6035040" y="406908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2"/>
          <p:cNvSpPr/>
          <p:nvPr/>
        </p:nvSpPr>
        <p:spPr>
          <a:xfrm>
            <a:off x="6126480" y="4069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(g) Is Flipper a Mammal?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6126480" y="448056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8869680" y="406908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2"/>
          <p:cNvSpPr/>
          <p:nvPr/>
        </p:nvSpPr>
        <p:spPr>
          <a:xfrm>
            <a:off x="8869680" y="4069080"/>
            <a:ext cx="2651760" cy="3657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8961120" y="4069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(h) Can Whale breathe?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8961120" y="448056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Trace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Edges traversed: 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3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3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2.2: Semantic Network Reasoning Race — Full Network Diagram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274320" y="877824"/>
            <a:ext cx="11612880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23"/>
          <p:cNvSpPr/>
          <p:nvPr/>
        </p:nvSpPr>
        <p:spPr>
          <a:xfrm>
            <a:off x="457200" y="877824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——▶ is-a (teal)   ——▶ can (blue)   ——▶ lives-in (gray)   — —▶ CANNOT (red)   ——▶ instance-of (purple)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5394960" y="1207008"/>
            <a:ext cx="1371600" cy="420624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5394960" y="1207008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2743200" y="2011680"/>
            <a:ext cx="1417320" cy="420624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3"/>
          <p:cNvSpPr/>
          <p:nvPr/>
        </p:nvSpPr>
        <p:spPr>
          <a:xfrm>
            <a:off x="2743200" y="2011680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Mammal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7680960" y="2011680"/>
            <a:ext cx="1280160" cy="420624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3"/>
          <p:cNvSpPr/>
          <p:nvPr/>
        </p:nvSpPr>
        <p:spPr>
          <a:xfrm>
            <a:off x="7680960" y="2011680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457200" y="2834640"/>
            <a:ext cx="118872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3"/>
          <p:cNvSpPr/>
          <p:nvPr/>
        </p:nvSpPr>
        <p:spPr>
          <a:xfrm>
            <a:off x="457200" y="283464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1920240" y="2834640"/>
            <a:ext cx="118872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3"/>
          <p:cNvSpPr/>
          <p:nvPr/>
        </p:nvSpPr>
        <p:spPr>
          <a:xfrm>
            <a:off x="1920240" y="283464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3474720" y="2834640"/>
            <a:ext cx="123444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3"/>
          <p:cNvSpPr/>
          <p:nvPr/>
        </p:nvSpPr>
        <p:spPr>
          <a:xfrm>
            <a:off x="3474720" y="283464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5029200" y="2834640"/>
            <a:ext cx="132588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3"/>
          <p:cNvSpPr/>
          <p:nvPr/>
        </p:nvSpPr>
        <p:spPr>
          <a:xfrm>
            <a:off x="5029200" y="283464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Dolphin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7680960" y="2834640"/>
            <a:ext cx="1371600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7680960" y="283464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5029200" y="3657600"/>
            <a:ext cx="1417320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5029200" y="3657600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[Flipper]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9601200" y="1207008"/>
            <a:ext cx="1280160" cy="420624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3"/>
          <p:cNvSpPr/>
          <p:nvPr/>
        </p:nvSpPr>
        <p:spPr>
          <a:xfrm>
            <a:off x="9601200" y="1207008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Breathe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9601200" y="2011680"/>
            <a:ext cx="1188720" cy="420624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3"/>
          <p:cNvSpPr/>
          <p:nvPr/>
        </p:nvSpPr>
        <p:spPr>
          <a:xfrm>
            <a:off x="9601200" y="201168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2011680" y="3657600"/>
            <a:ext cx="1188720" cy="42062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2011680" y="365760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Ocean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1" name="Google Shape;751;p23"/>
          <p:cNvCxnSpPr/>
          <p:nvPr/>
        </p:nvCxnSpPr>
        <p:spPr>
          <a:xfrm flipH="1">
            <a:off x="3456432" y="1417320"/>
            <a:ext cx="2624328" cy="594360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52" name="Google Shape;752;p23"/>
          <p:cNvSpPr/>
          <p:nvPr/>
        </p:nvSpPr>
        <p:spPr>
          <a:xfrm>
            <a:off x="4534052" y="1547622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4534052" y="154762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4" name="Google Shape;754;p23"/>
          <p:cNvCxnSpPr/>
          <p:nvPr/>
        </p:nvCxnSpPr>
        <p:spPr>
          <a:xfrm>
            <a:off x="6080760" y="1417320"/>
            <a:ext cx="2240280" cy="594360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55" name="Google Shape;755;p23"/>
          <p:cNvSpPr/>
          <p:nvPr/>
        </p:nvSpPr>
        <p:spPr>
          <a:xfrm>
            <a:off x="6723126" y="1547622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6723126" y="154762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23"/>
          <p:cNvCxnSpPr/>
          <p:nvPr/>
        </p:nvCxnSpPr>
        <p:spPr>
          <a:xfrm flipH="1">
            <a:off x="1051560" y="2221992"/>
            <a:ext cx="2404872" cy="612648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58" name="Google Shape;758;p23"/>
          <p:cNvSpPr/>
          <p:nvPr/>
        </p:nvSpPr>
        <p:spPr>
          <a:xfrm>
            <a:off x="2008480" y="236052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3"/>
          <p:cNvSpPr/>
          <p:nvPr/>
        </p:nvSpPr>
        <p:spPr>
          <a:xfrm>
            <a:off x="2008480" y="23605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0" name="Google Shape;760;p23"/>
          <p:cNvCxnSpPr/>
          <p:nvPr/>
        </p:nvCxnSpPr>
        <p:spPr>
          <a:xfrm flipH="1">
            <a:off x="2514600" y="2221992"/>
            <a:ext cx="941832" cy="612648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61" name="Google Shape;761;p23"/>
          <p:cNvSpPr/>
          <p:nvPr/>
        </p:nvSpPr>
        <p:spPr>
          <a:xfrm>
            <a:off x="2666848" y="236052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3"/>
          <p:cNvSpPr/>
          <p:nvPr/>
        </p:nvSpPr>
        <p:spPr>
          <a:xfrm>
            <a:off x="2666848" y="23605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3" name="Google Shape;763;p23"/>
          <p:cNvCxnSpPr/>
          <p:nvPr/>
        </p:nvCxnSpPr>
        <p:spPr>
          <a:xfrm>
            <a:off x="3456432" y="2221992"/>
            <a:ext cx="685800" cy="612648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64" name="Google Shape;764;p23"/>
          <p:cNvSpPr/>
          <p:nvPr/>
        </p:nvSpPr>
        <p:spPr>
          <a:xfrm>
            <a:off x="3399282" y="236052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23"/>
          <p:cNvSpPr/>
          <p:nvPr/>
        </p:nvSpPr>
        <p:spPr>
          <a:xfrm>
            <a:off x="3399282" y="23605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6" name="Google Shape;766;p23"/>
          <p:cNvCxnSpPr/>
          <p:nvPr/>
        </p:nvCxnSpPr>
        <p:spPr>
          <a:xfrm>
            <a:off x="3456432" y="2221992"/>
            <a:ext cx="2240280" cy="612648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67" name="Google Shape;767;p23"/>
          <p:cNvSpPr/>
          <p:nvPr/>
        </p:nvSpPr>
        <p:spPr>
          <a:xfrm>
            <a:off x="4098798" y="236052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3"/>
          <p:cNvSpPr/>
          <p:nvPr/>
        </p:nvSpPr>
        <p:spPr>
          <a:xfrm>
            <a:off x="4098798" y="23605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9" name="Google Shape;769;p23"/>
          <p:cNvCxnSpPr/>
          <p:nvPr/>
        </p:nvCxnSpPr>
        <p:spPr>
          <a:xfrm>
            <a:off x="8321040" y="2221992"/>
            <a:ext cx="45720" cy="612648"/>
          </a:xfrm>
          <a:prstGeom prst="straightConnector1">
            <a:avLst/>
          </a:prstGeom>
          <a:noFill/>
          <a:ln w="1905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70" name="Google Shape;770;p23"/>
          <p:cNvSpPr/>
          <p:nvPr/>
        </p:nvSpPr>
        <p:spPr>
          <a:xfrm>
            <a:off x="7975854" y="236052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7975854" y="23605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2" name="Google Shape;772;p23"/>
          <p:cNvCxnSpPr/>
          <p:nvPr/>
        </p:nvCxnSpPr>
        <p:spPr>
          <a:xfrm rot="10800000" flipH="1">
            <a:off x="5742432" y="3255264"/>
            <a:ext cx="612648" cy="612648"/>
          </a:xfrm>
          <a:prstGeom prst="straightConnector1">
            <a:avLst/>
          </a:prstGeom>
          <a:noFill/>
          <a:ln w="19050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73" name="Google Shape;773;p23"/>
          <p:cNvSpPr/>
          <p:nvPr/>
        </p:nvSpPr>
        <p:spPr>
          <a:xfrm>
            <a:off x="5652364" y="3455060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3"/>
          <p:cNvSpPr/>
          <p:nvPr/>
        </p:nvSpPr>
        <p:spPr>
          <a:xfrm>
            <a:off x="5652364" y="34550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inst-of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23"/>
          <p:cNvCxnSpPr/>
          <p:nvPr/>
        </p:nvCxnSpPr>
        <p:spPr>
          <a:xfrm>
            <a:off x="6080760" y="1417320"/>
            <a:ext cx="3520440" cy="0"/>
          </a:xfrm>
          <a:prstGeom prst="straightConnector1">
            <a:avLst/>
          </a:prstGeom>
          <a:noFill/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76" name="Google Shape;776;p23"/>
          <p:cNvSpPr/>
          <p:nvPr/>
        </p:nvSpPr>
        <p:spPr>
          <a:xfrm>
            <a:off x="7299198" y="1280160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3"/>
          <p:cNvSpPr/>
          <p:nvPr/>
        </p:nvSpPr>
        <p:spPr>
          <a:xfrm>
            <a:off x="7299198" y="12801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8" name="Google Shape;778;p23"/>
          <p:cNvCxnSpPr/>
          <p:nvPr/>
        </p:nvCxnSpPr>
        <p:spPr>
          <a:xfrm rot="10800000" flipH="1">
            <a:off x="8961120" y="2011680"/>
            <a:ext cx="1143000" cy="210312"/>
          </a:xfrm>
          <a:prstGeom prst="straightConnector1">
            <a:avLst/>
          </a:prstGeom>
          <a:noFill/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79" name="Google Shape;779;p23"/>
          <p:cNvSpPr/>
          <p:nvPr/>
        </p:nvSpPr>
        <p:spPr>
          <a:xfrm>
            <a:off x="9109710" y="1990192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3"/>
          <p:cNvSpPr/>
          <p:nvPr/>
        </p:nvSpPr>
        <p:spPr>
          <a:xfrm>
            <a:off x="9109710" y="19901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23"/>
          <p:cNvCxnSpPr/>
          <p:nvPr/>
        </p:nvCxnSpPr>
        <p:spPr>
          <a:xfrm rot="10800000" flipH="1">
            <a:off x="9052560" y="2432304"/>
            <a:ext cx="1143000" cy="612648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782" name="Google Shape;782;p23"/>
          <p:cNvSpPr/>
          <p:nvPr/>
        </p:nvSpPr>
        <p:spPr>
          <a:xfrm>
            <a:off x="9201150" y="2632100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3"/>
          <p:cNvSpPr/>
          <p:nvPr/>
        </p:nvSpPr>
        <p:spPr>
          <a:xfrm>
            <a:off x="9201150" y="26321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23"/>
          <p:cNvCxnSpPr/>
          <p:nvPr/>
        </p:nvCxnSpPr>
        <p:spPr>
          <a:xfrm flipH="1">
            <a:off x="2606040" y="3044952"/>
            <a:ext cx="1536192" cy="612648"/>
          </a:xfrm>
          <a:prstGeom prst="straightConnector1">
            <a:avLst/>
          </a:prstGeom>
          <a:noFill/>
          <a:ln w="19050" cap="flat" cmpd="sng">
            <a:solidFill>
              <a:srgbClr val="607D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85" name="Google Shape;785;p23"/>
          <p:cNvSpPr/>
          <p:nvPr/>
        </p:nvSpPr>
        <p:spPr>
          <a:xfrm>
            <a:off x="3085186" y="3183484"/>
            <a:ext cx="914400" cy="256032"/>
          </a:xfrm>
          <a:prstGeom prst="rect">
            <a:avLst/>
          </a:prstGeom>
          <a:solidFill>
            <a:srgbClr val="F0FAF9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3"/>
          <p:cNvSpPr/>
          <p:nvPr/>
        </p:nvSpPr>
        <p:spPr>
          <a:xfrm>
            <a:off x="3085186" y="318348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44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34444"/>
                </a:solidFill>
                <a:latin typeface="Calibri"/>
                <a:ea typeface="Calibri"/>
                <a:cs typeface="Calibri"/>
                <a:sym typeface="Calibri"/>
              </a:rPr>
              <a:t>lives-in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274320" y="4279392"/>
            <a:ext cx="2651760" cy="1463040"/>
          </a:xfrm>
          <a:prstGeom prst="rect">
            <a:avLst/>
          </a:prstGeom>
          <a:solidFill>
            <a:srgbClr val="F0FFF4"/>
          </a:solidFill>
          <a:ln w="9525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3"/>
          <p:cNvSpPr/>
          <p:nvPr/>
        </p:nvSpPr>
        <p:spPr>
          <a:xfrm>
            <a:off x="1280160" y="4315968"/>
            <a:ext cx="640080" cy="32918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23"/>
          <p:cNvSpPr/>
          <p:nvPr/>
        </p:nvSpPr>
        <p:spPr>
          <a:xfrm>
            <a:off x="1280160" y="431596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3"/>
          <p:cNvSpPr/>
          <p:nvPr/>
        </p:nvSpPr>
        <p:spPr>
          <a:xfrm>
            <a:off x="365760" y="46817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(a) Flipper breathe?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3"/>
          <p:cNvSpPr/>
          <p:nvPr/>
        </p:nvSpPr>
        <p:spPr>
          <a:xfrm>
            <a:off x="365760" y="502920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→Dolphin→Mammal→Animal→can→Breathe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3"/>
          <p:cNvSpPr/>
          <p:nvPr/>
        </p:nvSpPr>
        <p:spPr>
          <a:xfrm>
            <a:off x="3154680" y="4279392"/>
            <a:ext cx="2651760" cy="1463040"/>
          </a:xfrm>
          <a:prstGeom prst="rect">
            <a:avLst/>
          </a:prstGeom>
          <a:solidFill>
            <a:srgbClr val="F0FFF4"/>
          </a:solidFill>
          <a:ln w="9525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3"/>
          <p:cNvSpPr/>
          <p:nvPr/>
        </p:nvSpPr>
        <p:spPr>
          <a:xfrm>
            <a:off x="4160520" y="4315968"/>
            <a:ext cx="640080" cy="32918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23"/>
          <p:cNvSpPr/>
          <p:nvPr/>
        </p:nvSpPr>
        <p:spPr>
          <a:xfrm>
            <a:off x="4160520" y="431596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3"/>
          <p:cNvSpPr/>
          <p:nvPr/>
        </p:nvSpPr>
        <p:spPr>
          <a:xfrm>
            <a:off x="3246120" y="46817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(b) Whale in Ocean?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3246120" y="502920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Whale→lives-in→Ocean (direct)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3"/>
          <p:cNvSpPr/>
          <p:nvPr/>
        </p:nvSpPr>
        <p:spPr>
          <a:xfrm>
            <a:off x="6035040" y="4279392"/>
            <a:ext cx="2651760" cy="146304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3"/>
          <p:cNvSpPr/>
          <p:nvPr/>
        </p:nvSpPr>
        <p:spPr>
          <a:xfrm>
            <a:off x="7040880" y="4315968"/>
            <a:ext cx="640080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3"/>
          <p:cNvSpPr/>
          <p:nvPr/>
        </p:nvSpPr>
        <p:spPr>
          <a:xfrm>
            <a:off x="7040880" y="431596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3"/>
          <p:cNvSpPr/>
          <p:nvPr/>
        </p:nvSpPr>
        <p:spPr>
          <a:xfrm>
            <a:off x="6126480" y="46817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(c) Cat fly?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6126480" y="502920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Cat→Mammal→Animal — no Fly edge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3"/>
          <p:cNvSpPr/>
          <p:nvPr/>
        </p:nvSpPr>
        <p:spPr>
          <a:xfrm>
            <a:off x="8915400" y="4279392"/>
            <a:ext cx="2651760" cy="1463040"/>
          </a:xfrm>
          <a:prstGeom prst="rect">
            <a:avLst/>
          </a:prstGeom>
          <a:solidFill>
            <a:srgbClr val="F0FFF4"/>
          </a:solidFill>
          <a:ln w="9525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23"/>
          <p:cNvSpPr/>
          <p:nvPr/>
        </p:nvSpPr>
        <p:spPr>
          <a:xfrm>
            <a:off x="9921240" y="4315968"/>
            <a:ext cx="640080" cy="32918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3"/>
          <p:cNvSpPr/>
          <p:nvPr/>
        </p:nvSpPr>
        <p:spPr>
          <a:xfrm>
            <a:off x="9921240" y="431596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3"/>
          <p:cNvSpPr/>
          <p:nvPr/>
        </p:nvSpPr>
        <p:spPr>
          <a:xfrm>
            <a:off x="9006840" y="46817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(d) Penguin=Animal?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3"/>
          <p:cNvSpPr/>
          <p:nvPr/>
        </p:nvSpPr>
        <p:spPr>
          <a:xfrm>
            <a:off x="9006840" y="502920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Penguin→Bird→Animal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4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2.2: Semantic Network Reasoning Race — All 8 Answers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365760" y="96012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4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4"/>
          <p:cNvSpPr/>
          <p:nvPr/>
        </p:nvSpPr>
        <p:spPr>
          <a:xfrm>
            <a:off x="457200" y="9601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 Can Flipper breathe?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1371600" y="1371600"/>
            <a:ext cx="640080" cy="384048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4"/>
          <p:cNvSpPr/>
          <p:nvPr/>
        </p:nvSpPr>
        <p:spPr>
          <a:xfrm>
            <a:off x="1371600" y="137160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457200" y="182880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Flipper→Dolphin→Mammal→Animal→Breathe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457200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3200400" y="96012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4"/>
          <p:cNvSpPr/>
          <p:nvPr/>
        </p:nvSpPr>
        <p:spPr>
          <a:xfrm>
            <a:off x="3200400" y="96012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4"/>
          <p:cNvSpPr/>
          <p:nvPr/>
        </p:nvSpPr>
        <p:spPr>
          <a:xfrm>
            <a:off x="3291840" y="9601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(b) Does Whale live in Ocean?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4206240" y="1371600"/>
            <a:ext cx="640080" cy="384048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4"/>
          <p:cNvSpPr/>
          <p:nvPr/>
        </p:nvSpPr>
        <p:spPr>
          <a:xfrm>
            <a:off x="4206240" y="137160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3291840" y="182880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Whale→lives-in→Ocean (direct edge)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3291840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hop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6035040" y="96012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4"/>
          <p:cNvSpPr/>
          <p:nvPr/>
        </p:nvSpPr>
        <p:spPr>
          <a:xfrm>
            <a:off x="6035040" y="96012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4"/>
          <p:cNvSpPr/>
          <p:nvPr/>
        </p:nvSpPr>
        <p:spPr>
          <a:xfrm>
            <a:off x="6126480" y="9601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 Can Cat fly?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7040880" y="1371600"/>
            <a:ext cx="640080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4"/>
          <p:cNvSpPr/>
          <p:nvPr/>
        </p:nvSpPr>
        <p:spPr>
          <a:xfrm>
            <a:off x="7040880" y="137160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4"/>
          <p:cNvSpPr/>
          <p:nvPr/>
        </p:nvSpPr>
        <p:spPr>
          <a:xfrm>
            <a:off x="6126480" y="182880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Cat→Mammal→Animal — no Fly edge found. Bird is NOT an ancestor of Cat.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4"/>
          <p:cNvSpPr/>
          <p:nvPr/>
        </p:nvSpPr>
        <p:spPr>
          <a:xfrm>
            <a:off x="6126480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hops, no fly found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8869680" y="96012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4"/>
          <p:cNvSpPr/>
          <p:nvPr/>
        </p:nvSpPr>
        <p:spPr>
          <a:xfrm>
            <a:off x="8869680" y="96012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4"/>
          <p:cNvSpPr/>
          <p:nvPr/>
        </p:nvSpPr>
        <p:spPr>
          <a:xfrm>
            <a:off x="8961120" y="9601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 Is Penguin an Animal?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4"/>
          <p:cNvSpPr/>
          <p:nvPr/>
        </p:nvSpPr>
        <p:spPr>
          <a:xfrm>
            <a:off x="9875520" y="1371600"/>
            <a:ext cx="640080" cy="384048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4"/>
          <p:cNvSpPr/>
          <p:nvPr/>
        </p:nvSpPr>
        <p:spPr>
          <a:xfrm>
            <a:off x="9875520" y="137160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4"/>
          <p:cNvSpPr/>
          <p:nvPr/>
        </p:nvSpPr>
        <p:spPr>
          <a:xfrm>
            <a:off x="8961120" y="182880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Penguin→Bird→Animal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4"/>
          <p:cNvSpPr/>
          <p:nvPr/>
        </p:nvSpPr>
        <p:spPr>
          <a:xfrm>
            <a:off x="8961120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hops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4"/>
          <p:cNvSpPr/>
          <p:nvPr/>
        </p:nvSpPr>
        <p:spPr>
          <a:xfrm>
            <a:off x="365760" y="356616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4"/>
          <p:cNvSpPr/>
          <p:nvPr/>
        </p:nvSpPr>
        <p:spPr>
          <a:xfrm>
            <a:off x="365760" y="356616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24"/>
          <p:cNvSpPr/>
          <p:nvPr/>
        </p:nvSpPr>
        <p:spPr>
          <a:xfrm>
            <a:off x="457200" y="35661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(e) Can Penguin fly?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4"/>
          <p:cNvSpPr/>
          <p:nvPr/>
        </p:nvSpPr>
        <p:spPr>
          <a:xfrm>
            <a:off x="1371600" y="3977640"/>
            <a:ext cx="640080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4"/>
          <p:cNvSpPr/>
          <p:nvPr/>
        </p:nvSpPr>
        <p:spPr>
          <a:xfrm>
            <a:off x="1371600" y="397764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4"/>
          <p:cNvSpPr/>
          <p:nvPr/>
        </p:nvSpPr>
        <p:spPr>
          <a:xfrm>
            <a:off x="457200" y="44348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Penguin→CANNOT→Fly (direct edge — stops immediately)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4"/>
          <p:cNvSpPr/>
          <p:nvPr/>
        </p:nvSpPr>
        <p:spPr>
          <a:xfrm>
            <a:off x="457200" y="5669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hop — specificity!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4"/>
          <p:cNvSpPr/>
          <p:nvPr/>
        </p:nvSpPr>
        <p:spPr>
          <a:xfrm>
            <a:off x="3200400" y="356616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4"/>
          <p:cNvSpPr/>
          <p:nvPr/>
        </p:nvSpPr>
        <p:spPr>
          <a:xfrm>
            <a:off x="3200400" y="356616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4"/>
          <p:cNvSpPr/>
          <p:nvPr/>
        </p:nvSpPr>
        <p:spPr>
          <a:xfrm>
            <a:off x="3291840" y="35661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(f) What can Bird do?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4"/>
          <p:cNvSpPr/>
          <p:nvPr/>
        </p:nvSpPr>
        <p:spPr>
          <a:xfrm>
            <a:off x="4206240" y="3977640"/>
            <a:ext cx="640080" cy="384048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4"/>
          <p:cNvSpPr/>
          <p:nvPr/>
        </p:nvSpPr>
        <p:spPr>
          <a:xfrm>
            <a:off x="4206240" y="397764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abilities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4"/>
          <p:cNvSpPr/>
          <p:nvPr/>
        </p:nvSpPr>
        <p:spPr>
          <a:xfrm>
            <a:off x="3291840" y="44348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Fly (Bird→can→Fly) + Breathe (inherited from Animal)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4"/>
          <p:cNvSpPr/>
          <p:nvPr/>
        </p:nvSpPr>
        <p:spPr>
          <a:xfrm>
            <a:off x="3291840" y="5669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capabilities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4"/>
          <p:cNvSpPr/>
          <p:nvPr/>
        </p:nvSpPr>
        <p:spPr>
          <a:xfrm>
            <a:off x="6035040" y="356616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4"/>
          <p:cNvSpPr/>
          <p:nvPr/>
        </p:nvSpPr>
        <p:spPr>
          <a:xfrm>
            <a:off x="6035040" y="356616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24"/>
          <p:cNvSpPr/>
          <p:nvPr/>
        </p:nvSpPr>
        <p:spPr>
          <a:xfrm>
            <a:off x="6126480" y="35661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(g) Is Flipper a Mammal?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4"/>
          <p:cNvSpPr/>
          <p:nvPr/>
        </p:nvSpPr>
        <p:spPr>
          <a:xfrm>
            <a:off x="7040880" y="3977640"/>
            <a:ext cx="640080" cy="384048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4"/>
          <p:cNvSpPr/>
          <p:nvPr/>
        </p:nvSpPr>
        <p:spPr>
          <a:xfrm>
            <a:off x="7040880" y="397764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6126480" y="44348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Flipper→Dolphin→Mammal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4"/>
          <p:cNvSpPr/>
          <p:nvPr/>
        </p:nvSpPr>
        <p:spPr>
          <a:xfrm>
            <a:off x="6126480" y="5669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hops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4"/>
          <p:cNvSpPr/>
          <p:nvPr/>
        </p:nvSpPr>
        <p:spPr>
          <a:xfrm>
            <a:off x="8869680" y="3566160"/>
            <a:ext cx="265176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4"/>
          <p:cNvSpPr/>
          <p:nvPr/>
        </p:nvSpPr>
        <p:spPr>
          <a:xfrm>
            <a:off x="8869680" y="3566160"/>
            <a:ext cx="265176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4"/>
          <p:cNvSpPr/>
          <p:nvPr/>
        </p:nvSpPr>
        <p:spPr>
          <a:xfrm>
            <a:off x="8961120" y="35661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(h) Can Whale breathe?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4"/>
          <p:cNvSpPr/>
          <p:nvPr/>
        </p:nvSpPr>
        <p:spPr>
          <a:xfrm>
            <a:off x="9875520" y="3977640"/>
            <a:ext cx="640080" cy="384048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4"/>
          <p:cNvSpPr/>
          <p:nvPr/>
        </p:nvSpPr>
        <p:spPr>
          <a:xfrm>
            <a:off x="9875520" y="397764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4"/>
          <p:cNvSpPr/>
          <p:nvPr/>
        </p:nvSpPr>
        <p:spPr>
          <a:xfrm>
            <a:off x="8961120" y="44348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9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Whale→Mammal→Animal→can→Breathe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4"/>
          <p:cNvSpPr/>
          <p:nvPr/>
        </p:nvSpPr>
        <p:spPr>
          <a:xfrm>
            <a:off x="8961120" y="5669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hops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5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5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2.3: Real-World Case: Google Knowledge Panel Design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5"/>
          <p:cNvSpPr/>
          <p:nvPr/>
        </p:nvSpPr>
        <p:spPr>
          <a:xfrm>
            <a:off x="365760" y="914400"/>
            <a:ext cx="109728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5"/>
          <p:cNvSpPr/>
          <p:nvPr/>
        </p:nvSpPr>
        <p:spPr>
          <a:xfrm>
            <a:off x="548640" y="9601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SCENARIO: When you Google 'Albert Einstein', Google shows a Knowledge Panel on the right — birthdate, nationality, spouse, field, awards, related people. This is a LIVE semantic network query. Today you design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5"/>
          <p:cNvSpPr/>
          <p:nvPr/>
        </p:nvSpPr>
        <p:spPr>
          <a:xfrm>
            <a:off x="36576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5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5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47548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Design the semantic network for a PERSON node.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Required nodes: Albert Einstein, Physics, Nobel Prize, Germany, E=mc², Relativity.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Label every edge with the relationship type.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5"/>
          <p:cNvSpPr/>
          <p:nvPr/>
        </p:nvSpPr>
        <p:spPr>
          <a:xfrm>
            <a:off x="320040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5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5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5"/>
          <p:cNvSpPr/>
          <p:nvPr/>
        </p:nvSpPr>
        <p:spPr>
          <a:xfrm>
            <a:off x="331012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TRAVERSAL QUERY: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User types: 'Who else won Physics Nobel?'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the EXACT graph path starting from Einstein node.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many hops? Which edge types?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5"/>
          <p:cNvSpPr/>
          <p:nvPr/>
        </p:nvSpPr>
        <p:spPr>
          <a:xfrm>
            <a:off x="603504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5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5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5"/>
          <p:cNvSpPr/>
          <p:nvPr/>
        </p:nvSpPr>
        <p:spPr>
          <a:xfrm>
            <a:off x="614476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ADD COMPLEXITY: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Einstein is 'related-to' Niels Bohr, Marie Curie.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Both also won Nobel Prizes. Draw the subgraph connecting all three and the Nobel Prize node.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5"/>
          <p:cNvSpPr/>
          <p:nvPr/>
        </p:nvSpPr>
        <p:spPr>
          <a:xfrm>
            <a:off x="8869680" y="1828800"/>
            <a:ext cx="26517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5"/>
          <p:cNvSpPr/>
          <p:nvPr/>
        </p:nvSpPr>
        <p:spPr>
          <a:xfrm>
            <a:off x="8869680" y="182880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5"/>
          <p:cNvSpPr/>
          <p:nvPr/>
        </p:nvSpPr>
        <p:spPr>
          <a:xfrm>
            <a:off x="886968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8979408" y="228600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CRITICAL THINKING: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Google's Knowledge Graph has 500 BILLION facts.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Why can Google query 'Who was Einstein's teacher?' in 0.2 seconds?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Would IF-THEN rules work at this scale?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6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2.3: Google Knowledge Graph — Einstein Subgraph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6"/>
          <p:cNvSpPr/>
          <p:nvPr/>
        </p:nvSpPr>
        <p:spPr>
          <a:xfrm>
            <a:off x="5029200" y="1188720"/>
            <a:ext cx="1828800" cy="475488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5029200" y="118872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Albert Einstein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6"/>
          <p:cNvSpPr/>
          <p:nvPr/>
        </p:nvSpPr>
        <p:spPr>
          <a:xfrm>
            <a:off x="2011680" y="868680"/>
            <a:ext cx="1280160" cy="420624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6"/>
          <p:cNvSpPr/>
          <p:nvPr/>
        </p:nvSpPr>
        <p:spPr>
          <a:xfrm>
            <a:off x="2011680" y="868680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6"/>
          <p:cNvSpPr/>
          <p:nvPr/>
        </p:nvSpPr>
        <p:spPr>
          <a:xfrm>
            <a:off x="1828800" y="1920240"/>
            <a:ext cx="1234440" cy="420624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6"/>
          <p:cNvSpPr/>
          <p:nvPr/>
        </p:nvSpPr>
        <p:spPr>
          <a:xfrm>
            <a:off x="1828800" y="192024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6"/>
          <p:cNvSpPr/>
          <p:nvPr/>
        </p:nvSpPr>
        <p:spPr>
          <a:xfrm>
            <a:off x="1828800" y="2926080"/>
            <a:ext cx="1188720" cy="42062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6"/>
          <p:cNvSpPr/>
          <p:nvPr/>
        </p:nvSpPr>
        <p:spPr>
          <a:xfrm>
            <a:off x="1828800" y="292608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E=mc²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6"/>
          <p:cNvSpPr/>
          <p:nvPr/>
        </p:nvSpPr>
        <p:spPr>
          <a:xfrm>
            <a:off x="2011680" y="3886200"/>
            <a:ext cx="1417320" cy="420624"/>
          </a:xfrm>
          <a:prstGeom prst="ellipse">
            <a:avLst/>
          </a:prstGeom>
          <a:solidFill>
            <a:srgbClr val="2D5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6"/>
          <p:cNvSpPr/>
          <p:nvPr/>
        </p:nvSpPr>
        <p:spPr>
          <a:xfrm>
            <a:off x="2011680" y="3886200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Relativity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6"/>
          <p:cNvSpPr/>
          <p:nvPr/>
        </p:nvSpPr>
        <p:spPr>
          <a:xfrm>
            <a:off x="4937760" y="2377440"/>
            <a:ext cx="1645920" cy="53035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6"/>
          <p:cNvSpPr/>
          <p:nvPr/>
        </p:nvSpPr>
        <p:spPr>
          <a:xfrm>
            <a:off x="4937760" y="237744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Nobel Prize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(Physics 1921)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6"/>
          <p:cNvSpPr/>
          <p:nvPr/>
        </p:nvSpPr>
        <p:spPr>
          <a:xfrm>
            <a:off x="7955280" y="868680"/>
            <a:ext cx="1554480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6"/>
          <p:cNvSpPr/>
          <p:nvPr/>
        </p:nvSpPr>
        <p:spPr>
          <a:xfrm>
            <a:off x="7955280" y="868680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Elsa Einstein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6"/>
          <p:cNvSpPr/>
          <p:nvPr/>
        </p:nvSpPr>
        <p:spPr>
          <a:xfrm>
            <a:off x="8229600" y="1920240"/>
            <a:ext cx="1645920" cy="420624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6"/>
          <p:cNvSpPr/>
          <p:nvPr/>
        </p:nvSpPr>
        <p:spPr>
          <a:xfrm>
            <a:off x="8229600" y="192024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Princeton Univ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6"/>
          <p:cNvSpPr/>
          <p:nvPr/>
        </p:nvSpPr>
        <p:spPr>
          <a:xfrm>
            <a:off x="8229600" y="2926080"/>
            <a:ext cx="1463040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6"/>
          <p:cNvSpPr/>
          <p:nvPr/>
        </p:nvSpPr>
        <p:spPr>
          <a:xfrm>
            <a:off x="8229600" y="29260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Marie Curie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6"/>
          <p:cNvSpPr/>
          <p:nvPr/>
        </p:nvSpPr>
        <p:spPr>
          <a:xfrm>
            <a:off x="8229600" y="3886200"/>
            <a:ext cx="1371600" cy="420624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6"/>
          <p:cNvSpPr/>
          <p:nvPr/>
        </p:nvSpPr>
        <p:spPr>
          <a:xfrm>
            <a:off x="8229600" y="388620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Niels Bohr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6"/>
          <p:cNvSpPr/>
          <p:nvPr/>
        </p:nvSpPr>
        <p:spPr>
          <a:xfrm>
            <a:off x="5029200" y="3840480"/>
            <a:ext cx="1737360" cy="53035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6"/>
          <p:cNvSpPr/>
          <p:nvPr/>
        </p:nvSpPr>
        <p:spPr>
          <a:xfrm>
            <a:off x="5029200" y="384048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Nobel Prize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(Chemistry 1911)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6"/>
          <p:cNvCxnSpPr/>
          <p:nvPr/>
        </p:nvCxnSpPr>
        <p:spPr>
          <a:xfrm rot="10800000">
            <a:off x="2651760" y="1078992"/>
            <a:ext cx="2377440" cy="320040"/>
          </a:xfrm>
          <a:prstGeom prst="straightConnector1">
            <a:avLst/>
          </a:prstGeom>
          <a:noFill/>
          <a:ln w="1650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32" name="Google Shape;932;p26"/>
          <p:cNvSpPr/>
          <p:nvPr/>
        </p:nvSpPr>
        <p:spPr>
          <a:xfrm>
            <a:off x="3551530" y="1123798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6"/>
          <p:cNvSpPr/>
          <p:nvPr/>
        </p:nvSpPr>
        <p:spPr>
          <a:xfrm>
            <a:off x="3551530" y="112379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born-in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4" name="Google Shape;934;p26"/>
          <p:cNvCxnSpPr/>
          <p:nvPr/>
        </p:nvCxnSpPr>
        <p:spPr>
          <a:xfrm flipH="1">
            <a:off x="2450592" y="1399032"/>
            <a:ext cx="2578608" cy="731520"/>
          </a:xfrm>
          <a:prstGeom prst="straightConnector1">
            <a:avLst/>
          </a:prstGeom>
          <a:noFill/>
          <a:ln w="1650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35" name="Google Shape;935;p26"/>
          <p:cNvSpPr/>
          <p:nvPr/>
        </p:nvSpPr>
        <p:spPr>
          <a:xfrm>
            <a:off x="3458992" y="1607515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6"/>
          <p:cNvSpPr/>
          <p:nvPr/>
        </p:nvSpPr>
        <p:spPr>
          <a:xfrm>
            <a:off x="3458992" y="1607515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field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7" name="Google Shape;937;p26"/>
          <p:cNvCxnSpPr/>
          <p:nvPr/>
        </p:nvCxnSpPr>
        <p:spPr>
          <a:xfrm flipH="1">
            <a:off x="2404872" y="1399032"/>
            <a:ext cx="2624328" cy="1737360"/>
          </a:xfrm>
          <a:prstGeom prst="straightConnector1">
            <a:avLst/>
          </a:prstGeom>
          <a:noFill/>
          <a:ln w="16500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38" name="Google Shape;938;p26"/>
          <p:cNvSpPr/>
          <p:nvPr/>
        </p:nvSpPr>
        <p:spPr>
          <a:xfrm>
            <a:off x="3437961" y="2070202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26"/>
          <p:cNvSpPr/>
          <p:nvPr/>
        </p:nvSpPr>
        <p:spPr>
          <a:xfrm>
            <a:off x="3437961" y="207020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formulated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0" name="Google Shape;940;p26"/>
          <p:cNvCxnSpPr/>
          <p:nvPr/>
        </p:nvCxnSpPr>
        <p:spPr>
          <a:xfrm flipH="1">
            <a:off x="2743200" y="1399032"/>
            <a:ext cx="2286000" cy="2697480"/>
          </a:xfrm>
          <a:prstGeom prst="straightConnector1">
            <a:avLst/>
          </a:prstGeom>
          <a:noFill/>
          <a:ln w="16500" cap="flat" cmpd="sng">
            <a:solidFill>
              <a:srgbClr val="2D5A8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41" name="Google Shape;941;p26"/>
          <p:cNvSpPr/>
          <p:nvPr/>
        </p:nvSpPr>
        <p:spPr>
          <a:xfrm>
            <a:off x="3593592" y="2511857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6"/>
          <p:cNvSpPr/>
          <p:nvPr/>
        </p:nvSpPr>
        <p:spPr>
          <a:xfrm>
            <a:off x="3593592" y="2511857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developed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3" name="Google Shape;943;p26"/>
          <p:cNvCxnSpPr/>
          <p:nvPr/>
        </p:nvCxnSpPr>
        <p:spPr>
          <a:xfrm rot="10800000" flipH="1">
            <a:off x="5943600" y="1078992"/>
            <a:ext cx="2788920" cy="320040"/>
          </a:xfrm>
          <a:prstGeom prst="straightConnector1">
            <a:avLst/>
          </a:prstGeom>
          <a:noFill/>
          <a:ln w="16500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44" name="Google Shape;944;p26"/>
          <p:cNvSpPr/>
          <p:nvPr/>
        </p:nvSpPr>
        <p:spPr>
          <a:xfrm>
            <a:off x="6842455" y="1123798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26"/>
          <p:cNvSpPr/>
          <p:nvPr/>
        </p:nvSpPr>
        <p:spPr>
          <a:xfrm>
            <a:off x="6842455" y="112379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6" name="Google Shape;946;p26"/>
          <p:cNvCxnSpPr/>
          <p:nvPr/>
        </p:nvCxnSpPr>
        <p:spPr>
          <a:xfrm>
            <a:off x="5943600" y="1399032"/>
            <a:ext cx="3108960" cy="731520"/>
          </a:xfrm>
          <a:prstGeom prst="straightConnector1">
            <a:avLst/>
          </a:prstGeom>
          <a:noFill/>
          <a:ln w="16500" cap="flat" cmpd="sng">
            <a:solidFill>
              <a:srgbClr val="455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47" name="Google Shape;947;p26"/>
          <p:cNvSpPr/>
          <p:nvPr/>
        </p:nvSpPr>
        <p:spPr>
          <a:xfrm>
            <a:off x="6989674" y="1607515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6"/>
          <p:cNvSpPr/>
          <p:nvPr/>
        </p:nvSpPr>
        <p:spPr>
          <a:xfrm>
            <a:off x="6989674" y="1607515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worked-at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9" name="Google Shape;949;p26"/>
          <p:cNvCxnSpPr/>
          <p:nvPr/>
        </p:nvCxnSpPr>
        <p:spPr>
          <a:xfrm>
            <a:off x="5943600" y="1399032"/>
            <a:ext cx="3017520" cy="1737360"/>
          </a:xfrm>
          <a:prstGeom prst="straightConnector1">
            <a:avLst/>
          </a:prstGeom>
          <a:noFill/>
          <a:ln w="16500" cap="flat" cmpd="sng">
            <a:solidFill>
              <a:srgbClr val="88888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50" name="Google Shape;950;p26"/>
          <p:cNvSpPr/>
          <p:nvPr/>
        </p:nvSpPr>
        <p:spPr>
          <a:xfrm>
            <a:off x="6947611" y="2070202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6"/>
          <p:cNvSpPr/>
          <p:nvPr/>
        </p:nvSpPr>
        <p:spPr>
          <a:xfrm>
            <a:off x="6947611" y="207020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peer-of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2" name="Google Shape;952;p26"/>
          <p:cNvCxnSpPr/>
          <p:nvPr/>
        </p:nvCxnSpPr>
        <p:spPr>
          <a:xfrm>
            <a:off x="5943600" y="1399032"/>
            <a:ext cx="2971800" cy="2697480"/>
          </a:xfrm>
          <a:prstGeom prst="straightConnector1">
            <a:avLst/>
          </a:prstGeom>
          <a:noFill/>
          <a:ln w="16500" cap="flat" cmpd="sng">
            <a:solidFill>
              <a:srgbClr val="88888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53" name="Google Shape;953;p26"/>
          <p:cNvSpPr/>
          <p:nvPr/>
        </p:nvSpPr>
        <p:spPr>
          <a:xfrm>
            <a:off x="6926580" y="2511857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6"/>
          <p:cNvSpPr/>
          <p:nvPr/>
        </p:nvSpPr>
        <p:spPr>
          <a:xfrm>
            <a:off x="6926580" y="2511857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debated-with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5" name="Google Shape;955;p26"/>
          <p:cNvCxnSpPr/>
          <p:nvPr/>
        </p:nvCxnSpPr>
        <p:spPr>
          <a:xfrm flipH="1">
            <a:off x="5760720" y="1399032"/>
            <a:ext cx="182880" cy="978408"/>
          </a:xfrm>
          <a:prstGeom prst="straightConnector1">
            <a:avLst/>
          </a:prstGeom>
          <a:noFill/>
          <a:ln w="16500" cap="flat" cmpd="sng">
            <a:solidFill>
              <a:srgbClr val="D4A01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56" name="Google Shape;956;p26"/>
          <p:cNvSpPr/>
          <p:nvPr/>
        </p:nvSpPr>
        <p:spPr>
          <a:xfrm>
            <a:off x="5475427" y="1721084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6"/>
          <p:cNvSpPr/>
          <p:nvPr/>
        </p:nvSpPr>
        <p:spPr>
          <a:xfrm>
            <a:off x="5475427" y="172108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awarded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8" name="Google Shape;958;p26"/>
          <p:cNvCxnSpPr/>
          <p:nvPr/>
        </p:nvCxnSpPr>
        <p:spPr>
          <a:xfrm flipH="1">
            <a:off x="6720840" y="3136392"/>
            <a:ext cx="1508760" cy="960120"/>
          </a:xfrm>
          <a:prstGeom prst="straightConnector1">
            <a:avLst/>
          </a:prstGeom>
          <a:noFill/>
          <a:ln w="16500" cap="flat" cmpd="sng">
            <a:solidFill>
              <a:srgbClr val="D4A01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59" name="Google Shape;959;p26"/>
          <p:cNvSpPr/>
          <p:nvPr/>
        </p:nvSpPr>
        <p:spPr>
          <a:xfrm>
            <a:off x="7151522" y="3450031"/>
            <a:ext cx="91440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6"/>
          <p:cNvSpPr/>
          <p:nvPr/>
        </p:nvSpPr>
        <p:spPr>
          <a:xfrm>
            <a:off x="7151522" y="3450031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awarded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solidFill>
            <a:srgbClr val="E8F5E9"/>
          </a:solidFill>
          <a:ln w="10150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6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🔍 QUERY: 'Who else won Physics Nobel?' → Einstein —awarded→ Nobel Prize(Physics1921) ←awarded— [traverse all people with same edge to same node] → Bohr (1922), Dirac (1933)…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6"/>
          <p:cNvSpPr/>
          <p:nvPr/>
        </p:nvSpPr>
        <p:spPr>
          <a:xfrm>
            <a:off x="274320" y="5257800"/>
            <a:ext cx="1161288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6"/>
          <p:cNvSpPr/>
          <p:nvPr/>
        </p:nvSpPr>
        <p:spPr>
          <a:xfrm>
            <a:off x="274320" y="5257800"/>
            <a:ext cx="109728" cy="65836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6"/>
          <p:cNvSpPr/>
          <p:nvPr/>
        </p:nvSpPr>
        <p:spPr>
          <a:xfrm>
            <a:off x="502920" y="5285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SCALE INSIGHT: Google's 500B-fact graph answers this in 0.2s because it's ONE edge traversal. 500B IF-THEN rules checking every possibility would take hours. Graph traversal = O(edges), rule checking = O(rules × facts).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7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Concept Hierarchies and Inheritance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7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From general to specific — properties flow downward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7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7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 of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7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8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8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 What Is a Concept Hierarchy?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8"/>
          <p:cNvSpPr/>
          <p:nvPr/>
        </p:nvSpPr>
        <p:spPr>
          <a:xfrm>
            <a:off x="182880" y="896112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L0 — Most General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8"/>
          <p:cNvSpPr/>
          <p:nvPr/>
        </p:nvSpPr>
        <p:spPr>
          <a:xfrm>
            <a:off x="182880" y="17373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L1 — Primary Split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8"/>
          <p:cNvSpPr/>
          <p:nvPr/>
        </p:nvSpPr>
        <p:spPr>
          <a:xfrm>
            <a:off x="182880" y="257860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L2 — Domain Types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8"/>
          <p:cNvSpPr/>
          <p:nvPr/>
        </p:nvSpPr>
        <p:spPr>
          <a:xfrm>
            <a:off x="182880" y="3419856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L3 — Sub-specializations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8"/>
          <p:cNvSpPr/>
          <p:nvPr/>
        </p:nvSpPr>
        <p:spPr>
          <a:xfrm>
            <a:off x="182880" y="4261104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L4 — Specific Types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8"/>
          <p:cNvSpPr/>
          <p:nvPr/>
        </p:nvSpPr>
        <p:spPr>
          <a:xfrm>
            <a:off x="182880" y="5102352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L5 — Instances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8"/>
          <p:cNvSpPr/>
          <p:nvPr/>
        </p:nvSpPr>
        <p:spPr>
          <a:xfrm>
            <a:off x="4937760" y="914400"/>
            <a:ext cx="1554480" cy="457200"/>
          </a:xfrm>
          <a:prstGeom prst="ellipse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8"/>
          <p:cNvSpPr/>
          <p:nvPr/>
        </p:nvSpPr>
        <p:spPr>
          <a:xfrm>
            <a:off x="4937760" y="914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8"/>
          <p:cNvSpPr/>
          <p:nvPr/>
        </p:nvSpPr>
        <p:spPr>
          <a:xfrm>
            <a:off x="3200400" y="1737360"/>
            <a:ext cx="1554480" cy="457200"/>
          </a:xfrm>
          <a:prstGeom prst="ellipse">
            <a:avLst/>
          </a:prstGeom>
          <a:solidFill>
            <a:srgbClr val="1A5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28"/>
          <p:cNvSpPr/>
          <p:nvPr/>
        </p:nvSpPr>
        <p:spPr>
          <a:xfrm>
            <a:off x="3200400" y="17373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Living Thing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8"/>
          <p:cNvSpPr/>
          <p:nvPr/>
        </p:nvSpPr>
        <p:spPr>
          <a:xfrm>
            <a:off x="6675120" y="1737360"/>
            <a:ext cx="1554480" cy="4572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8"/>
          <p:cNvSpPr/>
          <p:nvPr/>
        </p:nvSpPr>
        <p:spPr>
          <a:xfrm>
            <a:off x="6675120" y="17373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Non-Living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8"/>
          <p:cNvSpPr/>
          <p:nvPr/>
        </p:nvSpPr>
        <p:spPr>
          <a:xfrm>
            <a:off x="2011680" y="2578608"/>
            <a:ext cx="1554480" cy="45720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28"/>
          <p:cNvSpPr/>
          <p:nvPr/>
        </p:nvSpPr>
        <p:spPr>
          <a:xfrm>
            <a:off x="2011680" y="25786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8"/>
          <p:cNvSpPr/>
          <p:nvPr/>
        </p:nvSpPr>
        <p:spPr>
          <a:xfrm>
            <a:off x="4389120" y="2578608"/>
            <a:ext cx="1554480" cy="457200"/>
          </a:xfrm>
          <a:prstGeom prst="ellipse">
            <a:avLst/>
          </a:prstGeom>
          <a:solidFill>
            <a:srgbClr val="2D7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8"/>
          <p:cNvSpPr/>
          <p:nvPr/>
        </p:nvSpPr>
        <p:spPr>
          <a:xfrm>
            <a:off x="4389120" y="25786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8"/>
          <p:cNvSpPr/>
          <p:nvPr/>
        </p:nvSpPr>
        <p:spPr>
          <a:xfrm>
            <a:off x="5943600" y="2578608"/>
            <a:ext cx="1554480" cy="4572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8"/>
          <p:cNvSpPr/>
          <p:nvPr/>
        </p:nvSpPr>
        <p:spPr>
          <a:xfrm>
            <a:off x="5943600" y="25786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Vehicle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8"/>
          <p:cNvSpPr/>
          <p:nvPr/>
        </p:nvSpPr>
        <p:spPr>
          <a:xfrm>
            <a:off x="8138160" y="2578608"/>
            <a:ext cx="1554480" cy="4572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8"/>
          <p:cNvSpPr/>
          <p:nvPr/>
        </p:nvSpPr>
        <p:spPr>
          <a:xfrm>
            <a:off x="8138160" y="25786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8"/>
          <p:cNvSpPr/>
          <p:nvPr/>
        </p:nvSpPr>
        <p:spPr>
          <a:xfrm>
            <a:off x="1371600" y="3419856"/>
            <a:ext cx="155448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28"/>
          <p:cNvSpPr/>
          <p:nvPr/>
        </p:nvSpPr>
        <p:spPr>
          <a:xfrm>
            <a:off x="1371600" y="341985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8"/>
          <p:cNvSpPr/>
          <p:nvPr/>
        </p:nvSpPr>
        <p:spPr>
          <a:xfrm>
            <a:off x="3017520" y="3419856"/>
            <a:ext cx="155448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28"/>
          <p:cNvSpPr/>
          <p:nvPr/>
        </p:nvSpPr>
        <p:spPr>
          <a:xfrm>
            <a:off x="3017520" y="341985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8"/>
          <p:cNvSpPr/>
          <p:nvPr/>
        </p:nvSpPr>
        <p:spPr>
          <a:xfrm>
            <a:off x="5029200" y="3419856"/>
            <a:ext cx="1554480" cy="457200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8"/>
          <p:cNvSpPr/>
          <p:nvPr/>
        </p:nvSpPr>
        <p:spPr>
          <a:xfrm>
            <a:off x="5029200" y="341985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8"/>
          <p:cNvSpPr/>
          <p:nvPr/>
        </p:nvSpPr>
        <p:spPr>
          <a:xfrm>
            <a:off x="6675120" y="3419856"/>
            <a:ext cx="1554480" cy="457200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28"/>
          <p:cNvSpPr/>
          <p:nvPr/>
        </p:nvSpPr>
        <p:spPr>
          <a:xfrm>
            <a:off x="6675120" y="341985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8"/>
          <p:cNvSpPr/>
          <p:nvPr/>
        </p:nvSpPr>
        <p:spPr>
          <a:xfrm>
            <a:off x="8321040" y="3419856"/>
            <a:ext cx="1554480" cy="457200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28"/>
          <p:cNvSpPr/>
          <p:nvPr/>
        </p:nvSpPr>
        <p:spPr>
          <a:xfrm>
            <a:off x="8321040" y="341985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8"/>
          <p:cNvSpPr/>
          <p:nvPr/>
        </p:nvSpPr>
        <p:spPr>
          <a:xfrm>
            <a:off x="914400" y="4261104"/>
            <a:ext cx="155448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8"/>
          <p:cNvSpPr/>
          <p:nvPr/>
        </p:nvSpPr>
        <p:spPr>
          <a:xfrm>
            <a:off x="914400" y="426110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8"/>
          <p:cNvSpPr/>
          <p:nvPr/>
        </p:nvSpPr>
        <p:spPr>
          <a:xfrm>
            <a:off x="2560320" y="4261104"/>
            <a:ext cx="155448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8"/>
          <p:cNvSpPr/>
          <p:nvPr/>
        </p:nvSpPr>
        <p:spPr>
          <a:xfrm>
            <a:off x="2560320" y="426110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8"/>
          <p:cNvSpPr/>
          <p:nvPr/>
        </p:nvSpPr>
        <p:spPr>
          <a:xfrm>
            <a:off x="5029200" y="4261104"/>
            <a:ext cx="1554480" cy="457200"/>
          </a:xfrm>
          <a:prstGeom prst="ellipse">
            <a:avLst/>
          </a:prstGeom>
          <a:solidFill>
            <a:srgbClr val="5670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8"/>
          <p:cNvSpPr/>
          <p:nvPr/>
        </p:nvSpPr>
        <p:spPr>
          <a:xfrm>
            <a:off x="5029200" y="426110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Sedan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8"/>
          <p:cNvSpPr/>
          <p:nvPr/>
        </p:nvSpPr>
        <p:spPr>
          <a:xfrm>
            <a:off x="8321040" y="4261104"/>
            <a:ext cx="1554480" cy="457200"/>
          </a:xfrm>
          <a:prstGeom prst="ellipse">
            <a:avLst/>
          </a:prstGeom>
          <a:solidFill>
            <a:srgbClr val="5670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28"/>
          <p:cNvSpPr/>
          <p:nvPr/>
        </p:nvSpPr>
        <p:spPr>
          <a:xfrm>
            <a:off x="8321040" y="426110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iPhone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8"/>
          <p:cNvSpPr/>
          <p:nvPr/>
        </p:nvSpPr>
        <p:spPr>
          <a:xfrm>
            <a:off x="914400" y="5102352"/>
            <a:ext cx="1554480" cy="4572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28"/>
          <p:cNvSpPr/>
          <p:nvPr/>
        </p:nvSpPr>
        <p:spPr>
          <a:xfrm>
            <a:off x="914400" y="510235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[Fido]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8"/>
          <p:cNvSpPr/>
          <p:nvPr/>
        </p:nvSpPr>
        <p:spPr>
          <a:xfrm>
            <a:off x="2560320" y="5102352"/>
            <a:ext cx="1554480" cy="4572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8"/>
          <p:cNvSpPr/>
          <p:nvPr/>
        </p:nvSpPr>
        <p:spPr>
          <a:xfrm>
            <a:off x="2560320" y="510235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[Buddy]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8"/>
          <p:cNvSpPr/>
          <p:nvPr/>
        </p:nvSpPr>
        <p:spPr>
          <a:xfrm>
            <a:off x="8321040" y="5102352"/>
            <a:ext cx="1828800" cy="4572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8"/>
          <p:cNvSpPr/>
          <p:nvPr/>
        </p:nvSpPr>
        <p:spPr>
          <a:xfrm>
            <a:off x="8321040" y="51023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[Alice's Car]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28"/>
          <p:cNvCxnSpPr/>
          <p:nvPr/>
        </p:nvCxnSpPr>
        <p:spPr>
          <a:xfrm flipH="1">
            <a:off x="3977640" y="1143000"/>
            <a:ext cx="1755648" cy="59436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2" name="Google Shape;1032;p28"/>
          <p:cNvCxnSpPr/>
          <p:nvPr/>
        </p:nvCxnSpPr>
        <p:spPr>
          <a:xfrm>
            <a:off x="5733288" y="1143000"/>
            <a:ext cx="1719072" cy="59436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3" name="Google Shape;1033;p28"/>
          <p:cNvCxnSpPr/>
          <p:nvPr/>
        </p:nvCxnSpPr>
        <p:spPr>
          <a:xfrm flipH="1">
            <a:off x="2788920" y="1965960"/>
            <a:ext cx="118872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28"/>
          <p:cNvCxnSpPr/>
          <p:nvPr/>
        </p:nvCxnSpPr>
        <p:spPr>
          <a:xfrm>
            <a:off x="3977640" y="1965960"/>
            <a:ext cx="118872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5" name="Google Shape;1035;p28"/>
          <p:cNvCxnSpPr/>
          <p:nvPr/>
        </p:nvCxnSpPr>
        <p:spPr>
          <a:xfrm flipH="1">
            <a:off x="6720840" y="1965960"/>
            <a:ext cx="73152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6" name="Google Shape;1036;p28"/>
          <p:cNvCxnSpPr/>
          <p:nvPr/>
        </p:nvCxnSpPr>
        <p:spPr>
          <a:xfrm>
            <a:off x="7452360" y="1965960"/>
            <a:ext cx="146304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7" name="Google Shape;1037;p28"/>
          <p:cNvCxnSpPr/>
          <p:nvPr/>
        </p:nvCxnSpPr>
        <p:spPr>
          <a:xfrm flipH="1">
            <a:off x="2148840" y="2807208"/>
            <a:ext cx="64008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8" name="Google Shape;1038;p28"/>
          <p:cNvCxnSpPr/>
          <p:nvPr/>
        </p:nvCxnSpPr>
        <p:spPr>
          <a:xfrm>
            <a:off x="2788920" y="2807208"/>
            <a:ext cx="100584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9" name="Google Shape;1039;p28"/>
          <p:cNvCxnSpPr/>
          <p:nvPr/>
        </p:nvCxnSpPr>
        <p:spPr>
          <a:xfrm flipH="1">
            <a:off x="1691640" y="3648456"/>
            <a:ext cx="45720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0" name="Google Shape;1040;p28"/>
          <p:cNvCxnSpPr/>
          <p:nvPr/>
        </p:nvCxnSpPr>
        <p:spPr>
          <a:xfrm>
            <a:off x="2148840" y="3648456"/>
            <a:ext cx="118872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1" name="Google Shape;1041;p28"/>
          <p:cNvCxnSpPr/>
          <p:nvPr/>
        </p:nvCxnSpPr>
        <p:spPr>
          <a:xfrm>
            <a:off x="1691640" y="4489704"/>
            <a:ext cx="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2" name="Google Shape;1042;p28"/>
          <p:cNvCxnSpPr/>
          <p:nvPr/>
        </p:nvCxnSpPr>
        <p:spPr>
          <a:xfrm>
            <a:off x="3337560" y="4489704"/>
            <a:ext cx="0" cy="612648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3" name="Google Shape;1043;p28"/>
          <p:cNvCxnSpPr/>
          <p:nvPr/>
        </p:nvCxnSpPr>
        <p:spPr>
          <a:xfrm rot="10800000">
            <a:off x="3337560" y="1737360"/>
            <a:ext cx="0" cy="3364992"/>
          </a:xfrm>
          <a:prstGeom prst="straightConnector1">
            <a:avLst/>
          </a:prstGeom>
          <a:noFill/>
          <a:ln w="25400" cap="flat" cmpd="sng">
            <a:solidFill>
              <a:srgbClr val="D4A017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044" name="Google Shape;1044;p28"/>
          <p:cNvSpPr/>
          <p:nvPr/>
        </p:nvSpPr>
        <p:spPr>
          <a:xfrm>
            <a:off x="3840480" y="32004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9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 Inheritance — Properties Flow Downward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9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9"/>
          <p:cNvSpPr/>
          <p:nvPr/>
        </p:nvSpPr>
        <p:spPr>
          <a:xfrm>
            <a:off x="1371600" y="914400"/>
            <a:ext cx="1645920" cy="548640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29"/>
          <p:cNvSpPr/>
          <p:nvPr/>
        </p:nvSpPr>
        <p:spPr>
          <a:xfrm>
            <a:off x="1371600" y="9144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9"/>
          <p:cNvSpPr/>
          <p:nvPr/>
        </p:nvSpPr>
        <p:spPr>
          <a:xfrm>
            <a:off x="3200400" y="914400"/>
            <a:ext cx="3200400" cy="530352"/>
          </a:xfrm>
          <a:prstGeom prst="rect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29"/>
          <p:cNvSpPr/>
          <p:nvPr/>
        </p:nvSpPr>
        <p:spPr>
          <a:xfrm>
            <a:off x="3200400" y="914400"/>
            <a:ext cx="91440" cy="530352"/>
          </a:xfrm>
          <a:prstGeom prst="rect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29"/>
          <p:cNvSpPr/>
          <p:nvPr/>
        </p:nvSpPr>
        <p:spPr>
          <a:xfrm>
            <a:off x="3383280" y="914400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has-cells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has-metabolism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0" name="Google Shape;1060;p29"/>
          <p:cNvCxnSpPr/>
          <p:nvPr/>
        </p:nvCxnSpPr>
        <p:spPr>
          <a:xfrm>
            <a:off x="2194560" y="1463040"/>
            <a:ext cx="0" cy="347472"/>
          </a:xfrm>
          <a:prstGeom prst="straightConnector1">
            <a:avLst/>
          </a:prstGeom>
          <a:noFill/>
          <a:ln w="19050" cap="flat" cmpd="sng">
            <a:solidFill>
              <a:srgbClr val="8B9EB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61" name="Google Shape;1061;p29"/>
          <p:cNvSpPr/>
          <p:nvPr/>
        </p:nvSpPr>
        <p:spPr>
          <a:xfrm>
            <a:off x="2331720" y="15727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9"/>
          <p:cNvSpPr/>
          <p:nvPr/>
        </p:nvSpPr>
        <p:spPr>
          <a:xfrm>
            <a:off x="1371600" y="1828800"/>
            <a:ext cx="1645920" cy="548640"/>
          </a:xfrm>
          <a:prstGeom prst="ellipse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29"/>
          <p:cNvSpPr/>
          <p:nvPr/>
        </p:nvSpPr>
        <p:spPr>
          <a:xfrm>
            <a:off x="1371600" y="18288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Mammal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9"/>
          <p:cNvSpPr/>
          <p:nvPr/>
        </p:nvSpPr>
        <p:spPr>
          <a:xfrm>
            <a:off x="3200400" y="1828800"/>
            <a:ext cx="3200400" cy="530352"/>
          </a:xfrm>
          <a:prstGeom prst="rect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29"/>
          <p:cNvSpPr/>
          <p:nvPr/>
        </p:nvSpPr>
        <p:spPr>
          <a:xfrm>
            <a:off x="3200400" y="1828800"/>
            <a:ext cx="91440" cy="530352"/>
          </a:xfrm>
          <a:prstGeom prst="rect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29"/>
          <p:cNvSpPr/>
          <p:nvPr/>
        </p:nvSpPr>
        <p:spPr>
          <a:xfrm>
            <a:off x="3383280" y="1828800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warm-blooded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has-fur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7" name="Google Shape;1067;p29"/>
          <p:cNvCxnSpPr/>
          <p:nvPr/>
        </p:nvCxnSpPr>
        <p:spPr>
          <a:xfrm>
            <a:off x="2194560" y="2377440"/>
            <a:ext cx="0" cy="347472"/>
          </a:xfrm>
          <a:prstGeom prst="straightConnector1">
            <a:avLst/>
          </a:prstGeom>
          <a:noFill/>
          <a:ln w="19050" cap="flat" cmpd="sng">
            <a:solidFill>
              <a:srgbClr val="8B9EB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68" name="Google Shape;1068;p29"/>
          <p:cNvSpPr/>
          <p:nvPr/>
        </p:nvSpPr>
        <p:spPr>
          <a:xfrm>
            <a:off x="2331720" y="2487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9"/>
          <p:cNvSpPr/>
          <p:nvPr/>
        </p:nvSpPr>
        <p:spPr>
          <a:xfrm>
            <a:off x="1371600" y="2743200"/>
            <a:ext cx="1645920" cy="54864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9"/>
          <p:cNvSpPr/>
          <p:nvPr/>
        </p:nvSpPr>
        <p:spPr>
          <a:xfrm>
            <a:off x="1371600" y="2743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9"/>
          <p:cNvSpPr/>
          <p:nvPr/>
        </p:nvSpPr>
        <p:spPr>
          <a:xfrm>
            <a:off x="3200400" y="2743200"/>
            <a:ext cx="3200400" cy="530352"/>
          </a:xfrm>
          <a:prstGeom prst="rect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9"/>
          <p:cNvSpPr/>
          <p:nvPr/>
        </p:nvSpPr>
        <p:spPr>
          <a:xfrm>
            <a:off x="3200400" y="2743200"/>
            <a:ext cx="91440" cy="530352"/>
          </a:xfrm>
          <a:prstGeom prst="rect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9"/>
          <p:cNvSpPr/>
          <p:nvPr/>
        </p:nvSpPr>
        <p:spPr>
          <a:xfrm>
            <a:off x="3383280" y="2743200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barks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has-4-legs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4" name="Google Shape;1074;p29"/>
          <p:cNvCxnSpPr/>
          <p:nvPr/>
        </p:nvCxnSpPr>
        <p:spPr>
          <a:xfrm>
            <a:off x="2194560" y="3291840"/>
            <a:ext cx="0" cy="347472"/>
          </a:xfrm>
          <a:prstGeom prst="straightConnector1">
            <a:avLst/>
          </a:prstGeom>
          <a:noFill/>
          <a:ln w="19050" cap="flat" cmpd="sng">
            <a:solidFill>
              <a:srgbClr val="8B9EB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75" name="Google Shape;1075;p29"/>
          <p:cNvSpPr/>
          <p:nvPr/>
        </p:nvSpPr>
        <p:spPr>
          <a:xfrm>
            <a:off x="2331720" y="34015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9"/>
          <p:cNvSpPr/>
          <p:nvPr/>
        </p:nvSpPr>
        <p:spPr>
          <a:xfrm>
            <a:off x="1371600" y="3657600"/>
            <a:ext cx="1645920" cy="54864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9"/>
          <p:cNvSpPr/>
          <p:nvPr/>
        </p:nvSpPr>
        <p:spPr>
          <a:xfrm>
            <a:off x="1371600" y="36576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Labrador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9"/>
          <p:cNvSpPr/>
          <p:nvPr/>
        </p:nvSpPr>
        <p:spPr>
          <a:xfrm>
            <a:off x="3200400" y="3657600"/>
            <a:ext cx="3200400" cy="53035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9"/>
          <p:cNvSpPr/>
          <p:nvPr/>
        </p:nvSpPr>
        <p:spPr>
          <a:xfrm>
            <a:off x="3200400" y="3657600"/>
            <a:ext cx="91440" cy="53035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9"/>
          <p:cNvSpPr/>
          <p:nvPr/>
        </p:nvSpPr>
        <p:spPr>
          <a:xfrm>
            <a:off x="3383280" y="3657600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guide-capable = TRUE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coat = golden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1" name="Google Shape;1081;p29"/>
          <p:cNvCxnSpPr/>
          <p:nvPr/>
        </p:nvCxnSpPr>
        <p:spPr>
          <a:xfrm>
            <a:off x="2194560" y="4206240"/>
            <a:ext cx="0" cy="347472"/>
          </a:xfrm>
          <a:prstGeom prst="straightConnector1">
            <a:avLst/>
          </a:prstGeom>
          <a:noFill/>
          <a:ln w="19050" cap="flat" cmpd="sng">
            <a:solidFill>
              <a:srgbClr val="8B9EB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82" name="Google Shape;1082;p29"/>
          <p:cNvSpPr/>
          <p:nvPr/>
        </p:nvSpPr>
        <p:spPr>
          <a:xfrm>
            <a:off x="2331720" y="43159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9"/>
          <p:cNvSpPr/>
          <p:nvPr/>
        </p:nvSpPr>
        <p:spPr>
          <a:xfrm>
            <a:off x="1371600" y="4572000"/>
            <a:ext cx="1645920" cy="54864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9"/>
          <p:cNvSpPr/>
          <p:nvPr/>
        </p:nvSpPr>
        <p:spPr>
          <a:xfrm>
            <a:off x="137160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[Buddy]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9"/>
          <p:cNvSpPr/>
          <p:nvPr/>
        </p:nvSpPr>
        <p:spPr>
          <a:xfrm>
            <a:off x="3200400" y="4572000"/>
            <a:ext cx="3200400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29"/>
          <p:cNvSpPr/>
          <p:nvPr/>
        </p:nvSpPr>
        <p:spPr>
          <a:xfrm>
            <a:off x="3200400" y="4572000"/>
            <a:ext cx="91440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29"/>
          <p:cNvSpPr/>
          <p:nvPr/>
        </p:nvSpPr>
        <p:spPr>
          <a:xfrm>
            <a:off x="3383280" y="4572000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name = Buddy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(+ ALL above inherited!)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9"/>
          <p:cNvSpPr/>
          <p:nvPr/>
        </p:nvSpPr>
        <p:spPr>
          <a:xfrm>
            <a:off x="6675120" y="914400"/>
            <a:ext cx="5120640" cy="5074920"/>
          </a:xfrm>
          <a:prstGeom prst="rect">
            <a:avLst/>
          </a:prstGeom>
          <a:solidFill>
            <a:srgbClr val="E0F2F1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29"/>
          <p:cNvSpPr/>
          <p:nvPr/>
        </p:nvSpPr>
        <p:spPr>
          <a:xfrm>
            <a:off x="6675120" y="914400"/>
            <a:ext cx="5120640" cy="4572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29"/>
          <p:cNvSpPr/>
          <p:nvPr/>
        </p:nvSpPr>
        <p:spPr>
          <a:xfrm>
            <a:off x="6675120" y="9144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[Buddy] Gets for FREE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9"/>
          <p:cNvSpPr/>
          <p:nvPr/>
        </p:nvSpPr>
        <p:spPr>
          <a:xfrm>
            <a:off x="6858000" y="1508760"/>
            <a:ext cx="320040" cy="320040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29"/>
          <p:cNvSpPr/>
          <p:nvPr/>
        </p:nvSpPr>
        <p:spPr>
          <a:xfrm>
            <a:off x="7315200" y="14630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has-cells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from Animal (4 levels up)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9"/>
          <p:cNvSpPr/>
          <p:nvPr/>
        </p:nvSpPr>
        <p:spPr>
          <a:xfrm>
            <a:off x="6858000" y="2194560"/>
            <a:ext cx="320040" cy="320040"/>
          </a:xfrm>
          <a:prstGeom prst="ellipse">
            <a:avLst/>
          </a:prstGeom>
          <a:solidFill>
            <a:srgbClr val="1A6B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29"/>
          <p:cNvSpPr/>
          <p:nvPr/>
        </p:nvSpPr>
        <p:spPr>
          <a:xfrm>
            <a:off x="7315200" y="21488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warm-blooded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from Mammal (3 levels up)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9"/>
          <p:cNvSpPr/>
          <p:nvPr/>
        </p:nvSpPr>
        <p:spPr>
          <a:xfrm>
            <a:off x="6858000" y="2880360"/>
            <a:ext cx="320040" cy="32004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9"/>
          <p:cNvSpPr/>
          <p:nvPr/>
        </p:nvSpPr>
        <p:spPr>
          <a:xfrm>
            <a:off x="7315200" y="28346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barks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from Dog (2 levels up)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9"/>
          <p:cNvSpPr/>
          <p:nvPr/>
        </p:nvSpPr>
        <p:spPr>
          <a:xfrm>
            <a:off x="6858000" y="3566160"/>
            <a:ext cx="320040" cy="32004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9"/>
          <p:cNvSpPr/>
          <p:nvPr/>
        </p:nvSpPr>
        <p:spPr>
          <a:xfrm>
            <a:off x="7315200" y="35204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guide-capable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from Labrador (1 level up)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9"/>
          <p:cNvSpPr/>
          <p:nvPr/>
        </p:nvSpPr>
        <p:spPr>
          <a:xfrm>
            <a:off x="6858000" y="4251960"/>
            <a:ext cx="320040" cy="32004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29"/>
          <p:cNvSpPr/>
          <p:nvPr/>
        </p:nvSpPr>
        <p:spPr>
          <a:xfrm>
            <a:off x="7315200" y="42062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name = Buddy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Buddy's OWN property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9"/>
          <p:cNvSpPr/>
          <p:nvPr/>
        </p:nvSpPr>
        <p:spPr>
          <a:xfrm>
            <a:off x="6766560" y="4754880"/>
            <a:ext cx="4937760" cy="68580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9"/>
          <p:cNvSpPr/>
          <p:nvPr/>
        </p:nvSpPr>
        <p:spPr>
          <a:xfrm>
            <a:off x="6903720" y="4782312"/>
            <a:ext cx="466344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WITHOUT inheritance: 5 facts stored explicitly.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WITH inheritance: 1 fact stored (name = Buddy). 4 come free!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0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Exception Handling — The Specificity Principle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0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3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0"/>
          <p:cNvSpPr/>
          <p:nvPr/>
        </p:nvSpPr>
        <p:spPr>
          <a:xfrm>
            <a:off x="365760" y="960120"/>
            <a:ext cx="5394960" cy="498348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30"/>
          <p:cNvSpPr/>
          <p:nvPr/>
        </p:nvSpPr>
        <p:spPr>
          <a:xfrm>
            <a:off x="365760" y="960120"/>
            <a:ext cx="53949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30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WITHOUT Exception Handling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0"/>
          <p:cNvSpPr/>
          <p:nvPr/>
        </p:nvSpPr>
        <p:spPr>
          <a:xfrm>
            <a:off x="1828800" y="1508760"/>
            <a:ext cx="146304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0"/>
          <p:cNvSpPr/>
          <p:nvPr/>
        </p:nvSpPr>
        <p:spPr>
          <a:xfrm>
            <a:off x="1828800" y="15087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8" name="Google Shape;1118;p30"/>
          <p:cNvCxnSpPr/>
          <p:nvPr/>
        </p:nvCxnSpPr>
        <p:spPr>
          <a:xfrm>
            <a:off x="2560320" y="1965960"/>
            <a:ext cx="0" cy="502920"/>
          </a:xfrm>
          <a:prstGeom prst="straightConnector1">
            <a:avLst/>
          </a:prstGeom>
          <a:noFill/>
          <a:ln w="16500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9" name="Google Shape;1119;p30"/>
          <p:cNvSpPr/>
          <p:nvPr/>
        </p:nvSpPr>
        <p:spPr>
          <a:xfrm>
            <a:off x="1828800" y="2468880"/>
            <a:ext cx="146304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0"/>
          <p:cNvSpPr/>
          <p:nvPr/>
        </p:nvSpPr>
        <p:spPr>
          <a:xfrm>
            <a:off x="182880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1" name="Google Shape;1121;p30"/>
          <p:cNvCxnSpPr/>
          <p:nvPr/>
        </p:nvCxnSpPr>
        <p:spPr>
          <a:xfrm>
            <a:off x="3291840" y="1737360"/>
            <a:ext cx="731520" cy="0"/>
          </a:xfrm>
          <a:prstGeom prst="straightConnector1">
            <a:avLst/>
          </a:prstGeom>
          <a:noFill/>
          <a:ln w="16500" cap="flat" cmpd="sng">
            <a:solidFill>
              <a:srgbClr val="6474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22" name="Google Shape;1122;p30"/>
          <p:cNvSpPr/>
          <p:nvPr/>
        </p:nvSpPr>
        <p:spPr>
          <a:xfrm>
            <a:off x="3337560" y="16276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0"/>
          <p:cNvSpPr/>
          <p:nvPr/>
        </p:nvSpPr>
        <p:spPr>
          <a:xfrm>
            <a:off x="4114800" y="1508760"/>
            <a:ext cx="109728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30"/>
          <p:cNvSpPr/>
          <p:nvPr/>
        </p:nvSpPr>
        <p:spPr>
          <a:xfrm>
            <a:off x="4114800" y="15087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5" name="Google Shape;1125;p30"/>
          <p:cNvCxnSpPr/>
          <p:nvPr/>
        </p:nvCxnSpPr>
        <p:spPr>
          <a:xfrm rot="10800000" flipH="1">
            <a:off x="2560320" y="2194560"/>
            <a:ext cx="2103120" cy="731520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126" name="Google Shape;1126;p30"/>
          <p:cNvSpPr/>
          <p:nvPr/>
        </p:nvSpPr>
        <p:spPr>
          <a:xfrm>
            <a:off x="1828800" y="31546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WRONGLY inherits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can-fly = TRUE!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0"/>
          <p:cNvSpPr/>
          <p:nvPr/>
        </p:nvSpPr>
        <p:spPr>
          <a:xfrm>
            <a:off x="502920" y="3886200"/>
            <a:ext cx="5120640" cy="82296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0"/>
          <p:cNvSpPr/>
          <p:nvPr/>
        </p:nvSpPr>
        <p:spPr>
          <a:xfrm>
            <a:off x="594360" y="3913632"/>
            <a:ext cx="49377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Penguins are birds → Penguins CAN fly (WRONG!)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Rule-based and naive graph systems make this mistake.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0"/>
          <p:cNvSpPr/>
          <p:nvPr/>
        </p:nvSpPr>
        <p:spPr>
          <a:xfrm>
            <a:off x="6217920" y="960120"/>
            <a:ext cx="5577840" cy="498348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0"/>
          <p:cNvSpPr/>
          <p:nvPr/>
        </p:nvSpPr>
        <p:spPr>
          <a:xfrm>
            <a:off x="6217920" y="960120"/>
            <a:ext cx="557784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0"/>
          <p:cNvSpPr/>
          <p:nvPr/>
        </p:nvSpPr>
        <p:spPr>
          <a:xfrm>
            <a:off x="6309360" y="9601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WITH the Specificity Principle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0"/>
          <p:cNvSpPr/>
          <p:nvPr/>
        </p:nvSpPr>
        <p:spPr>
          <a:xfrm>
            <a:off x="7589520" y="1508760"/>
            <a:ext cx="146304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0"/>
          <p:cNvSpPr/>
          <p:nvPr/>
        </p:nvSpPr>
        <p:spPr>
          <a:xfrm>
            <a:off x="7589520" y="15087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4" name="Google Shape;1134;p30"/>
          <p:cNvCxnSpPr/>
          <p:nvPr/>
        </p:nvCxnSpPr>
        <p:spPr>
          <a:xfrm>
            <a:off x="8321040" y="1965960"/>
            <a:ext cx="0" cy="502920"/>
          </a:xfrm>
          <a:prstGeom prst="straightConnector1">
            <a:avLst/>
          </a:prstGeom>
          <a:noFill/>
          <a:ln w="16500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5" name="Google Shape;1135;p30"/>
          <p:cNvSpPr/>
          <p:nvPr/>
        </p:nvSpPr>
        <p:spPr>
          <a:xfrm>
            <a:off x="7589520" y="2468880"/>
            <a:ext cx="146304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30"/>
          <p:cNvSpPr/>
          <p:nvPr/>
        </p:nvSpPr>
        <p:spPr>
          <a:xfrm>
            <a:off x="758952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7" name="Google Shape;1137;p30"/>
          <p:cNvCxnSpPr/>
          <p:nvPr/>
        </p:nvCxnSpPr>
        <p:spPr>
          <a:xfrm>
            <a:off x="9052560" y="1737360"/>
            <a:ext cx="640080" cy="0"/>
          </a:xfrm>
          <a:prstGeom prst="straightConnector1">
            <a:avLst/>
          </a:prstGeom>
          <a:noFill/>
          <a:ln w="16500" cap="flat" cmpd="sng">
            <a:solidFill>
              <a:srgbClr val="6474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38" name="Google Shape;1138;p30"/>
          <p:cNvSpPr/>
          <p:nvPr/>
        </p:nvSpPr>
        <p:spPr>
          <a:xfrm>
            <a:off x="9052560" y="162763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0"/>
          <p:cNvSpPr/>
          <p:nvPr/>
        </p:nvSpPr>
        <p:spPr>
          <a:xfrm>
            <a:off x="9784080" y="1508760"/>
            <a:ext cx="109728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30"/>
          <p:cNvSpPr/>
          <p:nvPr/>
        </p:nvSpPr>
        <p:spPr>
          <a:xfrm>
            <a:off x="9784080" y="15087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1" name="Google Shape;1141;p30"/>
          <p:cNvCxnSpPr/>
          <p:nvPr/>
        </p:nvCxnSpPr>
        <p:spPr>
          <a:xfrm rot="10800000" flipH="1">
            <a:off x="9052560" y="2194560"/>
            <a:ext cx="640080" cy="502920"/>
          </a:xfrm>
          <a:prstGeom prst="straightConnector1">
            <a:avLst/>
          </a:prstGeom>
          <a:noFill/>
          <a:ln w="25400" cap="flat" cmpd="sng">
            <a:solidFill>
              <a:srgbClr val="DC2626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142" name="Google Shape;1142;p30"/>
          <p:cNvSpPr/>
          <p:nvPr/>
        </p:nvSpPr>
        <p:spPr>
          <a:xfrm>
            <a:off x="9052560" y="27889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0"/>
          <p:cNvSpPr/>
          <p:nvPr/>
        </p:nvSpPr>
        <p:spPr>
          <a:xfrm>
            <a:off x="6355080" y="3383280"/>
            <a:ext cx="5303520" cy="10972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0"/>
          <p:cNvSpPr/>
          <p:nvPr/>
        </p:nvSpPr>
        <p:spPr>
          <a:xfrm>
            <a:off x="6446520" y="34290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SPECIFICITY RULE: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0"/>
          <p:cNvSpPr/>
          <p:nvPr/>
        </p:nvSpPr>
        <p:spPr>
          <a:xfrm>
            <a:off x="6446520" y="374904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 MOST SPECIFIC edge (closest to the queried node) ALWAYS wins.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Penguin's direct CANNOT edge overrides Bird's inherited CAN edge.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0"/>
          <p:cNvSpPr/>
          <p:nvPr/>
        </p:nvSpPr>
        <p:spPr>
          <a:xfrm>
            <a:off x="6355080" y="4617720"/>
            <a:ext cx="5303520" cy="11887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0"/>
          <p:cNvSpPr/>
          <p:nvPr/>
        </p:nvSpPr>
        <p:spPr>
          <a:xfrm>
            <a:off x="6492240" y="46634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WHY THIS MATTERS: Store the GENERAL RULE once (Birds can fly). Add INDIVIDUAL EXCEPTIONS where needed (Penguin). You do NOT redefine everything from scratch for each exception!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31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3.1: Design a University Course Hierarchy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3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1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1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An AI advisor needs to answer: 'Is this course technical?', 'Does it have an assessment?', 'Are prerequisites required?' Design a 5-level concept hierarchy for university courses.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1"/>
          <p:cNvSpPr/>
          <p:nvPr/>
        </p:nvSpPr>
        <p:spPr>
          <a:xfrm>
            <a:off x="36576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31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31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1"/>
          <p:cNvSpPr/>
          <p:nvPr/>
        </p:nvSpPr>
        <p:spPr>
          <a:xfrm>
            <a:off x="47548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a 5-level node-edge tree: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Academic Course at top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3 category branches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6 specific leaf courses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Connect with is-a edges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1"/>
          <p:cNvSpPr/>
          <p:nvPr/>
        </p:nvSpPr>
        <p:spPr>
          <a:xfrm>
            <a:off x="320040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1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1"/>
          <p:cNvSpPr/>
          <p:nvPr/>
        </p:nvSpPr>
        <p:spPr>
          <a:xfrm>
            <a:off x="331012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Define 3 inherited properties at each top level.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which properties flow down to leaf courses by following inheritance paths.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1"/>
          <p:cNvSpPr/>
          <p:nvPr/>
        </p:nvSpPr>
        <p:spPr>
          <a:xfrm>
            <a:off x="603504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31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31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1"/>
          <p:cNvSpPr/>
          <p:nvPr/>
        </p:nvSpPr>
        <p:spPr>
          <a:xfrm>
            <a:off x="614476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Add 2 exceptions: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One course that OVERRIDES an inherited 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Example: A thesis course overrides has-exam = FALSE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1"/>
          <p:cNvSpPr/>
          <p:nvPr/>
        </p:nvSpPr>
        <p:spPr>
          <a:xfrm>
            <a:off x="886968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1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31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1"/>
          <p:cNvSpPr/>
          <p:nvPr/>
        </p:nvSpPr>
        <p:spPr>
          <a:xfrm>
            <a:off x="897940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these queries: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'Is CS101 technical?'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'Does CS101 have an assessment?'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Show exact node-edge path for each.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32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3.1: Design a University Course Hierarchy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3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2"/>
          <p:cNvSpPr/>
          <p:nvPr/>
        </p:nvSpPr>
        <p:spPr>
          <a:xfrm>
            <a:off x="365760" y="9601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HIERARCHY: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2"/>
          <p:cNvSpPr/>
          <p:nvPr/>
        </p:nvSpPr>
        <p:spPr>
          <a:xfrm>
            <a:off x="2560320" y="1325880"/>
            <a:ext cx="2011680" cy="457200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32"/>
          <p:cNvSpPr/>
          <p:nvPr/>
        </p:nvSpPr>
        <p:spPr>
          <a:xfrm>
            <a:off x="2560320" y="1325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 Course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2"/>
          <p:cNvSpPr/>
          <p:nvPr/>
        </p:nvSpPr>
        <p:spPr>
          <a:xfrm>
            <a:off x="457200" y="2148840"/>
            <a:ext cx="1554480" cy="45720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32"/>
          <p:cNvSpPr/>
          <p:nvPr/>
        </p:nvSpPr>
        <p:spPr>
          <a:xfrm>
            <a:off x="457200" y="21488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2"/>
          <p:cNvSpPr/>
          <p:nvPr/>
        </p:nvSpPr>
        <p:spPr>
          <a:xfrm>
            <a:off x="2560320" y="2148840"/>
            <a:ext cx="1554480" cy="457200"/>
          </a:xfrm>
          <a:prstGeom prst="ellipse">
            <a:avLst/>
          </a:prstGeom>
          <a:solidFill>
            <a:srgbClr val="2D7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2"/>
          <p:cNvSpPr/>
          <p:nvPr/>
        </p:nvSpPr>
        <p:spPr>
          <a:xfrm>
            <a:off x="2560320" y="21488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2"/>
          <p:cNvSpPr/>
          <p:nvPr/>
        </p:nvSpPr>
        <p:spPr>
          <a:xfrm>
            <a:off x="4663440" y="2148840"/>
            <a:ext cx="1645920" cy="4572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32"/>
          <p:cNvSpPr/>
          <p:nvPr/>
        </p:nvSpPr>
        <p:spPr>
          <a:xfrm>
            <a:off x="4663440" y="21488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2"/>
          <p:cNvSpPr/>
          <p:nvPr/>
        </p:nvSpPr>
        <p:spPr>
          <a:xfrm>
            <a:off x="274320" y="2971800"/>
            <a:ext cx="91440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32"/>
          <p:cNvSpPr/>
          <p:nvPr/>
        </p:nvSpPr>
        <p:spPr>
          <a:xfrm>
            <a:off x="274320" y="2971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2"/>
          <p:cNvSpPr/>
          <p:nvPr/>
        </p:nvSpPr>
        <p:spPr>
          <a:xfrm>
            <a:off x="1371600" y="2971800"/>
            <a:ext cx="914400" cy="457200"/>
          </a:xfrm>
          <a:prstGeom prst="ellipse">
            <a:avLst/>
          </a:prstGeom>
          <a:solidFill>
            <a:srgbClr val="1E8C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32"/>
          <p:cNvSpPr/>
          <p:nvPr/>
        </p:nvSpPr>
        <p:spPr>
          <a:xfrm>
            <a:off x="1371600" y="2971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2"/>
          <p:cNvSpPr/>
          <p:nvPr/>
        </p:nvSpPr>
        <p:spPr>
          <a:xfrm>
            <a:off x="2377440" y="2971800"/>
            <a:ext cx="1005840" cy="45720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32"/>
          <p:cNvSpPr/>
          <p:nvPr/>
        </p:nvSpPr>
        <p:spPr>
          <a:xfrm>
            <a:off x="2377440" y="2971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2"/>
          <p:cNvSpPr/>
          <p:nvPr/>
        </p:nvSpPr>
        <p:spPr>
          <a:xfrm>
            <a:off x="3520440" y="2971800"/>
            <a:ext cx="1005840" cy="45720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2"/>
          <p:cNvSpPr/>
          <p:nvPr/>
        </p:nvSpPr>
        <p:spPr>
          <a:xfrm>
            <a:off x="3520440" y="2971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2"/>
          <p:cNvSpPr/>
          <p:nvPr/>
        </p:nvSpPr>
        <p:spPr>
          <a:xfrm>
            <a:off x="4617720" y="2971800"/>
            <a:ext cx="1005840" cy="457200"/>
          </a:xfrm>
          <a:prstGeom prst="ellipse">
            <a:avLst/>
          </a:prstGeom>
          <a:solidFill>
            <a:srgbClr val="6D3D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32"/>
          <p:cNvSpPr/>
          <p:nvPr/>
        </p:nvSpPr>
        <p:spPr>
          <a:xfrm>
            <a:off x="4617720" y="2971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2"/>
          <p:cNvSpPr/>
          <p:nvPr/>
        </p:nvSpPr>
        <p:spPr>
          <a:xfrm>
            <a:off x="274320" y="3794760"/>
            <a:ext cx="100584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2"/>
          <p:cNvSpPr/>
          <p:nvPr/>
        </p:nvSpPr>
        <p:spPr>
          <a:xfrm>
            <a:off x="274320" y="37947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CS101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2"/>
          <p:cNvSpPr/>
          <p:nvPr/>
        </p:nvSpPr>
        <p:spPr>
          <a:xfrm>
            <a:off x="1417320" y="3794760"/>
            <a:ext cx="118872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32"/>
          <p:cNvSpPr/>
          <p:nvPr/>
        </p:nvSpPr>
        <p:spPr>
          <a:xfrm>
            <a:off x="1417320" y="3794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CS501-AI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2"/>
          <p:cNvSpPr/>
          <p:nvPr/>
        </p:nvSpPr>
        <p:spPr>
          <a:xfrm>
            <a:off x="2423160" y="3794760"/>
            <a:ext cx="1005840" cy="45720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2"/>
          <p:cNvSpPr/>
          <p:nvPr/>
        </p:nvSpPr>
        <p:spPr>
          <a:xfrm>
            <a:off x="2423160" y="37947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EE201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2"/>
          <p:cNvSpPr/>
          <p:nvPr/>
        </p:nvSpPr>
        <p:spPr>
          <a:xfrm>
            <a:off x="3566160" y="3794760"/>
            <a:ext cx="1005840" cy="457200"/>
          </a:xfrm>
          <a:prstGeom prst="ellipse">
            <a:avLst/>
          </a:prstGeom>
          <a:solidFill>
            <a:srgbClr val="2C91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32"/>
          <p:cNvSpPr/>
          <p:nvPr/>
        </p:nvSpPr>
        <p:spPr>
          <a:xfrm>
            <a:off x="3566160" y="37947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PHY301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2"/>
          <p:cNvSpPr/>
          <p:nvPr/>
        </p:nvSpPr>
        <p:spPr>
          <a:xfrm>
            <a:off x="4663440" y="3794760"/>
            <a:ext cx="1005840" cy="457200"/>
          </a:xfrm>
          <a:prstGeom prst="ellipse">
            <a:avLst/>
          </a:prstGeom>
          <a:solidFill>
            <a:srgbClr val="6D3D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32"/>
          <p:cNvSpPr/>
          <p:nvPr/>
        </p:nvSpPr>
        <p:spPr>
          <a:xfrm>
            <a:off x="4663440" y="37947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HIS101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2"/>
          <p:cNvSpPr/>
          <p:nvPr/>
        </p:nvSpPr>
        <p:spPr>
          <a:xfrm>
            <a:off x="365760" y="4663440"/>
            <a:ext cx="5943600" cy="13716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32"/>
          <p:cNvSpPr/>
          <p:nvPr/>
        </p:nvSpPr>
        <p:spPr>
          <a:xfrm>
            <a:off x="502920" y="4709160"/>
            <a:ext cx="566928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Properties: Academic Course: has-assessment=TRUE, has-credits=TRUE, has-syllabus=TRUE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Technical: involves-coding=TRUE, has-lab=TRUE  |  Science: involves-experiments=TRUE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EXCEPTION: CS999-Thesis overrides has-exam=FALSE (direct edge beats inherited TRUE)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2"/>
          <p:cNvSpPr/>
          <p:nvPr/>
        </p:nvSpPr>
        <p:spPr>
          <a:xfrm>
            <a:off x="6492240" y="96012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32"/>
          <p:cNvSpPr/>
          <p:nvPr/>
        </p:nvSpPr>
        <p:spPr>
          <a:xfrm>
            <a:off x="6492240" y="960120"/>
            <a:ext cx="530352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32"/>
          <p:cNvSpPr/>
          <p:nvPr/>
        </p:nvSpPr>
        <p:spPr>
          <a:xfrm>
            <a:off x="6583680" y="96012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TRACE: 'Is CS101 technical?'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2"/>
          <p:cNvSpPr/>
          <p:nvPr/>
        </p:nvSpPr>
        <p:spPr>
          <a:xfrm>
            <a:off x="6629400" y="1389888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CS101 → is-a → Computer Science → is-a → Technical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ANSWER: YES.  2 hops.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2"/>
          <p:cNvSpPr/>
          <p:nvPr/>
        </p:nvSpPr>
        <p:spPr>
          <a:xfrm>
            <a:off x="6492240" y="3520440"/>
            <a:ext cx="530352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32"/>
          <p:cNvSpPr/>
          <p:nvPr/>
        </p:nvSpPr>
        <p:spPr>
          <a:xfrm>
            <a:off x="6492240" y="3520440"/>
            <a:ext cx="530352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32"/>
          <p:cNvSpPr/>
          <p:nvPr/>
        </p:nvSpPr>
        <p:spPr>
          <a:xfrm>
            <a:off x="6583680" y="352044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TRACE: 'Does CS101 have assessment?'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2"/>
          <p:cNvSpPr/>
          <p:nvPr/>
        </p:nvSpPr>
        <p:spPr>
          <a:xfrm>
            <a:off x="6629400" y="3950208"/>
            <a:ext cx="50749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CS101 → no own has-assessment edge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↑ go up → Computer Science → no edge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↑ go up → Technical → no edge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↑ go up → Academic Course → has-assessment = TRUE  ✔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ANSWER: YES — inherited from 3 levels up!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3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3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3.2: Inheritance Debugging Challenge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3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3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33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Find what is REDUNDANT, WRONG, or MISSING in this knowledge base. Classify each fact, write the minimal correct set.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3"/>
          <p:cNvSpPr/>
          <p:nvPr/>
        </p:nvSpPr>
        <p:spPr>
          <a:xfrm>
            <a:off x="365760" y="178308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33"/>
          <p:cNvSpPr/>
          <p:nvPr/>
        </p:nvSpPr>
        <p:spPr>
          <a:xfrm>
            <a:off x="502920" y="19202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(a) Animal.can-breathe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3"/>
          <p:cNvSpPr/>
          <p:nvPr/>
        </p:nvSpPr>
        <p:spPr>
          <a:xfrm>
            <a:off x="502920" y="2468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3"/>
          <p:cNvSpPr/>
          <p:nvPr/>
        </p:nvSpPr>
        <p:spPr>
          <a:xfrm>
            <a:off x="4206240" y="178308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33"/>
          <p:cNvSpPr/>
          <p:nvPr/>
        </p:nvSpPr>
        <p:spPr>
          <a:xfrm>
            <a:off x="4343400" y="19202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(b) Dog.can-breathe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3"/>
          <p:cNvSpPr/>
          <p:nvPr/>
        </p:nvSpPr>
        <p:spPr>
          <a:xfrm>
            <a:off x="4343400" y="2468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3"/>
          <p:cNvSpPr/>
          <p:nvPr/>
        </p:nvSpPr>
        <p:spPr>
          <a:xfrm>
            <a:off x="8046720" y="178308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3"/>
          <p:cNvSpPr/>
          <p:nvPr/>
        </p:nvSpPr>
        <p:spPr>
          <a:xfrm>
            <a:off x="8183880" y="19202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(c) Labrador.can-breathe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3"/>
          <p:cNvSpPr/>
          <p:nvPr/>
        </p:nvSpPr>
        <p:spPr>
          <a:xfrm>
            <a:off x="8183880" y="2468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3"/>
          <p:cNvSpPr/>
          <p:nvPr/>
        </p:nvSpPr>
        <p:spPr>
          <a:xfrm>
            <a:off x="365760" y="310896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33"/>
          <p:cNvSpPr/>
          <p:nvPr/>
        </p:nvSpPr>
        <p:spPr>
          <a:xfrm>
            <a:off x="502920" y="32461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(d) Cat.can-breathe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3"/>
          <p:cNvSpPr/>
          <p:nvPr/>
        </p:nvSpPr>
        <p:spPr>
          <a:xfrm>
            <a:off x="502920" y="3794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3"/>
          <p:cNvSpPr/>
          <p:nvPr/>
        </p:nvSpPr>
        <p:spPr>
          <a:xfrm>
            <a:off x="4206240" y="310896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3"/>
          <p:cNvSpPr/>
          <p:nvPr/>
        </p:nvSpPr>
        <p:spPr>
          <a:xfrm>
            <a:off x="4343400" y="32461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(e) Bird.can-fly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3"/>
          <p:cNvSpPr/>
          <p:nvPr/>
        </p:nvSpPr>
        <p:spPr>
          <a:xfrm>
            <a:off x="4343400" y="3794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3"/>
          <p:cNvSpPr/>
          <p:nvPr/>
        </p:nvSpPr>
        <p:spPr>
          <a:xfrm>
            <a:off x="8046720" y="310896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3"/>
          <p:cNvSpPr/>
          <p:nvPr/>
        </p:nvSpPr>
        <p:spPr>
          <a:xfrm>
            <a:off x="8183880" y="32461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(f) Penguin.can-fly =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3"/>
          <p:cNvSpPr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3"/>
          <p:cNvSpPr/>
          <p:nvPr/>
        </p:nvSpPr>
        <p:spPr>
          <a:xfrm>
            <a:off x="365760" y="44348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33"/>
          <p:cNvSpPr/>
          <p:nvPr/>
        </p:nvSpPr>
        <p:spPr>
          <a:xfrm>
            <a:off x="502920" y="45720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(g) Penguin.is-a = Bird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3"/>
          <p:cNvSpPr/>
          <p:nvPr/>
        </p:nvSpPr>
        <p:spPr>
          <a:xfrm>
            <a:off x="502920" y="5120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3"/>
          <p:cNvSpPr/>
          <p:nvPr/>
        </p:nvSpPr>
        <p:spPr>
          <a:xfrm>
            <a:off x="4206240" y="44348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33"/>
          <p:cNvSpPr/>
          <p:nvPr/>
        </p:nvSpPr>
        <p:spPr>
          <a:xfrm>
            <a:off x="4343400" y="45720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(h) Bat.is-a = Mammal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3"/>
          <p:cNvSpPr/>
          <p:nvPr/>
        </p:nvSpPr>
        <p:spPr>
          <a:xfrm>
            <a:off x="4343400" y="5120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8046720" y="44348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3"/>
          <p:cNvSpPr/>
          <p:nvPr/>
        </p:nvSpPr>
        <p:spPr>
          <a:xfrm>
            <a:off x="8183880" y="45720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(i) Bat.can-fly = NOT DEFINED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3"/>
          <p:cNvSpPr/>
          <p:nvPr/>
        </p:nvSpPr>
        <p:spPr>
          <a:xfrm>
            <a:off x="8183880" y="5120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Classification: _________________________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34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3.2: Inheritance Debugging Challenge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3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4"/>
          <p:cNvSpPr/>
          <p:nvPr/>
        </p:nvSpPr>
        <p:spPr>
          <a:xfrm>
            <a:off x="365760" y="9601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34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4"/>
          <p:cNvSpPr/>
          <p:nvPr/>
        </p:nvSpPr>
        <p:spPr>
          <a:xfrm>
            <a:off x="45720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 &amp;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4"/>
          <p:cNvSpPr/>
          <p:nvPr/>
        </p:nvSpPr>
        <p:spPr>
          <a:xfrm>
            <a:off x="457200" y="13533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(a) Animal.can-breathe=TRUE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4"/>
          <p:cNvSpPr/>
          <p:nvPr/>
        </p:nvSpPr>
        <p:spPr>
          <a:xfrm>
            <a:off x="457200" y="170992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Source of breathing — remove it and the property disappears entirely.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4206240" y="9601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34"/>
          <p:cNvSpPr/>
          <p:nvPr/>
        </p:nvSpPr>
        <p:spPr>
          <a:xfrm>
            <a:off x="4206240" y="960120"/>
            <a:ext cx="3657600" cy="34747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34"/>
          <p:cNvSpPr/>
          <p:nvPr/>
        </p:nvSpPr>
        <p:spPr>
          <a:xfrm>
            <a:off x="429768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4"/>
          <p:cNvSpPr/>
          <p:nvPr/>
        </p:nvSpPr>
        <p:spPr>
          <a:xfrm>
            <a:off x="4297680" y="13533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(b) Dog.can-breathe=TRUE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4"/>
          <p:cNvSpPr/>
          <p:nvPr/>
        </p:nvSpPr>
        <p:spPr>
          <a:xfrm>
            <a:off x="4297680" y="170992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Dog→Mammal→Animal already inherits it. Delete!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8046720" y="9601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34"/>
          <p:cNvSpPr/>
          <p:nvPr/>
        </p:nvSpPr>
        <p:spPr>
          <a:xfrm>
            <a:off x="8046720" y="960120"/>
            <a:ext cx="3657600" cy="34747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34"/>
          <p:cNvSpPr/>
          <p:nvPr/>
        </p:nvSpPr>
        <p:spPr>
          <a:xfrm>
            <a:off x="813816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4"/>
          <p:cNvSpPr/>
          <p:nvPr/>
        </p:nvSpPr>
        <p:spPr>
          <a:xfrm>
            <a:off x="8138160" y="13533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(c) Labrador.can-breathe=TRUE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4"/>
          <p:cNvSpPr/>
          <p:nvPr/>
        </p:nvSpPr>
        <p:spPr>
          <a:xfrm>
            <a:off x="8138160" y="170992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Inherits through 3 levels. Delete!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4"/>
          <p:cNvSpPr/>
          <p:nvPr/>
        </p:nvSpPr>
        <p:spPr>
          <a:xfrm>
            <a:off x="365760" y="27432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34"/>
          <p:cNvSpPr/>
          <p:nvPr/>
        </p:nvSpPr>
        <p:spPr>
          <a:xfrm>
            <a:off x="365760" y="2743200"/>
            <a:ext cx="3657600" cy="34747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34"/>
          <p:cNvSpPr/>
          <p:nvPr/>
        </p:nvSpPr>
        <p:spPr>
          <a:xfrm>
            <a:off x="457200" y="27432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4"/>
          <p:cNvSpPr/>
          <p:nvPr/>
        </p:nvSpPr>
        <p:spPr>
          <a:xfrm>
            <a:off x="457200" y="31363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(d) Cat.can-breathe=TRUE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4"/>
          <p:cNvSpPr/>
          <p:nvPr/>
        </p:nvSpPr>
        <p:spPr>
          <a:xfrm>
            <a:off x="457200" y="34930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Cat→Mammal→Animal covers it. Delete!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4"/>
          <p:cNvSpPr/>
          <p:nvPr/>
        </p:nvSpPr>
        <p:spPr>
          <a:xfrm>
            <a:off x="4206240" y="27432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4"/>
          <p:cNvSpPr/>
          <p:nvPr/>
        </p:nvSpPr>
        <p:spPr>
          <a:xfrm>
            <a:off x="4206240" y="2743200"/>
            <a:ext cx="365760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4"/>
          <p:cNvSpPr/>
          <p:nvPr/>
        </p:nvSpPr>
        <p:spPr>
          <a:xfrm>
            <a:off x="4297680" y="27432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 &amp;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4297680" y="31363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(e) Bird.can-fly=TRUE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4"/>
          <p:cNvSpPr/>
          <p:nvPr/>
        </p:nvSpPr>
        <p:spPr>
          <a:xfrm>
            <a:off x="4297680" y="34930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Default for all birds. Must stay.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4"/>
          <p:cNvSpPr/>
          <p:nvPr/>
        </p:nvSpPr>
        <p:spPr>
          <a:xfrm>
            <a:off x="8046720" y="27432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34"/>
          <p:cNvSpPr/>
          <p:nvPr/>
        </p:nvSpPr>
        <p:spPr>
          <a:xfrm>
            <a:off x="8046720" y="2743200"/>
            <a:ext cx="36576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34"/>
          <p:cNvSpPr/>
          <p:nvPr/>
        </p:nvSpPr>
        <p:spPr>
          <a:xfrm>
            <a:off x="8138160" y="27432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WRONG!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4"/>
          <p:cNvSpPr/>
          <p:nvPr/>
        </p:nvSpPr>
        <p:spPr>
          <a:xfrm>
            <a:off x="8138160" y="31363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(f) Penguin.can-fly=TRUE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4"/>
          <p:cNvSpPr/>
          <p:nvPr/>
        </p:nvSpPr>
        <p:spPr>
          <a:xfrm>
            <a:off x="8138160" y="34930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Penguins cannot fly! Should be: Penguin.can-fly=FALSE (explicit override).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4"/>
          <p:cNvSpPr/>
          <p:nvPr/>
        </p:nvSpPr>
        <p:spPr>
          <a:xfrm>
            <a:off x="365760" y="45262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34"/>
          <p:cNvSpPr/>
          <p:nvPr/>
        </p:nvSpPr>
        <p:spPr>
          <a:xfrm>
            <a:off x="365760" y="4526280"/>
            <a:ext cx="365760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34"/>
          <p:cNvSpPr/>
          <p:nvPr/>
        </p:nvSpPr>
        <p:spPr>
          <a:xfrm>
            <a:off x="457200" y="4526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 &amp;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4"/>
          <p:cNvSpPr/>
          <p:nvPr/>
        </p:nvSpPr>
        <p:spPr>
          <a:xfrm>
            <a:off x="457200" y="491947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(g) Penguin.is-a=Bird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4"/>
          <p:cNvSpPr/>
          <p:nvPr/>
        </p:nvSpPr>
        <p:spPr>
          <a:xfrm>
            <a:off x="457200" y="52760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Structural relationship. Must stay.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4"/>
          <p:cNvSpPr/>
          <p:nvPr/>
        </p:nvSpPr>
        <p:spPr>
          <a:xfrm>
            <a:off x="4206240" y="45262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4"/>
          <p:cNvSpPr/>
          <p:nvPr/>
        </p:nvSpPr>
        <p:spPr>
          <a:xfrm>
            <a:off x="4206240" y="4526280"/>
            <a:ext cx="365760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4"/>
          <p:cNvSpPr/>
          <p:nvPr/>
        </p:nvSpPr>
        <p:spPr>
          <a:xfrm>
            <a:off x="4297680" y="4526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 &amp;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4"/>
          <p:cNvSpPr/>
          <p:nvPr/>
        </p:nvSpPr>
        <p:spPr>
          <a:xfrm>
            <a:off x="4297680" y="491947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(h) Bat.is-a=Mammal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4"/>
          <p:cNvSpPr/>
          <p:nvPr/>
        </p:nvSpPr>
        <p:spPr>
          <a:xfrm>
            <a:off x="4297680" y="52760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Bats are mammals. Must stay.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4"/>
          <p:cNvSpPr/>
          <p:nvPr/>
        </p:nvSpPr>
        <p:spPr>
          <a:xfrm>
            <a:off x="8046720" y="45262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4"/>
          <p:cNvSpPr/>
          <p:nvPr/>
        </p:nvSpPr>
        <p:spPr>
          <a:xfrm>
            <a:off x="8046720" y="4526280"/>
            <a:ext cx="36576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4"/>
          <p:cNvSpPr/>
          <p:nvPr/>
        </p:nvSpPr>
        <p:spPr>
          <a:xfrm>
            <a:off x="8138160" y="4526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MISSING!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4"/>
          <p:cNvSpPr/>
          <p:nvPr/>
        </p:nvSpPr>
        <p:spPr>
          <a:xfrm>
            <a:off x="8138160" y="491947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(i) Bat.can-fly=UNDEFINED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4"/>
          <p:cNvSpPr/>
          <p:nvPr/>
        </p:nvSpPr>
        <p:spPr>
          <a:xfrm>
            <a:off x="8138160" y="52760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Should be: Bat.can-fly=TRUE. Bats fly despite being mammals.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4"/>
          <p:cNvSpPr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3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MINIMAL CORRECT SET: (a), (e), FIXED-(f) as FALSE, (g), (h), NEW-(i) as TRUE = 6 facts.  REDUCTION: 9 → 6 facts = 33% saved!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8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Frames and Slot-Based Knowledge Structures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8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Minsky's templates: structured records with active procedures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8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38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 of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3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3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9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 What Is a Frame?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9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3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9"/>
          <p:cNvSpPr/>
          <p:nvPr/>
        </p:nvSpPr>
        <p:spPr>
          <a:xfrm>
            <a:off x="365760" y="914400"/>
            <a:ext cx="11430000" cy="105156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39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Minsky (1975): Human memory uses TEMPLATES — mental structures pre-loaded with typical knowledge.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9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When you walk into a restaurant you've never been to, you already know: there will be a menu, someone will take your order, you will pay at the end. This template is a FRAME.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39"/>
          <p:cNvSpPr/>
          <p:nvPr/>
        </p:nvSpPr>
        <p:spPr>
          <a:xfrm>
            <a:off x="365760" y="219456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39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39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SLOT 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9"/>
          <p:cNvSpPr/>
          <p:nvPr/>
        </p:nvSpPr>
        <p:spPr>
          <a:xfrm>
            <a:off x="475488" y="265176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Named attribute of the concept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(make, color, year, fuel)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9"/>
          <p:cNvSpPr/>
          <p:nvPr/>
        </p:nvSpPr>
        <p:spPr>
          <a:xfrm>
            <a:off x="3200400" y="219456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39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39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9"/>
          <p:cNvSpPr/>
          <p:nvPr/>
        </p:nvSpPr>
        <p:spPr>
          <a:xfrm>
            <a:off x="3310128" y="265176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 actual stored value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(make = Toyota)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9"/>
          <p:cNvSpPr/>
          <p:nvPr/>
        </p:nvSpPr>
        <p:spPr>
          <a:xfrm>
            <a:off x="6035040" y="219456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39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39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9"/>
          <p:cNvSpPr/>
          <p:nvPr/>
        </p:nvSpPr>
        <p:spPr>
          <a:xfrm>
            <a:off x="6144768" y="265176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Value if none given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(fuel = gasoline)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9"/>
          <p:cNvSpPr/>
          <p:nvPr/>
        </p:nvSpPr>
        <p:spPr>
          <a:xfrm>
            <a:off x="8869680" y="219456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39"/>
          <p:cNvSpPr/>
          <p:nvPr/>
        </p:nvSpPr>
        <p:spPr>
          <a:xfrm>
            <a:off x="8869680" y="21945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39"/>
          <p:cNvSpPr/>
          <p:nvPr/>
        </p:nvSpPr>
        <p:spPr>
          <a:xfrm>
            <a:off x="8869680" y="21945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 CONSTRAINT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9"/>
          <p:cNvSpPr/>
          <p:nvPr/>
        </p:nvSpPr>
        <p:spPr>
          <a:xfrm>
            <a:off x="8979408" y="265176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Valid values / data type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(year: 1900–2030)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9"/>
          <p:cNvSpPr/>
          <p:nvPr/>
        </p:nvSpPr>
        <p:spPr>
          <a:xfrm>
            <a:off x="365760" y="41605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39"/>
          <p:cNvSpPr/>
          <p:nvPr/>
        </p:nvSpPr>
        <p:spPr>
          <a:xfrm>
            <a:off x="365760" y="4160520"/>
            <a:ext cx="2651760" cy="41148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39"/>
          <p:cNvSpPr/>
          <p:nvPr/>
        </p:nvSpPr>
        <p:spPr>
          <a:xfrm>
            <a:off x="365760" y="4160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9"/>
          <p:cNvSpPr/>
          <p:nvPr/>
        </p:nvSpPr>
        <p:spPr>
          <a:xfrm>
            <a:off x="475488" y="461772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Computed on demand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compute_engine(year, model)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9"/>
          <p:cNvSpPr/>
          <p:nvPr/>
        </p:nvSpPr>
        <p:spPr>
          <a:xfrm>
            <a:off x="3200400" y="41605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39"/>
          <p:cNvSpPr/>
          <p:nvPr/>
        </p:nvSpPr>
        <p:spPr>
          <a:xfrm>
            <a:off x="3200400" y="4160520"/>
            <a:ext cx="26517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39"/>
          <p:cNvSpPr/>
          <p:nvPr/>
        </p:nvSpPr>
        <p:spPr>
          <a:xfrm>
            <a:off x="3200400" y="4160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IF-ADDED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9"/>
          <p:cNvSpPr/>
          <p:nvPr/>
        </p:nvSpPr>
        <p:spPr>
          <a:xfrm>
            <a:off x="3310128" y="461772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Fires when value is 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run_price_check()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9"/>
          <p:cNvSpPr/>
          <p:nvPr/>
        </p:nvSpPr>
        <p:spPr>
          <a:xfrm>
            <a:off x="6035040" y="41605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39"/>
          <p:cNvSpPr/>
          <p:nvPr/>
        </p:nvSpPr>
        <p:spPr>
          <a:xfrm>
            <a:off x="6035040" y="4160520"/>
            <a:ext cx="2651760" cy="411480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39"/>
          <p:cNvSpPr/>
          <p:nvPr/>
        </p:nvSpPr>
        <p:spPr>
          <a:xfrm>
            <a:off x="6035040" y="4160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IF-REMOVED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9"/>
          <p:cNvSpPr/>
          <p:nvPr/>
        </p:nvSpPr>
        <p:spPr>
          <a:xfrm>
            <a:off x="6144768" y="4617720"/>
            <a:ext cx="24323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Fires when value deleted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archive_record()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40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 The Car Frame — Node Diagram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0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4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4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40"/>
          <p:cNvSpPr/>
          <p:nvPr/>
        </p:nvSpPr>
        <p:spPr>
          <a:xfrm>
            <a:off x="4389120" y="868680"/>
            <a:ext cx="2743200" cy="594360"/>
          </a:xfrm>
          <a:prstGeom prst="ellipse">
            <a:avLst/>
          </a:prstGeom>
          <a:solidFill>
            <a:srgbClr val="1A5B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40"/>
          <p:cNvSpPr/>
          <p:nvPr/>
        </p:nvSpPr>
        <p:spPr>
          <a:xfrm>
            <a:off x="4389120" y="868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Vehicle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6" name="Google Shape;1486;p40"/>
          <p:cNvCxnSpPr/>
          <p:nvPr/>
        </p:nvCxnSpPr>
        <p:spPr>
          <a:xfrm>
            <a:off x="5760720" y="1463040"/>
            <a:ext cx="0" cy="411480"/>
          </a:xfrm>
          <a:prstGeom prst="straightConnector1">
            <a:avLst/>
          </a:prstGeom>
          <a:noFill/>
          <a:ln w="19050" cap="flat" cmpd="sng">
            <a:solidFill>
              <a:srgbClr val="4A9E9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87" name="Google Shape;1487;p40"/>
          <p:cNvSpPr/>
          <p:nvPr/>
        </p:nvSpPr>
        <p:spPr>
          <a:xfrm>
            <a:off x="5897880" y="15727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40"/>
          <p:cNvSpPr/>
          <p:nvPr/>
        </p:nvSpPr>
        <p:spPr>
          <a:xfrm>
            <a:off x="4251960" y="1874520"/>
            <a:ext cx="3017520" cy="73152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40"/>
          <p:cNvSpPr/>
          <p:nvPr/>
        </p:nvSpPr>
        <p:spPr>
          <a:xfrm>
            <a:off x="4251960" y="18745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Car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0" name="Google Shape;1490;p40"/>
          <p:cNvCxnSpPr/>
          <p:nvPr/>
        </p:nvCxnSpPr>
        <p:spPr>
          <a:xfrm>
            <a:off x="5760720" y="2606040"/>
            <a:ext cx="0" cy="411480"/>
          </a:xfrm>
          <a:prstGeom prst="straightConnector1">
            <a:avLst/>
          </a:prstGeom>
          <a:noFill/>
          <a:ln w="19050" cap="flat" cmpd="sng">
            <a:solidFill>
              <a:srgbClr val="7B3FA0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491" name="Google Shape;1491;p40"/>
          <p:cNvSpPr/>
          <p:nvPr/>
        </p:nvSpPr>
        <p:spPr>
          <a:xfrm>
            <a:off x="5806440" y="2715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3F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B3FA0"/>
                </a:solidFill>
                <a:latin typeface="Calibri"/>
                <a:ea typeface="Calibri"/>
                <a:cs typeface="Calibri"/>
                <a:sym typeface="Calibri"/>
              </a:rPr>
              <a:t>instance-of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40"/>
          <p:cNvSpPr/>
          <p:nvPr/>
        </p:nvSpPr>
        <p:spPr>
          <a:xfrm>
            <a:off x="4251960" y="3017520"/>
            <a:ext cx="3017520" cy="6400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40"/>
          <p:cNvSpPr/>
          <p:nvPr/>
        </p:nvSpPr>
        <p:spPr>
          <a:xfrm>
            <a:off x="4251960" y="3017520"/>
            <a:ext cx="3017520" cy="6400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40"/>
          <p:cNvSpPr/>
          <p:nvPr/>
        </p:nvSpPr>
        <p:spPr>
          <a:xfrm>
            <a:off x="4251960" y="30175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[Alice's Camry]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40"/>
          <p:cNvSpPr/>
          <p:nvPr/>
        </p:nvSpPr>
        <p:spPr>
          <a:xfrm>
            <a:off x="7589520" y="100584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40"/>
          <p:cNvSpPr/>
          <p:nvPr/>
        </p:nvSpPr>
        <p:spPr>
          <a:xfrm>
            <a:off x="7589520" y="1005840"/>
            <a:ext cx="91440" cy="6858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40"/>
          <p:cNvSpPr/>
          <p:nvPr/>
        </p:nvSpPr>
        <p:spPr>
          <a:xfrm>
            <a:off x="7772400" y="10515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make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40"/>
          <p:cNvSpPr/>
          <p:nvPr/>
        </p:nvSpPr>
        <p:spPr>
          <a:xfrm>
            <a:off x="7772400" y="13533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DEFAULT: (ask user)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9" name="Google Shape;1499;p40"/>
          <p:cNvCxnSpPr/>
          <p:nvPr/>
        </p:nvCxnSpPr>
        <p:spPr>
          <a:xfrm rot="10800000" flipH="1">
            <a:off x="7269480" y="1344168"/>
            <a:ext cx="320040" cy="896112"/>
          </a:xfrm>
          <a:prstGeom prst="straightConnector1">
            <a:avLst/>
          </a:prstGeom>
          <a:noFill/>
          <a:ln w="10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0" name="Google Shape;1500;p40"/>
          <p:cNvSpPr/>
          <p:nvPr/>
        </p:nvSpPr>
        <p:spPr>
          <a:xfrm>
            <a:off x="7589520" y="1901952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40"/>
          <p:cNvSpPr/>
          <p:nvPr/>
        </p:nvSpPr>
        <p:spPr>
          <a:xfrm>
            <a:off x="7589520" y="1901952"/>
            <a:ext cx="91440" cy="6858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0"/>
          <p:cNvSpPr/>
          <p:nvPr/>
        </p:nvSpPr>
        <p:spPr>
          <a:xfrm>
            <a:off x="7772400" y="194767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0"/>
          <p:cNvSpPr/>
          <p:nvPr/>
        </p:nvSpPr>
        <p:spPr>
          <a:xfrm>
            <a:off x="7772400" y="22494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DEFAULT: white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4" name="Google Shape;1504;p40"/>
          <p:cNvCxnSpPr/>
          <p:nvPr/>
        </p:nvCxnSpPr>
        <p:spPr>
          <a:xfrm>
            <a:off x="7269480" y="2240280"/>
            <a:ext cx="320040" cy="0"/>
          </a:xfrm>
          <a:prstGeom prst="straightConnector1">
            <a:avLst/>
          </a:prstGeom>
          <a:noFill/>
          <a:ln w="10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5" name="Google Shape;1505;p40"/>
          <p:cNvSpPr/>
          <p:nvPr/>
        </p:nvSpPr>
        <p:spPr>
          <a:xfrm>
            <a:off x="7589520" y="2798064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40"/>
          <p:cNvSpPr/>
          <p:nvPr/>
        </p:nvSpPr>
        <p:spPr>
          <a:xfrm>
            <a:off x="7589520" y="2798064"/>
            <a:ext cx="91440" cy="685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40"/>
          <p:cNvSpPr/>
          <p:nvPr/>
        </p:nvSpPr>
        <p:spPr>
          <a:xfrm>
            <a:off x="7772400" y="284378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40"/>
          <p:cNvSpPr/>
          <p:nvPr/>
        </p:nvSpPr>
        <p:spPr>
          <a:xfrm>
            <a:off x="7772400" y="31455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RANGE: 1900–2030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9" name="Google Shape;1509;p40"/>
          <p:cNvCxnSpPr/>
          <p:nvPr/>
        </p:nvCxnSpPr>
        <p:spPr>
          <a:xfrm>
            <a:off x="7269480" y="2240280"/>
            <a:ext cx="320040" cy="896112"/>
          </a:xfrm>
          <a:prstGeom prst="straightConnector1">
            <a:avLst/>
          </a:prstGeom>
          <a:noFill/>
          <a:ln w="10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0" name="Google Shape;1510;p40"/>
          <p:cNvSpPr/>
          <p:nvPr/>
        </p:nvSpPr>
        <p:spPr>
          <a:xfrm>
            <a:off x="7589520" y="3694176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40"/>
          <p:cNvSpPr/>
          <p:nvPr/>
        </p:nvSpPr>
        <p:spPr>
          <a:xfrm>
            <a:off x="7589520" y="3694176"/>
            <a:ext cx="91440" cy="685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40"/>
          <p:cNvSpPr/>
          <p:nvPr/>
        </p:nvSpPr>
        <p:spPr>
          <a:xfrm>
            <a:off x="7772400" y="37398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fuel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40"/>
          <p:cNvSpPr/>
          <p:nvPr/>
        </p:nvSpPr>
        <p:spPr>
          <a:xfrm>
            <a:off x="7772400" y="40416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DEFAULT: gasoline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4" name="Google Shape;1514;p40"/>
          <p:cNvCxnSpPr/>
          <p:nvPr/>
        </p:nvCxnSpPr>
        <p:spPr>
          <a:xfrm>
            <a:off x="7269480" y="2240280"/>
            <a:ext cx="320040" cy="1792224"/>
          </a:xfrm>
          <a:prstGeom prst="straightConnector1">
            <a:avLst/>
          </a:prstGeom>
          <a:noFill/>
          <a:ln w="10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5" name="Google Shape;1515;p40"/>
          <p:cNvSpPr/>
          <p:nvPr/>
        </p:nvSpPr>
        <p:spPr>
          <a:xfrm>
            <a:off x="7589520" y="4590288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40"/>
          <p:cNvSpPr/>
          <p:nvPr/>
        </p:nvSpPr>
        <p:spPr>
          <a:xfrm>
            <a:off x="7589520" y="4590288"/>
            <a:ext cx="91440" cy="6858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40"/>
          <p:cNvSpPr/>
          <p:nvPr/>
        </p:nvSpPr>
        <p:spPr>
          <a:xfrm>
            <a:off x="7772400" y="463600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num-wheels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40"/>
          <p:cNvSpPr/>
          <p:nvPr/>
        </p:nvSpPr>
        <p:spPr>
          <a:xfrm>
            <a:off x="7772400" y="49377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DEFAULT: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9" name="Google Shape;1519;p40"/>
          <p:cNvCxnSpPr/>
          <p:nvPr/>
        </p:nvCxnSpPr>
        <p:spPr>
          <a:xfrm>
            <a:off x="7269480" y="2240280"/>
            <a:ext cx="320040" cy="2688336"/>
          </a:xfrm>
          <a:prstGeom prst="straightConnector1">
            <a:avLst/>
          </a:prstGeom>
          <a:noFill/>
          <a:ln w="10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0" name="Google Shape;1520;p40"/>
          <p:cNvSpPr/>
          <p:nvPr/>
        </p:nvSpPr>
        <p:spPr>
          <a:xfrm>
            <a:off x="7589520" y="546811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SLOT nodes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(has-slot edges)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0"/>
          <p:cNvSpPr/>
          <p:nvPr/>
        </p:nvSpPr>
        <p:spPr>
          <a:xfrm>
            <a:off x="365760" y="2011680"/>
            <a:ext cx="3657600" cy="640080"/>
          </a:xfrm>
          <a:prstGeom prst="rect">
            <a:avLst/>
          </a:prstGeom>
          <a:solidFill>
            <a:srgbClr val="FFF3CD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40"/>
          <p:cNvSpPr/>
          <p:nvPr/>
        </p:nvSpPr>
        <p:spPr>
          <a:xfrm>
            <a:off x="365760" y="2011680"/>
            <a:ext cx="91440" cy="6400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40"/>
          <p:cNvSpPr/>
          <p:nvPr/>
        </p:nvSpPr>
        <p:spPr>
          <a:xfrm>
            <a:off x="548640" y="21031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IF-NEEDED: compute_engine()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4" name="Google Shape;1524;p40"/>
          <p:cNvCxnSpPr/>
          <p:nvPr/>
        </p:nvCxnSpPr>
        <p:spPr>
          <a:xfrm>
            <a:off x="4023360" y="2331720"/>
            <a:ext cx="228600" cy="0"/>
          </a:xfrm>
          <a:prstGeom prst="straightConnector1">
            <a:avLst/>
          </a:prstGeom>
          <a:noFill/>
          <a:ln w="15225" cap="flat" cmpd="sng">
            <a:solidFill>
              <a:srgbClr val="E07B2A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525" name="Google Shape;1525;p40"/>
          <p:cNvSpPr/>
          <p:nvPr/>
        </p:nvSpPr>
        <p:spPr>
          <a:xfrm>
            <a:off x="365760" y="3108960"/>
            <a:ext cx="3657600" cy="640080"/>
          </a:xfrm>
          <a:prstGeom prst="rect">
            <a:avLst/>
          </a:prstGeom>
          <a:solidFill>
            <a:srgbClr val="FFF3CD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40"/>
          <p:cNvSpPr/>
          <p:nvPr/>
        </p:nvSpPr>
        <p:spPr>
          <a:xfrm>
            <a:off x="365760" y="3108960"/>
            <a:ext cx="914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40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IF-ADDED: run_price_check()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8" name="Google Shape;1528;p40"/>
          <p:cNvCxnSpPr/>
          <p:nvPr/>
        </p:nvCxnSpPr>
        <p:spPr>
          <a:xfrm>
            <a:off x="4023360" y="3429000"/>
            <a:ext cx="228600" cy="0"/>
          </a:xfrm>
          <a:prstGeom prst="straightConnector1">
            <a:avLst/>
          </a:prstGeom>
          <a:noFill/>
          <a:ln w="15225" cap="flat" cmpd="sng">
            <a:solidFill>
              <a:srgbClr val="E07B2A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1529" name="Google Shape;1529;p40"/>
          <p:cNvSpPr/>
          <p:nvPr/>
        </p:nvSpPr>
        <p:spPr>
          <a:xfrm>
            <a:off x="365760" y="4206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PROCEDURE nodes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(triggered automatically)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4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41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 Frame Inheritance — The Vehicle Family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41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4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4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1"/>
          <p:cNvSpPr/>
          <p:nvPr/>
        </p:nvSpPr>
        <p:spPr>
          <a:xfrm>
            <a:off x="4617720" y="868680"/>
            <a:ext cx="2926080" cy="594360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41"/>
          <p:cNvSpPr/>
          <p:nvPr/>
        </p:nvSpPr>
        <p:spPr>
          <a:xfrm>
            <a:off x="4617720" y="86868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Vehicle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1"/>
          <p:cNvSpPr/>
          <p:nvPr/>
        </p:nvSpPr>
        <p:spPr>
          <a:xfrm>
            <a:off x="4617720" y="148132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has-engine=TRUE  |  num-wheels=DEFAULT:4  |  needs-fuel=TRUE  |  max-speed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3" name="Google Shape;1543;p41"/>
          <p:cNvCxnSpPr/>
          <p:nvPr/>
        </p:nvCxnSpPr>
        <p:spPr>
          <a:xfrm flipH="1">
            <a:off x="2468880" y="1463040"/>
            <a:ext cx="3611880" cy="41148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4" name="Google Shape;1544;p41"/>
          <p:cNvSpPr/>
          <p:nvPr/>
        </p:nvSpPr>
        <p:spPr>
          <a:xfrm>
            <a:off x="1097280" y="1874520"/>
            <a:ext cx="2743200" cy="64008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41"/>
          <p:cNvSpPr/>
          <p:nvPr/>
        </p:nvSpPr>
        <p:spPr>
          <a:xfrm>
            <a:off x="1097280" y="18745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Car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1"/>
          <p:cNvSpPr/>
          <p:nvPr/>
        </p:nvSpPr>
        <p:spPr>
          <a:xfrm>
            <a:off x="1097280" y="2606040"/>
            <a:ext cx="27432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41"/>
          <p:cNvSpPr/>
          <p:nvPr/>
        </p:nvSpPr>
        <p:spPr>
          <a:xfrm>
            <a:off x="1188720" y="263347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num-wheels = 4 (inherited)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1"/>
          <p:cNvSpPr/>
          <p:nvPr/>
        </p:nvSpPr>
        <p:spPr>
          <a:xfrm>
            <a:off x="1097280" y="3108960"/>
            <a:ext cx="27432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41"/>
          <p:cNvSpPr/>
          <p:nvPr/>
        </p:nvSpPr>
        <p:spPr>
          <a:xfrm>
            <a:off x="1188720" y="31363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needs-fuel = TRUE (inherited)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0" name="Google Shape;1550;p41"/>
          <p:cNvCxnSpPr/>
          <p:nvPr/>
        </p:nvCxnSpPr>
        <p:spPr>
          <a:xfrm>
            <a:off x="6080760" y="1463040"/>
            <a:ext cx="320040" cy="41148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1" name="Google Shape;1551;p41"/>
          <p:cNvSpPr/>
          <p:nvPr/>
        </p:nvSpPr>
        <p:spPr>
          <a:xfrm>
            <a:off x="5029200" y="1874520"/>
            <a:ext cx="2743200" cy="64008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41"/>
          <p:cNvSpPr/>
          <p:nvPr/>
        </p:nvSpPr>
        <p:spPr>
          <a:xfrm>
            <a:off x="5029200" y="18745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Motorcycle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1"/>
          <p:cNvSpPr/>
          <p:nvPr/>
        </p:nvSpPr>
        <p:spPr>
          <a:xfrm>
            <a:off x="5029200" y="2606040"/>
            <a:ext cx="274320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41"/>
          <p:cNvSpPr/>
          <p:nvPr/>
        </p:nvSpPr>
        <p:spPr>
          <a:xfrm>
            <a:off x="5120640" y="263347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num-wheels = 2 ⬅ OVERRIDE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1"/>
          <p:cNvSpPr/>
          <p:nvPr/>
        </p:nvSpPr>
        <p:spPr>
          <a:xfrm>
            <a:off x="5029200" y="3108960"/>
            <a:ext cx="27432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41"/>
          <p:cNvSpPr/>
          <p:nvPr/>
        </p:nvSpPr>
        <p:spPr>
          <a:xfrm>
            <a:off x="5120640" y="31363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needs-fuel = TRUE (inherited)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7" name="Google Shape;1557;p41"/>
          <p:cNvCxnSpPr/>
          <p:nvPr/>
        </p:nvCxnSpPr>
        <p:spPr>
          <a:xfrm>
            <a:off x="6080760" y="1463040"/>
            <a:ext cx="3886200" cy="41148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8" name="Google Shape;1558;p41"/>
          <p:cNvSpPr/>
          <p:nvPr/>
        </p:nvSpPr>
        <p:spPr>
          <a:xfrm>
            <a:off x="8595360" y="1874520"/>
            <a:ext cx="274320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41"/>
          <p:cNvSpPr/>
          <p:nvPr/>
        </p:nvSpPr>
        <p:spPr>
          <a:xfrm>
            <a:off x="8595360" y="18745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Bicycle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1"/>
          <p:cNvSpPr/>
          <p:nvPr/>
        </p:nvSpPr>
        <p:spPr>
          <a:xfrm>
            <a:off x="8595360" y="2606040"/>
            <a:ext cx="274320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1" name="Google Shape;1561;p41"/>
          <p:cNvSpPr/>
          <p:nvPr/>
        </p:nvSpPr>
        <p:spPr>
          <a:xfrm>
            <a:off x="8686800" y="263347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num-wheels = 2 ⬅ OVERRIDE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1"/>
          <p:cNvSpPr/>
          <p:nvPr/>
        </p:nvSpPr>
        <p:spPr>
          <a:xfrm>
            <a:off x="8595360" y="3108960"/>
            <a:ext cx="2743200" cy="4389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41"/>
          <p:cNvSpPr/>
          <p:nvPr/>
        </p:nvSpPr>
        <p:spPr>
          <a:xfrm>
            <a:off x="8686800" y="31363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needs-fuel = FALSE ⬅ OVERRIDE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41"/>
          <p:cNvSpPr/>
          <p:nvPr/>
        </p:nvSpPr>
        <p:spPr>
          <a:xfrm>
            <a:off x="1097280" y="3931920"/>
            <a:ext cx="2743200" cy="59436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41"/>
          <p:cNvSpPr/>
          <p:nvPr/>
        </p:nvSpPr>
        <p:spPr>
          <a:xfrm>
            <a:off x="1097280" y="39319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[Alice's Sedan]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41"/>
          <p:cNvSpPr/>
          <p:nvPr/>
        </p:nvSpPr>
        <p:spPr>
          <a:xfrm>
            <a:off x="1097280" y="45720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make=Toyota, color=Red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num-wheels=4 (from Car→Vehicle)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1"/>
          <p:cNvSpPr/>
          <p:nvPr/>
        </p:nvSpPr>
        <p:spPr>
          <a:xfrm>
            <a:off x="8595360" y="3931920"/>
            <a:ext cx="2743200" cy="59436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41"/>
          <p:cNvSpPr/>
          <p:nvPr/>
        </p:nvSpPr>
        <p:spPr>
          <a:xfrm>
            <a:off x="8595360" y="39319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[Bob's Harley]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1"/>
          <p:cNvSpPr/>
          <p:nvPr/>
        </p:nvSpPr>
        <p:spPr>
          <a:xfrm>
            <a:off x="8595360" y="45720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make=Harley, num-wheels=2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(from Motorcycle override)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41"/>
          <p:cNvSpPr/>
          <p:nvPr/>
        </p:nvSpPr>
        <p:spPr>
          <a:xfrm>
            <a:off x="4251960" y="3931920"/>
            <a:ext cx="36576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41"/>
          <p:cNvSpPr/>
          <p:nvPr/>
        </p:nvSpPr>
        <p:spPr>
          <a:xfrm>
            <a:off x="4251960" y="3931920"/>
            <a:ext cx="3657600" cy="3657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41"/>
          <p:cNvSpPr/>
          <p:nvPr/>
        </p:nvSpPr>
        <p:spPr>
          <a:xfrm>
            <a:off x="4251960" y="3931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SLOT LEGEND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41"/>
          <p:cNvSpPr/>
          <p:nvPr/>
        </p:nvSpPr>
        <p:spPr>
          <a:xfrm>
            <a:off x="4343400" y="4370832"/>
            <a:ext cx="1645920" cy="34747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41"/>
          <p:cNvSpPr/>
          <p:nvPr/>
        </p:nvSpPr>
        <p:spPr>
          <a:xfrm>
            <a:off x="4434840" y="438912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GREEN = inherited (same as parent)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1"/>
          <p:cNvSpPr/>
          <p:nvPr/>
        </p:nvSpPr>
        <p:spPr>
          <a:xfrm>
            <a:off x="4343400" y="4773168"/>
            <a:ext cx="164592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41"/>
          <p:cNvSpPr/>
          <p:nvPr/>
        </p:nvSpPr>
        <p:spPr>
          <a:xfrm>
            <a:off x="4434840" y="479145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YELLOW = overridden (child changed it)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4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42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 Procedural Attachments — 3 Types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42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4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42"/>
          <p:cNvSpPr/>
          <p:nvPr/>
        </p:nvSpPr>
        <p:spPr>
          <a:xfrm>
            <a:off x="36576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42"/>
          <p:cNvSpPr/>
          <p:nvPr/>
        </p:nvSpPr>
        <p:spPr>
          <a:xfrm>
            <a:off x="365760" y="914400"/>
            <a:ext cx="3657600" cy="50292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9" name="Google Shape;1589;p42"/>
          <p:cNvSpPr/>
          <p:nvPr/>
        </p:nvSpPr>
        <p:spPr>
          <a:xfrm>
            <a:off x="365760" y="914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IF-NEEDED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2"/>
          <p:cNvSpPr/>
          <p:nvPr/>
        </p:nvSpPr>
        <p:spPr>
          <a:xfrm>
            <a:off x="502920" y="14630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Computes a slot's value ON DEMAND.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Never stored — re-computed each time.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Like a spreadsheet formula.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42"/>
          <p:cNvSpPr/>
          <p:nvPr/>
        </p:nvSpPr>
        <p:spPr>
          <a:xfrm>
            <a:off x="457200" y="2743200"/>
            <a:ext cx="3474720" cy="9144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42"/>
          <p:cNvSpPr/>
          <p:nvPr/>
        </p:nvSpPr>
        <p:spPr>
          <a:xfrm>
            <a:off x="502920" y="2788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2"/>
          <p:cNvSpPr/>
          <p:nvPr/>
        </p:nvSpPr>
        <p:spPr>
          <a:xfrm>
            <a:off x="502920" y="30449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Employee.age: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IF-NEEDED → compute_from(birth_date, today)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2"/>
          <p:cNvSpPr/>
          <p:nvPr/>
        </p:nvSpPr>
        <p:spPr>
          <a:xfrm>
            <a:off x="457200" y="3749040"/>
            <a:ext cx="3474720" cy="118872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42"/>
          <p:cNvSpPr/>
          <p:nvPr/>
        </p:nvSpPr>
        <p:spPr>
          <a:xfrm>
            <a:off x="548640" y="3794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Python Analogy: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42"/>
          <p:cNvSpPr/>
          <p:nvPr/>
        </p:nvSpPr>
        <p:spPr>
          <a:xfrm>
            <a:off x="548640" y="40690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@property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def age(self):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return today - self.birth_date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2"/>
          <p:cNvSpPr/>
          <p:nvPr/>
        </p:nvSpPr>
        <p:spPr>
          <a:xfrm>
            <a:off x="420624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42"/>
          <p:cNvSpPr/>
          <p:nvPr/>
        </p:nvSpPr>
        <p:spPr>
          <a:xfrm>
            <a:off x="4206240" y="914400"/>
            <a:ext cx="3657600" cy="50292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42"/>
          <p:cNvSpPr/>
          <p:nvPr/>
        </p:nvSpPr>
        <p:spPr>
          <a:xfrm>
            <a:off x="4206240" y="914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IF-ADDED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42"/>
          <p:cNvSpPr/>
          <p:nvPr/>
        </p:nvSpPr>
        <p:spPr>
          <a:xfrm>
            <a:off x="4343400" y="14630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Runs when a slot gets a NEW value.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Like a database trigger / setter with side effects.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Automatically sets up related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2"/>
          <p:cNvSpPr/>
          <p:nvPr/>
        </p:nvSpPr>
        <p:spPr>
          <a:xfrm>
            <a:off x="4297680" y="2743200"/>
            <a:ext cx="3474720" cy="91440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42"/>
          <p:cNvSpPr/>
          <p:nvPr/>
        </p:nvSpPr>
        <p:spPr>
          <a:xfrm>
            <a:off x="4343400" y="2788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A08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A084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2"/>
          <p:cNvSpPr/>
          <p:nvPr/>
        </p:nvSpPr>
        <p:spPr>
          <a:xfrm>
            <a:off x="4343400" y="30449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Employee.department: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IF-ADDED → create_Slack_channel() + assign_mentor()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42"/>
          <p:cNvSpPr/>
          <p:nvPr/>
        </p:nvSpPr>
        <p:spPr>
          <a:xfrm>
            <a:off x="4297680" y="3749040"/>
            <a:ext cx="3474720" cy="118872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42"/>
          <p:cNvSpPr/>
          <p:nvPr/>
        </p:nvSpPr>
        <p:spPr>
          <a:xfrm>
            <a:off x="4389120" y="3794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Python Analogy: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2"/>
          <p:cNvSpPr/>
          <p:nvPr/>
        </p:nvSpPr>
        <p:spPr>
          <a:xfrm>
            <a:off x="4389120" y="40690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@department.setter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def department(self, dept):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create_slack(dept)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assign_mentor(self.role)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42"/>
          <p:cNvSpPr/>
          <p:nvPr/>
        </p:nvSpPr>
        <p:spPr>
          <a:xfrm>
            <a:off x="804672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42"/>
          <p:cNvSpPr/>
          <p:nvPr/>
        </p:nvSpPr>
        <p:spPr>
          <a:xfrm>
            <a:off x="8046720" y="914400"/>
            <a:ext cx="3657600" cy="50292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42"/>
          <p:cNvSpPr/>
          <p:nvPr/>
        </p:nvSpPr>
        <p:spPr>
          <a:xfrm>
            <a:off x="8046720" y="914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IF-REMOVED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42"/>
          <p:cNvSpPr/>
          <p:nvPr/>
        </p:nvSpPr>
        <p:spPr>
          <a:xfrm>
            <a:off x="8183880" y="14630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Runs when a slot value is DELETED.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Cleans up related resources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Ensures consistency across systems.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42"/>
          <p:cNvSpPr/>
          <p:nvPr/>
        </p:nvSpPr>
        <p:spPr>
          <a:xfrm>
            <a:off x="8138160" y="2743200"/>
            <a:ext cx="3474720" cy="9144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42"/>
          <p:cNvSpPr/>
          <p:nvPr/>
        </p:nvSpPr>
        <p:spPr>
          <a:xfrm>
            <a:off x="8183880" y="2788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42"/>
          <p:cNvSpPr/>
          <p:nvPr/>
        </p:nvSpPr>
        <p:spPr>
          <a:xfrm>
            <a:off x="8183880" y="30449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Employee.end_date: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IF-REMOVED → deactivate_access_card() + archive_email()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42"/>
          <p:cNvSpPr/>
          <p:nvPr/>
        </p:nvSpPr>
        <p:spPr>
          <a:xfrm>
            <a:off x="8138160" y="3749040"/>
            <a:ext cx="3474720" cy="118872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42"/>
          <p:cNvSpPr/>
          <p:nvPr/>
        </p:nvSpPr>
        <p:spPr>
          <a:xfrm>
            <a:off x="8229600" y="3794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Python Analogy: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42"/>
          <p:cNvSpPr/>
          <p:nvPr/>
        </p:nvSpPr>
        <p:spPr>
          <a:xfrm>
            <a:off x="8229600" y="40690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def remove_employee(emp):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deactivate_badge(emp.id)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archive_email(emp.id)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3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43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4.1: Employee Onboarding Frame System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4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43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43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Design an AI-powered HR system for a 500-person tech firm. When a new hire joins, auto-setup accounts, compute tax, assign a mentor, schedule orientation.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3"/>
          <p:cNvSpPr/>
          <p:nvPr/>
        </p:nvSpPr>
        <p:spPr>
          <a:xfrm>
            <a:off x="36576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43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43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3"/>
          <p:cNvSpPr/>
          <p:nvPr/>
        </p:nvSpPr>
        <p:spPr>
          <a:xfrm>
            <a:off x="47548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Design FRAME: Employee with 10+ slots.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For each slot, define: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Name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Type / range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Default value (if any)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Any procedure (IF-NEEDED, IF-ADDED)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3"/>
          <p:cNvSpPr/>
          <p:nvPr/>
        </p:nvSpPr>
        <p:spPr>
          <a:xfrm>
            <a:off x="320040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3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43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3"/>
          <p:cNvSpPr/>
          <p:nvPr/>
        </p:nvSpPr>
        <p:spPr>
          <a:xfrm>
            <a:off x="331012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Create 2 sub-frames: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FullTimeEmployee (IS-A Employee)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Contractor (IS-A Employee)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Which slots differ? What do they override?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3"/>
          <p:cNvSpPr/>
          <p:nvPr/>
        </p:nvSpPr>
        <p:spPr>
          <a:xfrm>
            <a:off x="603504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3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43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3"/>
          <p:cNvSpPr/>
          <p:nvPr/>
        </p:nvSpPr>
        <p:spPr>
          <a:xfrm>
            <a:off x="614476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Create INSTANCE [NewHireAhmed]: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Fill all slots you know.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For empty slots, which default fires?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Which procedures run automatically?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43"/>
          <p:cNvSpPr/>
          <p:nvPr/>
        </p:nvSpPr>
        <p:spPr>
          <a:xfrm>
            <a:off x="8869680" y="1737360"/>
            <a:ext cx="265176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43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43"/>
          <p:cNvSpPr/>
          <p:nvPr/>
        </p:nvSpPr>
        <p:spPr>
          <a:xfrm>
            <a:off x="8869680" y="17373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43"/>
          <p:cNvSpPr/>
          <p:nvPr/>
        </p:nvSpPr>
        <p:spPr>
          <a:xfrm>
            <a:off x="8979408" y="2194560"/>
            <a:ext cx="2432304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3 procedures: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a) IF-ADDED for 'department' slot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b) IF-NEEDED for 'years-experience'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c) IF-REMOVED for 'end-date'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44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4.1: Employee Onboarding Frame System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4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4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44"/>
          <p:cNvSpPr/>
          <p:nvPr/>
        </p:nvSpPr>
        <p:spPr>
          <a:xfrm>
            <a:off x="365760" y="96012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44"/>
          <p:cNvSpPr/>
          <p:nvPr/>
        </p:nvSpPr>
        <p:spPr>
          <a:xfrm>
            <a:off x="365760" y="960120"/>
            <a:ext cx="548640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5" name="Google Shape;1655;p44"/>
          <p:cNvSpPr/>
          <p:nvPr/>
        </p:nvSpPr>
        <p:spPr>
          <a:xfrm>
            <a:off x="457200" y="9601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Employee — Key Slots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6" name="Google Shape;1656;p44"/>
          <p:cNvGraphicFramePr/>
          <p:nvPr/>
        </p:nvGraphicFramePr>
        <p:xfrm>
          <a:off x="457200" y="1389888"/>
          <a:ext cx="5303525" cy="4242800"/>
        </p:xfrm>
        <a:graphic>
          <a:graphicData uri="http://schemas.openxmlformats.org/drawingml/2006/table">
            <a:tbl>
              <a:tblPr>
                <a:noFill/>
                <a:tableStyleId>{80D7718E-501C-44D5-B62B-0DF8384CE79E}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/ Procedure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employee-id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IF-ADDED: auto-assign ID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IF-NEEDED: name@company.com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IF-ADDED: create Slack + assign mentor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IF-ADDED: compute-tax()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end-date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DEFAULT: null; IF-REMOVED: deactivate-access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years-experience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IF-NEEDED: today − start_date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 — no default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57" name="Google Shape;1657;p44"/>
          <p:cNvSpPr/>
          <p:nvPr/>
        </p:nvSpPr>
        <p:spPr>
          <a:xfrm>
            <a:off x="6080760" y="960120"/>
            <a:ext cx="57150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44"/>
          <p:cNvSpPr/>
          <p:nvPr/>
        </p:nvSpPr>
        <p:spPr>
          <a:xfrm>
            <a:off x="6080760" y="960120"/>
            <a:ext cx="571500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44"/>
          <p:cNvSpPr/>
          <p:nvPr/>
        </p:nvSpPr>
        <p:spPr>
          <a:xfrm>
            <a:off x="6172200" y="960120"/>
            <a:ext cx="5532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Sub-frames: FullTimeEmployee vs Contractor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44"/>
          <p:cNvSpPr/>
          <p:nvPr/>
        </p:nvSpPr>
        <p:spPr>
          <a:xfrm>
            <a:off x="6217920" y="1389888"/>
            <a:ext cx="54406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FullTimeEmployee ADDS: benefits=standard, annual-leave=21, pension (IF-ADDED: enroll-pension)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Contractor OVERRIDES: benefits=NONE, annual-leave=0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Contractor ADDS: contract-end-date (required), hourly-rate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4"/>
          <p:cNvSpPr/>
          <p:nvPr/>
        </p:nvSpPr>
        <p:spPr>
          <a:xfrm>
            <a:off x="6080760" y="3383280"/>
            <a:ext cx="571500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44"/>
          <p:cNvSpPr/>
          <p:nvPr/>
        </p:nvSpPr>
        <p:spPr>
          <a:xfrm>
            <a:off x="6080760" y="3383280"/>
            <a:ext cx="5715000" cy="384048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44"/>
          <p:cNvSpPr/>
          <p:nvPr/>
        </p:nvSpPr>
        <p:spPr>
          <a:xfrm>
            <a:off x="6172200" y="3383280"/>
            <a:ext cx="5532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Procedure Pseudocode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44"/>
          <p:cNvSpPr/>
          <p:nvPr/>
        </p:nvSpPr>
        <p:spPr>
          <a:xfrm>
            <a:off x="6217920" y="3813048"/>
            <a:ext cx="54406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IF-ADDED department: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create_Slack(dept), assign_mentor(role, dept), add_to_org_chart()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IF-NEEDED years_experience: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return (today − start_date).years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IF-REMOVED end_date: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deactivate_badge(id), archive_email(id), generate_exit_report(id)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45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45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4.2: Hospital Triage Frame Reasoning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4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4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45"/>
          <p:cNvSpPr/>
          <p:nvPr/>
        </p:nvSpPr>
        <p:spPr>
          <a:xfrm>
            <a:off x="365760" y="914400"/>
            <a:ext cx="11430000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45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Use frame reasoning (slots, defaults, procedures) to triage 3 patients below.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45"/>
          <p:cNvSpPr/>
          <p:nvPr/>
        </p:nvSpPr>
        <p:spPr>
          <a:xfrm>
            <a:off x="365760" y="16459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45"/>
          <p:cNvSpPr/>
          <p:nvPr/>
        </p:nvSpPr>
        <p:spPr>
          <a:xfrm>
            <a:off x="365760" y="1645920"/>
            <a:ext cx="36576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45"/>
          <p:cNvSpPr/>
          <p:nvPr/>
        </p:nvSpPr>
        <p:spPr>
          <a:xfrm>
            <a:off x="365760" y="16459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45"/>
          <p:cNvSpPr/>
          <p:nvPr/>
        </p:nvSpPr>
        <p:spPr>
          <a:xfrm>
            <a:off x="502920" y="210312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age = 67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symptoms = [chest-pain,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shortness-of-breath]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BP = UNFILLED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allergies = UNFILLED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45"/>
          <p:cNvSpPr/>
          <p:nvPr/>
        </p:nvSpPr>
        <p:spPr>
          <a:xfrm>
            <a:off x="4206240" y="16459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45"/>
          <p:cNvSpPr/>
          <p:nvPr/>
        </p:nvSpPr>
        <p:spPr>
          <a:xfrm>
            <a:off x="4206240" y="1645920"/>
            <a:ext cx="365760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45"/>
          <p:cNvSpPr/>
          <p:nvPr/>
        </p:nvSpPr>
        <p:spPr>
          <a:xfrm>
            <a:off x="4206240" y="16459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45"/>
          <p:cNvSpPr/>
          <p:nvPr/>
        </p:nvSpPr>
        <p:spPr>
          <a:xfrm>
            <a:off x="4343400" y="210312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age = 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symptoms = [headache, fever=38.5°C]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BP = 120/80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allergies = [penicillin]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45"/>
          <p:cNvSpPr/>
          <p:nvPr/>
        </p:nvSpPr>
        <p:spPr>
          <a:xfrm>
            <a:off x="8046720" y="16459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45"/>
          <p:cNvSpPr/>
          <p:nvPr/>
        </p:nvSpPr>
        <p:spPr>
          <a:xfrm>
            <a:off x="8046720" y="1645920"/>
            <a:ext cx="36576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45"/>
          <p:cNvSpPr/>
          <p:nvPr/>
        </p:nvSpPr>
        <p:spPr>
          <a:xfrm>
            <a:off x="8046720" y="16459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45"/>
          <p:cNvSpPr/>
          <p:nvPr/>
        </p:nvSpPr>
        <p:spPr>
          <a:xfrm>
            <a:off x="8183880" y="210312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age = 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symptoms = [broken-arm]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BP = UNFILLED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pain-scale = 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45"/>
          <p:cNvSpPr/>
          <p:nvPr/>
        </p:nvSpPr>
        <p:spPr>
          <a:xfrm>
            <a:off x="365760" y="4572000"/>
            <a:ext cx="3657600" cy="1508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45"/>
          <p:cNvSpPr/>
          <p:nvPr/>
        </p:nvSpPr>
        <p:spPr>
          <a:xfrm>
            <a:off x="365760" y="4572000"/>
            <a:ext cx="3657600" cy="3200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45"/>
          <p:cNvSpPr/>
          <p:nvPr/>
        </p:nvSpPr>
        <p:spPr>
          <a:xfrm>
            <a:off x="365760" y="4572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45"/>
          <p:cNvSpPr/>
          <p:nvPr/>
        </p:nvSpPr>
        <p:spPr>
          <a:xfrm>
            <a:off x="475488" y="4919472"/>
            <a:ext cx="34381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For each patient: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Apply defaults to UNFILLED slots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Identify which IF-NEEDED fires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Determine triage priority (CRITICAL / HIGH / MODERATE)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45"/>
          <p:cNvSpPr/>
          <p:nvPr/>
        </p:nvSpPr>
        <p:spPr>
          <a:xfrm>
            <a:off x="4206240" y="4572000"/>
            <a:ext cx="3657600" cy="1508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45"/>
          <p:cNvSpPr/>
          <p:nvPr/>
        </p:nvSpPr>
        <p:spPr>
          <a:xfrm>
            <a:off x="4206240" y="4572000"/>
            <a:ext cx="3657600" cy="3200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45"/>
          <p:cNvSpPr/>
          <p:nvPr/>
        </p:nvSpPr>
        <p:spPr>
          <a:xfrm>
            <a:off x="4206240" y="4572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45"/>
          <p:cNvSpPr/>
          <p:nvPr/>
        </p:nvSpPr>
        <p:spPr>
          <a:xfrm>
            <a:off x="4315968" y="4919472"/>
            <a:ext cx="34381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IF-NEEDED pseudocode for triage-priority.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What inputs does it need?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What score thresholds map to each priority?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45"/>
          <p:cNvSpPr/>
          <p:nvPr/>
        </p:nvSpPr>
        <p:spPr>
          <a:xfrm>
            <a:off x="8046720" y="4572000"/>
            <a:ext cx="3657600" cy="1508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45"/>
          <p:cNvSpPr/>
          <p:nvPr/>
        </p:nvSpPr>
        <p:spPr>
          <a:xfrm>
            <a:off x="8046720" y="4572000"/>
            <a:ext cx="3657600" cy="3200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45"/>
          <p:cNvSpPr/>
          <p:nvPr/>
        </p:nvSpPr>
        <p:spPr>
          <a:xfrm>
            <a:off x="8046720" y="4572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45"/>
          <p:cNvSpPr/>
          <p:nvPr/>
        </p:nvSpPr>
        <p:spPr>
          <a:xfrm>
            <a:off x="8156448" y="4919472"/>
            <a:ext cx="34381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DISCUSS: MISSING data vs WRONG data.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does each affect the frame system?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Which is more dangerous in medicine?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4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46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4.2: Hospital Triage Frame Reasoning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4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4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6"/>
          <p:cNvSpPr/>
          <p:nvPr/>
        </p:nvSpPr>
        <p:spPr>
          <a:xfrm>
            <a:off x="365760" y="9601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46"/>
          <p:cNvSpPr/>
          <p:nvPr/>
        </p:nvSpPr>
        <p:spPr>
          <a:xfrm>
            <a:off x="365760" y="960120"/>
            <a:ext cx="36576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46"/>
          <p:cNvSpPr/>
          <p:nvPr/>
        </p:nvSpPr>
        <p:spPr>
          <a:xfrm>
            <a:off x="457200" y="9601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A → CRITICAL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6"/>
          <p:cNvSpPr/>
          <p:nvPr/>
        </p:nvSpPr>
        <p:spPr>
          <a:xfrm>
            <a:off x="475488" y="1389888"/>
            <a:ext cx="343814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BP=UNFILLED → default: 'needs-measurement'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allergies=UNFILLED → default: 'none-known'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 fires: age=67 (HIGH) + chest-pain + shortness-of-breath (cardiac flags)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PRIORITY: CRITICAL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6"/>
          <p:cNvSpPr/>
          <p:nvPr/>
        </p:nvSpPr>
        <p:spPr>
          <a:xfrm>
            <a:off x="4206240" y="9601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46"/>
          <p:cNvSpPr/>
          <p:nvPr/>
        </p:nvSpPr>
        <p:spPr>
          <a:xfrm>
            <a:off x="4206240" y="960120"/>
            <a:ext cx="3657600" cy="384048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46"/>
          <p:cNvSpPr/>
          <p:nvPr/>
        </p:nvSpPr>
        <p:spPr>
          <a:xfrm>
            <a:off x="4297680" y="9601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B → MODERATE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6"/>
          <p:cNvSpPr/>
          <p:nvPr/>
        </p:nvSpPr>
        <p:spPr>
          <a:xfrm>
            <a:off x="4315968" y="1389888"/>
            <a:ext cx="343814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All slots filled.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IF-NEEDED: age=25 (low risk) + fever=38.5 (moderate) + no cardiac symptoms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Store allergy=penicillin for drug-prescription check later.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PRIORITY: MODERATE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6"/>
          <p:cNvSpPr/>
          <p:nvPr/>
        </p:nvSpPr>
        <p:spPr>
          <a:xfrm>
            <a:off x="8046720" y="9601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46"/>
          <p:cNvSpPr/>
          <p:nvPr/>
        </p:nvSpPr>
        <p:spPr>
          <a:xfrm>
            <a:off x="8046720" y="960120"/>
            <a:ext cx="36576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46"/>
          <p:cNvSpPr/>
          <p:nvPr/>
        </p:nvSpPr>
        <p:spPr>
          <a:xfrm>
            <a:off x="8138160" y="9601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C → HIGH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6"/>
          <p:cNvSpPr/>
          <p:nvPr/>
        </p:nvSpPr>
        <p:spPr>
          <a:xfrm>
            <a:off x="8156448" y="1389888"/>
            <a:ext cx="343814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BP=UNFILLED → default: 'needs-measurement'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IF-NEEDED: age=8 (child, extra care) + broken-arm (injury) + pain=7 (significant)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PRIORITY: HIGH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6"/>
          <p:cNvSpPr/>
          <p:nvPr/>
        </p:nvSpPr>
        <p:spPr>
          <a:xfrm>
            <a:off x="365760" y="3474720"/>
            <a:ext cx="5943600" cy="2514600"/>
          </a:xfrm>
          <a:prstGeom prst="rect">
            <a:avLst/>
          </a:prstGeom>
          <a:solidFill>
            <a:srgbClr val="1A2B2A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46"/>
          <p:cNvSpPr/>
          <p:nvPr/>
        </p:nvSpPr>
        <p:spPr>
          <a:xfrm>
            <a:off x="365760" y="3474720"/>
            <a:ext cx="5943600" cy="3474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46"/>
          <p:cNvSpPr/>
          <p:nvPr/>
        </p:nvSpPr>
        <p:spPr>
          <a:xfrm>
            <a:off x="457200" y="3474720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 Pseudocode: triage-priority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46"/>
          <p:cNvSpPr/>
          <p:nvPr/>
        </p:nvSpPr>
        <p:spPr>
          <a:xfrm>
            <a:off x="502920" y="3858768"/>
            <a:ext cx="5715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score = 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age &gt; 60:  score += 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'chest-pain' in symptoms:  score += 50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'shortness-of-breath' in symptoms:  score += 40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fever &gt; 39:  score += 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age &lt; 12:  score += 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IF score &gt; 60: CRITICAL | &gt; 30: HIGH | ELSE: MODERATE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46"/>
          <p:cNvSpPr/>
          <p:nvPr/>
        </p:nvSpPr>
        <p:spPr>
          <a:xfrm>
            <a:off x="6492240" y="3474720"/>
            <a:ext cx="530352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46"/>
          <p:cNvSpPr/>
          <p:nvPr/>
        </p:nvSpPr>
        <p:spPr>
          <a:xfrm>
            <a:off x="6492240" y="3474720"/>
            <a:ext cx="5303520" cy="34747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46"/>
          <p:cNvSpPr/>
          <p:nvPr/>
        </p:nvSpPr>
        <p:spPr>
          <a:xfrm>
            <a:off x="6583680" y="347472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vs WRONG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46"/>
          <p:cNvSpPr/>
          <p:nvPr/>
        </p:nvSpPr>
        <p:spPr>
          <a:xfrm>
            <a:off x="6629400" y="3858768"/>
            <a:ext cx="5029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MISSING data: default kicks in gracefully. System CONTINUES working with conservative safe assumption.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WRONG data: system uses the wrong value with full confidence. No error detected. This is DANGEROUS in medicine!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motivates ONTOLOGY CONSTRAINTS — our next topic.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47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47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5.2: Real-World Case: Wikidata Ontology — RDF Triples in Practice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4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47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47"/>
          <p:cNvSpPr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47"/>
          <p:cNvSpPr/>
          <p:nvPr/>
        </p:nvSpPr>
        <p:spPr>
          <a:xfrm>
            <a:off x="365760" y="914400"/>
            <a:ext cx="109728" cy="82296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47"/>
          <p:cNvSpPr/>
          <p:nvPr/>
        </p:nvSpPr>
        <p:spPr>
          <a:xfrm>
            <a:off x="548640" y="941832"/>
            <a:ext cx="11064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SCENARIO: Wikidata (used by Wikipedia, Google, Siri) stores ALL world knowledge as RDF triples. Every fact is: Subject → Predicate → Object. Right now, over 100 million such triples describe people, places, species, and events. Today you write and query them.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47"/>
          <p:cNvSpPr/>
          <p:nvPr/>
        </p:nvSpPr>
        <p:spPr>
          <a:xfrm>
            <a:off x="36576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47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47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47"/>
          <p:cNvSpPr/>
          <p:nvPr/>
        </p:nvSpPr>
        <p:spPr>
          <a:xfrm>
            <a:off x="47548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10 RDF triples for a Pakistani cricket player (e.g. Babar Azam).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Format: &lt;Subject&gt; &lt;Predicate&gt; &lt;Object&gt;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Include: nationality, birthdate, role, team, achievements, type of person.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47"/>
          <p:cNvSpPr/>
          <p:nvPr/>
        </p:nvSpPr>
        <p:spPr>
          <a:xfrm>
            <a:off x="320040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47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47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47"/>
          <p:cNvSpPr/>
          <p:nvPr/>
        </p:nvSpPr>
        <p:spPr>
          <a:xfrm>
            <a:off x="331012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OWL CONSTRAINT: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constraints that ensure: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 player MUST have a team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 team MUST have a country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 match-score must be an Integer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dateOfBirth must be before today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Use OWL-style pseudocode.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47"/>
          <p:cNvSpPr/>
          <p:nvPr/>
        </p:nvSpPr>
        <p:spPr>
          <a:xfrm>
            <a:off x="603504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47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47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47"/>
          <p:cNvSpPr/>
          <p:nvPr/>
        </p:nvSpPr>
        <p:spPr>
          <a:xfrm>
            <a:off x="614476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SPARQL-STYLE QUERY: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the English logic for: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'Find all players who play for Pakistan AND have scored a century'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Then show which triples you'd traverse and in what order.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47"/>
          <p:cNvSpPr/>
          <p:nvPr/>
        </p:nvSpPr>
        <p:spPr>
          <a:xfrm>
            <a:off x="886968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47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47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47"/>
          <p:cNvSpPr/>
          <p:nvPr/>
        </p:nvSpPr>
        <p:spPr>
          <a:xfrm>
            <a:off x="897940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OPEN WORLD ASSUMPTION: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Wikidata does NOT know Babar's shoe size.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 Closed World: 'shoe-size = UNKNOWN means FALSE'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 Open World: 'shoe-size = not yet stated'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Why does this matter for AI reasoning? Give 2 examples where the wrong assumption causes errors.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48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48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5.2: Wikidata RDF Graph — Babar Azam Knowledge Network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4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4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48"/>
          <p:cNvSpPr/>
          <p:nvPr/>
        </p:nvSpPr>
        <p:spPr>
          <a:xfrm>
            <a:off x="5257800" y="1188720"/>
            <a:ext cx="1645920" cy="457200"/>
          </a:xfrm>
          <a:prstGeom prst="ellipse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48"/>
          <p:cNvSpPr/>
          <p:nvPr/>
        </p:nvSpPr>
        <p:spPr>
          <a:xfrm>
            <a:off x="5257800" y="1188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Babar Azam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48"/>
          <p:cNvSpPr/>
          <p:nvPr/>
        </p:nvSpPr>
        <p:spPr>
          <a:xfrm>
            <a:off x="2103120" y="822960"/>
            <a:ext cx="1371600" cy="41148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48"/>
          <p:cNvSpPr/>
          <p:nvPr/>
        </p:nvSpPr>
        <p:spPr>
          <a:xfrm>
            <a:off x="2103120" y="8229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Pakistan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48"/>
          <p:cNvSpPr/>
          <p:nvPr/>
        </p:nvSpPr>
        <p:spPr>
          <a:xfrm>
            <a:off x="1645920" y="1828800"/>
            <a:ext cx="1188720" cy="41148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8"/>
          <p:cNvSpPr/>
          <p:nvPr/>
        </p:nvSpPr>
        <p:spPr>
          <a:xfrm>
            <a:off x="1645920" y="1828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Lahore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48"/>
          <p:cNvSpPr/>
          <p:nvPr/>
        </p:nvSpPr>
        <p:spPr>
          <a:xfrm>
            <a:off x="1828800" y="2834640"/>
            <a:ext cx="1691640" cy="41148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8"/>
          <p:cNvSpPr/>
          <p:nvPr/>
        </p:nvSpPr>
        <p:spPr>
          <a:xfrm>
            <a:off x="1828800" y="283464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 15, 1994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48"/>
          <p:cNvSpPr/>
          <p:nvPr/>
        </p:nvSpPr>
        <p:spPr>
          <a:xfrm>
            <a:off x="2103120" y="3794760"/>
            <a:ext cx="1645920" cy="411480"/>
          </a:xfrm>
          <a:prstGeom prst="ellipse">
            <a:avLst/>
          </a:prstGeom>
          <a:solidFill>
            <a:srgbClr val="45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48"/>
          <p:cNvSpPr/>
          <p:nvPr/>
        </p:nvSpPr>
        <p:spPr>
          <a:xfrm>
            <a:off x="2103120" y="37947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Right-handed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48"/>
          <p:cNvSpPr/>
          <p:nvPr/>
        </p:nvSpPr>
        <p:spPr>
          <a:xfrm>
            <a:off x="5120640" y="2331720"/>
            <a:ext cx="146304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48"/>
          <p:cNvSpPr/>
          <p:nvPr/>
        </p:nvSpPr>
        <p:spPr>
          <a:xfrm>
            <a:off x="5120640" y="23317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Cricket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48"/>
          <p:cNvSpPr/>
          <p:nvPr/>
        </p:nvSpPr>
        <p:spPr>
          <a:xfrm>
            <a:off x="5120640" y="3337560"/>
            <a:ext cx="1371600" cy="411480"/>
          </a:xfrm>
          <a:prstGeom prst="ellipse">
            <a:avLst/>
          </a:prstGeom>
          <a:solidFill>
            <a:srgbClr val="6D3D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48"/>
          <p:cNvSpPr/>
          <p:nvPr/>
        </p:nvSpPr>
        <p:spPr>
          <a:xfrm>
            <a:off x="5120640" y="33375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ODI Cricket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48"/>
          <p:cNvSpPr/>
          <p:nvPr/>
        </p:nvSpPr>
        <p:spPr>
          <a:xfrm>
            <a:off x="8229600" y="822960"/>
            <a:ext cx="164592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48"/>
          <p:cNvSpPr/>
          <p:nvPr/>
        </p:nvSpPr>
        <p:spPr>
          <a:xfrm>
            <a:off x="8229600" y="8229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Cricket Player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48"/>
          <p:cNvSpPr/>
          <p:nvPr/>
        </p:nvSpPr>
        <p:spPr>
          <a:xfrm>
            <a:off x="8503920" y="1828800"/>
            <a:ext cx="1554480" cy="41148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48"/>
          <p:cNvSpPr/>
          <p:nvPr/>
        </p:nvSpPr>
        <p:spPr>
          <a:xfrm>
            <a:off x="8503920" y="18288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ICC Test #1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48"/>
          <p:cNvSpPr/>
          <p:nvPr/>
        </p:nvSpPr>
        <p:spPr>
          <a:xfrm>
            <a:off x="8503920" y="2834640"/>
            <a:ext cx="1737360" cy="4114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48"/>
          <p:cNvSpPr/>
          <p:nvPr/>
        </p:nvSpPr>
        <p:spPr>
          <a:xfrm>
            <a:off x="8503920" y="2834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2022 World Cup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48"/>
          <p:cNvSpPr/>
          <p:nvPr/>
        </p:nvSpPr>
        <p:spPr>
          <a:xfrm>
            <a:off x="8412480" y="3794760"/>
            <a:ext cx="1828800" cy="411480"/>
          </a:xfrm>
          <a:prstGeom prst="ellipse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48"/>
          <p:cNvSpPr/>
          <p:nvPr/>
        </p:nvSpPr>
        <p:spPr>
          <a:xfrm>
            <a:off x="8412480" y="37947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Mohammad Rizwan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8" name="Google Shape;1788;p48"/>
          <p:cNvCxnSpPr/>
          <p:nvPr/>
        </p:nvCxnSpPr>
        <p:spPr>
          <a:xfrm rot="10800000">
            <a:off x="2788920" y="1033272"/>
            <a:ext cx="2468880" cy="365760"/>
          </a:xfrm>
          <a:prstGeom prst="straightConnector1">
            <a:avLst/>
          </a:prstGeom>
          <a:noFill/>
          <a:ln w="16500" cap="flat" cmpd="sng">
            <a:solidFill>
              <a:srgbClr val="28A08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89" name="Google Shape;1789;p48"/>
          <p:cNvSpPr/>
          <p:nvPr/>
        </p:nvSpPr>
        <p:spPr>
          <a:xfrm>
            <a:off x="3732581" y="1119226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48"/>
          <p:cNvSpPr/>
          <p:nvPr/>
        </p:nvSpPr>
        <p:spPr>
          <a:xfrm>
            <a:off x="3732581" y="111922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nationality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1" name="Google Shape;1791;p48"/>
          <p:cNvCxnSpPr/>
          <p:nvPr/>
        </p:nvCxnSpPr>
        <p:spPr>
          <a:xfrm flipH="1">
            <a:off x="2240280" y="1399032"/>
            <a:ext cx="3017520" cy="640080"/>
          </a:xfrm>
          <a:prstGeom prst="straightConnector1">
            <a:avLst/>
          </a:prstGeom>
          <a:noFill/>
          <a:ln w="1650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92" name="Google Shape;1792;p48"/>
          <p:cNvSpPr/>
          <p:nvPr/>
        </p:nvSpPr>
        <p:spPr>
          <a:xfrm>
            <a:off x="3491179" y="1561795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48"/>
          <p:cNvSpPr/>
          <p:nvPr/>
        </p:nvSpPr>
        <p:spPr>
          <a:xfrm>
            <a:off x="3491179" y="1561795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birthCity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48"/>
          <p:cNvCxnSpPr/>
          <p:nvPr/>
        </p:nvCxnSpPr>
        <p:spPr>
          <a:xfrm flipH="1">
            <a:off x="2679192" y="1399032"/>
            <a:ext cx="2578608" cy="1645920"/>
          </a:xfrm>
          <a:prstGeom prst="straightConnector1">
            <a:avLst/>
          </a:prstGeom>
          <a:noFill/>
          <a:ln w="1650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95" name="Google Shape;1795;p48"/>
          <p:cNvSpPr/>
          <p:nvPr/>
        </p:nvSpPr>
        <p:spPr>
          <a:xfrm>
            <a:off x="3684300" y="2004365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48"/>
          <p:cNvSpPr/>
          <p:nvPr/>
        </p:nvSpPr>
        <p:spPr>
          <a:xfrm>
            <a:off x="3684300" y="2004365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dateOfBirth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7" name="Google Shape;1797;p48"/>
          <p:cNvCxnSpPr/>
          <p:nvPr/>
        </p:nvCxnSpPr>
        <p:spPr>
          <a:xfrm flipH="1">
            <a:off x="2926080" y="1399032"/>
            <a:ext cx="2331720" cy="2606040"/>
          </a:xfrm>
          <a:prstGeom prst="straightConnector1">
            <a:avLst/>
          </a:prstGeom>
          <a:noFill/>
          <a:ln w="16500" cap="flat" cmpd="sng">
            <a:solidFill>
              <a:srgbClr val="455A7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98" name="Google Shape;1798;p48"/>
          <p:cNvSpPr/>
          <p:nvPr/>
        </p:nvSpPr>
        <p:spPr>
          <a:xfrm>
            <a:off x="3792931" y="2426818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48"/>
          <p:cNvSpPr/>
          <p:nvPr/>
        </p:nvSpPr>
        <p:spPr>
          <a:xfrm>
            <a:off x="3792931" y="242681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battingStyle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0" name="Google Shape;1800;p48"/>
          <p:cNvCxnSpPr/>
          <p:nvPr/>
        </p:nvCxnSpPr>
        <p:spPr>
          <a:xfrm rot="10800000" flipH="1">
            <a:off x="6080760" y="1033272"/>
            <a:ext cx="2971800" cy="365760"/>
          </a:xfrm>
          <a:prstGeom prst="straightConnector1">
            <a:avLst/>
          </a:prstGeom>
          <a:noFill/>
          <a:ln w="16500" cap="flat" cmpd="sng">
            <a:solidFill>
              <a:srgbClr val="C0392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01" name="Google Shape;1801;p48"/>
          <p:cNvSpPr/>
          <p:nvPr/>
        </p:nvSpPr>
        <p:spPr>
          <a:xfrm>
            <a:off x="6949440" y="1119226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48"/>
          <p:cNvSpPr/>
          <p:nvPr/>
        </p:nvSpPr>
        <p:spPr>
          <a:xfrm>
            <a:off x="6949440" y="111922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3" name="Google Shape;1803;p48"/>
          <p:cNvCxnSpPr/>
          <p:nvPr/>
        </p:nvCxnSpPr>
        <p:spPr>
          <a:xfrm>
            <a:off x="6080760" y="1399032"/>
            <a:ext cx="3200400" cy="640080"/>
          </a:xfrm>
          <a:prstGeom prst="straightConnector1">
            <a:avLst/>
          </a:prstGeom>
          <a:noFill/>
          <a:ln w="16500" cap="flat" cmpd="sng">
            <a:solidFill>
              <a:srgbClr val="D4A01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04" name="Google Shape;1804;p48"/>
          <p:cNvSpPr/>
          <p:nvPr/>
        </p:nvSpPr>
        <p:spPr>
          <a:xfrm>
            <a:off x="7050024" y="1561795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48"/>
          <p:cNvSpPr/>
          <p:nvPr/>
        </p:nvSpPr>
        <p:spPr>
          <a:xfrm>
            <a:off x="7050024" y="1561795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48"/>
          <p:cNvCxnSpPr/>
          <p:nvPr/>
        </p:nvCxnSpPr>
        <p:spPr>
          <a:xfrm>
            <a:off x="6080760" y="1399032"/>
            <a:ext cx="3291840" cy="1645920"/>
          </a:xfrm>
          <a:prstGeom prst="straightConnector1">
            <a:avLst/>
          </a:prstGeom>
          <a:noFill/>
          <a:ln w="16500" cap="flat" cmpd="sng">
            <a:solidFill>
              <a:srgbClr val="1565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07" name="Google Shape;1807;p48"/>
          <p:cNvSpPr/>
          <p:nvPr/>
        </p:nvSpPr>
        <p:spPr>
          <a:xfrm>
            <a:off x="7090258" y="2004365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48"/>
          <p:cNvSpPr/>
          <p:nvPr/>
        </p:nvSpPr>
        <p:spPr>
          <a:xfrm>
            <a:off x="7090258" y="2004365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participated-in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9" name="Google Shape;1809;p48"/>
          <p:cNvCxnSpPr/>
          <p:nvPr/>
        </p:nvCxnSpPr>
        <p:spPr>
          <a:xfrm>
            <a:off x="6080760" y="1399032"/>
            <a:ext cx="3246120" cy="2606040"/>
          </a:xfrm>
          <a:prstGeom prst="straightConnector1">
            <a:avLst/>
          </a:prstGeom>
          <a:noFill/>
          <a:ln w="16500" cap="flat" cmpd="sng">
            <a:solidFill>
              <a:srgbClr val="28A08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10" name="Google Shape;1810;p48"/>
          <p:cNvSpPr/>
          <p:nvPr/>
        </p:nvSpPr>
        <p:spPr>
          <a:xfrm>
            <a:off x="7070141" y="2426818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48"/>
          <p:cNvSpPr/>
          <p:nvPr/>
        </p:nvSpPr>
        <p:spPr>
          <a:xfrm>
            <a:off x="7070141" y="242681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teammate-of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2" name="Google Shape;1812;p48"/>
          <p:cNvCxnSpPr/>
          <p:nvPr/>
        </p:nvCxnSpPr>
        <p:spPr>
          <a:xfrm>
            <a:off x="5760720" y="1399032"/>
            <a:ext cx="91440" cy="932688"/>
          </a:xfrm>
          <a:prstGeom prst="straightConnector1">
            <a:avLst/>
          </a:prstGeom>
          <a:noFill/>
          <a:ln w="16500" cap="flat" cmpd="sng">
            <a:solidFill>
              <a:srgbClr val="5B21B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13" name="Google Shape;1813;p48"/>
          <p:cNvSpPr/>
          <p:nvPr/>
        </p:nvSpPr>
        <p:spPr>
          <a:xfrm>
            <a:off x="5362042" y="1690543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48"/>
          <p:cNvSpPr/>
          <p:nvPr/>
        </p:nvSpPr>
        <p:spPr>
          <a:xfrm>
            <a:off x="5362042" y="1690543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plays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5" name="Google Shape;1815;p48"/>
          <p:cNvCxnSpPr/>
          <p:nvPr/>
        </p:nvCxnSpPr>
        <p:spPr>
          <a:xfrm flipH="1">
            <a:off x="5577840" y="2542032"/>
            <a:ext cx="182880" cy="795528"/>
          </a:xfrm>
          <a:prstGeom prst="straightConnector1">
            <a:avLst/>
          </a:prstGeom>
          <a:noFill/>
          <a:ln w="16500" cap="flat" cmpd="sng">
            <a:solidFill>
              <a:srgbClr val="6D3DB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16" name="Google Shape;1816;p48"/>
          <p:cNvSpPr/>
          <p:nvPr/>
        </p:nvSpPr>
        <p:spPr>
          <a:xfrm>
            <a:off x="5241341" y="2773192"/>
            <a:ext cx="1005840" cy="228600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48"/>
          <p:cNvSpPr/>
          <p:nvPr/>
        </p:nvSpPr>
        <p:spPr>
          <a:xfrm>
            <a:off x="5241341" y="277319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also-plays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48"/>
          <p:cNvSpPr/>
          <p:nvPr/>
        </p:nvSpPr>
        <p:spPr>
          <a:xfrm>
            <a:off x="274320" y="4645152"/>
            <a:ext cx="11612880" cy="25603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48"/>
          <p:cNvSpPr/>
          <p:nvPr/>
        </p:nvSpPr>
        <p:spPr>
          <a:xfrm>
            <a:off x="365760" y="4645152"/>
            <a:ext cx="11430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RDF Triples  (Subject → Predicate → Object)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48"/>
          <p:cNvSpPr/>
          <p:nvPr/>
        </p:nvSpPr>
        <p:spPr>
          <a:xfrm>
            <a:off x="274320" y="4919472"/>
            <a:ext cx="11612880" cy="320040"/>
          </a:xfrm>
          <a:prstGeom prst="rect">
            <a:avLst/>
          </a:prstGeom>
          <a:solidFill>
            <a:srgbClr val="F0F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48"/>
          <p:cNvSpPr/>
          <p:nvPr/>
        </p:nvSpPr>
        <p:spPr>
          <a:xfrm>
            <a:off x="411480" y="491947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&lt;BabarAzam&gt; &lt;nationality&gt; &lt;Pakistan&gt;   |   &lt;BabarAzam&gt; &lt;rdf:type&gt; &lt;CricketPlayer&gt;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48"/>
          <p:cNvSpPr/>
          <p:nvPr/>
        </p:nvSpPr>
        <p:spPr>
          <a:xfrm>
            <a:off x="274320" y="5266944"/>
            <a:ext cx="11612880" cy="3200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48"/>
          <p:cNvSpPr/>
          <p:nvPr/>
        </p:nvSpPr>
        <p:spPr>
          <a:xfrm>
            <a:off x="411480" y="5266944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&lt;BabarAzam&gt; &lt;birthCity&gt; &lt;Lahore&gt;       |   &lt;BabarAzam&gt; &lt;ranking&gt; &lt;ICC-Test-#1&gt;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48"/>
          <p:cNvSpPr/>
          <p:nvPr/>
        </p:nvSpPr>
        <p:spPr>
          <a:xfrm>
            <a:off x="274320" y="5614416"/>
            <a:ext cx="11612880" cy="320040"/>
          </a:xfrm>
          <a:prstGeom prst="rect">
            <a:avLst/>
          </a:prstGeom>
          <a:solidFill>
            <a:srgbClr val="F0F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5" name="Google Shape;1825;p48"/>
          <p:cNvSpPr/>
          <p:nvPr/>
        </p:nvSpPr>
        <p:spPr>
          <a:xfrm>
            <a:off x="411480" y="5614416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&lt;BabarAzam&gt; &lt;plays&gt; &lt;TestCricket&gt;      |   &lt;Pakistan&gt; &lt;rdf:type&gt; &lt;Country&gt;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48"/>
          <p:cNvSpPr/>
          <p:nvPr/>
        </p:nvSpPr>
        <p:spPr>
          <a:xfrm>
            <a:off x="274320" y="5961888"/>
            <a:ext cx="11612880" cy="59436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48"/>
          <p:cNvSpPr/>
          <p:nvPr/>
        </p:nvSpPr>
        <p:spPr>
          <a:xfrm>
            <a:off x="274320" y="5961888"/>
            <a:ext cx="109728" cy="5943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48"/>
          <p:cNvSpPr/>
          <p:nvPr/>
        </p:nvSpPr>
        <p:spPr>
          <a:xfrm>
            <a:off x="502920" y="5989320"/>
            <a:ext cx="112471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OPEN WORLD: Wikidata doesn't know Babar's shoe size → it's simply 'not stated', NOT 'FALSE'. This lets AI say 'I don't know' instead of wrong confident answers. Closed World would dangerously conclude shoe-size=0.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4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49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4.3: Real-World Case: Airbnb Property Knowledge Frame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4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4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49"/>
          <p:cNvSpPr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49"/>
          <p:cNvSpPr/>
          <p:nvPr/>
        </p:nvSpPr>
        <p:spPr>
          <a:xfrm>
            <a:off x="365760" y="914400"/>
            <a:ext cx="109728" cy="8229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49"/>
          <p:cNvSpPr/>
          <p:nvPr/>
        </p:nvSpPr>
        <p:spPr>
          <a:xfrm>
            <a:off x="548640" y="941832"/>
            <a:ext cx="11064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SCENARIO: Airbnb uses frames (they call them 'structured data schemas') for every property listing. When you search 'pet-friendly 2-bedroom near beach', Airbnb's AI traverses FRAMES of millions of properties. Today you design one.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49"/>
          <p:cNvSpPr/>
          <p:nvPr/>
        </p:nvSpPr>
        <p:spPr>
          <a:xfrm>
            <a:off x="36576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49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49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49"/>
          <p:cNvSpPr/>
          <p:nvPr/>
        </p:nvSpPr>
        <p:spPr>
          <a:xfrm>
            <a:off x="47548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Design FRAME: AirbnbProperty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With these slot categories: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Identity slots (name, host-id, location)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Physical slots (bedrooms, max-guests, amenities)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Policy slots (pet-friendly, smoking, check-in-time)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Procedure slots (IF-NEEDED, IF-ADDED)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49"/>
          <p:cNvSpPr/>
          <p:nvPr/>
        </p:nvSpPr>
        <p:spPr>
          <a:xfrm>
            <a:off x="320040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49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49"/>
          <p:cNvSpPr/>
          <p:nvPr/>
        </p:nvSpPr>
        <p:spPr>
          <a:xfrm>
            <a:off x="331012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Create sub-frames: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Apartment IS-A AirbnbProperty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Villa IS-A AirbnbProperty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HotelRoom IS-A AirbnbProperty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Which slots differ? E.g. Villa adds: pool, garden. HotelRoom removes: kitchen.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the overrides.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49"/>
          <p:cNvSpPr/>
          <p:nvPr/>
        </p:nvSpPr>
        <p:spPr>
          <a:xfrm>
            <a:off x="603504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49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49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49"/>
          <p:cNvSpPr/>
          <p:nvPr/>
        </p:nvSpPr>
        <p:spPr>
          <a:xfrm>
            <a:off x="614476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INSTANCE: [Lahore-Gulberg-2BR]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Fill all known slots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Which slots fire IF-NEEDED?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Write the procedure for: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'IF-ADDED booking-date → check-availability, update-calendar, send-confirmation'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49"/>
          <p:cNvSpPr/>
          <p:nvPr/>
        </p:nvSpPr>
        <p:spPr>
          <a:xfrm>
            <a:off x="886968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49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p49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49"/>
          <p:cNvSpPr/>
          <p:nvPr/>
        </p:nvSpPr>
        <p:spPr>
          <a:xfrm>
            <a:off x="897940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SEARCH QUERY TRACE: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User searches: 'pet-friendly 2-bed near Lahore under $80'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Trace how the frame system: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Filters by pet-friendly slot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Filters bedrooms ≥ 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Calculates distance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4. Checks price slot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many frame lookups per property?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5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50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4.3: Airbnb Property Frame — Inheritance Diagram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5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5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50"/>
          <p:cNvSpPr/>
          <p:nvPr/>
        </p:nvSpPr>
        <p:spPr>
          <a:xfrm>
            <a:off x="3474720" y="914400"/>
            <a:ext cx="5303520" cy="256032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p50"/>
          <p:cNvSpPr/>
          <p:nvPr/>
        </p:nvSpPr>
        <p:spPr>
          <a:xfrm>
            <a:off x="3474720" y="914400"/>
            <a:ext cx="5303520" cy="34747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50"/>
          <p:cNvSpPr/>
          <p:nvPr/>
        </p:nvSpPr>
        <p:spPr>
          <a:xfrm>
            <a:off x="3547872" y="914400"/>
            <a:ext cx="51572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AirbnbProperty (parent)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0"/>
          <p:cNvSpPr/>
          <p:nvPr/>
        </p:nvSpPr>
        <p:spPr>
          <a:xfrm>
            <a:off x="3566160" y="1298448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name: 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bedrooms: INTEGER [1–20]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pet-friendly: BOOLEAN  default=FALSE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max-guests: INTEGER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price-per-night: FLOAT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check-in-time: TIME  default=15:00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IF-NEEDED availability → query_calendar(id)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IF-ADDED booking → send_confirmation(), block_calendar()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0" name="Google Shape;1870;p50"/>
          <p:cNvCxnSpPr/>
          <p:nvPr/>
        </p:nvCxnSpPr>
        <p:spPr>
          <a:xfrm flipH="1">
            <a:off x="1554480" y="3474720"/>
            <a:ext cx="3474720" cy="45720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1" name="Google Shape;1871;p50"/>
          <p:cNvCxnSpPr/>
          <p:nvPr/>
        </p:nvCxnSpPr>
        <p:spPr>
          <a:xfrm>
            <a:off x="6126480" y="3474720"/>
            <a:ext cx="0" cy="45720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2" name="Google Shape;1872;p50"/>
          <p:cNvCxnSpPr/>
          <p:nvPr/>
        </p:nvCxnSpPr>
        <p:spPr>
          <a:xfrm>
            <a:off x="7223760" y="3474720"/>
            <a:ext cx="3383280" cy="457200"/>
          </a:xfrm>
          <a:prstGeom prst="straightConnector1">
            <a:avLst/>
          </a:prstGeom>
          <a:noFill/>
          <a:ln w="15225" cap="flat" cmpd="sng">
            <a:solidFill>
              <a:srgbClr val="8B9EB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3" name="Google Shape;1873;p50"/>
          <p:cNvSpPr/>
          <p:nvPr/>
        </p:nvSpPr>
        <p:spPr>
          <a:xfrm>
            <a:off x="2286000" y="35661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0"/>
          <p:cNvSpPr/>
          <p:nvPr/>
        </p:nvSpPr>
        <p:spPr>
          <a:xfrm>
            <a:off x="5852160" y="35661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50"/>
          <p:cNvSpPr/>
          <p:nvPr/>
        </p:nvSpPr>
        <p:spPr>
          <a:xfrm>
            <a:off x="9144000" y="35661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is-a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50"/>
          <p:cNvSpPr/>
          <p:nvPr/>
        </p:nvSpPr>
        <p:spPr>
          <a:xfrm>
            <a:off x="274320" y="3931920"/>
            <a:ext cx="338328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8A0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50"/>
          <p:cNvSpPr/>
          <p:nvPr/>
        </p:nvSpPr>
        <p:spPr>
          <a:xfrm>
            <a:off x="274320" y="3931920"/>
            <a:ext cx="3383280" cy="34747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878;p50"/>
          <p:cNvSpPr/>
          <p:nvPr/>
        </p:nvSpPr>
        <p:spPr>
          <a:xfrm>
            <a:off x="347472" y="3931920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Villa  (IS-A Property)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50"/>
          <p:cNvSpPr/>
          <p:nvPr/>
        </p:nvSpPr>
        <p:spPr>
          <a:xfrm>
            <a:off x="365760" y="4315968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INHERITS all parent slots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pool: BOOLEAN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garden-size: FLOAT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housekeeper: BOOLEAN  default=TRUE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minimum-stay: INTEGER  default=3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50"/>
          <p:cNvSpPr/>
          <p:nvPr/>
        </p:nvSpPr>
        <p:spPr>
          <a:xfrm>
            <a:off x="4434840" y="3931920"/>
            <a:ext cx="338328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50"/>
          <p:cNvSpPr/>
          <p:nvPr/>
        </p:nvSpPr>
        <p:spPr>
          <a:xfrm>
            <a:off x="4434840" y="3931920"/>
            <a:ext cx="33832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50"/>
          <p:cNvSpPr/>
          <p:nvPr/>
        </p:nvSpPr>
        <p:spPr>
          <a:xfrm>
            <a:off x="4507992" y="3931920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Apartment  (IS-A Property)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50"/>
          <p:cNvSpPr/>
          <p:nvPr/>
        </p:nvSpPr>
        <p:spPr>
          <a:xfrm>
            <a:off x="4526280" y="4315968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INHERITS all parent slots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floor-number: INTEGER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elevator: BOOLEAN  default=FALSE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OVERRIDES: check-in-time = 14:00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building-amenities: [ARRAY]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50"/>
          <p:cNvSpPr/>
          <p:nvPr/>
        </p:nvSpPr>
        <p:spPr>
          <a:xfrm>
            <a:off x="8595360" y="3931920"/>
            <a:ext cx="3200400" cy="18288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50"/>
          <p:cNvSpPr/>
          <p:nvPr/>
        </p:nvSpPr>
        <p:spPr>
          <a:xfrm>
            <a:off x="8595360" y="3931920"/>
            <a:ext cx="32004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50"/>
          <p:cNvSpPr/>
          <p:nvPr/>
        </p:nvSpPr>
        <p:spPr>
          <a:xfrm>
            <a:off x="8668512" y="3931920"/>
            <a:ext cx="305409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FRAME: HotelRoom  (IS-A Property)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50"/>
          <p:cNvSpPr/>
          <p:nvPr/>
        </p:nvSpPr>
        <p:spPr>
          <a:xfrm>
            <a:off x="8686800" y="4315968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INHERITS all parent slots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OVERRIDES: pet-friendly = 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REMOVES: kitchen slot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room-service: BOOLEAN  default=TRUE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+ hotel-name: TEXT  (required)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50"/>
          <p:cNvSpPr/>
          <p:nvPr/>
        </p:nvSpPr>
        <p:spPr>
          <a:xfrm>
            <a:off x="274320" y="5897880"/>
            <a:ext cx="1197864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50"/>
          <p:cNvSpPr/>
          <p:nvPr/>
        </p:nvSpPr>
        <p:spPr>
          <a:xfrm>
            <a:off x="274320" y="5897880"/>
            <a:ext cx="109728" cy="6400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50"/>
          <p:cNvSpPr/>
          <p:nvPr/>
        </p:nvSpPr>
        <p:spPr>
          <a:xfrm>
            <a:off x="502920" y="5925312"/>
            <a:ext cx="11612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INSIGHT: Airbnb has 7M+ listings. Each is an INSTANCE of one of these frames. A search query checks 3–4 slot values per listing = ~28M slot lookups vs billions of IF-THEN rule evaluations. Frames win at scale.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51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Introduction to Ontologies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51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Formal, shared, machine-readable knowledge — OWL &amp; RDF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51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C085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51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 of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5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5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5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" name="Google Shape;1908;p52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5.1 What Is an Ontology?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52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5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p5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52"/>
          <p:cNvSpPr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Ontology = VOCABULARY + STRUCTURE + RULES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written in a machine-readable formal language that multiple systems can share and reason with.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52"/>
          <p:cNvSpPr/>
          <p:nvPr/>
        </p:nvSpPr>
        <p:spPr>
          <a:xfrm>
            <a:off x="365760" y="19202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52"/>
          <p:cNvSpPr/>
          <p:nvPr/>
        </p:nvSpPr>
        <p:spPr>
          <a:xfrm>
            <a:off x="365760" y="1920240"/>
            <a:ext cx="2651760" cy="6400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52"/>
          <p:cNvSpPr/>
          <p:nvPr/>
        </p:nvSpPr>
        <p:spPr>
          <a:xfrm>
            <a:off x="365760" y="19202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52"/>
          <p:cNvSpPr/>
          <p:nvPr/>
        </p:nvSpPr>
        <p:spPr>
          <a:xfrm>
            <a:off x="502920" y="2633472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Written in a precise language (OWL/RDF) — not ambiguous natural language. Computers can parse and reason with it.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52"/>
          <p:cNvSpPr/>
          <p:nvPr/>
        </p:nvSpPr>
        <p:spPr>
          <a:xfrm>
            <a:off x="3200400" y="19202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52"/>
          <p:cNvSpPr/>
          <p:nvPr/>
        </p:nvSpPr>
        <p:spPr>
          <a:xfrm>
            <a:off x="3200400" y="1920240"/>
            <a:ext cx="2651760" cy="64008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52"/>
          <p:cNvSpPr/>
          <p:nvPr/>
        </p:nvSpPr>
        <p:spPr>
          <a:xfrm>
            <a:off x="3200400" y="19202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52"/>
          <p:cNvSpPr/>
          <p:nvPr/>
        </p:nvSpPr>
        <p:spPr>
          <a:xfrm>
            <a:off x="3337560" y="2633472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Every concept, relationship, and constraint is stated clearly — nothing is implied or assumed.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52"/>
          <p:cNvSpPr/>
          <p:nvPr/>
        </p:nvSpPr>
        <p:spPr>
          <a:xfrm>
            <a:off x="6035040" y="19202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52"/>
          <p:cNvSpPr/>
          <p:nvPr/>
        </p:nvSpPr>
        <p:spPr>
          <a:xfrm>
            <a:off x="6035040" y="1920240"/>
            <a:ext cx="265176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52"/>
          <p:cNvSpPr/>
          <p:nvPr/>
        </p:nvSpPr>
        <p:spPr>
          <a:xfrm>
            <a:off x="6035040" y="19202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52"/>
          <p:cNvSpPr/>
          <p:nvPr/>
        </p:nvSpPr>
        <p:spPr>
          <a:xfrm>
            <a:off x="6172200" y="2633472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Agreed upon by multiple organisations — one single source of truth for a domain.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52"/>
          <p:cNvSpPr/>
          <p:nvPr/>
        </p:nvSpPr>
        <p:spPr>
          <a:xfrm>
            <a:off x="8869680" y="192024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52"/>
          <p:cNvSpPr/>
          <p:nvPr/>
        </p:nvSpPr>
        <p:spPr>
          <a:xfrm>
            <a:off x="8869680" y="1920240"/>
            <a:ext cx="2651760" cy="6400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52"/>
          <p:cNvSpPr/>
          <p:nvPr/>
        </p:nvSpPr>
        <p:spPr>
          <a:xfrm>
            <a:off x="8869680" y="19202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CONCEPTUALIZATION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52"/>
          <p:cNvSpPr/>
          <p:nvPr/>
        </p:nvSpPr>
        <p:spPr>
          <a:xfrm>
            <a:off x="9006840" y="2633472"/>
            <a:ext cx="2377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Models a domain of reality — not reality itself. An abstraction over the world.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52"/>
          <p:cNvSpPr/>
          <p:nvPr/>
        </p:nvSpPr>
        <p:spPr>
          <a:xfrm>
            <a:off x="365760" y="5285232"/>
            <a:ext cx="11430000" cy="73152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52"/>
          <p:cNvSpPr/>
          <p:nvPr/>
        </p:nvSpPr>
        <p:spPr>
          <a:xfrm>
            <a:off x="365760" y="5285232"/>
            <a:ext cx="109728" cy="73152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52"/>
          <p:cNvSpPr/>
          <p:nvPr/>
        </p:nvSpPr>
        <p:spPr>
          <a:xfrm>
            <a:off x="594360" y="5321808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MEMORY HOOK: Ontology = Semantic Network + Frames + Formal Logic + Standards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It takes everything we've studied and adds: standardisation, formal constraints, automated reasoning, and cross-organisation interoperability.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53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53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5.2 RDF — Knowledge as Triples &amp; Graph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53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5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5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53"/>
          <p:cNvSpPr/>
          <p:nvPr/>
        </p:nvSpPr>
        <p:spPr>
          <a:xfrm>
            <a:off x="1828800" y="1645920"/>
            <a:ext cx="1645920" cy="548640"/>
          </a:xfrm>
          <a:prstGeom prst="ellipse">
            <a:avLst/>
          </a:prstGeom>
          <a:solidFill>
            <a:srgbClr val="5B21B6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53"/>
          <p:cNvSpPr/>
          <p:nvPr/>
        </p:nvSpPr>
        <p:spPr>
          <a:xfrm>
            <a:off x="1828800" y="16459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:Alice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53"/>
          <p:cNvSpPr/>
          <p:nvPr/>
        </p:nvSpPr>
        <p:spPr>
          <a:xfrm>
            <a:off x="1828800" y="2834640"/>
            <a:ext cx="1645920" cy="54864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53"/>
          <p:cNvSpPr/>
          <p:nvPr/>
        </p:nvSpPr>
        <p:spPr>
          <a:xfrm>
            <a:off x="1828800" y="28346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:Person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53"/>
          <p:cNvSpPr/>
          <p:nvPr/>
        </p:nvSpPr>
        <p:spPr>
          <a:xfrm>
            <a:off x="457200" y="4023360"/>
            <a:ext cx="1645920" cy="54864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53"/>
          <p:cNvSpPr/>
          <p:nvPr/>
        </p:nvSpPr>
        <p:spPr>
          <a:xfrm>
            <a:off x="457200" y="40233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:Employee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53"/>
          <p:cNvSpPr/>
          <p:nvPr/>
        </p:nvSpPr>
        <p:spPr>
          <a:xfrm>
            <a:off x="3931920" y="1508760"/>
            <a:ext cx="1645920" cy="548640"/>
          </a:xfrm>
          <a:prstGeom prst="ellipse">
            <a:avLst/>
          </a:prstGeom>
          <a:solidFill>
            <a:srgbClr val="1A7A6E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53"/>
          <p:cNvSpPr/>
          <p:nvPr/>
        </p:nvSpPr>
        <p:spPr>
          <a:xfrm>
            <a:off x="3840480" y="16459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:Google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53"/>
          <p:cNvSpPr/>
          <p:nvPr/>
        </p:nvSpPr>
        <p:spPr>
          <a:xfrm>
            <a:off x="3840480" y="2949292"/>
            <a:ext cx="1645920" cy="548640"/>
          </a:xfrm>
          <a:prstGeom prst="ellipse">
            <a:avLst/>
          </a:prstGeom>
          <a:solidFill>
            <a:srgbClr val="1A5B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53"/>
          <p:cNvSpPr/>
          <p:nvPr/>
        </p:nvSpPr>
        <p:spPr>
          <a:xfrm>
            <a:off x="3840480" y="28346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53"/>
          <p:cNvSpPr/>
          <p:nvPr/>
        </p:nvSpPr>
        <p:spPr>
          <a:xfrm>
            <a:off x="5669280" y="1645920"/>
            <a:ext cx="1188720" cy="4572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53"/>
          <p:cNvSpPr/>
          <p:nvPr/>
        </p:nvSpPr>
        <p:spPr>
          <a:xfrm>
            <a:off x="5669280" y="16459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28 (age)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53"/>
          <p:cNvSpPr/>
          <p:nvPr/>
        </p:nvSpPr>
        <p:spPr>
          <a:xfrm>
            <a:off x="160020" y="1717314"/>
            <a:ext cx="1645920" cy="548640"/>
          </a:xfrm>
          <a:prstGeom prst="ellipse">
            <a:avLst/>
          </a:prstGeom>
          <a:solidFill>
            <a:srgbClr val="5B21B6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53"/>
          <p:cNvSpPr/>
          <p:nvPr/>
        </p:nvSpPr>
        <p:spPr>
          <a:xfrm>
            <a:off x="457200" y="16459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:Bob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53"/>
          <p:cNvSpPr/>
          <p:nvPr/>
        </p:nvSpPr>
        <p:spPr>
          <a:xfrm>
            <a:off x="5669280" y="2834640"/>
            <a:ext cx="1188720" cy="4572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7" name="Google Shape;1957;p53"/>
          <p:cNvSpPr/>
          <p:nvPr/>
        </p:nvSpPr>
        <p:spPr>
          <a:xfrm>
            <a:off x="5669280" y="28346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32 (age)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8" name="Google Shape;1958;p53"/>
          <p:cNvCxnSpPr/>
          <p:nvPr/>
        </p:nvCxnSpPr>
        <p:spPr>
          <a:xfrm>
            <a:off x="2651760" y="1920240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59" name="Google Shape;1959;p53"/>
          <p:cNvSpPr/>
          <p:nvPr/>
        </p:nvSpPr>
        <p:spPr>
          <a:xfrm>
            <a:off x="2286000" y="226103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0" name="Google Shape;1960;p53"/>
          <p:cNvCxnSpPr/>
          <p:nvPr/>
        </p:nvCxnSpPr>
        <p:spPr>
          <a:xfrm>
            <a:off x="4663440" y="1920240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61" name="Google Shape;1961;p53"/>
          <p:cNvSpPr/>
          <p:nvPr/>
        </p:nvSpPr>
        <p:spPr>
          <a:xfrm>
            <a:off x="4368018" y="227685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2" name="Google Shape;1962;p53"/>
          <p:cNvCxnSpPr/>
          <p:nvPr/>
        </p:nvCxnSpPr>
        <p:spPr>
          <a:xfrm>
            <a:off x="3474720" y="1920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63" name="Google Shape;1963;p53"/>
          <p:cNvSpPr/>
          <p:nvPr/>
        </p:nvSpPr>
        <p:spPr>
          <a:xfrm>
            <a:off x="3154680" y="17190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worksAt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4" name="Google Shape;1964;p53"/>
          <p:cNvCxnSpPr/>
          <p:nvPr/>
        </p:nvCxnSpPr>
        <p:spPr>
          <a:xfrm>
            <a:off x="3474720" y="1920240"/>
            <a:ext cx="2194560" cy="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65" name="Google Shape;1965;p53"/>
          <p:cNvSpPr/>
          <p:nvPr/>
        </p:nvSpPr>
        <p:spPr>
          <a:xfrm>
            <a:off x="4069080" y="17190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hasAge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6" name="Google Shape;1966;p53"/>
          <p:cNvCxnSpPr/>
          <p:nvPr/>
        </p:nvCxnSpPr>
        <p:spPr>
          <a:xfrm rot="10800000">
            <a:off x="457200" y="1645920"/>
            <a:ext cx="822960" cy="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67" name="Google Shape;1967;p53"/>
          <p:cNvSpPr/>
          <p:nvPr/>
        </p:nvSpPr>
        <p:spPr>
          <a:xfrm>
            <a:off x="365760" y="144475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knows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8" name="Google Shape;1968;p53"/>
          <p:cNvCxnSpPr/>
          <p:nvPr/>
        </p:nvCxnSpPr>
        <p:spPr>
          <a:xfrm flipH="1">
            <a:off x="1188720" y="3383280"/>
            <a:ext cx="914400" cy="640080"/>
          </a:xfrm>
          <a:prstGeom prst="straightConnector1">
            <a:avLst/>
          </a:prstGeom>
          <a:noFill/>
          <a:ln w="19050" cap="flat" cmpd="sng">
            <a:solidFill>
              <a:srgbClr val="4A7A9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69" name="Google Shape;1969;p53"/>
          <p:cNvSpPr/>
          <p:nvPr/>
        </p:nvSpPr>
        <p:spPr>
          <a:xfrm>
            <a:off x="1463040" y="35986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5A7A"/>
              </a:buClr>
              <a:buSzPts val="900"/>
              <a:buFont typeface="Calibri"/>
              <a:buNone/>
            </a:pPr>
            <a:r>
              <a:rPr lang="en-US" sz="900" b="0" i="0" u="none" strike="noStrike" cap="none" dirty="0" err="1">
                <a:solidFill>
                  <a:srgbClr val="2A5A7A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53"/>
          <p:cNvSpPr/>
          <p:nvPr/>
        </p:nvSpPr>
        <p:spPr>
          <a:xfrm>
            <a:off x="6583680" y="914400"/>
            <a:ext cx="5212080" cy="5074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53"/>
          <p:cNvSpPr/>
          <p:nvPr/>
        </p:nvSpPr>
        <p:spPr>
          <a:xfrm>
            <a:off x="6583680" y="914400"/>
            <a:ext cx="5212080" cy="4572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53"/>
          <p:cNvSpPr/>
          <p:nvPr/>
        </p:nvSpPr>
        <p:spPr>
          <a:xfrm>
            <a:off x="667512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Arrow = One RDF Triple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53"/>
          <p:cNvSpPr/>
          <p:nvPr/>
        </p:nvSpPr>
        <p:spPr>
          <a:xfrm>
            <a:off x="6675120" y="1508760"/>
            <a:ext cx="5029200" cy="6858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53"/>
          <p:cNvSpPr/>
          <p:nvPr/>
        </p:nvSpPr>
        <p:spPr>
          <a:xfrm>
            <a:off x="6766560" y="1554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:Alice  ──rdf:type──▶  :Person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53"/>
          <p:cNvSpPr/>
          <p:nvPr/>
        </p:nvSpPr>
        <p:spPr>
          <a:xfrm>
            <a:off x="6766560" y="187452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Alice IS a Person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53"/>
          <p:cNvSpPr/>
          <p:nvPr/>
        </p:nvSpPr>
        <p:spPr>
          <a:xfrm>
            <a:off x="6675120" y="2313432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53"/>
          <p:cNvSpPr/>
          <p:nvPr/>
        </p:nvSpPr>
        <p:spPr>
          <a:xfrm>
            <a:off x="6766560" y="235915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:Alice  ──worksAt──▶  :Google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53"/>
          <p:cNvSpPr/>
          <p:nvPr/>
        </p:nvSpPr>
        <p:spPr>
          <a:xfrm>
            <a:off x="6766560" y="267919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Alice WORKS AT Google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53"/>
          <p:cNvSpPr/>
          <p:nvPr/>
        </p:nvSpPr>
        <p:spPr>
          <a:xfrm>
            <a:off x="6675120" y="3118104"/>
            <a:ext cx="5029200" cy="6858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53"/>
          <p:cNvSpPr/>
          <p:nvPr/>
        </p:nvSpPr>
        <p:spPr>
          <a:xfrm>
            <a:off x="6766560" y="316382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:Alice  ──hasAge──▶  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53"/>
          <p:cNvSpPr/>
          <p:nvPr/>
        </p:nvSpPr>
        <p:spPr>
          <a:xfrm>
            <a:off x="6766560" y="3483864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Age = data property (literal)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53"/>
          <p:cNvSpPr/>
          <p:nvPr/>
        </p:nvSpPr>
        <p:spPr>
          <a:xfrm>
            <a:off x="6675120" y="3922776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53"/>
          <p:cNvSpPr/>
          <p:nvPr/>
        </p:nvSpPr>
        <p:spPr>
          <a:xfrm>
            <a:off x="6766560" y="396849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:Employee  ──subClassOf──▶  :Person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53"/>
          <p:cNvSpPr/>
          <p:nvPr/>
        </p:nvSpPr>
        <p:spPr>
          <a:xfrm>
            <a:off x="6766560" y="428853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All Employees are Persons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53"/>
          <p:cNvSpPr/>
          <p:nvPr/>
        </p:nvSpPr>
        <p:spPr>
          <a:xfrm>
            <a:off x="6675120" y="4800600"/>
            <a:ext cx="5029200" cy="109728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5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524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D5243"/>
                </a:solidFill>
                <a:latin typeface="Calibri"/>
                <a:ea typeface="Calibri"/>
                <a:cs typeface="Calibri"/>
                <a:sym typeface="Calibri"/>
              </a:rPr>
              <a:t>KEY INSIGHT: This graph IS a semantic network expressed in a formal standard. Anyone in the world using RDF can read, query (with SPARQL), and reason over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54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5.3 OWL — Adding Logic to the Graph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54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5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5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54"/>
          <p:cNvSpPr/>
          <p:nvPr/>
        </p:nvSpPr>
        <p:spPr>
          <a:xfrm>
            <a:off x="365760" y="96012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54"/>
          <p:cNvSpPr/>
          <p:nvPr/>
        </p:nvSpPr>
        <p:spPr>
          <a:xfrm>
            <a:off x="365760" y="960120"/>
            <a:ext cx="3657600" cy="43891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9" name="Google Shape;1999;p54"/>
          <p:cNvSpPr/>
          <p:nvPr/>
        </p:nvSpPr>
        <p:spPr>
          <a:xfrm>
            <a:off x="365760" y="9601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54"/>
          <p:cNvSpPr/>
          <p:nvPr/>
        </p:nvSpPr>
        <p:spPr>
          <a:xfrm>
            <a:off x="475488" y="1463040"/>
            <a:ext cx="34381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Every Employee IS a Person.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All instances of Employee are automatically instances of Person.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54"/>
          <p:cNvSpPr/>
          <p:nvPr/>
        </p:nvSpPr>
        <p:spPr>
          <a:xfrm>
            <a:off x="475488" y="2880360"/>
            <a:ext cx="3438144" cy="45720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2" name="Google Shape;2002;p54"/>
          <p:cNvSpPr/>
          <p:nvPr/>
        </p:nvSpPr>
        <p:spPr>
          <a:xfrm>
            <a:off x="475488" y="2880360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:Employee subClassOf :Person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54"/>
          <p:cNvSpPr/>
          <p:nvPr/>
        </p:nvSpPr>
        <p:spPr>
          <a:xfrm>
            <a:off x="4206240" y="96012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54"/>
          <p:cNvSpPr/>
          <p:nvPr/>
        </p:nvSpPr>
        <p:spPr>
          <a:xfrm>
            <a:off x="4206240" y="960120"/>
            <a:ext cx="365760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54"/>
          <p:cNvSpPr/>
          <p:nvPr/>
        </p:nvSpPr>
        <p:spPr>
          <a:xfrm>
            <a:off x="4206240" y="9601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disjointWith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54"/>
          <p:cNvSpPr/>
          <p:nvPr/>
        </p:nvSpPr>
        <p:spPr>
          <a:xfrm>
            <a:off x="4315968" y="1463040"/>
            <a:ext cx="34381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Man ⊥ Woman. Nothing can be BOTH.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 :Alice typed as both → CONTRADICTION auto-detected!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54"/>
          <p:cNvSpPr/>
          <p:nvPr/>
        </p:nvSpPr>
        <p:spPr>
          <a:xfrm>
            <a:off x="4315968" y="2880360"/>
            <a:ext cx="3438144" cy="45720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54"/>
          <p:cNvSpPr/>
          <p:nvPr/>
        </p:nvSpPr>
        <p:spPr>
          <a:xfrm>
            <a:off x="4315968" y="2880360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:Man disjointWith :Woman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54"/>
          <p:cNvSpPr/>
          <p:nvPr/>
        </p:nvSpPr>
        <p:spPr>
          <a:xfrm>
            <a:off x="8046720" y="96012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54"/>
          <p:cNvSpPr/>
          <p:nvPr/>
        </p:nvSpPr>
        <p:spPr>
          <a:xfrm>
            <a:off x="8046720" y="960120"/>
            <a:ext cx="3657600" cy="43891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p54"/>
          <p:cNvSpPr/>
          <p:nvPr/>
        </p:nvSpPr>
        <p:spPr>
          <a:xfrm>
            <a:off x="8046720" y="9601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minCardinality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54"/>
          <p:cNvSpPr/>
          <p:nvPr/>
        </p:nvSpPr>
        <p:spPr>
          <a:xfrm>
            <a:off x="8156448" y="1463040"/>
            <a:ext cx="34381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 Manager MUST manage at least 1 Department.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Reasoner enforces this constraint.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54"/>
          <p:cNvSpPr/>
          <p:nvPr/>
        </p:nvSpPr>
        <p:spPr>
          <a:xfrm>
            <a:off x="8156448" y="2880360"/>
            <a:ext cx="3438144" cy="45720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54"/>
          <p:cNvSpPr/>
          <p:nvPr/>
        </p:nvSpPr>
        <p:spPr>
          <a:xfrm>
            <a:off x="8156448" y="2880360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:Manager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[minCard: 1 manages]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54"/>
          <p:cNvSpPr/>
          <p:nvPr/>
        </p:nvSpPr>
        <p:spPr>
          <a:xfrm>
            <a:off x="365760" y="365760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p54"/>
          <p:cNvSpPr/>
          <p:nvPr/>
        </p:nvSpPr>
        <p:spPr>
          <a:xfrm>
            <a:off x="365760" y="3657600"/>
            <a:ext cx="365760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54"/>
          <p:cNvSpPr/>
          <p:nvPr/>
        </p:nvSpPr>
        <p:spPr>
          <a:xfrm>
            <a:off x="365760" y="365760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FunctionalProperty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54"/>
          <p:cNvSpPr/>
          <p:nvPr/>
        </p:nvSpPr>
        <p:spPr>
          <a:xfrm>
            <a:off x="475488" y="4160520"/>
            <a:ext cx="34381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Each Employee works for AT MOST ONE Organisation.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Reasoner enforces single-valued constraint.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54"/>
          <p:cNvSpPr/>
          <p:nvPr/>
        </p:nvSpPr>
        <p:spPr>
          <a:xfrm>
            <a:off x="475488" y="5577840"/>
            <a:ext cx="3438144" cy="45720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p54"/>
          <p:cNvSpPr/>
          <p:nvPr/>
        </p:nvSpPr>
        <p:spPr>
          <a:xfrm>
            <a:off x="475488" y="5577840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:worksFor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type: Functional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54"/>
          <p:cNvSpPr/>
          <p:nvPr/>
        </p:nvSpPr>
        <p:spPr>
          <a:xfrm>
            <a:off x="4206240" y="365760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2" name="Google Shape;2022;p54"/>
          <p:cNvSpPr/>
          <p:nvPr/>
        </p:nvSpPr>
        <p:spPr>
          <a:xfrm>
            <a:off x="4206240" y="3657600"/>
            <a:ext cx="3657600" cy="43891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3" name="Google Shape;2023;p54"/>
          <p:cNvSpPr/>
          <p:nvPr/>
        </p:nvSpPr>
        <p:spPr>
          <a:xfrm>
            <a:off x="4206240" y="365760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Auto-Inference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54"/>
          <p:cNvSpPr/>
          <p:nvPr/>
        </p:nvSpPr>
        <p:spPr>
          <a:xfrm>
            <a:off x="4315968" y="4160520"/>
            <a:ext cx="34381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:Alice rdf:type :Doctor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Reasoner infers: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:Alice rdf:type :Employee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(Doctor subClassOf Employee — never stated!)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54"/>
          <p:cNvSpPr/>
          <p:nvPr/>
        </p:nvSpPr>
        <p:spPr>
          <a:xfrm>
            <a:off x="4315968" y="5577840"/>
            <a:ext cx="3438144" cy="457200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54"/>
          <p:cNvSpPr/>
          <p:nvPr/>
        </p:nvSpPr>
        <p:spPr>
          <a:xfrm>
            <a:off x="4315968" y="5577840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HermiT / Pellet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reasoner infers this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55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3" name="Google Shape;2033;p55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5.4 Open World vs Closed World Assumption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55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5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5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55"/>
          <p:cNvSpPr/>
          <p:nvPr/>
        </p:nvSpPr>
        <p:spPr>
          <a:xfrm>
            <a:off x="365760" y="960120"/>
            <a:ext cx="5394960" cy="50292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8" name="Google Shape;2038;p55"/>
          <p:cNvSpPr/>
          <p:nvPr/>
        </p:nvSpPr>
        <p:spPr>
          <a:xfrm>
            <a:off x="365760" y="960120"/>
            <a:ext cx="539496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55"/>
          <p:cNvSpPr/>
          <p:nvPr/>
        </p:nvSpPr>
        <p:spPr>
          <a:xfrm>
            <a:off x="457200" y="960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 WORLD (Databases / Prolog)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55"/>
          <p:cNvSpPr/>
          <p:nvPr/>
        </p:nvSpPr>
        <p:spPr>
          <a:xfrm>
            <a:off x="502920" y="1536192"/>
            <a:ext cx="512064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 something is NOT in the database → assumed FALSE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SQL returns 0 rows → 'No such record exists'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⚠️  DANGER: Bob's employer is not recorded → system concludes Bob has NO job.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 medicine: No allergy recorded → 'SAFE to prescribe penicillin'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assumption is DANGEROUS in incomplete knowledge domains!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55"/>
          <p:cNvSpPr/>
          <p:nvPr/>
        </p:nvSpPr>
        <p:spPr>
          <a:xfrm>
            <a:off x="6400800" y="960120"/>
            <a:ext cx="5394960" cy="502920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2" name="Google Shape;2042;p55"/>
          <p:cNvSpPr/>
          <p:nvPr/>
        </p:nvSpPr>
        <p:spPr>
          <a:xfrm>
            <a:off x="6400800" y="960120"/>
            <a:ext cx="5394960" cy="50292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3" name="Google Shape;2043;p55"/>
          <p:cNvSpPr/>
          <p:nvPr/>
        </p:nvSpPr>
        <p:spPr>
          <a:xfrm>
            <a:off x="6492240" y="960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WORLD (OWL Ontologies)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55"/>
          <p:cNvSpPr/>
          <p:nvPr/>
        </p:nvSpPr>
        <p:spPr>
          <a:xfrm>
            <a:off x="6537960" y="1536192"/>
            <a:ext cx="512064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If something is NOT stated → it is UNKNOWN (not false)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OWL: Alice's allergy not recorded → 'allergy status UNKNOWN'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✅  SAFE: System says 'check allergy before prescribing'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 medicine: absence of data ≠ absence of condition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assumption is SAFE in open, incomplete real-world knowledge!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55"/>
          <p:cNvSpPr/>
          <p:nvPr/>
        </p:nvSpPr>
        <p:spPr>
          <a:xfrm>
            <a:off x="5532120" y="2834640"/>
            <a:ext cx="1097280" cy="1097280"/>
          </a:xfrm>
          <a:prstGeom prst="ellipse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55"/>
          <p:cNvSpPr/>
          <p:nvPr/>
        </p:nvSpPr>
        <p:spPr>
          <a:xfrm>
            <a:off x="5532120" y="28346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5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56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5.1: Smart City Ontology Design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5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5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56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56"/>
          <p:cNvSpPr/>
          <p:nvPr/>
        </p:nvSpPr>
        <p:spPr>
          <a:xfrm>
            <a:off x="548640" y="960120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A city government wants Traffic, Hospital, School, and Police systems to share data. Each system uses different vocabulary. Design the core ontology that unifies them.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56"/>
          <p:cNvSpPr/>
          <p:nvPr/>
        </p:nvSpPr>
        <p:spPr>
          <a:xfrm>
            <a:off x="365760" y="1691640"/>
            <a:ext cx="26517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p56"/>
          <p:cNvSpPr/>
          <p:nvPr/>
        </p:nvSpPr>
        <p:spPr>
          <a:xfrm>
            <a:off x="365760" y="169164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56"/>
          <p:cNvSpPr/>
          <p:nvPr/>
        </p:nvSpPr>
        <p:spPr>
          <a:xfrm>
            <a:off x="365760" y="1691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56"/>
          <p:cNvSpPr/>
          <p:nvPr/>
        </p:nvSpPr>
        <p:spPr>
          <a:xfrm>
            <a:off x="475488" y="2148840"/>
            <a:ext cx="2432304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Define 5 CLASSES, each with 3 properties: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2 object properties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(links to another class)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1 data 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(links to a literal value)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56"/>
          <p:cNvSpPr/>
          <p:nvPr/>
        </p:nvSpPr>
        <p:spPr>
          <a:xfrm>
            <a:off x="3200400" y="1691640"/>
            <a:ext cx="26517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56"/>
          <p:cNvSpPr/>
          <p:nvPr/>
        </p:nvSpPr>
        <p:spPr>
          <a:xfrm>
            <a:off x="3200400" y="169164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56"/>
          <p:cNvSpPr/>
          <p:nvPr/>
        </p:nvSpPr>
        <p:spPr>
          <a:xfrm>
            <a:off x="3200400" y="1691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56"/>
          <p:cNvSpPr/>
          <p:nvPr/>
        </p:nvSpPr>
        <p:spPr>
          <a:xfrm>
            <a:off x="3310128" y="2148840"/>
            <a:ext cx="2432304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4 OWL AXIOMS: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1 disjointWith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1 cardinality constraint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1 subClassOf restriction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1 transitive property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56"/>
          <p:cNvSpPr/>
          <p:nvPr/>
        </p:nvSpPr>
        <p:spPr>
          <a:xfrm>
            <a:off x="6035040" y="1691640"/>
            <a:ext cx="26517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7" name="Google Shape;2067;p56"/>
          <p:cNvSpPr/>
          <p:nvPr/>
        </p:nvSpPr>
        <p:spPr>
          <a:xfrm>
            <a:off x="6035040" y="169164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56"/>
          <p:cNvSpPr/>
          <p:nvPr/>
        </p:nvSpPr>
        <p:spPr>
          <a:xfrm>
            <a:off x="6035040" y="1691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56"/>
          <p:cNvSpPr/>
          <p:nvPr/>
        </p:nvSpPr>
        <p:spPr>
          <a:xfrm>
            <a:off x="6144768" y="2148840"/>
            <a:ext cx="2432304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INTEROPERABILITY CHALLENGE: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Traffic → 'Traffic Jam'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GPS → 'Congestion'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News → 'Road Blockage'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does your ontology unify these 3 names?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56"/>
          <p:cNvSpPr/>
          <p:nvPr/>
        </p:nvSpPr>
        <p:spPr>
          <a:xfrm>
            <a:off x="8869680" y="1691640"/>
            <a:ext cx="26517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1" name="Google Shape;2071;p56"/>
          <p:cNvSpPr/>
          <p:nvPr/>
        </p:nvSpPr>
        <p:spPr>
          <a:xfrm>
            <a:off x="8869680" y="1691640"/>
            <a:ext cx="2651760" cy="41148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56"/>
          <p:cNvSpPr/>
          <p:nvPr/>
        </p:nvSpPr>
        <p:spPr>
          <a:xfrm>
            <a:off x="8869680" y="1691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56"/>
          <p:cNvSpPr/>
          <p:nvPr/>
        </p:nvSpPr>
        <p:spPr>
          <a:xfrm>
            <a:off x="8979408" y="2148840"/>
            <a:ext cx="2432304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EXTENSION: One city has autonomous vehicles, another doesn't.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How do you extend the ontology WITHOUT breaking existing systems?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57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0" name="Google Shape;2080;p57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5.1: Smart City Ontology Design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5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2" name="Google Shape;2082;p57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57"/>
          <p:cNvSpPr/>
          <p:nvPr/>
        </p:nvSpPr>
        <p:spPr>
          <a:xfrm>
            <a:off x="365760" y="960120"/>
            <a:ext cx="57607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p57"/>
          <p:cNvSpPr/>
          <p:nvPr/>
        </p:nvSpPr>
        <p:spPr>
          <a:xfrm>
            <a:off x="365760" y="960120"/>
            <a:ext cx="576072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5" name="Google Shape;2085;p57"/>
          <p:cNvSpPr/>
          <p:nvPr/>
        </p:nvSpPr>
        <p:spPr>
          <a:xfrm>
            <a:off x="457200" y="9601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 AXIOMS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57"/>
          <p:cNvSpPr/>
          <p:nvPr/>
        </p:nvSpPr>
        <p:spPr>
          <a:xfrm>
            <a:off x="502920" y="1371600"/>
            <a:ext cx="5532120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1. :ActiveEmergency owl:disjointWith :ResolvedEmergency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 (cannot be both at once)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2. :Emergency owl:cardinality 1 :occurredAt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 (every emergency has EXACTLY 1 location)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3. :Paramedic subClassOf :Person AND [minCard 1 :hasQualification]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 (paramedic MUST have at least 1 qualification)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4. :isPartOf rdf:type owl:TransitiveProperty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 (Street→District→City ⟹ Street isPartOf City)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57"/>
          <p:cNvSpPr/>
          <p:nvPr/>
        </p:nvSpPr>
        <p:spPr>
          <a:xfrm>
            <a:off x="365760" y="374904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8" name="Google Shape;2088;p57"/>
          <p:cNvSpPr/>
          <p:nvPr/>
        </p:nvSpPr>
        <p:spPr>
          <a:xfrm>
            <a:off x="365760" y="3749040"/>
            <a:ext cx="576072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9" name="Google Shape;2089;p57"/>
          <p:cNvSpPr/>
          <p:nvPr/>
        </p:nvSpPr>
        <p:spPr>
          <a:xfrm>
            <a:off x="457200" y="37490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Interoperability — Unifying 3 Names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57"/>
          <p:cNvSpPr/>
          <p:nvPr/>
        </p:nvSpPr>
        <p:spPr>
          <a:xfrm>
            <a:off x="502920" y="4160520"/>
            <a:ext cx="5532120" cy="181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:TrafficJam owl:equivalentClass :RoadCongestion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:Congestion owl:equivalentClass :RoadCongestion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rdfs:label 'Road Blockage'@en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Now ALL 3 systems query the SAME concept!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Query for any of the 3 names → same results.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57"/>
          <p:cNvSpPr/>
          <p:nvPr/>
        </p:nvSpPr>
        <p:spPr>
          <a:xfrm>
            <a:off x="6309360" y="960120"/>
            <a:ext cx="548640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2" name="Google Shape;2092;p57"/>
          <p:cNvSpPr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57"/>
          <p:cNvSpPr/>
          <p:nvPr/>
        </p:nvSpPr>
        <p:spPr>
          <a:xfrm>
            <a:off x="6400800" y="9601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Classes with Properties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57"/>
          <p:cNvSpPr/>
          <p:nvPr/>
        </p:nvSpPr>
        <p:spPr>
          <a:xfrm>
            <a:off x="6446520" y="1371600"/>
            <a:ext cx="5257800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:Location — hasAddress, isInDistrict [→:District], hasCoordinates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:Person — hasName, livesIn [→:Location], hasAge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:Vehicle — hasLicense, ownedBy [→:Person], isType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:Emergency — occurredAt [→:Location], severity, reportedBy [→:Person]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:PublicService — locatedAt [→:Location], operatedBy [→:Organization], isOpen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57"/>
          <p:cNvSpPr/>
          <p:nvPr/>
        </p:nvSpPr>
        <p:spPr>
          <a:xfrm>
            <a:off x="6309360" y="3749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6" name="Google Shape;2096;p57"/>
          <p:cNvSpPr/>
          <p:nvPr/>
        </p:nvSpPr>
        <p:spPr>
          <a:xfrm>
            <a:off x="6309360" y="3749040"/>
            <a:ext cx="54864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7" name="Google Shape;2097;p57"/>
          <p:cNvSpPr/>
          <p:nvPr/>
        </p:nvSpPr>
        <p:spPr>
          <a:xfrm>
            <a:off x="6400800" y="37490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Extension: Autonomous Vehicles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57"/>
          <p:cNvSpPr/>
          <p:nvPr/>
        </p:nvSpPr>
        <p:spPr>
          <a:xfrm>
            <a:off x="6446520" y="4160520"/>
            <a:ext cx="5257800" cy="181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Add: :AutonomousVehicle rdfs:subClassOf :Vehicle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Cities without AVs simply never use this class.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Existing Vehicle queries still work — AV inherits everything.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Base ontology is UNCHANGED.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is the Open World Assumption in practice!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6E"/>
        </a:solidFill>
        <a:effectLst/>
      </p:bgPr>
    </p:bg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58"/>
          <p:cNvSpPr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OWL Modeling Concepts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58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Reasoning, consistency, and automated inference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58"/>
          <p:cNvSpPr/>
          <p:nvPr/>
        </p:nvSpPr>
        <p:spPr>
          <a:xfrm>
            <a:off x="4709160" y="47548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7B3F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7" name="Google Shape;2107;p58"/>
          <p:cNvSpPr/>
          <p:nvPr/>
        </p:nvSpPr>
        <p:spPr>
          <a:xfrm>
            <a:off x="4709160" y="4754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5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9" name="Google Shape;2109;p58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59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59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6.1 subClassOf vs rdf:type — Critical Distinction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59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5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p59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59"/>
          <p:cNvSpPr/>
          <p:nvPr/>
        </p:nvSpPr>
        <p:spPr>
          <a:xfrm>
            <a:off x="298383" y="960120"/>
            <a:ext cx="5394960" cy="502920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1" name="Google Shape;2121;p59"/>
          <p:cNvSpPr/>
          <p:nvPr/>
        </p:nvSpPr>
        <p:spPr>
          <a:xfrm>
            <a:off x="365760" y="960120"/>
            <a:ext cx="5394960" cy="50292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p59"/>
          <p:cNvSpPr/>
          <p:nvPr/>
        </p:nvSpPr>
        <p:spPr>
          <a:xfrm>
            <a:off x="457200" y="960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rdf:type  (instance-of)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59"/>
          <p:cNvSpPr/>
          <p:nvPr/>
        </p:nvSpPr>
        <p:spPr>
          <a:xfrm>
            <a:off x="502920" y="1600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:Fido  rdf:type  :Dog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59"/>
          <p:cNvSpPr/>
          <p:nvPr/>
        </p:nvSpPr>
        <p:spPr>
          <a:xfrm>
            <a:off x="502920" y="2121408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Fido IS an individual Dog.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Fido is at the INSTANCE level.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Fido CANNOT have subclasses.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He is a specific animal, not a category.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ANALOGY: Like an object in Python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fido = Dog()  ← Fido is an instance of Dog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59"/>
          <p:cNvSpPr/>
          <p:nvPr/>
        </p:nvSpPr>
        <p:spPr>
          <a:xfrm>
            <a:off x="6400800" y="960120"/>
            <a:ext cx="5394960" cy="50292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59"/>
          <p:cNvSpPr/>
          <p:nvPr/>
        </p:nvSpPr>
        <p:spPr>
          <a:xfrm>
            <a:off x="6400800" y="960120"/>
            <a:ext cx="53949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59"/>
          <p:cNvSpPr/>
          <p:nvPr/>
        </p:nvSpPr>
        <p:spPr>
          <a:xfrm>
            <a:off x="6492240" y="96012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rdfs:subClassOf  (class hierarchy)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59"/>
          <p:cNvSpPr/>
          <p:nvPr/>
        </p:nvSpPr>
        <p:spPr>
          <a:xfrm>
            <a:off x="6492240" y="1600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:Dog  rdfs:subClassOf  :Mammal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59"/>
          <p:cNvSpPr/>
          <p:nvPr/>
        </p:nvSpPr>
        <p:spPr>
          <a:xfrm>
            <a:off x="6492240" y="2121408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The CLASS 'Dog' is a SUBSET of CLASS 'Mammal'.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All instances of Dog are automatically Mammals.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Dog is at the CLASS level — can have subclasses.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ANALOGY: Like a class in Python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class Dog(Mammal): pass  ← Dog IS-A Mammal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59"/>
          <p:cNvSpPr/>
          <p:nvPr/>
        </p:nvSpPr>
        <p:spPr>
          <a:xfrm>
            <a:off x="3657600" y="3246120"/>
            <a:ext cx="2651760" cy="1920240"/>
          </a:xfrm>
          <a:prstGeom prst="rect">
            <a:avLst/>
          </a:prstGeom>
          <a:solidFill>
            <a:srgbClr val="FEF2F2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59"/>
          <p:cNvSpPr/>
          <p:nvPr/>
        </p:nvSpPr>
        <p:spPr>
          <a:xfrm>
            <a:off x="3645568" y="2875788"/>
            <a:ext cx="265176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59"/>
          <p:cNvSpPr/>
          <p:nvPr/>
        </p:nvSpPr>
        <p:spPr>
          <a:xfrm>
            <a:off x="3737008" y="28986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COMMON MISTAKE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59"/>
          <p:cNvSpPr/>
          <p:nvPr/>
        </p:nvSpPr>
        <p:spPr>
          <a:xfrm>
            <a:off x="3864543" y="3429000"/>
            <a:ext cx="2468880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:Fido </a:t>
            </a:r>
            <a:r>
              <a:rPr lang="en-US" sz="1150" b="0" i="0" u="none" strike="noStrike" cap="none" dirty="0" err="1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rdfs:subClassOf</a:t>
            </a:r>
            <a:r>
              <a:rPr lang="en-US" sz="1150" b="0" i="0" u="none" strike="noStrike" cap="none" dirty="0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:Dog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This makes Fido into a CLASS!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Now valid: :Rex </a:t>
            </a:r>
            <a:r>
              <a:rPr lang="en-US" sz="1150" b="0" i="0" u="none" strike="noStrike" cap="none" dirty="0" err="1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r>
              <a:rPr lang="en-US" sz="1150" b="0" i="0" u="none" strike="noStrike" cap="none" dirty="0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:Fido — Rex is a TYPE of Fido. NONSENSE!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6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60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6.2 Key OWL Relationships Reference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6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6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4" name="Google Shape;2144;p60"/>
          <p:cNvGraphicFramePr/>
          <p:nvPr/>
        </p:nvGraphicFramePr>
        <p:xfrm>
          <a:off x="365760" y="914400"/>
          <a:ext cx="11430000" cy="5019975"/>
        </p:xfrm>
        <a:graphic>
          <a:graphicData uri="http://schemas.openxmlformats.org/drawingml/2006/table">
            <a:tbl>
              <a:tblPr>
                <a:noFill/>
                <a:tableStyleId>{80D7718E-501C-44D5-B62B-0DF8384CE79E}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 Construct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owl:equivalentClass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classes = exact same set of members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:HeartAttack equivalentClass :MyocardialInfarction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owl:sameAs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individual names = same real entity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:MuhammadAli sameAs :CassiusClay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owl:disjointWith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classes share NO members — mutual exclusion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:Man disjointWith :Woman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owl:TransitiveProperty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A→B and B→C implies A→C (chain inference)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isAncestorOf, isPartOf, isLocatedIn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owl:FunctionalProperty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subject has AT MOST ONE value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hasBiologicalMother (max 1 per person)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owl:SymmetricProperty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A→B then B→A is automatically true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isSiblingOf, isNear, isMarriedTo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owl:minCardinality 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Must have AT LEAST n values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minCard 1 hasEnrolledStudent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owl:cardinality 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Must have EXACTLY n values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Triangle cardinality 3 </a:t>
                      </a:r>
                      <a:r>
                        <a:rPr lang="en-US" sz="1300" u="none" strike="noStrike" cap="none" dirty="0" err="1">
                          <a:solidFill>
                            <a:srgbClr val="1A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hasSide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6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61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6.3 Automated Reasoning — What HermiT / Pellet Does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61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Hour 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6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61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61"/>
          <p:cNvSpPr/>
          <p:nvPr/>
        </p:nvSpPr>
        <p:spPr>
          <a:xfrm>
            <a:off x="365760" y="96012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61"/>
          <p:cNvSpPr/>
          <p:nvPr/>
        </p:nvSpPr>
        <p:spPr>
          <a:xfrm>
            <a:off x="365760" y="960120"/>
            <a:ext cx="5577840" cy="43891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p61"/>
          <p:cNvSpPr/>
          <p:nvPr/>
        </p:nvSpPr>
        <p:spPr>
          <a:xfrm>
            <a:off x="457200" y="96012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CLASSIFICATION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61"/>
          <p:cNvSpPr/>
          <p:nvPr/>
        </p:nvSpPr>
        <p:spPr>
          <a:xfrm>
            <a:off x="502920" y="14630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You describe properties → reasoner places concept in correct hierarchy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61"/>
          <p:cNvSpPr/>
          <p:nvPr/>
        </p:nvSpPr>
        <p:spPr>
          <a:xfrm>
            <a:off x="457200" y="2039112"/>
            <a:ext cx="5394960" cy="1261872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0" name="Google Shape;2160;p61"/>
          <p:cNvSpPr/>
          <p:nvPr/>
        </p:nvSpPr>
        <p:spPr>
          <a:xfrm>
            <a:off x="548640" y="2075688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Input: :Platypus lays-eggs=TRUE, warm-blooded=TRUE, has-fur=TRUE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Reasoner output: :Platypus subClassOf :Mammal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(INFERRED — never stated by you!)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61"/>
          <p:cNvSpPr/>
          <p:nvPr/>
        </p:nvSpPr>
        <p:spPr>
          <a:xfrm>
            <a:off x="6172200" y="96012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61"/>
          <p:cNvSpPr/>
          <p:nvPr/>
        </p:nvSpPr>
        <p:spPr>
          <a:xfrm>
            <a:off x="6172200" y="960120"/>
            <a:ext cx="557784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61"/>
          <p:cNvSpPr/>
          <p:nvPr/>
        </p:nvSpPr>
        <p:spPr>
          <a:xfrm>
            <a:off x="6263640" y="96012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CONSISTENCY CHECKING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61"/>
          <p:cNvSpPr/>
          <p:nvPr/>
        </p:nvSpPr>
        <p:spPr>
          <a:xfrm>
            <a:off x="6309360" y="14630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Finds contradictions automatically — you cannot have an instance of two disjoint classes.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61"/>
          <p:cNvSpPr/>
          <p:nvPr/>
        </p:nvSpPr>
        <p:spPr>
          <a:xfrm>
            <a:off x="6263640" y="2039112"/>
            <a:ext cx="5394960" cy="1261872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61"/>
          <p:cNvSpPr/>
          <p:nvPr/>
        </p:nvSpPr>
        <p:spPr>
          <a:xfrm>
            <a:off x="6355080" y="2075688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Input: :Alice rdf:type :Man. :Alice rdf:type :Woman.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     :Man disjointWith :Woman.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Output: INCONSISTENCY — Alice cannot be both.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61"/>
          <p:cNvSpPr/>
          <p:nvPr/>
        </p:nvSpPr>
        <p:spPr>
          <a:xfrm>
            <a:off x="365760" y="365760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61"/>
          <p:cNvSpPr/>
          <p:nvPr/>
        </p:nvSpPr>
        <p:spPr>
          <a:xfrm>
            <a:off x="365760" y="3657600"/>
            <a:ext cx="5577840" cy="43891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p61"/>
          <p:cNvSpPr/>
          <p:nvPr/>
        </p:nvSpPr>
        <p:spPr>
          <a:xfrm>
            <a:off x="457200" y="365760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INSTANCE CLASSIFICATION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61"/>
          <p:cNvSpPr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Assigns individuals to the right class based on their properties.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61"/>
          <p:cNvSpPr/>
          <p:nvPr/>
        </p:nvSpPr>
        <p:spPr>
          <a:xfrm>
            <a:off x="457200" y="4736592"/>
            <a:ext cx="5394960" cy="1261872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2" name="Google Shape;2172;p61"/>
          <p:cNvSpPr/>
          <p:nvPr/>
        </p:nvSpPr>
        <p:spPr>
          <a:xfrm>
            <a:off x="548640" y="4773168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Input: :Bob hasChild :Alice. :Bob rdf:type :Male.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Output: :Bob rdf:type :Father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(Father = Male AND hasChild≥1 — INFERRED!)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61"/>
          <p:cNvSpPr/>
          <p:nvPr/>
        </p:nvSpPr>
        <p:spPr>
          <a:xfrm>
            <a:off x="6172200" y="365760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61"/>
          <p:cNvSpPr/>
          <p:nvPr/>
        </p:nvSpPr>
        <p:spPr>
          <a:xfrm>
            <a:off x="6172200" y="3657600"/>
            <a:ext cx="557784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" name="Google Shape;2175;p61"/>
          <p:cNvSpPr/>
          <p:nvPr/>
        </p:nvSpPr>
        <p:spPr>
          <a:xfrm>
            <a:off x="6263640" y="365760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PROPERTY INFERENCE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61"/>
          <p:cNvSpPr/>
          <p:nvPr/>
        </p:nvSpPr>
        <p:spPr>
          <a:xfrm>
            <a:off x="6309360" y="41605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Applies transitive, symmetric, and functional properties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61"/>
          <p:cNvSpPr/>
          <p:nvPr/>
        </p:nvSpPr>
        <p:spPr>
          <a:xfrm>
            <a:off x="6263640" y="4736592"/>
            <a:ext cx="5394960" cy="1261872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8" name="Google Shape;2178;p61"/>
          <p:cNvSpPr/>
          <p:nvPr/>
        </p:nvSpPr>
        <p:spPr>
          <a:xfrm>
            <a:off x="6355080" y="4773168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Input: Heart isPartOf Body. Valve isPartOf Heart.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     isPartOf is Transitive.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Output: Valve isPartOf Body (NEVER stated!)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6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62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6.1: Ontology Consistency Debugging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6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p62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62"/>
          <p:cNvSpPr/>
          <p:nvPr/>
        </p:nvSpPr>
        <p:spPr>
          <a:xfrm>
            <a:off x="365760" y="914400"/>
            <a:ext cx="11430000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9" name="Google Shape;2189;p6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SCENARIO: Find and fix 3 logical contradictions in this university ontology.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62"/>
          <p:cNvSpPr/>
          <p:nvPr/>
        </p:nvSpPr>
        <p:spPr>
          <a:xfrm>
            <a:off x="365760" y="16916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62"/>
          <p:cNvSpPr/>
          <p:nvPr/>
        </p:nvSpPr>
        <p:spPr>
          <a:xfrm>
            <a:off x="475488" y="18562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(1) :Student disjointWith :Professor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62"/>
          <p:cNvSpPr/>
          <p:nvPr/>
        </p:nvSpPr>
        <p:spPr>
          <a:xfrm>
            <a:off x="475488" y="25328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62"/>
          <p:cNvSpPr/>
          <p:nvPr/>
        </p:nvSpPr>
        <p:spPr>
          <a:xfrm>
            <a:off x="3200400" y="16916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62"/>
          <p:cNvSpPr/>
          <p:nvPr/>
        </p:nvSpPr>
        <p:spPr>
          <a:xfrm>
            <a:off x="3310128" y="18562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(2) :TeachingAssistant subClassOf :Student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62"/>
          <p:cNvSpPr/>
          <p:nvPr/>
        </p:nvSpPr>
        <p:spPr>
          <a:xfrm>
            <a:off x="3310128" y="25328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62"/>
          <p:cNvSpPr/>
          <p:nvPr/>
        </p:nvSpPr>
        <p:spPr>
          <a:xfrm>
            <a:off x="6035040" y="16916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7" name="Google Shape;2197;p62"/>
          <p:cNvSpPr/>
          <p:nvPr/>
        </p:nvSpPr>
        <p:spPr>
          <a:xfrm>
            <a:off x="6144768" y="18562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(3) :TeachingAssistant subClassOf :Professor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62"/>
          <p:cNvSpPr/>
          <p:nvPr/>
        </p:nvSpPr>
        <p:spPr>
          <a:xfrm>
            <a:off x="6144768" y="25328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62"/>
          <p:cNvSpPr/>
          <p:nvPr/>
        </p:nvSpPr>
        <p:spPr>
          <a:xfrm>
            <a:off x="8869680" y="16916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62"/>
          <p:cNvSpPr/>
          <p:nvPr/>
        </p:nvSpPr>
        <p:spPr>
          <a:xfrm>
            <a:off x="8979408" y="18562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(4) :Alice type :TeachingAssistant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62"/>
          <p:cNvSpPr/>
          <p:nvPr/>
        </p:nvSpPr>
        <p:spPr>
          <a:xfrm>
            <a:off x="8979408" y="25328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62"/>
          <p:cNvSpPr/>
          <p:nvPr/>
        </p:nvSpPr>
        <p:spPr>
          <a:xfrm>
            <a:off x="365760" y="301752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3" name="Google Shape;2203;p62"/>
          <p:cNvSpPr/>
          <p:nvPr/>
        </p:nvSpPr>
        <p:spPr>
          <a:xfrm>
            <a:off x="475488" y="318211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(5) :Course cardinality 1 :hasProfessor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62"/>
          <p:cNvSpPr/>
          <p:nvPr/>
        </p:nvSpPr>
        <p:spPr>
          <a:xfrm>
            <a:off x="475488" y="38587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62"/>
          <p:cNvSpPr/>
          <p:nvPr/>
        </p:nvSpPr>
        <p:spPr>
          <a:xfrm>
            <a:off x="3200400" y="301752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62"/>
          <p:cNvSpPr/>
          <p:nvPr/>
        </p:nvSpPr>
        <p:spPr>
          <a:xfrm>
            <a:off x="3310128" y="318211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(6) :CS101 hasProfessor :ProfSmith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62"/>
          <p:cNvSpPr/>
          <p:nvPr/>
        </p:nvSpPr>
        <p:spPr>
          <a:xfrm>
            <a:off x="3310128" y="38587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62"/>
          <p:cNvSpPr/>
          <p:nvPr/>
        </p:nvSpPr>
        <p:spPr>
          <a:xfrm>
            <a:off x="6035040" y="301752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9" name="Google Shape;2209;p62"/>
          <p:cNvSpPr/>
          <p:nvPr/>
        </p:nvSpPr>
        <p:spPr>
          <a:xfrm>
            <a:off x="6144768" y="318211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(7) :CS101 hasProfessor :ProfJones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62"/>
          <p:cNvSpPr/>
          <p:nvPr/>
        </p:nvSpPr>
        <p:spPr>
          <a:xfrm>
            <a:off x="6144768" y="38587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62"/>
          <p:cNvSpPr/>
          <p:nvPr/>
        </p:nvSpPr>
        <p:spPr>
          <a:xfrm>
            <a:off x="8869680" y="301752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2" name="Google Shape;2212;p62"/>
          <p:cNvSpPr/>
          <p:nvPr/>
        </p:nvSpPr>
        <p:spPr>
          <a:xfrm>
            <a:off x="8979408" y="318211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(8) :FullProfessor subClassOf :Professor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62"/>
          <p:cNvSpPr/>
          <p:nvPr/>
        </p:nvSpPr>
        <p:spPr>
          <a:xfrm>
            <a:off x="8979408" y="38587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62"/>
          <p:cNvSpPr/>
          <p:nvPr/>
        </p:nvSpPr>
        <p:spPr>
          <a:xfrm>
            <a:off x="365760" y="43434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5" name="Google Shape;2215;p62"/>
          <p:cNvSpPr/>
          <p:nvPr/>
        </p:nvSpPr>
        <p:spPr>
          <a:xfrm>
            <a:off x="475488" y="450799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(9) :FullProfessor subClassOf :Man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62"/>
          <p:cNvSpPr/>
          <p:nvPr/>
        </p:nvSpPr>
        <p:spPr>
          <a:xfrm>
            <a:off x="475488" y="518464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62"/>
          <p:cNvSpPr/>
          <p:nvPr/>
        </p:nvSpPr>
        <p:spPr>
          <a:xfrm>
            <a:off x="3200400" y="43434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8" name="Google Shape;2218;p62"/>
          <p:cNvSpPr/>
          <p:nvPr/>
        </p:nvSpPr>
        <p:spPr>
          <a:xfrm>
            <a:off x="3310128" y="450799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(10) :ProfSmith type :FullProfessor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62"/>
          <p:cNvSpPr/>
          <p:nvPr/>
        </p:nvSpPr>
        <p:spPr>
          <a:xfrm>
            <a:off x="3310128" y="518464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62"/>
          <p:cNvSpPr/>
          <p:nvPr/>
        </p:nvSpPr>
        <p:spPr>
          <a:xfrm>
            <a:off x="6035040" y="434340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1" name="Google Shape;2221;p62"/>
          <p:cNvSpPr/>
          <p:nvPr/>
        </p:nvSpPr>
        <p:spPr>
          <a:xfrm>
            <a:off x="6144768" y="450799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(11) :ProfSmith type :Woman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62"/>
          <p:cNvSpPr/>
          <p:nvPr/>
        </p:nvSpPr>
        <p:spPr>
          <a:xfrm>
            <a:off x="6144768" y="518464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Verdict: _______________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62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62"/>
          <p:cNvSpPr/>
          <p:nvPr/>
        </p:nvSpPr>
        <p:spPr>
          <a:xfrm>
            <a:off x="457200" y="5504688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each: CORRECT / REDUNDANT / CONTRADICTION — explain why. Then FIX the 3 contradictions!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63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p63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6.1 (Part 1): Ontology Consistency Debugging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6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3" name="Google Shape;2233;p63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63"/>
          <p:cNvSpPr/>
          <p:nvPr/>
        </p:nvSpPr>
        <p:spPr>
          <a:xfrm>
            <a:off x="365760" y="96012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5" name="Google Shape;2235;p63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63"/>
          <p:cNvSpPr/>
          <p:nvPr/>
        </p:nvSpPr>
        <p:spPr>
          <a:xfrm>
            <a:off x="457200" y="960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63"/>
          <p:cNvSpPr/>
          <p:nvPr/>
        </p:nvSpPr>
        <p:spPr>
          <a:xfrm>
            <a:off x="45720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(1) :Student disjointWith :Professor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63"/>
          <p:cNvSpPr/>
          <p:nvPr/>
        </p:nvSpPr>
        <p:spPr>
          <a:xfrm>
            <a:off x="457200" y="178308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Needed to define conflict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63"/>
          <p:cNvSpPr/>
          <p:nvPr/>
        </p:nvSpPr>
        <p:spPr>
          <a:xfrm>
            <a:off x="4206240" y="96012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63"/>
          <p:cNvSpPr/>
          <p:nvPr/>
        </p:nvSpPr>
        <p:spPr>
          <a:xfrm>
            <a:off x="4206240" y="960120"/>
            <a:ext cx="36576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63"/>
          <p:cNvSpPr/>
          <p:nvPr/>
        </p:nvSpPr>
        <p:spPr>
          <a:xfrm>
            <a:off x="4297680" y="960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63"/>
          <p:cNvSpPr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(2) TA subClassOf :Student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63"/>
          <p:cNvSpPr/>
          <p:nvPr/>
        </p:nvSpPr>
        <p:spPr>
          <a:xfrm>
            <a:off x="4297680" y="178308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TAs are students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63"/>
          <p:cNvSpPr/>
          <p:nvPr/>
        </p:nvSpPr>
        <p:spPr>
          <a:xfrm>
            <a:off x="8046720" y="96012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5" name="Google Shape;2245;p63"/>
          <p:cNvSpPr/>
          <p:nvPr/>
        </p:nvSpPr>
        <p:spPr>
          <a:xfrm>
            <a:off x="8046720" y="960120"/>
            <a:ext cx="36576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6" name="Google Shape;2246;p63"/>
          <p:cNvSpPr/>
          <p:nvPr/>
        </p:nvSpPr>
        <p:spPr>
          <a:xfrm>
            <a:off x="8138160" y="960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CONTRADICTION!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63"/>
          <p:cNvSpPr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(3) TA subClassOf :Professor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63"/>
          <p:cNvSpPr/>
          <p:nvPr/>
        </p:nvSpPr>
        <p:spPr>
          <a:xfrm>
            <a:off x="8138160" y="178308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Combined with (1)(2)(4) → Alice is BOTH → violates disjointWith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63"/>
          <p:cNvSpPr/>
          <p:nvPr/>
        </p:nvSpPr>
        <p:spPr>
          <a:xfrm>
            <a:off x="365760" y="265176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0" name="Google Shape;2250;p63"/>
          <p:cNvSpPr/>
          <p:nvPr/>
        </p:nvSpPr>
        <p:spPr>
          <a:xfrm>
            <a:off x="365760" y="2651760"/>
            <a:ext cx="36576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63"/>
          <p:cNvSpPr/>
          <p:nvPr/>
        </p:nvSpPr>
        <p:spPr>
          <a:xfrm>
            <a:off x="457200" y="2651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63"/>
          <p:cNvSpPr/>
          <p:nvPr/>
        </p:nvSpPr>
        <p:spPr>
          <a:xfrm>
            <a:off x="45720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(4) :Alice type :TeachingAssistant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63"/>
          <p:cNvSpPr/>
          <p:nvPr/>
        </p:nvSpPr>
        <p:spPr>
          <a:xfrm>
            <a:off x="457200" y="347472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Alice is a 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63"/>
          <p:cNvSpPr/>
          <p:nvPr/>
        </p:nvSpPr>
        <p:spPr>
          <a:xfrm>
            <a:off x="4206240" y="265176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63"/>
          <p:cNvSpPr/>
          <p:nvPr/>
        </p:nvSpPr>
        <p:spPr>
          <a:xfrm>
            <a:off x="4206240" y="2651760"/>
            <a:ext cx="36576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6" name="Google Shape;2256;p63"/>
          <p:cNvSpPr/>
          <p:nvPr/>
        </p:nvSpPr>
        <p:spPr>
          <a:xfrm>
            <a:off x="4297680" y="2651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CONTRADICTION!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63"/>
          <p:cNvSpPr/>
          <p:nvPr/>
        </p:nvSpPr>
        <p:spPr>
          <a:xfrm>
            <a:off x="429768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(5) :Course cardinality 1 :hasProfessor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63"/>
          <p:cNvSpPr/>
          <p:nvPr/>
        </p:nvSpPr>
        <p:spPr>
          <a:xfrm>
            <a:off x="4297680" y="347472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CS101 has Smith AND Jones — violates exactly-1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63"/>
          <p:cNvSpPr/>
          <p:nvPr/>
        </p:nvSpPr>
        <p:spPr>
          <a:xfrm>
            <a:off x="8046720" y="265176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p63"/>
          <p:cNvSpPr/>
          <p:nvPr/>
        </p:nvSpPr>
        <p:spPr>
          <a:xfrm>
            <a:off x="8046720" y="2651760"/>
            <a:ext cx="36576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1" name="Google Shape;2261;p63"/>
          <p:cNvSpPr/>
          <p:nvPr/>
        </p:nvSpPr>
        <p:spPr>
          <a:xfrm>
            <a:off x="8138160" y="26517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CONTRADICTION!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63"/>
          <p:cNvSpPr/>
          <p:nvPr/>
        </p:nvSpPr>
        <p:spPr>
          <a:xfrm>
            <a:off x="813816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(6–7) CS101 has both Smith &amp; Jones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63"/>
          <p:cNvSpPr/>
          <p:nvPr/>
        </p:nvSpPr>
        <p:spPr>
          <a:xfrm>
            <a:off x="8138160" y="347472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Facts 6+7 together violate cardinality from fact 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63"/>
          <p:cNvSpPr/>
          <p:nvPr/>
        </p:nvSpPr>
        <p:spPr>
          <a:xfrm>
            <a:off x="365760" y="434340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5" name="Google Shape;2265;p63"/>
          <p:cNvSpPr/>
          <p:nvPr/>
        </p:nvSpPr>
        <p:spPr>
          <a:xfrm>
            <a:off x="365760" y="4343400"/>
            <a:ext cx="3657600" cy="36576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6" name="Google Shape;2266;p63"/>
          <p:cNvSpPr/>
          <p:nvPr/>
        </p:nvSpPr>
        <p:spPr>
          <a:xfrm>
            <a:off x="457200" y="4343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63"/>
          <p:cNvSpPr/>
          <p:nvPr/>
        </p:nvSpPr>
        <p:spPr>
          <a:xfrm>
            <a:off x="457200" y="47548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(8) :FullProfessor subClassOf :Professor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63"/>
          <p:cNvSpPr/>
          <p:nvPr/>
        </p:nvSpPr>
        <p:spPr>
          <a:xfrm>
            <a:off x="457200" y="516636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Structural hierarchy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63"/>
          <p:cNvSpPr/>
          <p:nvPr/>
        </p:nvSpPr>
        <p:spPr>
          <a:xfrm>
            <a:off x="4206240" y="434340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0" name="Google Shape;2270;p63"/>
          <p:cNvSpPr/>
          <p:nvPr/>
        </p:nvSpPr>
        <p:spPr>
          <a:xfrm>
            <a:off x="4206240" y="4343400"/>
            <a:ext cx="36576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1" name="Google Shape;2271;p63"/>
          <p:cNvSpPr/>
          <p:nvPr/>
        </p:nvSpPr>
        <p:spPr>
          <a:xfrm>
            <a:off x="4297680" y="4343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CONTRADICTION!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63"/>
          <p:cNvSpPr/>
          <p:nvPr/>
        </p:nvSpPr>
        <p:spPr>
          <a:xfrm>
            <a:off x="4297680" y="47548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(9) :FullProfessor subClassOf :Man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63"/>
          <p:cNvSpPr/>
          <p:nvPr/>
        </p:nvSpPr>
        <p:spPr>
          <a:xfrm>
            <a:off x="4297680" y="516636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ProfSmith (FullProf) → :Man, but Smith is :Woman → Man disjointWith Woman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63"/>
          <p:cNvSpPr/>
          <p:nvPr/>
        </p:nvSpPr>
        <p:spPr>
          <a:xfrm>
            <a:off x="8046720" y="434340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5" name="Google Shape;2275;p63"/>
          <p:cNvSpPr/>
          <p:nvPr/>
        </p:nvSpPr>
        <p:spPr>
          <a:xfrm>
            <a:off x="8046720" y="4343400"/>
            <a:ext cx="36576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6" name="Google Shape;2276;p63"/>
          <p:cNvSpPr/>
          <p:nvPr/>
        </p:nvSpPr>
        <p:spPr>
          <a:xfrm>
            <a:off x="8138160" y="4343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CONTRADICTION!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63"/>
          <p:cNvSpPr/>
          <p:nvPr/>
        </p:nvSpPr>
        <p:spPr>
          <a:xfrm>
            <a:off x="8138160" y="47548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(10–11) ProfSmith FullProf + Woman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63"/>
          <p:cNvSpPr/>
          <p:nvPr/>
        </p:nvSpPr>
        <p:spPr>
          <a:xfrm>
            <a:off x="8138160" y="516636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Via (9): FullProf→Man + Woman → violates disjointWith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64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64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6.1 (Part 2): Fixes &amp; Derived Facts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6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64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64"/>
          <p:cNvSpPr/>
          <p:nvPr/>
        </p:nvSpPr>
        <p:spPr>
          <a:xfrm>
            <a:off x="365760" y="960120"/>
            <a:ext cx="1143000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64"/>
          <p:cNvSpPr/>
          <p:nvPr/>
        </p:nvSpPr>
        <p:spPr>
          <a:xfrm>
            <a:off x="365760" y="960120"/>
            <a:ext cx="109728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64"/>
          <p:cNvSpPr/>
          <p:nvPr/>
        </p:nvSpPr>
        <p:spPr>
          <a:xfrm>
            <a:off x="594360" y="103327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Contradiction 1: TA cannot be both Student &amp; Professor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64"/>
          <p:cNvSpPr/>
          <p:nvPr/>
        </p:nvSpPr>
        <p:spPr>
          <a:xfrm>
            <a:off x="594360" y="141732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FIX: REMOVE the disjointWith between Student and Professor (too strict — TAs exist).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Create :AcademicRole as superclass. Both are sub-roles.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TA subClassOf :Student AND subClassOf :Instructor (new class).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64"/>
          <p:cNvSpPr/>
          <p:nvPr/>
        </p:nvSpPr>
        <p:spPr>
          <a:xfrm>
            <a:off x="365760" y="2697480"/>
            <a:ext cx="1143000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64"/>
          <p:cNvSpPr/>
          <p:nvPr/>
        </p:nvSpPr>
        <p:spPr>
          <a:xfrm>
            <a:off x="365760" y="2697480"/>
            <a:ext cx="109728" cy="160020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64"/>
          <p:cNvSpPr/>
          <p:nvPr/>
        </p:nvSpPr>
        <p:spPr>
          <a:xfrm>
            <a:off x="594360" y="277063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Contradiction 2: CS101 has 2 professors but cardinality=1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64"/>
          <p:cNvSpPr/>
          <p:nvPr/>
        </p:nvSpPr>
        <p:spPr>
          <a:xfrm>
            <a:off x="594360" y="31546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FIX: CHANGE cardinality 1 to minCardinality 1 (at least 1 professor).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OR model co-teaching with a :TeachingTeam class.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Both preserve the reality of how universities actually work.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64"/>
          <p:cNvSpPr/>
          <p:nvPr/>
        </p:nvSpPr>
        <p:spPr>
          <a:xfrm>
            <a:off x="365760" y="4434840"/>
            <a:ext cx="1143000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64"/>
          <p:cNvSpPr/>
          <p:nvPr/>
        </p:nvSpPr>
        <p:spPr>
          <a:xfrm>
            <a:off x="365760" y="4434840"/>
            <a:ext cx="109728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8" name="Google Shape;2298;p64"/>
          <p:cNvSpPr/>
          <p:nvPr/>
        </p:nvSpPr>
        <p:spPr>
          <a:xfrm>
            <a:off x="594360" y="450799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Contradiction 3: FullProfessor subClassOf Man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64"/>
          <p:cNvSpPr/>
          <p:nvPr/>
        </p:nvSpPr>
        <p:spPr>
          <a:xfrm>
            <a:off x="594360" y="48920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FIX: DELETE fact (9) entirely. FullProfessor subClassOf Professor is sufficient.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Gender is irrelevant to academic rank. This fact encodes historical bias in formal ontology.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64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1" name="Google Shape;2301;p64"/>
          <p:cNvSpPr/>
          <p:nvPr/>
        </p:nvSpPr>
        <p:spPr>
          <a:xfrm>
            <a:off x="457200" y="6099048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BONUS: Fact (9) is bad ontology design — it logically forbids female full professors and encodes historical bias into formal structure. Good ontology models WHAT a thing IS (a rank), not irrelevant attributes (gender).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65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65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CLASS ACTIVITY 6.2: Real-World Case: Healthcare OWL Ontology — Automated Diagnosis Reasoning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6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7A3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0" name="Google Shape;2310;p65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9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D59E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65"/>
          <p:cNvSpPr/>
          <p:nvPr/>
        </p:nvSpPr>
        <p:spPr>
          <a:xfrm>
            <a:off x="365760" y="914400"/>
            <a:ext cx="1143000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p65"/>
          <p:cNvSpPr/>
          <p:nvPr/>
        </p:nvSpPr>
        <p:spPr>
          <a:xfrm>
            <a:off x="365760" y="914400"/>
            <a:ext cx="109728" cy="8229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65"/>
          <p:cNvSpPr/>
          <p:nvPr/>
        </p:nvSpPr>
        <p:spPr>
          <a:xfrm>
            <a:off x="548640" y="941832"/>
            <a:ext cx="11064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SCENARIO: HL7 FHIR (Fast Healthcare Interoperability Resources) uses OWL ontologies so hospitals worldwide share patient data. A doctor in Lahore can treat a patient whose records were created in London — because both systems use the SAME ontology. You design part of it today.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65"/>
          <p:cNvSpPr/>
          <p:nvPr/>
        </p:nvSpPr>
        <p:spPr>
          <a:xfrm>
            <a:off x="36576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65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65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65"/>
          <p:cNvSpPr/>
          <p:nvPr/>
        </p:nvSpPr>
        <p:spPr>
          <a:xfrm>
            <a:off x="47548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OWL axioms for: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Drug subClassOf Medication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Antibiotic subClassOf Drug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Penicillin rdf:type Antibiotic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Drug owl:hasProperty dosage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dosage owl:range xsd:float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Draw the class diagram.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65"/>
          <p:cNvSpPr/>
          <p:nvPr/>
        </p:nvSpPr>
        <p:spPr>
          <a:xfrm>
            <a:off x="320040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65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p65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65"/>
          <p:cNvSpPr/>
          <p:nvPr/>
        </p:nvSpPr>
        <p:spPr>
          <a:xfrm>
            <a:off x="331012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CONSTRAINT DESIGN: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Patient MUST have: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bloodType ∈ {A,B,AB,O}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age range: 0–150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at most ONE primary physician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Write each as OWL restriction (owl:allValuesFrom, owl:maxCardinality, owl:oneOf).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65"/>
          <p:cNvSpPr/>
          <p:nvPr/>
        </p:nvSpPr>
        <p:spPr>
          <a:xfrm>
            <a:off x="603504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65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65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65"/>
          <p:cNvSpPr/>
          <p:nvPr/>
        </p:nvSpPr>
        <p:spPr>
          <a:xfrm>
            <a:off x="614476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AUTOMATED REASONING: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Given: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Ali rdf:type Patient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Ali has symptom: fever, cough, fatigue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COVID-19 owl:equivalentClass (symptom SOME {fever, cough, fatigue})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What should a reasoner INFER? Show the logical chain.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65"/>
          <p:cNvSpPr/>
          <p:nvPr/>
        </p:nvSpPr>
        <p:spPr>
          <a:xfrm>
            <a:off x="8869680" y="187452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65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65"/>
          <p:cNvSpPr/>
          <p:nvPr/>
        </p:nvSpPr>
        <p:spPr>
          <a:xfrm>
            <a:off x="8869680" y="18745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65"/>
          <p:cNvSpPr/>
          <p:nvPr/>
        </p:nvSpPr>
        <p:spPr>
          <a:xfrm>
            <a:off x="8979408" y="2331720"/>
            <a:ext cx="2432304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CONSISTENCY CHECK: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Find the error: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Drug owl:disjointWith Food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VitaminC rdf:type Drug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• VitaminC rdf:type Food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What happens when a reasoner runs? How do you fix it?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Name a real drug that IS borderline (food/drug).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66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66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SOLUTION 6.2: Healthcare OWL Ontology — Class Diagram &amp; Reasoning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6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5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66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DDD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7DDD5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66"/>
          <p:cNvSpPr/>
          <p:nvPr/>
        </p:nvSpPr>
        <p:spPr>
          <a:xfrm>
            <a:off x="274320" y="914400"/>
            <a:ext cx="5303520" cy="274320"/>
          </a:xfrm>
          <a:prstGeom prst="rect">
            <a:avLst/>
          </a:prstGeom>
          <a:solidFill>
            <a:srgbClr val="1A3A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66"/>
          <p:cNvSpPr/>
          <p:nvPr/>
        </p:nvSpPr>
        <p:spPr>
          <a:xfrm>
            <a:off x="274320" y="9144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 Class Hierarchy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66"/>
          <p:cNvSpPr/>
          <p:nvPr/>
        </p:nvSpPr>
        <p:spPr>
          <a:xfrm>
            <a:off x="1874520" y="1298448"/>
            <a:ext cx="1645920" cy="438912"/>
          </a:xfrm>
          <a:prstGeom prst="rect">
            <a:avLst/>
          </a:prstGeom>
          <a:solidFill>
            <a:srgbClr val="1A3A36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66"/>
          <p:cNvSpPr/>
          <p:nvPr/>
        </p:nvSpPr>
        <p:spPr>
          <a:xfrm>
            <a:off x="1874520" y="129844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66"/>
          <p:cNvSpPr/>
          <p:nvPr/>
        </p:nvSpPr>
        <p:spPr>
          <a:xfrm>
            <a:off x="365760" y="2148840"/>
            <a:ext cx="1371600" cy="438912"/>
          </a:xfrm>
          <a:prstGeom prst="rect">
            <a:avLst/>
          </a:prstGeom>
          <a:solidFill>
            <a:srgbClr val="1A7A6E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66"/>
          <p:cNvSpPr/>
          <p:nvPr/>
        </p:nvSpPr>
        <p:spPr>
          <a:xfrm>
            <a:off x="365760" y="21488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Drug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66"/>
          <p:cNvSpPr/>
          <p:nvPr/>
        </p:nvSpPr>
        <p:spPr>
          <a:xfrm>
            <a:off x="2103120" y="2148840"/>
            <a:ext cx="1463040" cy="438912"/>
          </a:xfrm>
          <a:prstGeom prst="rect">
            <a:avLst/>
          </a:prstGeom>
          <a:solidFill>
            <a:srgbClr val="2D5A8A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p66"/>
          <p:cNvSpPr/>
          <p:nvPr/>
        </p:nvSpPr>
        <p:spPr>
          <a:xfrm>
            <a:off x="2103120" y="21488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Supplement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66"/>
          <p:cNvSpPr/>
          <p:nvPr/>
        </p:nvSpPr>
        <p:spPr>
          <a:xfrm>
            <a:off x="274320" y="3017520"/>
            <a:ext cx="1463040" cy="438912"/>
          </a:xfrm>
          <a:prstGeom prst="rect">
            <a:avLst/>
          </a:prstGeom>
          <a:solidFill>
            <a:srgbClr val="28A084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8" name="Google Shape;2348;p66"/>
          <p:cNvSpPr/>
          <p:nvPr/>
        </p:nvSpPr>
        <p:spPr>
          <a:xfrm>
            <a:off x="274320" y="301752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Antibiotic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66"/>
          <p:cNvSpPr/>
          <p:nvPr/>
        </p:nvSpPr>
        <p:spPr>
          <a:xfrm>
            <a:off x="2103120" y="3017520"/>
            <a:ext cx="1463040" cy="438912"/>
          </a:xfrm>
          <a:prstGeom prst="rect">
            <a:avLst/>
          </a:prstGeom>
          <a:solidFill>
            <a:srgbClr val="374151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0" name="Google Shape;2350;p66"/>
          <p:cNvSpPr/>
          <p:nvPr/>
        </p:nvSpPr>
        <p:spPr>
          <a:xfrm>
            <a:off x="2103120" y="301752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Analgesic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66"/>
          <p:cNvSpPr/>
          <p:nvPr/>
        </p:nvSpPr>
        <p:spPr>
          <a:xfrm>
            <a:off x="320040" y="3886200"/>
            <a:ext cx="1417320" cy="438912"/>
          </a:xfrm>
          <a:prstGeom prst="rect">
            <a:avLst/>
          </a:prstGeom>
          <a:solidFill>
            <a:srgbClr val="8B5CF6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66"/>
          <p:cNvSpPr/>
          <p:nvPr/>
        </p:nvSpPr>
        <p:spPr>
          <a:xfrm>
            <a:off x="320040" y="3886200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Penicillin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66"/>
          <p:cNvSpPr/>
          <p:nvPr/>
        </p:nvSpPr>
        <p:spPr>
          <a:xfrm>
            <a:off x="2057400" y="3886200"/>
            <a:ext cx="1554480" cy="438912"/>
          </a:xfrm>
          <a:prstGeom prst="rect">
            <a:avLst/>
          </a:prstGeom>
          <a:solidFill>
            <a:srgbClr val="8B5CF6"/>
          </a:solidFill>
          <a:ln w="9525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66"/>
          <p:cNvSpPr/>
          <p:nvPr/>
        </p:nvSpPr>
        <p:spPr>
          <a:xfrm>
            <a:off x="2057400" y="3886200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Amoxicillin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5" name="Google Shape;2355;p66"/>
          <p:cNvCxnSpPr/>
          <p:nvPr/>
        </p:nvCxnSpPr>
        <p:spPr>
          <a:xfrm flipH="1">
            <a:off x="1051560" y="1298448"/>
            <a:ext cx="457200" cy="850392"/>
          </a:xfrm>
          <a:prstGeom prst="straightConnector1">
            <a:avLst/>
          </a:prstGeom>
          <a:noFill/>
          <a:ln w="1650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56" name="Google Shape;2356;p66"/>
          <p:cNvSpPr/>
          <p:nvPr/>
        </p:nvSpPr>
        <p:spPr>
          <a:xfrm>
            <a:off x="850392" y="1544604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7" name="Google Shape;2357;p66"/>
          <p:cNvSpPr/>
          <p:nvPr/>
        </p:nvSpPr>
        <p:spPr>
          <a:xfrm>
            <a:off x="850392" y="15446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8" name="Google Shape;2358;p66"/>
          <p:cNvCxnSpPr/>
          <p:nvPr/>
        </p:nvCxnSpPr>
        <p:spPr>
          <a:xfrm>
            <a:off x="2697480" y="1298448"/>
            <a:ext cx="137160" cy="850392"/>
          </a:xfrm>
          <a:prstGeom prst="straightConnector1">
            <a:avLst/>
          </a:prstGeom>
          <a:noFill/>
          <a:ln w="16500" cap="flat" cmpd="sng">
            <a:solidFill>
              <a:srgbClr val="2D5A8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59" name="Google Shape;2359;p66"/>
          <p:cNvSpPr/>
          <p:nvPr/>
        </p:nvSpPr>
        <p:spPr>
          <a:xfrm>
            <a:off x="2300630" y="1544604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66"/>
          <p:cNvSpPr/>
          <p:nvPr/>
        </p:nvSpPr>
        <p:spPr>
          <a:xfrm>
            <a:off x="2300630" y="15446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1" name="Google Shape;2361;p66"/>
          <p:cNvCxnSpPr/>
          <p:nvPr/>
        </p:nvCxnSpPr>
        <p:spPr>
          <a:xfrm flipH="1">
            <a:off x="1005840" y="2359152"/>
            <a:ext cx="45720" cy="658368"/>
          </a:xfrm>
          <a:prstGeom prst="straightConnector1">
            <a:avLst/>
          </a:prstGeom>
          <a:noFill/>
          <a:ln w="16500" cap="flat" cmpd="sng">
            <a:solidFill>
              <a:srgbClr val="28A08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62" name="Google Shape;2362;p66"/>
          <p:cNvSpPr/>
          <p:nvPr/>
        </p:nvSpPr>
        <p:spPr>
          <a:xfrm>
            <a:off x="574243" y="2520818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3" name="Google Shape;2363;p66"/>
          <p:cNvSpPr/>
          <p:nvPr/>
        </p:nvSpPr>
        <p:spPr>
          <a:xfrm>
            <a:off x="574243" y="2520818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4" name="Google Shape;2364;p66"/>
          <p:cNvCxnSpPr/>
          <p:nvPr/>
        </p:nvCxnSpPr>
        <p:spPr>
          <a:xfrm>
            <a:off x="1051560" y="2359152"/>
            <a:ext cx="1783080" cy="658368"/>
          </a:xfrm>
          <a:prstGeom prst="straightConnector1">
            <a:avLst/>
          </a:prstGeom>
          <a:noFill/>
          <a:ln w="16500" cap="flat" cmpd="sng">
            <a:solidFill>
              <a:srgbClr val="37415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65" name="Google Shape;2365;p66"/>
          <p:cNvSpPr/>
          <p:nvPr/>
        </p:nvSpPr>
        <p:spPr>
          <a:xfrm>
            <a:off x="1378915" y="2520818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66"/>
          <p:cNvSpPr/>
          <p:nvPr/>
        </p:nvSpPr>
        <p:spPr>
          <a:xfrm>
            <a:off x="1378915" y="2520818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subClassOf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7" name="Google Shape;2367;p66"/>
          <p:cNvCxnSpPr/>
          <p:nvPr/>
        </p:nvCxnSpPr>
        <p:spPr>
          <a:xfrm>
            <a:off x="1005840" y="3227832"/>
            <a:ext cx="27432" cy="658368"/>
          </a:xfrm>
          <a:prstGeom prst="straightConnector1">
            <a:avLst/>
          </a:prstGeom>
          <a:noFill/>
          <a:ln w="16500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68" name="Google Shape;2368;p66"/>
          <p:cNvSpPr/>
          <p:nvPr/>
        </p:nvSpPr>
        <p:spPr>
          <a:xfrm>
            <a:off x="560710" y="3389498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p66"/>
          <p:cNvSpPr/>
          <p:nvPr/>
        </p:nvSpPr>
        <p:spPr>
          <a:xfrm>
            <a:off x="560710" y="3389498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0" name="Google Shape;2370;p66"/>
          <p:cNvCxnSpPr/>
          <p:nvPr/>
        </p:nvCxnSpPr>
        <p:spPr>
          <a:xfrm>
            <a:off x="1005840" y="3227832"/>
            <a:ext cx="1828800" cy="658368"/>
          </a:xfrm>
          <a:prstGeom prst="straightConnector1">
            <a:avLst/>
          </a:prstGeom>
          <a:noFill/>
          <a:ln w="16500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71" name="Google Shape;2371;p66"/>
          <p:cNvSpPr/>
          <p:nvPr/>
        </p:nvSpPr>
        <p:spPr>
          <a:xfrm>
            <a:off x="1353312" y="3389498"/>
            <a:ext cx="1051560" cy="2377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2" name="Google Shape;2372;p66"/>
          <p:cNvSpPr/>
          <p:nvPr/>
        </p:nvSpPr>
        <p:spPr>
          <a:xfrm>
            <a:off x="1353312" y="3389498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rdf:type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66"/>
          <p:cNvSpPr/>
          <p:nvPr/>
        </p:nvSpPr>
        <p:spPr>
          <a:xfrm>
            <a:off x="5760720" y="914400"/>
            <a:ext cx="6217920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4" name="Google Shape;2374;p66"/>
          <p:cNvSpPr/>
          <p:nvPr/>
        </p:nvSpPr>
        <p:spPr>
          <a:xfrm>
            <a:off x="5760720" y="914400"/>
            <a:ext cx="6217920" cy="29260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5" name="Google Shape;2375;p66"/>
          <p:cNvSpPr/>
          <p:nvPr/>
        </p:nvSpPr>
        <p:spPr>
          <a:xfrm>
            <a:off x="5760720" y="91440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 Constraints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66"/>
          <p:cNvSpPr/>
          <p:nvPr/>
        </p:nvSpPr>
        <p:spPr>
          <a:xfrm>
            <a:off x="5897880" y="1243584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Patient owl:hasProperty bloodType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bloodType owl:oneOf {A, B, AB, O}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age owl:minInclusive 0, owl:maxInclusive 150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2B2A"/>
                </a:solidFill>
                <a:latin typeface="Consolas"/>
                <a:ea typeface="Consolas"/>
                <a:cs typeface="Consolas"/>
                <a:sym typeface="Consolas"/>
              </a:rPr>
              <a:t>  hasPrimaryPhysician owl:maxCardinality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66"/>
          <p:cNvSpPr/>
          <p:nvPr/>
        </p:nvSpPr>
        <p:spPr>
          <a:xfrm>
            <a:off x="5760720" y="2944368"/>
            <a:ext cx="6217920" cy="2359152"/>
          </a:xfrm>
          <a:prstGeom prst="rect">
            <a:avLst/>
          </a:prstGeom>
          <a:solidFill>
            <a:srgbClr val="1A2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8" name="Google Shape;2378;p66"/>
          <p:cNvSpPr/>
          <p:nvPr/>
        </p:nvSpPr>
        <p:spPr>
          <a:xfrm>
            <a:off x="5760720" y="2944368"/>
            <a:ext cx="6217920" cy="2926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66"/>
          <p:cNvSpPr/>
          <p:nvPr/>
        </p:nvSpPr>
        <p:spPr>
          <a:xfrm>
            <a:off x="5760720" y="294436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⚡  Automated Reasoning Chain (Task 3)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66"/>
          <p:cNvSpPr/>
          <p:nvPr/>
        </p:nvSpPr>
        <p:spPr>
          <a:xfrm>
            <a:off x="5897880" y="3273552"/>
            <a:ext cx="594360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GIVEN: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Ali rdf:type Patient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Ali hasSym {fever, cough, fatigue}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OWL RULE: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COVID-19 ≡ Patient AND hasSym SOME {fever, cough, fatigue}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INFERRED: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  Ali rdf:type COVID-19 ← reasoner derives this!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66"/>
          <p:cNvSpPr/>
          <p:nvPr/>
        </p:nvSpPr>
        <p:spPr>
          <a:xfrm>
            <a:off x="274320" y="4663440"/>
            <a:ext cx="5303520" cy="1920240"/>
          </a:xfrm>
          <a:prstGeom prst="rect">
            <a:avLst/>
          </a:prstGeom>
          <a:solidFill>
            <a:srgbClr val="FEF2F2"/>
          </a:solidFill>
          <a:ln w="101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2" name="Google Shape;2382;p66"/>
          <p:cNvSpPr/>
          <p:nvPr/>
        </p:nvSpPr>
        <p:spPr>
          <a:xfrm>
            <a:off x="274320" y="4663440"/>
            <a:ext cx="530352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66"/>
          <p:cNvSpPr/>
          <p:nvPr/>
        </p:nvSpPr>
        <p:spPr>
          <a:xfrm>
            <a:off x="274320" y="46634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Consistency Error (Task 4)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66"/>
          <p:cNvSpPr/>
          <p:nvPr/>
        </p:nvSpPr>
        <p:spPr>
          <a:xfrm>
            <a:off x="411480" y="4992624"/>
            <a:ext cx="502920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Drug owl:disjointWith Food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VitaminC rdf:type Drug AND rdf:type Food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→ CONTRADICTION → reasoner flags UNSATISFIABLE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FIX: Remove disjoint OR create subclass: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NutraceuticalDrug subClassOf Drug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  VitaminC rdf:type NutraceuticalDrug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Real example: Fish Oil, Melatonin, Probiotics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p7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3" name="Google Shape;2483;p70"/>
          <p:cNvSpPr/>
          <p:nvPr/>
        </p:nvSpPr>
        <p:spPr>
          <a:xfrm>
            <a:off x="365760" y="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Big Picture — Historical Progression of KR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70"/>
          <p:cNvSpPr/>
          <p:nvPr/>
        </p:nvSpPr>
        <p:spPr>
          <a:xfrm>
            <a:off x="99669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E0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2E0D8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7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24B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6" name="Google Shape;2486;p70"/>
          <p:cNvSpPr/>
          <p:nvPr/>
        </p:nvSpPr>
        <p:spPr>
          <a:xfrm>
            <a:off x="274320" y="6309360"/>
            <a:ext cx="1161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C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C4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70"/>
          <p:cNvSpPr/>
          <p:nvPr/>
        </p:nvSpPr>
        <p:spPr>
          <a:xfrm>
            <a:off x="365760" y="960120"/>
            <a:ext cx="1737360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70"/>
          <p:cNvSpPr/>
          <p:nvPr/>
        </p:nvSpPr>
        <p:spPr>
          <a:xfrm>
            <a:off x="365760" y="96012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1950s–70s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9" name="Google Shape;2489;p70"/>
          <p:cNvCxnSpPr/>
          <p:nvPr/>
        </p:nvCxnSpPr>
        <p:spPr>
          <a:xfrm>
            <a:off x="2103120" y="1316736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64748B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90" name="Google Shape;2490;p70"/>
          <p:cNvSpPr/>
          <p:nvPr/>
        </p:nvSpPr>
        <p:spPr>
          <a:xfrm>
            <a:off x="2377440" y="960120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1" name="Google Shape;2491;p70"/>
          <p:cNvSpPr/>
          <p:nvPr/>
        </p:nvSpPr>
        <p:spPr>
          <a:xfrm>
            <a:off x="2377440" y="960120"/>
            <a:ext cx="91440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2" name="Google Shape;2492;p70"/>
          <p:cNvSpPr/>
          <p:nvPr/>
        </p:nvSpPr>
        <p:spPr>
          <a:xfrm>
            <a:off x="2578608" y="1051560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Logic Rules &amp; Production Systems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MYCIN — works for narrow domains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~600 rules, narrow domain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70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4" name="Google Shape;2494;p70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1970s–80s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5" name="Google Shape;2495;p70"/>
          <p:cNvCxnSpPr/>
          <p:nvPr/>
        </p:nvCxnSpPr>
        <p:spPr>
          <a:xfrm>
            <a:off x="2103120" y="2157984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1A7A6E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96" name="Google Shape;2496;p70"/>
          <p:cNvSpPr/>
          <p:nvPr/>
        </p:nvSpPr>
        <p:spPr>
          <a:xfrm>
            <a:off x="2377440" y="1801368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7" name="Google Shape;2497;p70"/>
          <p:cNvSpPr/>
          <p:nvPr/>
        </p:nvSpPr>
        <p:spPr>
          <a:xfrm>
            <a:off x="2377440" y="1801368"/>
            <a:ext cx="91440" cy="71323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8" name="Google Shape;2498;p70"/>
          <p:cNvSpPr/>
          <p:nvPr/>
        </p:nvSpPr>
        <p:spPr>
          <a:xfrm>
            <a:off x="2578608" y="1892808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Semantic Networks + Frames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Quillian + Minsky — graph structure + templates. Knowledge has SHAPE.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70"/>
          <p:cNvSpPr/>
          <p:nvPr/>
        </p:nvSpPr>
        <p:spPr>
          <a:xfrm>
            <a:off x="365760" y="2642616"/>
            <a:ext cx="1737360" cy="71323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70"/>
          <p:cNvSpPr/>
          <p:nvPr/>
        </p:nvSpPr>
        <p:spPr>
          <a:xfrm>
            <a:off x="365760" y="2642616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1" name="Google Shape;2501;p70"/>
          <p:cNvCxnSpPr/>
          <p:nvPr/>
        </p:nvCxnSpPr>
        <p:spPr>
          <a:xfrm>
            <a:off x="2103120" y="2999232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28A08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02" name="Google Shape;2502;p70"/>
          <p:cNvSpPr/>
          <p:nvPr/>
        </p:nvSpPr>
        <p:spPr>
          <a:xfrm>
            <a:off x="2377440" y="2642616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3" name="Google Shape;2503;p70"/>
          <p:cNvSpPr/>
          <p:nvPr/>
        </p:nvSpPr>
        <p:spPr>
          <a:xfrm>
            <a:off x="2377440" y="2642616"/>
            <a:ext cx="91440" cy="713232"/>
          </a:xfrm>
          <a:prstGeom prst="rect">
            <a:avLst/>
          </a:prstGeom>
          <a:solidFill>
            <a:srgbClr val="28A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4" name="Google Shape;2504;p70"/>
          <p:cNvSpPr/>
          <p:nvPr/>
        </p:nvSpPr>
        <p:spPr>
          <a:xfrm>
            <a:off x="2578608" y="2734056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Description Logics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Mathematical rigour, automated reasoning. Foundation for OWL.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70"/>
          <p:cNvSpPr/>
          <p:nvPr/>
        </p:nvSpPr>
        <p:spPr>
          <a:xfrm>
            <a:off x="365760" y="3483864"/>
            <a:ext cx="173736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6" name="Google Shape;2506;p70"/>
          <p:cNvSpPr/>
          <p:nvPr/>
        </p:nvSpPr>
        <p:spPr>
          <a:xfrm>
            <a:off x="365760" y="3483864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7" name="Google Shape;2507;p70"/>
          <p:cNvCxnSpPr/>
          <p:nvPr/>
        </p:nvCxnSpPr>
        <p:spPr>
          <a:xfrm>
            <a:off x="2103120" y="3840480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8B5CF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08" name="Google Shape;2508;p70"/>
          <p:cNvSpPr/>
          <p:nvPr/>
        </p:nvSpPr>
        <p:spPr>
          <a:xfrm>
            <a:off x="2377440" y="3483864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9" name="Google Shape;2509;p70"/>
          <p:cNvSpPr/>
          <p:nvPr/>
        </p:nvSpPr>
        <p:spPr>
          <a:xfrm>
            <a:off x="2377440" y="3483864"/>
            <a:ext cx="9144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0" name="Google Shape;2510;p70"/>
          <p:cNvSpPr/>
          <p:nvPr/>
        </p:nvSpPr>
        <p:spPr>
          <a:xfrm>
            <a:off x="2578608" y="3575304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W3C Standards: RDF + OWL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Global interoperability. The Semantic Web vision.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70"/>
          <p:cNvSpPr/>
          <p:nvPr/>
        </p:nvSpPr>
        <p:spPr>
          <a:xfrm>
            <a:off x="365760" y="4325112"/>
            <a:ext cx="1737360" cy="71323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2" name="Google Shape;2512;p70"/>
          <p:cNvSpPr/>
          <p:nvPr/>
        </p:nvSpPr>
        <p:spPr>
          <a:xfrm>
            <a:off x="365760" y="4325112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3" name="Google Shape;2513;p70"/>
          <p:cNvCxnSpPr/>
          <p:nvPr/>
        </p:nvCxnSpPr>
        <p:spPr>
          <a:xfrm>
            <a:off x="2103120" y="4681728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E07B2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14" name="Google Shape;2514;p70"/>
          <p:cNvSpPr/>
          <p:nvPr/>
        </p:nvSpPr>
        <p:spPr>
          <a:xfrm>
            <a:off x="2377440" y="4325112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5" name="Google Shape;2515;p70"/>
          <p:cNvSpPr/>
          <p:nvPr/>
        </p:nvSpPr>
        <p:spPr>
          <a:xfrm>
            <a:off x="2377440" y="4325112"/>
            <a:ext cx="91440" cy="713232"/>
          </a:xfrm>
          <a:prstGeom prst="rect">
            <a:avLst/>
          </a:prstGeom>
          <a:solidFill>
            <a:srgbClr val="E07B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6" name="Google Shape;2516;p70"/>
          <p:cNvSpPr/>
          <p:nvPr/>
        </p:nvSpPr>
        <p:spPr>
          <a:xfrm>
            <a:off x="2578608" y="4416552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Industrial Knowledge Graphs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Google (500B facts), LinkedIn (900M people), Amazon (350M products)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70"/>
          <p:cNvSpPr/>
          <p:nvPr/>
        </p:nvSpPr>
        <p:spPr>
          <a:xfrm>
            <a:off x="365760" y="5166360"/>
            <a:ext cx="1737360" cy="713232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70"/>
          <p:cNvSpPr/>
          <p:nvPr/>
        </p:nvSpPr>
        <p:spPr>
          <a:xfrm>
            <a:off x="365760" y="516636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70"/>
          <p:cNvCxnSpPr/>
          <p:nvPr/>
        </p:nvCxnSpPr>
        <p:spPr>
          <a:xfrm>
            <a:off x="2103120" y="5522976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7B3FA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20" name="Google Shape;2520;p70"/>
          <p:cNvSpPr/>
          <p:nvPr/>
        </p:nvSpPr>
        <p:spPr>
          <a:xfrm>
            <a:off x="2377440" y="5166360"/>
            <a:ext cx="9418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p70"/>
          <p:cNvSpPr/>
          <p:nvPr/>
        </p:nvSpPr>
        <p:spPr>
          <a:xfrm>
            <a:off x="2377440" y="5166360"/>
            <a:ext cx="91440" cy="713232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2" name="Google Shape;2522;p70"/>
          <p:cNvSpPr/>
          <p:nvPr/>
        </p:nvSpPr>
        <p:spPr>
          <a:xfrm>
            <a:off x="2578608" y="5257800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B2A"/>
                </a:solidFill>
                <a:latin typeface="Calibri"/>
                <a:ea typeface="Calibri"/>
                <a:cs typeface="Calibri"/>
                <a:sym typeface="Calibri"/>
              </a:rPr>
              <a:t>LLMs + Knowledge Graphs</a:t>
            </a: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—   Neuro-Symbolic AI — LLMs for language, graphs for facts. Current research frontier.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9362</Words>
  <Application>Microsoft Office PowerPoint</Application>
  <PresentationFormat>Widescreen</PresentationFormat>
  <Paragraphs>1562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Husnain Ashfaq</cp:lastModifiedBy>
  <cp:revision>2</cp:revision>
  <dcterms:modified xsi:type="dcterms:W3CDTF">2026-05-02T15:10:51Z</dcterms:modified>
</cp:coreProperties>
</file>